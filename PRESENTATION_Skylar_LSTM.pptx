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73" r:id="rId4"/>
    <p:sldId id="260" r:id="rId5"/>
    <p:sldId id="263" r:id="rId6"/>
    <p:sldId id="258" r:id="rId7"/>
    <p:sldId id="264" r:id="rId8"/>
    <p:sldId id="262" r:id="rId9"/>
    <p:sldId id="266" r:id="rId10"/>
    <p:sldId id="276" r:id="rId11"/>
    <p:sldId id="274" r:id="rId12"/>
    <p:sldId id="267" r:id="rId13"/>
    <p:sldId id="268" r:id="rId14"/>
    <p:sldId id="269" r:id="rId15"/>
    <p:sldId id="270" r:id="rId16"/>
    <p:sldId id="272" r:id="rId17"/>
    <p:sldId id="275"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7"/>
    <p:restoredTop sz="94610"/>
  </p:normalViewPr>
  <p:slideViewPr>
    <p:cSldViewPr snapToGrid="0" snapToObjects="1">
      <p:cViewPr>
        <p:scale>
          <a:sx n="127" d="100"/>
          <a:sy n="127" d="100"/>
        </p:scale>
        <p:origin x="9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233A"/>
                </a:solidFill>
                <a:latin typeface="Calibri"/>
              </a:defRPr>
            </a:pPr>
            <a:r>
              <a:rPr lang="en-US" sz="1300" b="0" i="0" u="none" strike="noStrike">
                <a:solidFill>
                  <a:srgbClr val="12233A"/>
                </a:solidFill>
                <a:latin typeface="Calibri"/>
              </a:rPr>
              <a:t>Masked MSE loss  (×10⁻⁴)</a:t>
            </a:r>
          </a:p>
        </c:rich>
      </c:tx>
      <c:overlay val="0"/>
    </c:title>
    <c:autoTitleDeleted val="0"/>
    <c:plotArea>
      <c:layout/>
      <c:lineChart>
        <c:grouping val="standard"/>
        <c:varyColors val="0"/>
        <c:ser>
          <c:idx val="0"/>
          <c:order val="0"/>
          <c:tx>
            <c:strRef>
              <c:f>Sheet1!$B$1</c:f>
              <c:strCache>
                <c:ptCount val="1"/>
                <c:pt idx="0">
                  <c:v>Train</c:v>
                </c:pt>
              </c:strCache>
            </c:strRef>
          </c:tx>
          <c:spPr>
            <a:ln w="31750" cap="flat">
              <a:solidFill>
                <a:srgbClr val="12233A"/>
              </a:solidFill>
              <a:prstDash val="solid"/>
              <a:round/>
            </a:ln>
            <a:effectLst/>
          </c:spPr>
          <c:marker>
            <c:symbol val="circle"/>
            <c:size val="5"/>
            <c:spPr>
              <a:solidFill>
                <a:srgbClr val="12233A"/>
              </a:solidFill>
              <a:ln w="9525" cap="flat">
                <a:solidFill>
                  <a:srgbClr val="12233A"/>
                </a:solidFill>
                <a:prstDash val="solid"/>
                <a:round/>
              </a:ln>
              <a:effectLst/>
            </c:spPr>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Sheet1!$B$2:$B$26</c:f>
              <c:numCache>
                <c:formatCode>General</c:formatCode>
                <c:ptCount val="25"/>
                <c:pt idx="0">
                  <c:v>15.5</c:v>
                </c:pt>
                <c:pt idx="1">
                  <c:v>8.1999999999999993</c:v>
                </c:pt>
                <c:pt idx="2">
                  <c:v>7</c:v>
                </c:pt>
                <c:pt idx="3">
                  <c:v>6.2</c:v>
                </c:pt>
                <c:pt idx="4">
                  <c:v>5.5</c:v>
                </c:pt>
                <c:pt idx="5">
                  <c:v>5.2</c:v>
                </c:pt>
                <c:pt idx="6">
                  <c:v>4.9000000000000004</c:v>
                </c:pt>
                <c:pt idx="7">
                  <c:v>4.5999999999999996</c:v>
                </c:pt>
                <c:pt idx="8">
                  <c:v>4.3499999999999996</c:v>
                </c:pt>
                <c:pt idx="9">
                  <c:v>4.1500000000000004</c:v>
                </c:pt>
                <c:pt idx="10">
                  <c:v>4</c:v>
                </c:pt>
                <c:pt idx="11">
                  <c:v>3.85</c:v>
                </c:pt>
                <c:pt idx="12">
                  <c:v>3.7</c:v>
                </c:pt>
                <c:pt idx="13">
                  <c:v>3.6</c:v>
                </c:pt>
                <c:pt idx="14">
                  <c:v>3.5</c:v>
                </c:pt>
                <c:pt idx="15">
                  <c:v>3.42</c:v>
                </c:pt>
                <c:pt idx="16">
                  <c:v>3.35</c:v>
                </c:pt>
                <c:pt idx="17">
                  <c:v>3.25</c:v>
                </c:pt>
                <c:pt idx="18">
                  <c:v>3.15</c:v>
                </c:pt>
                <c:pt idx="19">
                  <c:v>3.08</c:v>
                </c:pt>
                <c:pt idx="20">
                  <c:v>3</c:v>
                </c:pt>
                <c:pt idx="21">
                  <c:v>2.95</c:v>
                </c:pt>
                <c:pt idx="22">
                  <c:v>2.9</c:v>
                </c:pt>
                <c:pt idx="23">
                  <c:v>2.85</c:v>
                </c:pt>
                <c:pt idx="24">
                  <c:v>2.8</c:v>
                </c:pt>
              </c:numCache>
            </c:numRef>
          </c:val>
          <c:smooth val="0"/>
          <c:extLst>
            <c:ext xmlns:c16="http://schemas.microsoft.com/office/drawing/2014/chart" uri="{C3380CC4-5D6E-409C-BE32-E72D297353CC}">
              <c16:uniqueId val="{00000000-9C0A-9947-BE41-0B9FD40632D8}"/>
            </c:ext>
          </c:extLst>
        </c:ser>
        <c:ser>
          <c:idx val="1"/>
          <c:order val="1"/>
          <c:tx>
            <c:strRef>
              <c:f>Sheet1!$C$1</c:f>
              <c:strCache>
                <c:ptCount val="1"/>
                <c:pt idx="0">
                  <c:v>Validation</c:v>
                </c:pt>
              </c:strCache>
            </c:strRef>
          </c:tx>
          <c:spPr>
            <a:ln w="31750" cap="flat">
              <a:solidFill>
                <a:srgbClr val="E08A3C"/>
              </a:solidFill>
              <a:prstDash val="solid"/>
              <a:round/>
            </a:ln>
            <a:effectLst/>
          </c:spPr>
          <c:marker>
            <c:symbol val="circle"/>
            <c:size val="5"/>
            <c:spPr>
              <a:solidFill>
                <a:srgbClr val="E08A3C"/>
              </a:solidFill>
              <a:ln w="9525" cap="flat">
                <a:solidFill>
                  <a:srgbClr val="E08A3C"/>
                </a:solidFill>
                <a:prstDash val="solid"/>
                <a:round/>
              </a:ln>
              <a:effectLst/>
            </c:spPr>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Sheet1!$C$2:$C$26</c:f>
              <c:numCache>
                <c:formatCode>General</c:formatCode>
                <c:ptCount val="25"/>
                <c:pt idx="0">
                  <c:v>7.5</c:v>
                </c:pt>
                <c:pt idx="1">
                  <c:v>6.2</c:v>
                </c:pt>
                <c:pt idx="2">
                  <c:v>6</c:v>
                </c:pt>
                <c:pt idx="3">
                  <c:v>5.4</c:v>
                </c:pt>
                <c:pt idx="4">
                  <c:v>4.9000000000000004</c:v>
                </c:pt>
                <c:pt idx="5">
                  <c:v>4.9000000000000004</c:v>
                </c:pt>
                <c:pt idx="6">
                  <c:v>4.5</c:v>
                </c:pt>
                <c:pt idx="7">
                  <c:v>4.3</c:v>
                </c:pt>
                <c:pt idx="8">
                  <c:v>4.0999999999999996</c:v>
                </c:pt>
                <c:pt idx="9">
                  <c:v>3.85</c:v>
                </c:pt>
                <c:pt idx="10">
                  <c:v>3.9</c:v>
                </c:pt>
                <c:pt idx="11">
                  <c:v>4.0999999999999996</c:v>
                </c:pt>
                <c:pt idx="12">
                  <c:v>3.65</c:v>
                </c:pt>
                <c:pt idx="13">
                  <c:v>3.55</c:v>
                </c:pt>
                <c:pt idx="14">
                  <c:v>3.5</c:v>
                </c:pt>
                <c:pt idx="15">
                  <c:v>3.4</c:v>
                </c:pt>
                <c:pt idx="16">
                  <c:v>3.35</c:v>
                </c:pt>
                <c:pt idx="17">
                  <c:v>3.3</c:v>
                </c:pt>
                <c:pt idx="18">
                  <c:v>3.2</c:v>
                </c:pt>
                <c:pt idx="19">
                  <c:v>3.15</c:v>
                </c:pt>
                <c:pt idx="20">
                  <c:v>3.1</c:v>
                </c:pt>
                <c:pt idx="21">
                  <c:v>3.05</c:v>
                </c:pt>
                <c:pt idx="22">
                  <c:v>3</c:v>
                </c:pt>
                <c:pt idx="23">
                  <c:v>2.97</c:v>
                </c:pt>
                <c:pt idx="24">
                  <c:v>2.98</c:v>
                </c:pt>
              </c:numCache>
            </c:numRef>
          </c:val>
          <c:smooth val="0"/>
          <c:extLst>
            <c:ext xmlns:c16="http://schemas.microsoft.com/office/drawing/2014/chart" uri="{C3380CC4-5D6E-409C-BE32-E72D297353CC}">
              <c16:uniqueId val="{00000001-9C0A-9947-BE41-0B9FD40632D8}"/>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100" b="0" i="0" u="none" strike="noStrike">
                    <a:solidFill>
                      <a:srgbClr val="62707F"/>
                    </a:solidFill>
                    <a:latin typeface="Arial"/>
                  </a:defRPr>
                </a:pPr>
                <a:r>
                  <a:rPr lang="en-US" sz="1100" b="0" i="0" u="none" strike="noStrike">
                    <a:solidFill>
                      <a:srgbClr val="62707F"/>
                    </a:solidFill>
                    <a:latin typeface="Arial"/>
                  </a:rPr>
                  <a:t>Epoch</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2"/>
        <c:crosses val="autoZero"/>
        <c:auto val="1"/>
        <c:lblAlgn val="ctr"/>
        <c:lblOffset val="100"/>
        <c:noMultiLvlLbl val="1"/>
      </c:catAx>
      <c:valAx>
        <c:axId val="2094734552"/>
        <c:scaling>
          <c:orientation val="minMax"/>
          <c:max val="16"/>
          <c:min val="2"/>
        </c:scaling>
        <c:delete val="0"/>
        <c:axPos val="l"/>
        <c:majorGridlines>
          <c:spPr>
            <a:ln w="12700" cap="flat">
              <a:solidFill>
                <a:srgbClr val="E8ED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2707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233A"/>
                </a:solidFill>
                <a:latin typeface="Calibri"/>
              </a:defRPr>
            </a:pPr>
            <a:r>
              <a:rPr lang="en-US" sz="1300" b="0" i="0" u="none" strike="noStrike">
                <a:solidFill>
                  <a:srgbClr val="12233A"/>
                </a:solidFill>
                <a:latin typeface="Calibri"/>
              </a:rPr>
              <a:t>R² and thresholded F1 by epoch</a:t>
            </a:r>
          </a:p>
        </c:rich>
      </c:tx>
      <c:overlay val="0"/>
    </c:title>
    <c:autoTitleDeleted val="0"/>
    <c:plotArea>
      <c:layout/>
      <c:lineChart>
        <c:grouping val="standard"/>
        <c:varyColors val="0"/>
        <c:ser>
          <c:idx val="0"/>
          <c:order val="0"/>
          <c:tx>
            <c:strRef>
              <c:f>Sheet1!$B$1</c:f>
              <c:strCache>
                <c:ptCount val="1"/>
                <c:pt idx="0">
                  <c:v>R² train</c:v>
                </c:pt>
              </c:strCache>
            </c:strRef>
          </c:tx>
          <c:spPr>
            <a:ln w="27940" cap="flat">
              <a:solidFill>
                <a:srgbClr val="12233A"/>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Sheet1!$B$2:$B$26</c:f>
              <c:numCache>
                <c:formatCode>General</c:formatCode>
                <c:ptCount val="25"/>
                <c:pt idx="0">
                  <c:v>0.86</c:v>
                </c:pt>
                <c:pt idx="1">
                  <c:v>0.91600000000000004</c:v>
                </c:pt>
                <c:pt idx="2">
                  <c:v>0.92800000000000005</c:v>
                </c:pt>
                <c:pt idx="3">
                  <c:v>0.93600000000000005</c:v>
                </c:pt>
                <c:pt idx="4">
                  <c:v>0.94699999999999995</c:v>
                </c:pt>
                <c:pt idx="5">
                  <c:v>0.95099999999999996</c:v>
                </c:pt>
                <c:pt idx="6">
                  <c:v>0.95399999999999996</c:v>
                </c:pt>
                <c:pt idx="7">
                  <c:v>0.95699999999999996</c:v>
                </c:pt>
                <c:pt idx="8">
                  <c:v>0.95899999999999996</c:v>
                </c:pt>
                <c:pt idx="9">
                  <c:v>0.96099999999999997</c:v>
                </c:pt>
                <c:pt idx="10">
                  <c:v>0.96199999999999997</c:v>
                </c:pt>
                <c:pt idx="11">
                  <c:v>0.96299999999999997</c:v>
                </c:pt>
                <c:pt idx="12">
                  <c:v>0.96399999999999997</c:v>
                </c:pt>
                <c:pt idx="13">
                  <c:v>0.96499999999999997</c:v>
                </c:pt>
                <c:pt idx="14">
                  <c:v>0.96599999999999997</c:v>
                </c:pt>
                <c:pt idx="15">
                  <c:v>0.96650000000000003</c:v>
                </c:pt>
                <c:pt idx="16">
                  <c:v>0.96699999999999997</c:v>
                </c:pt>
                <c:pt idx="17">
                  <c:v>0.96750000000000003</c:v>
                </c:pt>
                <c:pt idx="18">
                  <c:v>0.96799999999999997</c:v>
                </c:pt>
                <c:pt idx="19">
                  <c:v>0.96850000000000003</c:v>
                </c:pt>
                <c:pt idx="20">
                  <c:v>0.96899999999999997</c:v>
                </c:pt>
                <c:pt idx="21">
                  <c:v>0.96950000000000003</c:v>
                </c:pt>
                <c:pt idx="22">
                  <c:v>0.97</c:v>
                </c:pt>
                <c:pt idx="23">
                  <c:v>0.97050000000000003</c:v>
                </c:pt>
                <c:pt idx="24">
                  <c:v>0.97099999999999997</c:v>
                </c:pt>
              </c:numCache>
            </c:numRef>
          </c:val>
          <c:smooth val="0"/>
          <c:extLst>
            <c:ext xmlns:c16="http://schemas.microsoft.com/office/drawing/2014/chart" uri="{C3380CC4-5D6E-409C-BE32-E72D297353CC}">
              <c16:uniqueId val="{00000000-3CAC-7444-A7BE-A95ACF15B509}"/>
            </c:ext>
          </c:extLst>
        </c:ser>
        <c:ser>
          <c:idx val="1"/>
          <c:order val="1"/>
          <c:tx>
            <c:strRef>
              <c:f>Sheet1!$C$1</c:f>
              <c:strCache>
                <c:ptCount val="1"/>
                <c:pt idx="0">
                  <c:v>R² validation</c:v>
                </c:pt>
              </c:strCache>
            </c:strRef>
          </c:tx>
          <c:spPr>
            <a:ln w="27940" cap="flat">
              <a:solidFill>
                <a:srgbClr val="E08A3C"/>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Sheet1!$C$2:$C$26</c:f>
              <c:numCache>
                <c:formatCode>General</c:formatCode>
                <c:ptCount val="25"/>
                <c:pt idx="0">
                  <c:v>0.91700000000000004</c:v>
                </c:pt>
                <c:pt idx="1">
                  <c:v>0.93100000000000005</c:v>
                </c:pt>
                <c:pt idx="2">
                  <c:v>0.93600000000000005</c:v>
                </c:pt>
                <c:pt idx="3">
                  <c:v>0.94099999999999995</c:v>
                </c:pt>
                <c:pt idx="4">
                  <c:v>0.94599999999999995</c:v>
                </c:pt>
                <c:pt idx="5">
                  <c:v>0.94899999999999995</c:v>
                </c:pt>
                <c:pt idx="6">
                  <c:v>0.95099999999999996</c:v>
                </c:pt>
                <c:pt idx="7">
                  <c:v>0.95299999999999996</c:v>
                </c:pt>
                <c:pt idx="8">
                  <c:v>0.95499999999999996</c:v>
                </c:pt>
                <c:pt idx="9">
                  <c:v>0.95599999999999996</c:v>
                </c:pt>
                <c:pt idx="10">
                  <c:v>0.95650000000000002</c:v>
                </c:pt>
                <c:pt idx="11">
                  <c:v>0.95399999999999996</c:v>
                </c:pt>
                <c:pt idx="12">
                  <c:v>0.95799999999999996</c:v>
                </c:pt>
                <c:pt idx="13">
                  <c:v>0.95850000000000002</c:v>
                </c:pt>
                <c:pt idx="14">
                  <c:v>0.95899999999999996</c:v>
                </c:pt>
                <c:pt idx="15">
                  <c:v>0.96</c:v>
                </c:pt>
                <c:pt idx="16">
                  <c:v>0.96050000000000002</c:v>
                </c:pt>
                <c:pt idx="17">
                  <c:v>0.96099999999999997</c:v>
                </c:pt>
                <c:pt idx="18">
                  <c:v>0.96150000000000002</c:v>
                </c:pt>
                <c:pt idx="19">
                  <c:v>0.96199999999999997</c:v>
                </c:pt>
                <c:pt idx="20">
                  <c:v>0.96250000000000002</c:v>
                </c:pt>
                <c:pt idx="21">
                  <c:v>0.96299999999999997</c:v>
                </c:pt>
                <c:pt idx="22">
                  <c:v>0.96350000000000002</c:v>
                </c:pt>
                <c:pt idx="23">
                  <c:v>0.96399999999999997</c:v>
                </c:pt>
                <c:pt idx="24">
                  <c:v>0.96419999999999995</c:v>
                </c:pt>
              </c:numCache>
            </c:numRef>
          </c:val>
          <c:smooth val="0"/>
          <c:extLst>
            <c:ext xmlns:c16="http://schemas.microsoft.com/office/drawing/2014/chart" uri="{C3380CC4-5D6E-409C-BE32-E72D297353CC}">
              <c16:uniqueId val="{00000001-3CAC-7444-A7BE-A95ACF15B509}"/>
            </c:ext>
          </c:extLst>
        </c:ser>
        <c:ser>
          <c:idx val="2"/>
          <c:order val="2"/>
          <c:tx>
            <c:strRef>
              <c:f>Sheet1!$D$1</c:f>
              <c:strCache>
                <c:ptCount val="1"/>
                <c:pt idx="0">
                  <c:v>F1 train</c:v>
                </c:pt>
              </c:strCache>
            </c:strRef>
          </c:tx>
          <c:spPr>
            <a:ln w="27940" cap="flat">
              <a:solidFill>
                <a:srgbClr val="7FA8C9"/>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Sheet1!$D$2:$D$26</c:f>
              <c:numCache>
                <c:formatCode>General</c:formatCode>
                <c:ptCount val="25"/>
                <c:pt idx="0">
                  <c:v>0.79500000000000004</c:v>
                </c:pt>
                <c:pt idx="1">
                  <c:v>0.89700000000000002</c:v>
                </c:pt>
                <c:pt idx="2">
                  <c:v>0.90600000000000003</c:v>
                </c:pt>
                <c:pt idx="3">
                  <c:v>0.91300000000000003</c:v>
                </c:pt>
                <c:pt idx="4">
                  <c:v>0.92100000000000004</c:v>
                </c:pt>
                <c:pt idx="5">
                  <c:v>0.92500000000000004</c:v>
                </c:pt>
                <c:pt idx="6">
                  <c:v>0.92800000000000005</c:v>
                </c:pt>
                <c:pt idx="7">
                  <c:v>0.93</c:v>
                </c:pt>
                <c:pt idx="8">
                  <c:v>0.93200000000000005</c:v>
                </c:pt>
                <c:pt idx="9">
                  <c:v>0.93400000000000005</c:v>
                </c:pt>
                <c:pt idx="10">
                  <c:v>0.9355</c:v>
                </c:pt>
                <c:pt idx="11">
                  <c:v>0.93600000000000005</c:v>
                </c:pt>
                <c:pt idx="12">
                  <c:v>0.93700000000000006</c:v>
                </c:pt>
                <c:pt idx="13">
                  <c:v>0.93799999999999994</c:v>
                </c:pt>
                <c:pt idx="14">
                  <c:v>0.93899999999999995</c:v>
                </c:pt>
                <c:pt idx="15">
                  <c:v>0.9395</c:v>
                </c:pt>
                <c:pt idx="16">
                  <c:v>0.94</c:v>
                </c:pt>
                <c:pt idx="17">
                  <c:v>0.9405</c:v>
                </c:pt>
                <c:pt idx="18">
                  <c:v>0.94099999999999995</c:v>
                </c:pt>
                <c:pt idx="19">
                  <c:v>0.9415</c:v>
                </c:pt>
                <c:pt idx="20">
                  <c:v>0.94199999999999995</c:v>
                </c:pt>
                <c:pt idx="21">
                  <c:v>0.9425</c:v>
                </c:pt>
                <c:pt idx="22">
                  <c:v>0.94299999999999995</c:v>
                </c:pt>
                <c:pt idx="23">
                  <c:v>0.9425</c:v>
                </c:pt>
                <c:pt idx="24">
                  <c:v>0.94299999999999995</c:v>
                </c:pt>
              </c:numCache>
            </c:numRef>
          </c:val>
          <c:smooth val="0"/>
          <c:extLst>
            <c:ext xmlns:c16="http://schemas.microsoft.com/office/drawing/2014/chart" uri="{C3380CC4-5D6E-409C-BE32-E72D297353CC}">
              <c16:uniqueId val="{00000002-3CAC-7444-A7BE-A95ACF15B509}"/>
            </c:ext>
          </c:extLst>
        </c:ser>
        <c:ser>
          <c:idx val="3"/>
          <c:order val="3"/>
          <c:tx>
            <c:strRef>
              <c:f>Sheet1!$E$1</c:f>
              <c:strCache>
                <c:ptCount val="1"/>
                <c:pt idx="0">
                  <c:v>F1 validation</c:v>
                </c:pt>
              </c:strCache>
            </c:strRef>
          </c:tx>
          <c:spPr>
            <a:ln w="27940" cap="flat">
              <a:solidFill>
                <a:srgbClr val="E9C08C"/>
              </a:solidFill>
              <a:prstDash val="solid"/>
              <a:round/>
            </a:ln>
            <a:effectLst/>
          </c:spPr>
          <c:marker>
            <c:symbol val="none"/>
          </c:marker>
          <c:cat>
            <c:strRef>
              <c:f>Sheet1!$A$2:$A$26</c:f>
              <c:strCache>
                <c:ptCount val="25"/>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strCache>
            </c:strRef>
          </c:cat>
          <c:val>
            <c:numRef>
              <c:f>Sheet1!$E$2:$E$26</c:f>
              <c:numCache>
                <c:formatCode>General</c:formatCode>
                <c:ptCount val="25"/>
                <c:pt idx="0">
                  <c:v>0.88400000000000001</c:v>
                </c:pt>
                <c:pt idx="1">
                  <c:v>0.89900000000000002</c:v>
                </c:pt>
                <c:pt idx="2">
                  <c:v>0.90700000000000003</c:v>
                </c:pt>
                <c:pt idx="3">
                  <c:v>0.91800000000000004</c:v>
                </c:pt>
                <c:pt idx="4">
                  <c:v>0.92</c:v>
                </c:pt>
                <c:pt idx="5">
                  <c:v>0.92100000000000004</c:v>
                </c:pt>
                <c:pt idx="6">
                  <c:v>0.92149999999999999</c:v>
                </c:pt>
                <c:pt idx="7">
                  <c:v>0.92200000000000004</c:v>
                </c:pt>
                <c:pt idx="8">
                  <c:v>0.92349999999999999</c:v>
                </c:pt>
                <c:pt idx="9">
                  <c:v>0.92400000000000004</c:v>
                </c:pt>
                <c:pt idx="10">
                  <c:v>0.92449999999999999</c:v>
                </c:pt>
                <c:pt idx="11">
                  <c:v>0.92349999999999999</c:v>
                </c:pt>
                <c:pt idx="12">
                  <c:v>0.92800000000000005</c:v>
                </c:pt>
                <c:pt idx="13">
                  <c:v>0.92900000000000005</c:v>
                </c:pt>
                <c:pt idx="14">
                  <c:v>0.92949999999999999</c:v>
                </c:pt>
                <c:pt idx="15">
                  <c:v>0.93</c:v>
                </c:pt>
                <c:pt idx="16">
                  <c:v>0.93049999999999999</c:v>
                </c:pt>
                <c:pt idx="17">
                  <c:v>0.93100000000000005</c:v>
                </c:pt>
                <c:pt idx="18">
                  <c:v>0.93149999999999999</c:v>
                </c:pt>
                <c:pt idx="19">
                  <c:v>0.93200000000000005</c:v>
                </c:pt>
                <c:pt idx="20">
                  <c:v>0.9325</c:v>
                </c:pt>
                <c:pt idx="21">
                  <c:v>0.9325</c:v>
                </c:pt>
                <c:pt idx="22">
                  <c:v>0.93300000000000005</c:v>
                </c:pt>
                <c:pt idx="23">
                  <c:v>0.9325</c:v>
                </c:pt>
                <c:pt idx="24">
                  <c:v>0.93300000000000005</c:v>
                </c:pt>
              </c:numCache>
            </c:numRef>
          </c:val>
          <c:smooth val="0"/>
          <c:extLst>
            <c:ext xmlns:c16="http://schemas.microsoft.com/office/drawing/2014/chart" uri="{C3380CC4-5D6E-409C-BE32-E72D297353CC}">
              <c16:uniqueId val="{00000003-3CAC-7444-A7BE-A95ACF15B509}"/>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title>
          <c:tx>
            <c:rich>
              <a:bodyPr/>
              <a:lstStyle/>
              <a:p>
                <a:pPr>
                  <a:defRPr sz="1100" b="0" i="0" u="none" strike="noStrike">
                    <a:solidFill>
                      <a:srgbClr val="62707F"/>
                    </a:solidFill>
                    <a:latin typeface="Arial"/>
                  </a:defRPr>
                </a:pPr>
                <a:r>
                  <a:rPr lang="en-US" sz="1100" b="0" i="0" u="none" strike="noStrike">
                    <a:solidFill>
                      <a:srgbClr val="62707F"/>
                    </a:solidFill>
                    <a:latin typeface="Arial"/>
                  </a:rPr>
                  <a:t>Epoch</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2"/>
        <c:crosses val="autoZero"/>
        <c:auto val="1"/>
        <c:lblAlgn val="ctr"/>
        <c:lblOffset val="100"/>
        <c:noMultiLvlLbl val="1"/>
      </c:catAx>
      <c:valAx>
        <c:axId val="2094734552"/>
        <c:scaling>
          <c:orientation val="minMax"/>
          <c:max val="1"/>
          <c:min val="0.78"/>
        </c:scaling>
        <c:delete val="0"/>
        <c:axPos val="l"/>
        <c:majorGridlines>
          <c:spPr>
            <a:ln w="12700" cap="flat">
              <a:solidFill>
                <a:srgbClr val="E8ED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707F"/>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62707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04785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The goal is simple. Take a noisy recording and give back clean speech. I trained an LSTM on 11,572 paired files from the University of Edinburgh. I also built the pipeline around it. Validation, features, splitting, training, inference. All of it is on GitHub.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task in one line. Noisy speech in, clean speech out. The reason it is hard is the three cards. The noise is not steady, so a fixed filter cannot track it. The noise can itself be a voice, so simple frequency rules fail. And the model is judged on speakers it never trained on, which is the honest test. Everything after this slide is how I meet those three constraints.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23B78-D274-0C6D-B2D0-5951B225B0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F89CF-8AD8-CD72-0084-2ACBA049C6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AD045C-600A-C350-4776-9DF7B40FB9B4}"/>
              </a:ext>
            </a:extLst>
          </p:cNvPr>
          <p:cNvSpPr>
            <a:spLocks noGrp="1"/>
          </p:cNvSpPr>
          <p:nvPr>
            <p:ph type="body" idx="1"/>
          </p:nvPr>
        </p:nvSpPr>
        <p:spPr/>
        <p:txBody>
          <a:bodyPr/>
          <a:lstStyle/>
          <a:p>
            <a:r>
              <a:rPr lang="en-US" dirty="0"/>
              <a:t>The dataset gives matched pairs. The same filename sits in a clean folder and a noisy folder. That match makes supervised training possible. Each file becomes a 257 by T array. 257 is the number of frequency bins. T is the number of 32 ms frames.</a:t>
            </a:r>
          </a:p>
        </p:txBody>
      </p:sp>
      <p:sp>
        <p:nvSpPr>
          <p:cNvPr id="4" name="Slide Number Placeholder 3">
            <a:extLst>
              <a:ext uri="{FF2B5EF4-FFF2-40B4-BE49-F238E27FC236}">
                <a16:creationId xmlns:a16="http://schemas.microsoft.com/office/drawing/2014/main" id="{0565A3E9-4A4C-8396-4C28-B67E4A72CB02}"/>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82514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Edinburgh data is already clean. So I tested the validator, not the data. I broke files on purpose, one fault at a time. The script caught every one. Point at the number on the right. Every real pair passed. The value is reuse on a messier dataset later.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 is a sequence, so the model needs memory. A plain RNN has memory in theory. In practice the gradient shrinks at every step and reaches zero after a few hundred frames. A few seconds of audio is a few hundred frames. The LSTM cell state adds instead of multiplies, so the signal survives.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gives matched pairs. The same filename sits in a clean folder and a noisy folder. That match makes supervised training possible. Each file becomes a 257 by T array. 257 is the number of frequency bins. T is the number of 32 ms frames.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top row with your hand. Audio in, STFT, log magnitude, LSTM, gain mask, multiply, inverse STFT, audio out. Two points. First, the model only changes magnitude. Second, the sigmoid head solves the easier problem. It only decides how much of each bin to keep.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decision I would defend first. Point at the orange dots. Those four speakers never appear in training. A file split would put the same voice on both sides. The model could then score well because it knows the person. Every number later in this talk is on voices the model never heard.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Loss and R squared drive the training. They do not tell you how the audio sounds. That is why the right column exists. PESQ is quality. STOI is intelligibility. SI-SDR is raw fidelity. A model can improve one and hurt another, so report all three. I define these in the report but I do not have final numbers yet. Say that plainly.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concrete settings, straight from the config. Adam at a learning rate of 0.001, no weight decay, gradient clipped at 1.0 to stop the rare exploding gradient. The model is 256 hidden units, two layers, dropout 0.2. Batch size eight, thirty-two epochs. Two mechanics are worth explaining. Files differ in length, so each batch pads to its longest file and then packs, which tells the LSTM where real audio stops. The loss masks the padding as well, so silence adds no gradient. The output is a mask. Sigmoid gives a gain between zero and one for each frequency bin, and that gain multiplies the noisy magnitude to estimate the clean magnitude. I checkpoint on validation MSE and keep the best epoch.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chose the settings, not the noise math. The grid is every combination of the values I list in the config. I train each one for five epochs, which is enough to rank them. I keep the trial with the lowest validation MSE, then retrain that winner on the full schedule. Two honest points. The objective is MSE, not PESQ, because PESQ is too slow to run inside every trial. And grid search grows fast, so a random search would find a good setting in fewer trials. That is a fair next step.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matters more than the exact value. Most of the learning happens in five epochs. After that the model makes small corrections. The two lines stay together for all 25 epochs. The validation speakers are new, so this is real generalization.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squared is the number to trust here. It stays above 0.96 on new speakers. F1 comes from putting a threshold on a continuous output, so treat it as a diagnostic. The validation line starts above the train line because dropout is on during training and off during validation.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this slide. The counts look perfect because almost every bin is negative. Point at the top left cell. That is 447 million correct negatives. The useful comparison is the bottom row. Run B misses 7.1 percent of active bins. Run A misses 8.6 percent.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result. Run A only looks backward, so it can run on a live call. Run B also looks forward and sounds better. Run B cannot run live at all. The application decides, not the metrics.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points. The model cleans voices it never heard. The pipeline makes the result repeatable. Then give the honest next step. Estimate phase, not only magnitude.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D4A85-7439-5DAB-B427-91AF5000FB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557C3-4629-7859-B59B-10155BC396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644E1E-0BF4-8549-FE00-5224EB461063}"/>
              </a:ext>
            </a:extLst>
          </p:cNvPr>
          <p:cNvSpPr>
            <a:spLocks noGrp="1"/>
          </p:cNvSpPr>
          <p:nvPr>
            <p:ph type="body" idx="1"/>
          </p:nvPr>
        </p:nvSpPr>
        <p:spPr/>
        <p:txBody>
          <a:bodyPr/>
          <a:lstStyle/>
          <a:p>
            <a:r>
              <a:rPr lang="en-US" dirty="0"/>
              <a:t>Close on two points. The model cleans voices it never heard. The pipeline makes the result repeatable. Then give the honest next step. Estimate phase, not only magnitude. Take questions.</a:t>
            </a:r>
          </a:p>
        </p:txBody>
      </p:sp>
      <p:sp>
        <p:nvSpPr>
          <p:cNvPr id="4" name="Slide Number Placeholder 3">
            <a:extLst>
              <a:ext uri="{FF2B5EF4-FFF2-40B4-BE49-F238E27FC236}">
                <a16:creationId xmlns:a16="http://schemas.microsoft.com/office/drawing/2014/main" id="{6053C458-0113-9206-079C-7ECBA951537B}"/>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351508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A"/>
        </a:solidFill>
        <a:effectLst/>
      </p:bgPr>
    </p:bg>
    <p:spTree>
      <p:nvGrpSpPr>
        <p:cNvPr id="1" name=""/>
        <p:cNvGrpSpPr/>
        <p:nvPr/>
      </p:nvGrpSpPr>
      <p:grpSpPr>
        <a:xfrm>
          <a:off x="0" y="0"/>
          <a:ext cx="0" cy="0"/>
          <a:chOff x="0" y="0"/>
          <a:chExt cx="0" cy="0"/>
        </a:xfrm>
      </p:grpSpPr>
      <p:sp>
        <p:nvSpPr>
          <p:cNvPr id="2" name="Shape 0"/>
          <p:cNvSpPr/>
          <p:nvPr/>
        </p:nvSpPr>
        <p:spPr>
          <a:xfrm>
            <a:off x="0" y="6821424"/>
            <a:ext cx="82358" cy="36576"/>
          </a:xfrm>
          <a:prstGeom prst="roundRect">
            <a:avLst>
              <a:gd name="adj" fmla="val 50000"/>
            </a:avLst>
          </a:prstGeom>
          <a:solidFill>
            <a:srgbClr val="0E8A8F">
              <a:alpha val="70000"/>
            </a:srgbClr>
          </a:solidFill>
          <a:ln/>
        </p:spPr>
        <p:txBody>
          <a:bodyPr/>
          <a:lstStyle/>
          <a:p>
            <a:endParaRPr lang="en-US"/>
          </a:p>
        </p:txBody>
      </p:sp>
      <p:sp>
        <p:nvSpPr>
          <p:cNvPr id="3" name="Shape 1"/>
          <p:cNvSpPr/>
          <p:nvPr/>
        </p:nvSpPr>
        <p:spPr>
          <a:xfrm>
            <a:off x="164716" y="6708731"/>
            <a:ext cx="82358" cy="149269"/>
          </a:xfrm>
          <a:prstGeom prst="roundRect">
            <a:avLst>
              <a:gd name="adj" fmla="val 22205"/>
            </a:avLst>
          </a:prstGeom>
          <a:solidFill>
            <a:srgbClr val="0E8A8F">
              <a:alpha val="70000"/>
            </a:srgbClr>
          </a:solidFill>
          <a:ln/>
        </p:spPr>
        <p:txBody>
          <a:bodyPr/>
          <a:lstStyle/>
          <a:p>
            <a:endParaRPr lang="en-US"/>
          </a:p>
        </p:txBody>
      </p:sp>
      <p:sp>
        <p:nvSpPr>
          <p:cNvPr id="4" name="Shape 2"/>
          <p:cNvSpPr/>
          <p:nvPr/>
        </p:nvSpPr>
        <p:spPr>
          <a:xfrm>
            <a:off x="329431" y="6429109"/>
            <a:ext cx="82358" cy="428891"/>
          </a:xfrm>
          <a:prstGeom prst="roundRect">
            <a:avLst>
              <a:gd name="adj" fmla="val 22205"/>
            </a:avLst>
          </a:prstGeom>
          <a:solidFill>
            <a:srgbClr val="0E8A8F">
              <a:alpha val="70000"/>
            </a:srgbClr>
          </a:solidFill>
          <a:ln/>
        </p:spPr>
        <p:txBody>
          <a:bodyPr/>
          <a:lstStyle/>
          <a:p>
            <a:endParaRPr lang="en-US"/>
          </a:p>
        </p:txBody>
      </p:sp>
      <p:sp>
        <p:nvSpPr>
          <p:cNvPr id="5" name="Shape 3"/>
          <p:cNvSpPr/>
          <p:nvPr/>
        </p:nvSpPr>
        <p:spPr>
          <a:xfrm>
            <a:off x="494147" y="6446081"/>
            <a:ext cx="82358" cy="411919"/>
          </a:xfrm>
          <a:prstGeom prst="roundRect">
            <a:avLst>
              <a:gd name="adj" fmla="val 22205"/>
            </a:avLst>
          </a:prstGeom>
          <a:solidFill>
            <a:srgbClr val="0E8A8F">
              <a:alpha val="70000"/>
            </a:srgbClr>
          </a:solidFill>
          <a:ln/>
        </p:spPr>
        <p:txBody>
          <a:bodyPr/>
          <a:lstStyle/>
          <a:p>
            <a:endParaRPr lang="en-US"/>
          </a:p>
        </p:txBody>
      </p:sp>
      <p:sp>
        <p:nvSpPr>
          <p:cNvPr id="6" name="Shape 4"/>
          <p:cNvSpPr/>
          <p:nvPr/>
        </p:nvSpPr>
        <p:spPr>
          <a:xfrm>
            <a:off x="658862" y="6229737"/>
            <a:ext cx="82358" cy="628263"/>
          </a:xfrm>
          <a:prstGeom prst="roundRect">
            <a:avLst>
              <a:gd name="adj" fmla="val 22205"/>
            </a:avLst>
          </a:prstGeom>
          <a:solidFill>
            <a:srgbClr val="0E8A8F">
              <a:alpha val="70000"/>
            </a:srgbClr>
          </a:solidFill>
          <a:ln/>
        </p:spPr>
        <p:txBody>
          <a:bodyPr/>
          <a:lstStyle/>
          <a:p>
            <a:endParaRPr lang="en-US"/>
          </a:p>
        </p:txBody>
      </p:sp>
      <p:sp>
        <p:nvSpPr>
          <p:cNvPr id="7" name="Shape 5"/>
          <p:cNvSpPr/>
          <p:nvPr/>
        </p:nvSpPr>
        <p:spPr>
          <a:xfrm>
            <a:off x="823578" y="6273711"/>
            <a:ext cx="82358" cy="584289"/>
          </a:xfrm>
          <a:prstGeom prst="roundRect">
            <a:avLst>
              <a:gd name="adj" fmla="val 22205"/>
            </a:avLst>
          </a:prstGeom>
          <a:solidFill>
            <a:srgbClr val="0E8A8F">
              <a:alpha val="70000"/>
            </a:srgbClr>
          </a:solidFill>
          <a:ln/>
        </p:spPr>
        <p:txBody>
          <a:bodyPr/>
          <a:lstStyle/>
          <a:p>
            <a:endParaRPr lang="en-US"/>
          </a:p>
        </p:txBody>
      </p:sp>
      <p:sp>
        <p:nvSpPr>
          <p:cNvPr id="8" name="Shape 6"/>
          <p:cNvSpPr/>
          <p:nvPr/>
        </p:nvSpPr>
        <p:spPr>
          <a:xfrm>
            <a:off x="988293" y="6571266"/>
            <a:ext cx="82358" cy="286734"/>
          </a:xfrm>
          <a:prstGeom prst="roundRect">
            <a:avLst>
              <a:gd name="adj" fmla="val 22205"/>
            </a:avLst>
          </a:prstGeom>
          <a:solidFill>
            <a:srgbClr val="0E8A8F">
              <a:alpha val="70000"/>
            </a:srgbClr>
          </a:solidFill>
          <a:ln/>
        </p:spPr>
        <p:txBody>
          <a:bodyPr/>
          <a:lstStyle/>
          <a:p>
            <a:endParaRPr lang="en-US"/>
          </a:p>
        </p:txBody>
      </p:sp>
      <p:sp>
        <p:nvSpPr>
          <p:cNvPr id="9" name="Shape 7"/>
          <p:cNvSpPr/>
          <p:nvPr/>
        </p:nvSpPr>
        <p:spPr>
          <a:xfrm>
            <a:off x="1153009" y="6050535"/>
            <a:ext cx="82358" cy="807465"/>
          </a:xfrm>
          <a:prstGeom prst="roundRect">
            <a:avLst>
              <a:gd name="adj" fmla="val 22205"/>
            </a:avLst>
          </a:prstGeom>
          <a:solidFill>
            <a:srgbClr val="0E8A8F">
              <a:alpha val="70000"/>
            </a:srgbClr>
          </a:solidFill>
          <a:ln/>
        </p:spPr>
        <p:txBody>
          <a:bodyPr/>
          <a:lstStyle/>
          <a:p>
            <a:endParaRPr lang="en-US"/>
          </a:p>
        </p:txBody>
      </p:sp>
      <p:sp>
        <p:nvSpPr>
          <p:cNvPr id="10" name="Shape 8"/>
          <p:cNvSpPr/>
          <p:nvPr/>
        </p:nvSpPr>
        <p:spPr>
          <a:xfrm>
            <a:off x="1317725" y="6569363"/>
            <a:ext cx="82358" cy="288637"/>
          </a:xfrm>
          <a:prstGeom prst="roundRect">
            <a:avLst>
              <a:gd name="adj" fmla="val 22205"/>
            </a:avLst>
          </a:prstGeom>
          <a:solidFill>
            <a:srgbClr val="0E8A8F">
              <a:alpha val="70000"/>
            </a:srgbClr>
          </a:solidFill>
          <a:ln/>
        </p:spPr>
        <p:txBody>
          <a:bodyPr/>
          <a:lstStyle/>
          <a:p>
            <a:endParaRPr lang="en-US"/>
          </a:p>
        </p:txBody>
      </p:sp>
      <p:sp>
        <p:nvSpPr>
          <p:cNvPr id="11" name="Shape 9"/>
          <p:cNvSpPr/>
          <p:nvPr/>
        </p:nvSpPr>
        <p:spPr>
          <a:xfrm>
            <a:off x="1482440" y="6372970"/>
            <a:ext cx="82358" cy="485030"/>
          </a:xfrm>
          <a:prstGeom prst="roundRect">
            <a:avLst>
              <a:gd name="adj" fmla="val 22205"/>
            </a:avLst>
          </a:prstGeom>
          <a:solidFill>
            <a:srgbClr val="0E8A8F">
              <a:alpha val="70000"/>
            </a:srgbClr>
          </a:solidFill>
          <a:ln/>
        </p:spPr>
        <p:txBody>
          <a:bodyPr/>
          <a:lstStyle/>
          <a:p>
            <a:endParaRPr lang="en-US"/>
          </a:p>
        </p:txBody>
      </p:sp>
      <p:sp>
        <p:nvSpPr>
          <p:cNvPr id="12" name="Shape 10"/>
          <p:cNvSpPr/>
          <p:nvPr/>
        </p:nvSpPr>
        <p:spPr>
          <a:xfrm>
            <a:off x="1647156" y="5969604"/>
            <a:ext cx="82358" cy="888396"/>
          </a:xfrm>
          <a:prstGeom prst="roundRect">
            <a:avLst>
              <a:gd name="adj" fmla="val 22205"/>
            </a:avLst>
          </a:prstGeom>
          <a:solidFill>
            <a:srgbClr val="0E8A8F">
              <a:alpha val="70000"/>
            </a:srgbClr>
          </a:solidFill>
          <a:ln/>
        </p:spPr>
        <p:txBody>
          <a:bodyPr/>
          <a:lstStyle/>
          <a:p>
            <a:endParaRPr lang="en-US"/>
          </a:p>
        </p:txBody>
      </p:sp>
      <p:sp>
        <p:nvSpPr>
          <p:cNvPr id="13" name="Shape 11"/>
          <p:cNvSpPr/>
          <p:nvPr/>
        </p:nvSpPr>
        <p:spPr>
          <a:xfrm>
            <a:off x="1811871" y="6019847"/>
            <a:ext cx="82358" cy="838153"/>
          </a:xfrm>
          <a:prstGeom prst="roundRect">
            <a:avLst>
              <a:gd name="adj" fmla="val 22205"/>
            </a:avLst>
          </a:prstGeom>
          <a:solidFill>
            <a:srgbClr val="0E8A8F">
              <a:alpha val="70000"/>
            </a:srgbClr>
          </a:solidFill>
          <a:ln/>
        </p:spPr>
        <p:txBody>
          <a:bodyPr/>
          <a:lstStyle/>
          <a:p>
            <a:endParaRPr lang="en-US"/>
          </a:p>
        </p:txBody>
      </p:sp>
      <p:sp>
        <p:nvSpPr>
          <p:cNvPr id="14" name="Shape 12"/>
          <p:cNvSpPr/>
          <p:nvPr/>
        </p:nvSpPr>
        <p:spPr>
          <a:xfrm>
            <a:off x="1976587" y="6434837"/>
            <a:ext cx="82358" cy="423163"/>
          </a:xfrm>
          <a:prstGeom prst="roundRect">
            <a:avLst>
              <a:gd name="adj" fmla="val 22205"/>
            </a:avLst>
          </a:prstGeom>
          <a:solidFill>
            <a:srgbClr val="0E8A8F">
              <a:alpha val="70000"/>
            </a:srgbClr>
          </a:solidFill>
          <a:ln/>
        </p:spPr>
        <p:txBody>
          <a:bodyPr/>
          <a:lstStyle/>
          <a:p>
            <a:endParaRPr lang="en-US"/>
          </a:p>
        </p:txBody>
      </p:sp>
      <p:sp>
        <p:nvSpPr>
          <p:cNvPr id="15" name="Shape 13"/>
          <p:cNvSpPr/>
          <p:nvPr/>
        </p:nvSpPr>
        <p:spPr>
          <a:xfrm>
            <a:off x="2141302" y="6483714"/>
            <a:ext cx="82358" cy="374286"/>
          </a:xfrm>
          <a:prstGeom prst="roundRect">
            <a:avLst>
              <a:gd name="adj" fmla="val 22205"/>
            </a:avLst>
          </a:prstGeom>
          <a:solidFill>
            <a:srgbClr val="0E8A8F">
              <a:alpha val="70000"/>
            </a:srgbClr>
          </a:solidFill>
          <a:ln/>
        </p:spPr>
        <p:txBody>
          <a:bodyPr/>
          <a:lstStyle/>
          <a:p>
            <a:endParaRPr lang="en-US"/>
          </a:p>
        </p:txBody>
      </p:sp>
      <p:sp>
        <p:nvSpPr>
          <p:cNvPr id="16" name="Shape 14"/>
          <p:cNvSpPr/>
          <p:nvPr/>
        </p:nvSpPr>
        <p:spPr>
          <a:xfrm>
            <a:off x="2306018" y="6328508"/>
            <a:ext cx="82358" cy="529492"/>
          </a:xfrm>
          <a:prstGeom prst="roundRect">
            <a:avLst>
              <a:gd name="adj" fmla="val 22205"/>
            </a:avLst>
          </a:prstGeom>
          <a:solidFill>
            <a:srgbClr val="0E8A8F">
              <a:alpha val="70000"/>
            </a:srgbClr>
          </a:solidFill>
          <a:ln/>
        </p:spPr>
        <p:txBody>
          <a:bodyPr/>
          <a:lstStyle/>
          <a:p>
            <a:endParaRPr lang="en-US"/>
          </a:p>
        </p:txBody>
      </p:sp>
      <p:sp>
        <p:nvSpPr>
          <p:cNvPr id="17" name="Shape 15"/>
          <p:cNvSpPr/>
          <p:nvPr/>
        </p:nvSpPr>
        <p:spPr>
          <a:xfrm>
            <a:off x="2470734" y="6025134"/>
            <a:ext cx="82358" cy="832866"/>
          </a:xfrm>
          <a:prstGeom prst="roundRect">
            <a:avLst>
              <a:gd name="adj" fmla="val 22205"/>
            </a:avLst>
          </a:prstGeom>
          <a:solidFill>
            <a:srgbClr val="0E8A8F">
              <a:alpha val="70000"/>
            </a:srgbClr>
          </a:solidFill>
          <a:ln/>
        </p:spPr>
        <p:txBody>
          <a:bodyPr/>
          <a:lstStyle/>
          <a:p>
            <a:endParaRPr lang="en-US"/>
          </a:p>
        </p:txBody>
      </p:sp>
      <p:sp>
        <p:nvSpPr>
          <p:cNvPr id="18" name="Shape 16"/>
          <p:cNvSpPr/>
          <p:nvPr/>
        </p:nvSpPr>
        <p:spPr>
          <a:xfrm>
            <a:off x="2635449" y="6051370"/>
            <a:ext cx="82358" cy="806630"/>
          </a:xfrm>
          <a:prstGeom prst="roundRect">
            <a:avLst>
              <a:gd name="adj" fmla="val 22205"/>
            </a:avLst>
          </a:prstGeom>
          <a:solidFill>
            <a:srgbClr val="0E8A8F">
              <a:alpha val="70000"/>
            </a:srgbClr>
          </a:solidFill>
          <a:ln/>
        </p:spPr>
        <p:txBody>
          <a:bodyPr/>
          <a:lstStyle/>
          <a:p>
            <a:endParaRPr lang="en-US"/>
          </a:p>
        </p:txBody>
      </p:sp>
      <p:sp>
        <p:nvSpPr>
          <p:cNvPr id="19" name="Shape 17"/>
          <p:cNvSpPr/>
          <p:nvPr/>
        </p:nvSpPr>
        <p:spPr>
          <a:xfrm>
            <a:off x="2800165" y="6331043"/>
            <a:ext cx="82358" cy="526957"/>
          </a:xfrm>
          <a:prstGeom prst="roundRect">
            <a:avLst>
              <a:gd name="adj" fmla="val 22205"/>
            </a:avLst>
          </a:prstGeom>
          <a:solidFill>
            <a:srgbClr val="0E8A8F">
              <a:alpha val="70000"/>
            </a:srgbClr>
          </a:solidFill>
          <a:ln/>
        </p:spPr>
        <p:txBody>
          <a:bodyPr/>
          <a:lstStyle/>
          <a:p>
            <a:endParaRPr lang="en-US"/>
          </a:p>
        </p:txBody>
      </p:sp>
      <p:sp>
        <p:nvSpPr>
          <p:cNvPr id="20" name="Shape 18"/>
          <p:cNvSpPr/>
          <p:nvPr/>
        </p:nvSpPr>
        <p:spPr>
          <a:xfrm>
            <a:off x="2964880" y="6462829"/>
            <a:ext cx="82358" cy="395171"/>
          </a:xfrm>
          <a:prstGeom prst="roundRect">
            <a:avLst>
              <a:gd name="adj" fmla="val 22205"/>
            </a:avLst>
          </a:prstGeom>
          <a:solidFill>
            <a:srgbClr val="0E8A8F">
              <a:alpha val="70000"/>
            </a:srgbClr>
          </a:solidFill>
          <a:ln/>
        </p:spPr>
        <p:txBody>
          <a:bodyPr/>
          <a:lstStyle/>
          <a:p>
            <a:endParaRPr lang="en-US"/>
          </a:p>
        </p:txBody>
      </p:sp>
      <p:sp>
        <p:nvSpPr>
          <p:cNvPr id="21" name="Shape 19"/>
          <p:cNvSpPr/>
          <p:nvPr/>
        </p:nvSpPr>
        <p:spPr>
          <a:xfrm>
            <a:off x="3129596" y="6329938"/>
            <a:ext cx="82358" cy="528062"/>
          </a:xfrm>
          <a:prstGeom prst="roundRect">
            <a:avLst>
              <a:gd name="adj" fmla="val 22205"/>
            </a:avLst>
          </a:prstGeom>
          <a:solidFill>
            <a:srgbClr val="0E8A8F">
              <a:alpha val="70000"/>
            </a:srgbClr>
          </a:solidFill>
          <a:ln/>
        </p:spPr>
        <p:txBody>
          <a:bodyPr/>
          <a:lstStyle/>
          <a:p>
            <a:endParaRPr lang="en-US"/>
          </a:p>
        </p:txBody>
      </p:sp>
      <p:sp>
        <p:nvSpPr>
          <p:cNvPr id="22" name="Shape 20"/>
          <p:cNvSpPr/>
          <p:nvPr/>
        </p:nvSpPr>
        <p:spPr>
          <a:xfrm>
            <a:off x="3294311" y="5761175"/>
            <a:ext cx="82358" cy="1096825"/>
          </a:xfrm>
          <a:prstGeom prst="roundRect">
            <a:avLst>
              <a:gd name="adj" fmla="val 22205"/>
            </a:avLst>
          </a:prstGeom>
          <a:solidFill>
            <a:srgbClr val="0E8A8F">
              <a:alpha val="70000"/>
            </a:srgbClr>
          </a:solidFill>
          <a:ln/>
        </p:spPr>
        <p:txBody>
          <a:bodyPr/>
          <a:lstStyle/>
          <a:p>
            <a:endParaRPr lang="en-US"/>
          </a:p>
        </p:txBody>
      </p:sp>
      <p:sp>
        <p:nvSpPr>
          <p:cNvPr id="23" name="Shape 21"/>
          <p:cNvSpPr/>
          <p:nvPr/>
        </p:nvSpPr>
        <p:spPr>
          <a:xfrm>
            <a:off x="3459027" y="5543385"/>
            <a:ext cx="82358" cy="1314615"/>
          </a:xfrm>
          <a:prstGeom prst="roundRect">
            <a:avLst>
              <a:gd name="adj" fmla="val 22205"/>
            </a:avLst>
          </a:prstGeom>
          <a:solidFill>
            <a:srgbClr val="0E8A8F">
              <a:alpha val="70000"/>
            </a:srgbClr>
          </a:solidFill>
          <a:ln/>
        </p:spPr>
        <p:txBody>
          <a:bodyPr/>
          <a:lstStyle/>
          <a:p>
            <a:endParaRPr lang="en-US"/>
          </a:p>
        </p:txBody>
      </p:sp>
      <p:sp>
        <p:nvSpPr>
          <p:cNvPr id="24" name="Shape 22"/>
          <p:cNvSpPr/>
          <p:nvPr/>
        </p:nvSpPr>
        <p:spPr>
          <a:xfrm>
            <a:off x="3623742" y="6230294"/>
            <a:ext cx="82358" cy="627706"/>
          </a:xfrm>
          <a:prstGeom prst="roundRect">
            <a:avLst>
              <a:gd name="adj" fmla="val 22205"/>
            </a:avLst>
          </a:prstGeom>
          <a:solidFill>
            <a:srgbClr val="0E8A8F">
              <a:alpha val="70000"/>
            </a:srgbClr>
          </a:solidFill>
          <a:ln/>
        </p:spPr>
        <p:txBody>
          <a:bodyPr/>
          <a:lstStyle/>
          <a:p>
            <a:endParaRPr lang="en-US"/>
          </a:p>
        </p:txBody>
      </p:sp>
      <p:sp>
        <p:nvSpPr>
          <p:cNvPr id="25" name="Shape 23"/>
          <p:cNvSpPr/>
          <p:nvPr/>
        </p:nvSpPr>
        <p:spPr>
          <a:xfrm>
            <a:off x="3788458" y="6241903"/>
            <a:ext cx="82358" cy="616097"/>
          </a:xfrm>
          <a:prstGeom prst="roundRect">
            <a:avLst>
              <a:gd name="adj" fmla="val 22205"/>
            </a:avLst>
          </a:prstGeom>
          <a:solidFill>
            <a:srgbClr val="0E8A8F">
              <a:alpha val="70000"/>
            </a:srgbClr>
          </a:solidFill>
          <a:ln/>
        </p:spPr>
        <p:txBody>
          <a:bodyPr/>
          <a:lstStyle/>
          <a:p>
            <a:endParaRPr lang="en-US"/>
          </a:p>
        </p:txBody>
      </p:sp>
      <p:sp>
        <p:nvSpPr>
          <p:cNvPr id="26" name="Shape 24"/>
          <p:cNvSpPr/>
          <p:nvPr/>
        </p:nvSpPr>
        <p:spPr>
          <a:xfrm>
            <a:off x="3953174" y="6328004"/>
            <a:ext cx="82358" cy="529996"/>
          </a:xfrm>
          <a:prstGeom prst="roundRect">
            <a:avLst>
              <a:gd name="adj" fmla="val 22205"/>
            </a:avLst>
          </a:prstGeom>
          <a:solidFill>
            <a:srgbClr val="0E8A8F">
              <a:alpha val="70000"/>
            </a:srgbClr>
          </a:solidFill>
          <a:ln/>
        </p:spPr>
        <p:txBody>
          <a:bodyPr/>
          <a:lstStyle/>
          <a:p>
            <a:endParaRPr lang="en-US"/>
          </a:p>
        </p:txBody>
      </p:sp>
      <p:sp>
        <p:nvSpPr>
          <p:cNvPr id="27" name="Shape 25"/>
          <p:cNvSpPr/>
          <p:nvPr/>
        </p:nvSpPr>
        <p:spPr>
          <a:xfrm>
            <a:off x="4117889" y="5205098"/>
            <a:ext cx="82358" cy="1652902"/>
          </a:xfrm>
          <a:prstGeom prst="roundRect">
            <a:avLst>
              <a:gd name="adj" fmla="val 22205"/>
            </a:avLst>
          </a:prstGeom>
          <a:solidFill>
            <a:srgbClr val="0E8A8F">
              <a:alpha val="70000"/>
            </a:srgbClr>
          </a:solidFill>
          <a:ln/>
        </p:spPr>
        <p:txBody>
          <a:bodyPr/>
          <a:lstStyle/>
          <a:p>
            <a:endParaRPr lang="en-US"/>
          </a:p>
        </p:txBody>
      </p:sp>
      <p:sp>
        <p:nvSpPr>
          <p:cNvPr id="28" name="Shape 26"/>
          <p:cNvSpPr/>
          <p:nvPr/>
        </p:nvSpPr>
        <p:spPr>
          <a:xfrm>
            <a:off x="4282605" y="6346325"/>
            <a:ext cx="82358" cy="511675"/>
          </a:xfrm>
          <a:prstGeom prst="roundRect">
            <a:avLst>
              <a:gd name="adj" fmla="val 22205"/>
            </a:avLst>
          </a:prstGeom>
          <a:solidFill>
            <a:srgbClr val="0E8A8F">
              <a:alpha val="70000"/>
            </a:srgbClr>
          </a:solidFill>
          <a:ln/>
        </p:spPr>
        <p:txBody>
          <a:bodyPr/>
          <a:lstStyle/>
          <a:p>
            <a:endParaRPr lang="en-US"/>
          </a:p>
        </p:txBody>
      </p:sp>
      <p:sp>
        <p:nvSpPr>
          <p:cNvPr id="29" name="Shape 27"/>
          <p:cNvSpPr/>
          <p:nvPr/>
        </p:nvSpPr>
        <p:spPr>
          <a:xfrm>
            <a:off x="4447320" y="5409592"/>
            <a:ext cx="82358" cy="1448408"/>
          </a:xfrm>
          <a:prstGeom prst="roundRect">
            <a:avLst>
              <a:gd name="adj" fmla="val 22205"/>
            </a:avLst>
          </a:prstGeom>
          <a:solidFill>
            <a:srgbClr val="0E8A8F">
              <a:alpha val="70000"/>
            </a:srgbClr>
          </a:solidFill>
          <a:ln/>
        </p:spPr>
        <p:txBody>
          <a:bodyPr/>
          <a:lstStyle/>
          <a:p>
            <a:endParaRPr lang="en-US"/>
          </a:p>
        </p:txBody>
      </p:sp>
      <p:sp>
        <p:nvSpPr>
          <p:cNvPr id="30" name="Shape 28"/>
          <p:cNvSpPr/>
          <p:nvPr/>
        </p:nvSpPr>
        <p:spPr>
          <a:xfrm>
            <a:off x="4612036" y="5930611"/>
            <a:ext cx="82358" cy="927389"/>
          </a:xfrm>
          <a:prstGeom prst="roundRect">
            <a:avLst>
              <a:gd name="adj" fmla="val 22205"/>
            </a:avLst>
          </a:prstGeom>
          <a:solidFill>
            <a:srgbClr val="0E8A8F">
              <a:alpha val="70000"/>
            </a:srgbClr>
          </a:solidFill>
          <a:ln/>
        </p:spPr>
        <p:txBody>
          <a:bodyPr/>
          <a:lstStyle/>
          <a:p>
            <a:endParaRPr lang="en-US"/>
          </a:p>
        </p:txBody>
      </p:sp>
      <p:sp>
        <p:nvSpPr>
          <p:cNvPr id="31" name="Shape 29"/>
          <p:cNvSpPr/>
          <p:nvPr/>
        </p:nvSpPr>
        <p:spPr>
          <a:xfrm>
            <a:off x="4776751" y="5447223"/>
            <a:ext cx="82358" cy="1410777"/>
          </a:xfrm>
          <a:prstGeom prst="roundRect">
            <a:avLst>
              <a:gd name="adj" fmla="val 22205"/>
            </a:avLst>
          </a:prstGeom>
          <a:solidFill>
            <a:srgbClr val="0E8A8F">
              <a:alpha val="70000"/>
            </a:srgbClr>
          </a:solidFill>
          <a:ln/>
        </p:spPr>
        <p:txBody>
          <a:bodyPr/>
          <a:lstStyle/>
          <a:p>
            <a:endParaRPr lang="en-US"/>
          </a:p>
        </p:txBody>
      </p:sp>
      <p:sp>
        <p:nvSpPr>
          <p:cNvPr id="32" name="Shape 30"/>
          <p:cNvSpPr/>
          <p:nvPr/>
        </p:nvSpPr>
        <p:spPr>
          <a:xfrm>
            <a:off x="4941467" y="5325134"/>
            <a:ext cx="82358" cy="1532866"/>
          </a:xfrm>
          <a:prstGeom prst="roundRect">
            <a:avLst>
              <a:gd name="adj" fmla="val 22205"/>
            </a:avLst>
          </a:prstGeom>
          <a:solidFill>
            <a:srgbClr val="0E8A8F">
              <a:alpha val="70000"/>
            </a:srgbClr>
          </a:solidFill>
          <a:ln/>
        </p:spPr>
        <p:txBody>
          <a:bodyPr/>
          <a:lstStyle/>
          <a:p>
            <a:endParaRPr lang="en-US"/>
          </a:p>
        </p:txBody>
      </p:sp>
      <p:sp>
        <p:nvSpPr>
          <p:cNvPr id="33" name="Shape 31"/>
          <p:cNvSpPr/>
          <p:nvPr/>
        </p:nvSpPr>
        <p:spPr>
          <a:xfrm>
            <a:off x="5106183" y="5763703"/>
            <a:ext cx="82358" cy="1094297"/>
          </a:xfrm>
          <a:prstGeom prst="roundRect">
            <a:avLst>
              <a:gd name="adj" fmla="val 22205"/>
            </a:avLst>
          </a:prstGeom>
          <a:solidFill>
            <a:srgbClr val="0E8A8F">
              <a:alpha val="70000"/>
            </a:srgbClr>
          </a:solidFill>
          <a:ln/>
        </p:spPr>
        <p:txBody>
          <a:bodyPr/>
          <a:lstStyle/>
          <a:p>
            <a:endParaRPr lang="en-US"/>
          </a:p>
        </p:txBody>
      </p:sp>
      <p:sp>
        <p:nvSpPr>
          <p:cNvPr id="34" name="Shape 32"/>
          <p:cNvSpPr/>
          <p:nvPr/>
        </p:nvSpPr>
        <p:spPr>
          <a:xfrm>
            <a:off x="5270898" y="6212895"/>
            <a:ext cx="82358" cy="645105"/>
          </a:xfrm>
          <a:prstGeom prst="roundRect">
            <a:avLst>
              <a:gd name="adj" fmla="val 22205"/>
            </a:avLst>
          </a:prstGeom>
          <a:solidFill>
            <a:srgbClr val="0E8A8F">
              <a:alpha val="70000"/>
            </a:srgbClr>
          </a:solidFill>
          <a:ln/>
        </p:spPr>
        <p:txBody>
          <a:bodyPr/>
          <a:lstStyle/>
          <a:p>
            <a:endParaRPr lang="en-US"/>
          </a:p>
        </p:txBody>
      </p:sp>
      <p:sp>
        <p:nvSpPr>
          <p:cNvPr id="35" name="Shape 33"/>
          <p:cNvSpPr/>
          <p:nvPr/>
        </p:nvSpPr>
        <p:spPr>
          <a:xfrm>
            <a:off x="5435614" y="5899173"/>
            <a:ext cx="82358" cy="958827"/>
          </a:xfrm>
          <a:prstGeom prst="roundRect">
            <a:avLst>
              <a:gd name="adj" fmla="val 22205"/>
            </a:avLst>
          </a:prstGeom>
          <a:solidFill>
            <a:srgbClr val="0E8A8F">
              <a:alpha val="70000"/>
            </a:srgbClr>
          </a:solidFill>
          <a:ln/>
        </p:spPr>
        <p:txBody>
          <a:bodyPr/>
          <a:lstStyle/>
          <a:p>
            <a:endParaRPr lang="en-US"/>
          </a:p>
        </p:txBody>
      </p:sp>
      <p:sp>
        <p:nvSpPr>
          <p:cNvPr id="36" name="Shape 34"/>
          <p:cNvSpPr/>
          <p:nvPr/>
        </p:nvSpPr>
        <p:spPr>
          <a:xfrm>
            <a:off x="5600329" y="5489992"/>
            <a:ext cx="82358" cy="1368008"/>
          </a:xfrm>
          <a:prstGeom prst="roundRect">
            <a:avLst>
              <a:gd name="adj" fmla="val 22205"/>
            </a:avLst>
          </a:prstGeom>
          <a:solidFill>
            <a:srgbClr val="0E8A8F">
              <a:alpha val="70000"/>
            </a:srgbClr>
          </a:solidFill>
          <a:ln/>
        </p:spPr>
        <p:txBody>
          <a:bodyPr/>
          <a:lstStyle/>
          <a:p>
            <a:endParaRPr lang="en-US"/>
          </a:p>
        </p:txBody>
      </p:sp>
      <p:sp>
        <p:nvSpPr>
          <p:cNvPr id="37" name="Shape 35"/>
          <p:cNvSpPr/>
          <p:nvPr/>
        </p:nvSpPr>
        <p:spPr>
          <a:xfrm>
            <a:off x="5765045" y="5168298"/>
            <a:ext cx="82358" cy="1689702"/>
          </a:xfrm>
          <a:prstGeom prst="roundRect">
            <a:avLst>
              <a:gd name="adj" fmla="val 22205"/>
            </a:avLst>
          </a:prstGeom>
          <a:solidFill>
            <a:srgbClr val="0E8A8F">
              <a:alpha val="70000"/>
            </a:srgbClr>
          </a:solidFill>
          <a:ln/>
        </p:spPr>
        <p:txBody>
          <a:bodyPr/>
          <a:lstStyle/>
          <a:p>
            <a:endParaRPr lang="en-US"/>
          </a:p>
        </p:txBody>
      </p:sp>
      <p:sp>
        <p:nvSpPr>
          <p:cNvPr id="38" name="Shape 36"/>
          <p:cNvSpPr/>
          <p:nvPr/>
        </p:nvSpPr>
        <p:spPr>
          <a:xfrm>
            <a:off x="5929760" y="6227930"/>
            <a:ext cx="82358" cy="630070"/>
          </a:xfrm>
          <a:prstGeom prst="roundRect">
            <a:avLst>
              <a:gd name="adj" fmla="val 22205"/>
            </a:avLst>
          </a:prstGeom>
          <a:solidFill>
            <a:srgbClr val="0E8A8F">
              <a:alpha val="70000"/>
            </a:srgbClr>
          </a:solidFill>
          <a:ln/>
        </p:spPr>
        <p:txBody>
          <a:bodyPr/>
          <a:lstStyle/>
          <a:p>
            <a:endParaRPr lang="en-US"/>
          </a:p>
        </p:txBody>
      </p:sp>
      <p:sp>
        <p:nvSpPr>
          <p:cNvPr id="39" name="Shape 37"/>
          <p:cNvSpPr/>
          <p:nvPr/>
        </p:nvSpPr>
        <p:spPr>
          <a:xfrm>
            <a:off x="6094476" y="5513007"/>
            <a:ext cx="82358" cy="1344993"/>
          </a:xfrm>
          <a:prstGeom prst="roundRect">
            <a:avLst>
              <a:gd name="adj" fmla="val 22205"/>
            </a:avLst>
          </a:prstGeom>
          <a:solidFill>
            <a:srgbClr val="0E8A8F">
              <a:alpha val="70000"/>
            </a:srgbClr>
          </a:solidFill>
          <a:ln/>
        </p:spPr>
        <p:txBody>
          <a:bodyPr/>
          <a:lstStyle/>
          <a:p>
            <a:endParaRPr lang="en-US"/>
          </a:p>
        </p:txBody>
      </p:sp>
      <p:sp>
        <p:nvSpPr>
          <p:cNvPr id="40" name="Shape 38"/>
          <p:cNvSpPr/>
          <p:nvPr/>
        </p:nvSpPr>
        <p:spPr>
          <a:xfrm>
            <a:off x="6259192" y="5931609"/>
            <a:ext cx="82358" cy="926391"/>
          </a:xfrm>
          <a:prstGeom prst="roundRect">
            <a:avLst>
              <a:gd name="adj" fmla="val 22205"/>
            </a:avLst>
          </a:prstGeom>
          <a:solidFill>
            <a:srgbClr val="0E8A8F">
              <a:alpha val="70000"/>
            </a:srgbClr>
          </a:solidFill>
          <a:ln/>
        </p:spPr>
        <p:txBody>
          <a:bodyPr/>
          <a:lstStyle/>
          <a:p>
            <a:endParaRPr lang="en-US"/>
          </a:p>
        </p:txBody>
      </p:sp>
      <p:sp>
        <p:nvSpPr>
          <p:cNvPr id="41" name="Shape 39"/>
          <p:cNvSpPr/>
          <p:nvPr/>
        </p:nvSpPr>
        <p:spPr>
          <a:xfrm>
            <a:off x="6423907" y="5922333"/>
            <a:ext cx="82358" cy="935667"/>
          </a:xfrm>
          <a:prstGeom prst="roundRect">
            <a:avLst>
              <a:gd name="adj" fmla="val 22205"/>
            </a:avLst>
          </a:prstGeom>
          <a:solidFill>
            <a:srgbClr val="0E8A8F">
              <a:alpha val="70000"/>
            </a:srgbClr>
          </a:solidFill>
          <a:ln/>
        </p:spPr>
        <p:txBody>
          <a:bodyPr/>
          <a:lstStyle/>
          <a:p>
            <a:endParaRPr lang="en-US"/>
          </a:p>
        </p:txBody>
      </p:sp>
      <p:sp>
        <p:nvSpPr>
          <p:cNvPr id="42" name="Shape 40"/>
          <p:cNvSpPr/>
          <p:nvPr/>
        </p:nvSpPr>
        <p:spPr>
          <a:xfrm>
            <a:off x="6588623" y="5526990"/>
            <a:ext cx="82358" cy="1331010"/>
          </a:xfrm>
          <a:prstGeom prst="roundRect">
            <a:avLst>
              <a:gd name="adj" fmla="val 22205"/>
            </a:avLst>
          </a:prstGeom>
          <a:solidFill>
            <a:srgbClr val="0E8A8F">
              <a:alpha val="70000"/>
            </a:srgbClr>
          </a:solidFill>
          <a:ln/>
        </p:spPr>
        <p:txBody>
          <a:bodyPr/>
          <a:lstStyle/>
          <a:p>
            <a:endParaRPr lang="en-US"/>
          </a:p>
        </p:txBody>
      </p:sp>
      <p:sp>
        <p:nvSpPr>
          <p:cNvPr id="43" name="Shape 41"/>
          <p:cNvSpPr/>
          <p:nvPr/>
        </p:nvSpPr>
        <p:spPr>
          <a:xfrm>
            <a:off x="6753338" y="6309477"/>
            <a:ext cx="82358" cy="548523"/>
          </a:xfrm>
          <a:prstGeom prst="roundRect">
            <a:avLst>
              <a:gd name="adj" fmla="val 22205"/>
            </a:avLst>
          </a:prstGeom>
          <a:solidFill>
            <a:srgbClr val="0E8A8F">
              <a:alpha val="70000"/>
            </a:srgbClr>
          </a:solidFill>
          <a:ln/>
        </p:spPr>
        <p:txBody>
          <a:bodyPr/>
          <a:lstStyle/>
          <a:p>
            <a:endParaRPr lang="en-US"/>
          </a:p>
        </p:txBody>
      </p:sp>
      <p:sp>
        <p:nvSpPr>
          <p:cNvPr id="44" name="Shape 42"/>
          <p:cNvSpPr/>
          <p:nvPr/>
        </p:nvSpPr>
        <p:spPr>
          <a:xfrm>
            <a:off x="6918054" y="6347540"/>
            <a:ext cx="82358" cy="510460"/>
          </a:xfrm>
          <a:prstGeom prst="roundRect">
            <a:avLst>
              <a:gd name="adj" fmla="val 22205"/>
            </a:avLst>
          </a:prstGeom>
          <a:solidFill>
            <a:srgbClr val="0E8A8F">
              <a:alpha val="70000"/>
            </a:srgbClr>
          </a:solidFill>
          <a:ln/>
        </p:spPr>
        <p:txBody>
          <a:bodyPr/>
          <a:lstStyle/>
          <a:p>
            <a:endParaRPr lang="en-US"/>
          </a:p>
        </p:txBody>
      </p:sp>
      <p:sp>
        <p:nvSpPr>
          <p:cNvPr id="45" name="Shape 43"/>
          <p:cNvSpPr/>
          <p:nvPr/>
        </p:nvSpPr>
        <p:spPr>
          <a:xfrm>
            <a:off x="7082769" y="6111596"/>
            <a:ext cx="82358" cy="746404"/>
          </a:xfrm>
          <a:prstGeom prst="roundRect">
            <a:avLst>
              <a:gd name="adj" fmla="val 22205"/>
            </a:avLst>
          </a:prstGeom>
          <a:solidFill>
            <a:srgbClr val="0E8A8F">
              <a:alpha val="70000"/>
            </a:srgbClr>
          </a:solidFill>
          <a:ln/>
        </p:spPr>
        <p:txBody>
          <a:bodyPr/>
          <a:lstStyle/>
          <a:p>
            <a:endParaRPr lang="en-US"/>
          </a:p>
        </p:txBody>
      </p:sp>
      <p:sp>
        <p:nvSpPr>
          <p:cNvPr id="46" name="Shape 44"/>
          <p:cNvSpPr/>
          <p:nvPr/>
        </p:nvSpPr>
        <p:spPr>
          <a:xfrm>
            <a:off x="7247485" y="5890383"/>
            <a:ext cx="82358" cy="967617"/>
          </a:xfrm>
          <a:prstGeom prst="roundRect">
            <a:avLst>
              <a:gd name="adj" fmla="val 22205"/>
            </a:avLst>
          </a:prstGeom>
          <a:solidFill>
            <a:srgbClr val="0E8A8F">
              <a:alpha val="70000"/>
            </a:srgbClr>
          </a:solidFill>
          <a:ln/>
        </p:spPr>
        <p:txBody>
          <a:bodyPr/>
          <a:lstStyle/>
          <a:p>
            <a:endParaRPr lang="en-US"/>
          </a:p>
        </p:txBody>
      </p:sp>
      <p:sp>
        <p:nvSpPr>
          <p:cNvPr id="47" name="Shape 45"/>
          <p:cNvSpPr/>
          <p:nvPr/>
        </p:nvSpPr>
        <p:spPr>
          <a:xfrm>
            <a:off x="7412201" y="6040602"/>
            <a:ext cx="82358" cy="817398"/>
          </a:xfrm>
          <a:prstGeom prst="roundRect">
            <a:avLst>
              <a:gd name="adj" fmla="val 22205"/>
            </a:avLst>
          </a:prstGeom>
          <a:solidFill>
            <a:srgbClr val="0E8A8F">
              <a:alpha val="70000"/>
            </a:srgbClr>
          </a:solidFill>
          <a:ln/>
        </p:spPr>
        <p:txBody>
          <a:bodyPr/>
          <a:lstStyle/>
          <a:p>
            <a:endParaRPr lang="en-US"/>
          </a:p>
        </p:txBody>
      </p:sp>
      <p:sp>
        <p:nvSpPr>
          <p:cNvPr id="48" name="Shape 46"/>
          <p:cNvSpPr/>
          <p:nvPr/>
        </p:nvSpPr>
        <p:spPr>
          <a:xfrm>
            <a:off x="7576916" y="5962656"/>
            <a:ext cx="82358" cy="895344"/>
          </a:xfrm>
          <a:prstGeom prst="roundRect">
            <a:avLst>
              <a:gd name="adj" fmla="val 22205"/>
            </a:avLst>
          </a:prstGeom>
          <a:solidFill>
            <a:srgbClr val="0E8A8F">
              <a:alpha val="70000"/>
            </a:srgbClr>
          </a:solidFill>
          <a:ln/>
        </p:spPr>
        <p:txBody>
          <a:bodyPr/>
          <a:lstStyle/>
          <a:p>
            <a:endParaRPr lang="en-US"/>
          </a:p>
        </p:txBody>
      </p:sp>
      <p:sp>
        <p:nvSpPr>
          <p:cNvPr id="49" name="Shape 47"/>
          <p:cNvSpPr/>
          <p:nvPr/>
        </p:nvSpPr>
        <p:spPr>
          <a:xfrm>
            <a:off x="7741632" y="5934579"/>
            <a:ext cx="82358" cy="923421"/>
          </a:xfrm>
          <a:prstGeom prst="roundRect">
            <a:avLst>
              <a:gd name="adj" fmla="val 22205"/>
            </a:avLst>
          </a:prstGeom>
          <a:solidFill>
            <a:srgbClr val="0E8A8F">
              <a:alpha val="70000"/>
            </a:srgbClr>
          </a:solidFill>
          <a:ln/>
        </p:spPr>
        <p:txBody>
          <a:bodyPr/>
          <a:lstStyle/>
          <a:p>
            <a:endParaRPr lang="en-US"/>
          </a:p>
        </p:txBody>
      </p:sp>
      <p:sp>
        <p:nvSpPr>
          <p:cNvPr id="50" name="Shape 48"/>
          <p:cNvSpPr/>
          <p:nvPr/>
        </p:nvSpPr>
        <p:spPr>
          <a:xfrm>
            <a:off x="7906347" y="5681748"/>
            <a:ext cx="82358" cy="1176252"/>
          </a:xfrm>
          <a:prstGeom prst="roundRect">
            <a:avLst>
              <a:gd name="adj" fmla="val 22205"/>
            </a:avLst>
          </a:prstGeom>
          <a:solidFill>
            <a:srgbClr val="0E8A8F">
              <a:alpha val="70000"/>
            </a:srgbClr>
          </a:solidFill>
          <a:ln/>
        </p:spPr>
        <p:txBody>
          <a:bodyPr/>
          <a:lstStyle/>
          <a:p>
            <a:endParaRPr lang="en-US"/>
          </a:p>
        </p:txBody>
      </p:sp>
      <p:sp>
        <p:nvSpPr>
          <p:cNvPr id="51" name="Shape 49"/>
          <p:cNvSpPr/>
          <p:nvPr/>
        </p:nvSpPr>
        <p:spPr>
          <a:xfrm>
            <a:off x="8071063" y="6068590"/>
            <a:ext cx="82358" cy="789410"/>
          </a:xfrm>
          <a:prstGeom prst="roundRect">
            <a:avLst>
              <a:gd name="adj" fmla="val 22205"/>
            </a:avLst>
          </a:prstGeom>
          <a:solidFill>
            <a:srgbClr val="0E8A8F">
              <a:alpha val="70000"/>
            </a:srgbClr>
          </a:solidFill>
          <a:ln/>
        </p:spPr>
        <p:txBody>
          <a:bodyPr/>
          <a:lstStyle/>
          <a:p>
            <a:endParaRPr lang="en-US"/>
          </a:p>
        </p:txBody>
      </p:sp>
      <p:sp>
        <p:nvSpPr>
          <p:cNvPr id="52" name="Shape 50"/>
          <p:cNvSpPr/>
          <p:nvPr/>
        </p:nvSpPr>
        <p:spPr>
          <a:xfrm>
            <a:off x="8235778" y="5828442"/>
            <a:ext cx="82358" cy="1029558"/>
          </a:xfrm>
          <a:prstGeom prst="roundRect">
            <a:avLst>
              <a:gd name="adj" fmla="val 22205"/>
            </a:avLst>
          </a:prstGeom>
          <a:solidFill>
            <a:srgbClr val="0E8A8F">
              <a:alpha val="70000"/>
            </a:srgbClr>
          </a:solidFill>
          <a:ln/>
        </p:spPr>
        <p:txBody>
          <a:bodyPr/>
          <a:lstStyle/>
          <a:p>
            <a:endParaRPr lang="en-US"/>
          </a:p>
        </p:txBody>
      </p:sp>
      <p:sp>
        <p:nvSpPr>
          <p:cNvPr id="53" name="Shape 51"/>
          <p:cNvSpPr/>
          <p:nvPr/>
        </p:nvSpPr>
        <p:spPr>
          <a:xfrm>
            <a:off x="8400494" y="5742367"/>
            <a:ext cx="82358" cy="1115633"/>
          </a:xfrm>
          <a:prstGeom prst="roundRect">
            <a:avLst>
              <a:gd name="adj" fmla="val 22205"/>
            </a:avLst>
          </a:prstGeom>
          <a:solidFill>
            <a:srgbClr val="0E8A8F">
              <a:alpha val="70000"/>
            </a:srgbClr>
          </a:solidFill>
          <a:ln/>
        </p:spPr>
        <p:txBody>
          <a:bodyPr/>
          <a:lstStyle/>
          <a:p>
            <a:endParaRPr lang="en-US"/>
          </a:p>
        </p:txBody>
      </p:sp>
      <p:sp>
        <p:nvSpPr>
          <p:cNvPr id="54" name="Shape 52"/>
          <p:cNvSpPr/>
          <p:nvPr/>
        </p:nvSpPr>
        <p:spPr>
          <a:xfrm>
            <a:off x="8565210" y="5775065"/>
            <a:ext cx="82358" cy="1082935"/>
          </a:xfrm>
          <a:prstGeom prst="roundRect">
            <a:avLst>
              <a:gd name="adj" fmla="val 22205"/>
            </a:avLst>
          </a:prstGeom>
          <a:solidFill>
            <a:srgbClr val="0E8A8F">
              <a:alpha val="70000"/>
            </a:srgbClr>
          </a:solidFill>
          <a:ln/>
        </p:spPr>
        <p:txBody>
          <a:bodyPr/>
          <a:lstStyle/>
          <a:p>
            <a:endParaRPr lang="en-US"/>
          </a:p>
        </p:txBody>
      </p:sp>
      <p:sp>
        <p:nvSpPr>
          <p:cNvPr id="55" name="Shape 53"/>
          <p:cNvSpPr/>
          <p:nvPr/>
        </p:nvSpPr>
        <p:spPr>
          <a:xfrm>
            <a:off x="8729925" y="5486008"/>
            <a:ext cx="82358" cy="1371992"/>
          </a:xfrm>
          <a:prstGeom prst="roundRect">
            <a:avLst>
              <a:gd name="adj" fmla="val 22205"/>
            </a:avLst>
          </a:prstGeom>
          <a:solidFill>
            <a:srgbClr val="0E8A8F">
              <a:alpha val="70000"/>
            </a:srgbClr>
          </a:solidFill>
          <a:ln/>
        </p:spPr>
        <p:txBody>
          <a:bodyPr/>
          <a:lstStyle/>
          <a:p>
            <a:endParaRPr lang="en-US"/>
          </a:p>
        </p:txBody>
      </p:sp>
      <p:sp>
        <p:nvSpPr>
          <p:cNvPr id="56" name="Shape 54"/>
          <p:cNvSpPr/>
          <p:nvPr/>
        </p:nvSpPr>
        <p:spPr>
          <a:xfrm>
            <a:off x="8894641" y="5680776"/>
            <a:ext cx="82358" cy="1177224"/>
          </a:xfrm>
          <a:prstGeom prst="roundRect">
            <a:avLst>
              <a:gd name="adj" fmla="val 22205"/>
            </a:avLst>
          </a:prstGeom>
          <a:solidFill>
            <a:srgbClr val="0E8A8F">
              <a:alpha val="70000"/>
            </a:srgbClr>
          </a:solidFill>
          <a:ln/>
        </p:spPr>
        <p:txBody>
          <a:bodyPr/>
          <a:lstStyle/>
          <a:p>
            <a:endParaRPr lang="en-US"/>
          </a:p>
        </p:txBody>
      </p:sp>
      <p:sp>
        <p:nvSpPr>
          <p:cNvPr id="57" name="Shape 55"/>
          <p:cNvSpPr/>
          <p:nvPr/>
        </p:nvSpPr>
        <p:spPr>
          <a:xfrm>
            <a:off x="9059356" y="6366531"/>
            <a:ext cx="82358" cy="491469"/>
          </a:xfrm>
          <a:prstGeom prst="roundRect">
            <a:avLst>
              <a:gd name="adj" fmla="val 22205"/>
            </a:avLst>
          </a:prstGeom>
          <a:solidFill>
            <a:srgbClr val="0E8A8F">
              <a:alpha val="70000"/>
            </a:srgbClr>
          </a:solidFill>
          <a:ln/>
        </p:spPr>
        <p:txBody>
          <a:bodyPr/>
          <a:lstStyle/>
          <a:p>
            <a:endParaRPr lang="en-US"/>
          </a:p>
        </p:txBody>
      </p:sp>
      <p:sp>
        <p:nvSpPr>
          <p:cNvPr id="58" name="Shape 56"/>
          <p:cNvSpPr/>
          <p:nvPr/>
        </p:nvSpPr>
        <p:spPr>
          <a:xfrm>
            <a:off x="9224072" y="5838215"/>
            <a:ext cx="82358" cy="1019785"/>
          </a:xfrm>
          <a:prstGeom prst="roundRect">
            <a:avLst>
              <a:gd name="adj" fmla="val 22205"/>
            </a:avLst>
          </a:prstGeom>
          <a:solidFill>
            <a:srgbClr val="0E8A8F">
              <a:alpha val="70000"/>
            </a:srgbClr>
          </a:solidFill>
          <a:ln/>
        </p:spPr>
        <p:txBody>
          <a:bodyPr/>
          <a:lstStyle/>
          <a:p>
            <a:endParaRPr lang="en-US"/>
          </a:p>
        </p:txBody>
      </p:sp>
      <p:sp>
        <p:nvSpPr>
          <p:cNvPr id="59" name="Shape 57"/>
          <p:cNvSpPr/>
          <p:nvPr/>
        </p:nvSpPr>
        <p:spPr>
          <a:xfrm>
            <a:off x="9388787" y="5958483"/>
            <a:ext cx="82358" cy="899517"/>
          </a:xfrm>
          <a:prstGeom prst="roundRect">
            <a:avLst>
              <a:gd name="adj" fmla="val 22205"/>
            </a:avLst>
          </a:prstGeom>
          <a:solidFill>
            <a:srgbClr val="0E8A8F">
              <a:alpha val="70000"/>
            </a:srgbClr>
          </a:solidFill>
          <a:ln/>
        </p:spPr>
        <p:txBody>
          <a:bodyPr/>
          <a:lstStyle/>
          <a:p>
            <a:endParaRPr lang="en-US"/>
          </a:p>
        </p:txBody>
      </p:sp>
      <p:sp>
        <p:nvSpPr>
          <p:cNvPr id="60" name="Shape 58"/>
          <p:cNvSpPr/>
          <p:nvPr/>
        </p:nvSpPr>
        <p:spPr>
          <a:xfrm>
            <a:off x="9553503" y="5511187"/>
            <a:ext cx="82358" cy="1346813"/>
          </a:xfrm>
          <a:prstGeom prst="roundRect">
            <a:avLst>
              <a:gd name="adj" fmla="val 22205"/>
            </a:avLst>
          </a:prstGeom>
          <a:solidFill>
            <a:srgbClr val="0E8A8F">
              <a:alpha val="70000"/>
            </a:srgbClr>
          </a:solidFill>
          <a:ln/>
        </p:spPr>
        <p:txBody>
          <a:bodyPr/>
          <a:lstStyle/>
          <a:p>
            <a:endParaRPr lang="en-US"/>
          </a:p>
        </p:txBody>
      </p:sp>
      <p:sp>
        <p:nvSpPr>
          <p:cNvPr id="61" name="Shape 59"/>
          <p:cNvSpPr/>
          <p:nvPr/>
        </p:nvSpPr>
        <p:spPr>
          <a:xfrm>
            <a:off x="9718218" y="6178227"/>
            <a:ext cx="82358" cy="679773"/>
          </a:xfrm>
          <a:prstGeom prst="roundRect">
            <a:avLst>
              <a:gd name="adj" fmla="val 22205"/>
            </a:avLst>
          </a:prstGeom>
          <a:solidFill>
            <a:srgbClr val="0E8A8F">
              <a:alpha val="70000"/>
            </a:srgbClr>
          </a:solidFill>
          <a:ln/>
        </p:spPr>
        <p:txBody>
          <a:bodyPr/>
          <a:lstStyle/>
          <a:p>
            <a:endParaRPr lang="en-US"/>
          </a:p>
        </p:txBody>
      </p:sp>
      <p:sp>
        <p:nvSpPr>
          <p:cNvPr id="62" name="Shape 60"/>
          <p:cNvSpPr/>
          <p:nvPr/>
        </p:nvSpPr>
        <p:spPr>
          <a:xfrm>
            <a:off x="9882934" y="6494016"/>
            <a:ext cx="82358" cy="363984"/>
          </a:xfrm>
          <a:prstGeom prst="roundRect">
            <a:avLst>
              <a:gd name="adj" fmla="val 22205"/>
            </a:avLst>
          </a:prstGeom>
          <a:solidFill>
            <a:srgbClr val="0E8A8F">
              <a:alpha val="70000"/>
            </a:srgbClr>
          </a:solidFill>
          <a:ln/>
        </p:spPr>
        <p:txBody>
          <a:bodyPr/>
          <a:lstStyle/>
          <a:p>
            <a:endParaRPr lang="en-US"/>
          </a:p>
        </p:txBody>
      </p:sp>
      <p:sp>
        <p:nvSpPr>
          <p:cNvPr id="63" name="Shape 61"/>
          <p:cNvSpPr/>
          <p:nvPr/>
        </p:nvSpPr>
        <p:spPr>
          <a:xfrm>
            <a:off x="10047650" y="5744269"/>
            <a:ext cx="82358" cy="1113731"/>
          </a:xfrm>
          <a:prstGeom prst="roundRect">
            <a:avLst>
              <a:gd name="adj" fmla="val 22205"/>
            </a:avLst>
          </a:prstGeom>
          <a:solidFill>
            <a:srgbClr val="0E8A8F">
              <a:alpha val="70000"/>
            </a:srgbClr>
          </a:solidFill>
          <a:ln/>
        </p:spPr>
        <p:txBody>
          <a:bodyPr/>
          <a:lstStyle/>
          <a:p>
            <a:endParaRPr lang="en-US"/>
          </a:p>
        </p:txBody>
      </p:sp>
      <p:sp>
        <p:nvSpPr>
          <p:cNvPr id="64" name="Shape 62"/>
          <p:cNvSpPr/>
          <p:nvPr/>
        </p:nvSpPr>
        <p:spPr>
          <a:xfrm>
            <a:off x="10212365" y="5737687"/>
            <a:ext cx="82358" cy="1120313"/>
          </a:xfrm>
          <a:prstGeom prst="roundRect">
            <a:avLst>
              <a:gd name="adj" fmla="val 22205"/>
            </a:avLst>
          </a:prstGeom>
          <a:solidFill>
            <a:srgbClr val="0E8A8F">
              <a:alpha val="70000"/>
            </a:srgbClr>
          </a:solidFill>
          <a:ln/>
        </p:spPr>
        <p:txBody>
          <a:bodyPr/>
          <a:lstStyle/>
          <a:p>
            <a:endParaRPr lang="en-US"/>
          </a:p>
        </p:txBody>
      </p:sp>
      <p:sp>
        <p:nvSpPr>
          <p:cNvPr id="65" name="Shape 63"/>
          <p:cNvSpPr/>
          <p:nvPr/>
        </p:nvSpPr>
        <p:spPr>
          <a:xfrm>
            <a:off x="10377081" y="5878910"/>
            <a:ext cx="82358" cy="979090"/>
          </a:xfrm>
          <a:prstGeom prst="roundRect">
            <a:avLst>
              <a:gd name="adj" fmla="val 22205"/>
            </a:avLst>
          </a:prstGeom>
          <a:solidFill>
            <a:srgbClr val="0E8A8F">
              <a:alpha val="70000"/>
            </a:srgbClr>
          </a:solidFill>
          <a:ln/>
        </p:spPr>
        <p:txBody>
          <a:bodyPr/>
          <a:lstStyle/>
          <a:p>
            <a:endParaRPr lang="en-US"/>
          </a:p>
        </p:txBody>
      </p:sp>
      <p:sp>
        <p:nvSpPr>
          <p:cNvPr id="66" name="Shape 64"/>
          <p:cNvSpPr/>
          <p:nvPr/>
        </p:nvSpPr>
        <p:spPr>
          <a:xfrm>
            <a:off x="10541796" y="5976128"/>
            <a:ext cx="82358" cy="881872"/>
          </a:xfrm>
          <a:prstGeom prst="roundRect">
            <a:avLst>
              <a:gd name="adj" fmla="val 22205"/>
            </a:avLst>
          </a:prstGeom>
          <a:solidFill>
            <a:srgbClr val="0E8A8F">
              <a:alpha val="70000"/>
            </a:srgbClr>
          </a:solidFill>
          <a:ln/>
        </p:spPr>
        <p:txBody>
          <a:bodyPr/>
          <a:lstStyle/>
          <a:p>
            <a:endParaRPr lang="en-US"/>
          </a:p>
        </p:txBody>
      </p:sp>
      <p:sp>
        <p:nvSpPr>
          <p:cNvPr id="67" name="Shape 65"/>
          <p:cNvSpPr/>
          <p:nvPr/>
        </p:nvSpPr>
        <p:spPr>
          <a:xfrm>
            <a:off x="10706512" y="6361631"/>
            <a:ext cx="82358" cy="496369"/>
          </a:xfrm>
          <a:prstGeom prst="roundRect">
            <a:avLst>
              <a:gd name="adj" fmla="val 22205"/>
            </a:avLst>
          </a:prstGeom>
          <a:solidFill>
            <a:srgbClr val="0E8A8F">
              <a:alpha val="70000"/>
            </a:srgbClr>
          </a:solidFill>
          <a:ln/>
        </p:spPr>
        <p:txBody>
          <a:bodyPr/>
          <a:lstStyle/>
          <a:p>
            <a:endParaRPr lang="en-US"/>
          </a:p>
        </p:txBody>
      </p:sp>
      <p:sp>
        <p:nvSpPr>
          <p:cNvPr id="68" name="Shape 66"/>
          <p:cNvSpPr/>
          <p:nvPr/>
        </p:nvSpPr>
        <p:spPr>
          <a:xfrm>
            <a:off x="10871227" y="6053653"/>
            <a:ext cx="82358" cy="804347"/>
          </a:xfrm>
          <a:prstGeom prst="roundRect">
            <a:avLst>
              <a:gd name="adj" fmla="val 22205"/>
            </a:avLst>
          </a:prstGeom>
          <a:solidFill>
            <a:srgbClr val="0E8A8F">
              <a:alpha val="70000"/>
            </a:srgbClr>
          </a:solidFill>
          <a:ln/>
        </p:spPr>
        <p:txBody>
          <a:bodyPr/>
          <a:lstStyle/>
          <a:p>
            <a:endParaRPr lang="en-US"/>
          </a:p>
        </p:txBody>
      </p:sp>
      <p:sp>
        <p:nvSpPr>
          <p:cNvPr id="69" name="Shape 67"/>
          <p:cNvSpPr/>
          <p:nvPr/>
        </p:nvSpPr>
        <p:spPr>
          <a:xfrm>
            <a:off x="11035943" y="6160369"/>
            <a:ext cx="82358" cy="697631"/>
          </a:xfrm>
          <a:prstGeom prst="roundRect">
            <a:avLst>
              <a:gd name="adj" fmla="val 22205"/>
            </a:avLst>
          </a:prstGeom>
          <a:solidFill>
            <a:srgbClr val="0E8A8F">
              <a:alpha val="70000"/>
            </a:srgbClr>
          </a:solidFill>
          <a:ln/>
        </p:spPr>
        <p:txBody>
          <a:bodyPr/>
          <a:lstStyle/>
          <a:p>
            <a:endParaRPr lang="en-US"/>
          </a:p>
        </p:txBody>
      </p:sp>
      <p:sp>
        <p:nvSpPr>
          <p:cNvPr id="70" name="Shape 68"/>
          <p:cNvSpPr/>
          <p:nvPr/>
        </p:nvSpPr>
        <p:spPr>
          <a:xfrm>
            <a:off x="11200659" y="6200191"/>
            <a:ext cx="82358" cy="657809"/>
          </a:xfrm>
          <a:prstGeom prst="roundRect">
            <a:avLst>
              <a:gd name="adj" fmla="val 22205"/>
            </a:avLst>
          </a:prstGeom>
          <a:solidFill>
            <a:srgbClr val="0E8A8F">
              <a:alpha val="70000"/>
            </a:srgbClr>
          </a:solidFill>
          <a:ln/>
        </p:spPr>
        <p:txBody>
          <a:bodyPr/>
          <a:lstStyle/>
          <a:p>
            <a:endParaRPr lang="en-US"/>
          </a:p>
        </p:txBody>
      </p:sp>
      <p:sp>
        <p:nvSpPr>
          <p:cNvPr id="71" name="Shape 69"/>
          <p:cNvSpPr/>
          <p:nvPr/>
        </p:nvSpPr>
        <p:spPr>
          <a:xfrm>
            <a:off x="11365374" y="6670948"/>
            <a:ext cx="82358" cy="187052"/>
          </a:xfrm>
          <a:prstGeom prst="roundRect">
            <a:avLst>
              <a:gd name="adj" fmla="val 22205"/>
            </a:avLst>
          </a:prstGeom>
          <a:solidFill>
            <a:srgbClr val="0E8A8F">
              <a:alpha val="70000"/>
            </a:srgbClr>
          </a:solidFill>
          <a:ln/>
        </p:spPr>
        <p:txBody>
          <a:bodyPr/>
          <a:lstStyle/>
          <a:p>
            <a:endParaRPr lang="en-US"/>
          </a:p>
        </p:txBody>
      </p:sp>
      <p:sp>
        <p:nvSpPr>
          <p:cNvPr id="72" name="Shape 70"/>
          <p:cNvSpPr/>
          <p:nvPr/>
        </p:nvSpPr>
        <p:spPr>
          <a:xfrm>
            <a:off x="11530090" y="6579022"/>
            <a:ext cx="82358" cy="278978"/>
          </a:xfrm>
          <a:prstGeom prst="roundRect">
            <a:avLst>
              <a:gd name="adj" fmla="val 22205"/>
            </a:avLst>
          </a:prstGeom>
          <a:solidFill>
            <a:srgbClr val="0E8A8F">
              <a:alpha val="70000"/>
            </a:srgbClr>
          </a:solidFill>
          <a:ln/>
        </p:spPr>
        <p:txBody>
          <a:bodyPr/>
          <a:lstStyle/>
          <a:p>
            <a:endParaRPr lang="en-US"/>
          </a:p>
        </p:txBody>
      </p:sp>
      <p:sp>
        <p:nvSpPr>
          <p:cNvPr id="73" name="Shape 71"/>
          <p:cNvSpPr/>
          <p:nvPr/>
        </p:nvSpPr>
        <p:spPr>
          <a:xfrm>
            <a:off x="11694805" y="6564467"/>
            <a:ext cx="82358" cy="293533"/>
          </a:xfrm>
          <a:prstGeom prst="roundRect">
            <a:avLst>
              <a:gd name="adj" fmla="val 22205"/>
            </a:avLst>
          </a:prstGeom>
          <a:solidFill>
            <a:srgbClr val="0E8A8F">
              <a:alpha val="70000"/>
            </a:srgbClr>
          </a:solidFill>
          <a:ln/>
        </p:spPr>
        <p:txBody>
          <a:bodyPr/>
          <a:lstStyle/>
          <a:p>
            <a:endParaRPr lang="en-US"/>
          </a:p>
        </p:txBody>
      </p:sp>
      <p:sp>
        <p:nvSpPr>
          <p:cNvPr id="74" name="Shape 72"/>
          <p:cNvSpPr/>
          <p:nvPr/>
        </p:nvSpPr>
        <p:spPr>
          <a:xfrm>
            <a:off x="11859521" y="6585164"/>
            <a:ext cx="82358" cy="272836"/>
          </a:xfrm>
          <a:prstGeom prst="roundRect">
            <a:avLst>
              <a:gd name="adj" fmla="val 22205"/>
            </a:avLst>
          </a:prstGeom>
          <a:solidFill>
            <a:srgbClr val="0E8A8F">
              <a:alpha val="70000"/>
            </a:srgbClr>
          </a:solidFill>
          <a:ln/>
        </p:spPr>
        <p:txBody>
          <a:bodyPr/>
          <a:lstStyle/>
          <a:p>
            <a:endParaRPr lang="en-US"/>
          </a:p>
        </p:txBody>
      </p:sp>
      <p:sp>
        <p:nvSpPr>
          <p:cNvPr id="75" name="Shape 73"/>
          <p:cNvSpPr/>
          <p:nvPr/>
        </p:nvSpPr>
        <p:spPr>
          <a:xfrm>
            <a:off x="12024236" y="6821424"/>
            <a:ext cx="82358" cy="36576"/>
          </a:xfrm>
          <a:prstGeom prst="roundRect">
            <a:avLst>
              <a:gd name="adj" fmla="val 50000"/>
            </a:avLst>
          </a:prstGeom>
          <a:solidFill>
            <a:srgbClr val="0E8A8F">
              <a:alpha val="70000"/>
            </a:srgbClr>
          </a:solidFill>
          <a:ln/>
        </p:spPr>
        <p:txBody>
          <a:bodyPr/>
          <a:lstStyle/>
          <a:p>
            <a:endParaRPr lang="en-US"/>
          </a:p>
        </p:txBody>
      </p:sp>
      <p:sp>
        <p:nvSpPr>
          <p:cNvPr id="76" name="Shape 74"/>
          <p:cNvSpPr/>
          <p:nvPr/>
        </p:nvSpPr>
        <p:spPr>
          <a:xfrm>
            <a:off x="0" y="6821424"/>
            <a:ext cx="82358" cy="36576"/>
          </a:xfrm>
          <a:prstGeom prst="roundRect">
            <a:avLst>
              <a:gd name="adj" fmla="val 50000"/>
            </a:avLst>
          </a:prstGeom>
          <a:solidFill>
            <a:srgbClr val="E08A3C">
              <a:alpha val="45000"/>
            </a:srgbClr>
          </a:solidFill>
          <a:ln/>
        </p:spPr>
        <p:txBody>
          <a:bodyPr/>
          <a:lstStyle/>
          <a:p>
            <a:endParaRPr lang="en-US"/>
          </a:p>
        </p:txBody>
      </p:sp>
      <p:sp>
        <p:nvSpPr>
          <p:cNvPr id="77" name="Shape 75"/>
          <p:cNvSpPr/>
          <p:nvPr/>
        </p:nvSpPr>
        <p:spPr>
          <a:xfrm>
            <a:off x="164716" y="6753364"/>
            <a:ext cx="82358" cy="104636"/>
          </a:xfrm>
          <a:prstGeom prst="roundRect">
            <a:avLst>
              <a:gd name="adj" fmla="val 22205"/>
            </a:avLst>
          </a:prstGeom>
          <a:solidFill>
            <a:srgbClr val="E08A3C">
              <a:alpha val="45000"/>
            </a:srgbClr>
          </a:solidFill>
          <a:ln/>
        </p:spPr>
        <p:txBody>
          <a:bodyPr/>
          <a:lstStyle/>
          <a:p>
            <a:endParaRPr lang="en-US"/>
          </a:p>
        </p:txBody>
      </p:sp>
      <p:sp>
        <p:nvSpPr>
          <p:cNvPr id="78" name="Shape 76"/>
          <p:cNvSpPr/>
          <p:nvPr/>
        </p:nvSpPr>
        <p:spPr>
          <a:xfrm>
            <a:off x="329431" y="6685645"/>
            <a:ext cx="82358" cy="172355"/>
          </a:xfrm>
          <a:prstGeom prst="roundRect">
            <a:avLst>
              <a:gd name="adj" fmla="val 22205"/>
            </a:avLst>
          </a:prstGeom>
          <a:solidFill>
            <a:srgbClr val="E08A3C">
              <a:alpha val="45000"/>
            </a:srgbClr>
          </a:solidFill>
          <a:ln/>
        </p:spPr>
        <p:txBody>
          <a:bodyPr/>
          <a:lstStyle/>
          <a:p>
            <a:endParaRPr lang="en-US"/>
          </a:p>
        </p:txBody>
      </p:sp>
      <p:sp>
        <p:nvSpPr>
          <p:cNvPr id="79" name="Shape 77"/>
          <p:cNvSpPr/>
          <p:nvPr/>
        </p:nvSpPr>
        <p:spPr>
          <a:xfrm>
            <a:off x="494147" y="6745425"/>
            <a:ext cx="82358" cy="112575"/>
          </a:xfrm>
          <a:prstGeom prst="roundRect">
            <a:avLst>
              <a:gd name="adj" fmla="val 22205"/>
            </a:avLst>
          </a:prstGeom>
          <a:solidFill>
            <a:srgbClr val="E08A3C">
              <a:alpha val="45000"/>
            </a:srgbClr>
          </a:solidFill>
          <a:ln/>
        </p:spPr>
        <p:txBody>
          <a:bodyPr/>
          <a:lstStyle/>
          <a:p>
            <a:endParaRPr lang="en-US"/>
          </a:p>
        </p:txBody>
      </p:sp>
      <p:sp>
        <p:nvSpPr>
          <p:cNvPr id="80" name="Shape 78"/>
          <p:cNvSpPr/>
          <p:nvPr/>
        </p:nvSpPr>
        <p:spPr>
          <a:xfrm>
            <a:off x="658862" y="6581684"/>
            <a:ext cx="82358" cy="276316"/>
          </a:xfrm>
          <a:prstGeom prst="roundRect">
            <a:avLst>
              <a:gd name="adj" fmla="val 22205"/>
            </a:avLst>
          </a:prstGeom>
          <a:solidFill>
            <a:srgbClr val="E08A3C">
              <a:alpha val="45000"/>
            </a:srgbClr>
          </a:solidFill>
          <a:ln/>
        </p:spPr>
        <p:txBody>
          <a:bodyPr/>
          <a:lstStyle/>
          <a:p>
            <a:endParaRPr lang="en-US"/>
          </a:p>
        </p:txBody>
      </p:sp>
      <p:sp>
        <p:nvSpPr>
          <p:cNvPr id="81" name="Shape 79"/>
          <p:cNvSpPr/>
          <p:nvPr/>
        </p:nvSpPr>
        <p:spPr>
          <a:xfrm>
            <a:off x="823578" y="6637008"/>
            <a:ext cx="82358" cy="220992"/>
          </a:xfrm>
          <a:prstGeom prst="roundRect">
            <a:avLst>
              <a:gd name="adj" fmla="val 22205"/>
            </a:avLst>
          </a:prstGeom>
          <a:solidFill>
            <a:srgbClr val="E08A3C">
              <a:alpha val="45000"/>
            </a:srgbClr>
          </a:solidFill>
          <a:ln/>
        </p:spPr>
        <p:txBody>
          <a:bodyPr/>
          <a:lstStyle/>
          <a:p>
            <a:endParaRPr lang="en-US"/>
          </a:p>
        </p:txBody>
      </p:sp>
      <p:sp>
        <p:nvSpPr>
          <p:cNvPr id="82" name="Shape 80"/>
          <p:cNvSpPr/>
          <p:nvPr/>
        </p:nvSpPr>
        <p:spPr>
          <a:xfrm>
            <a:off x="988293" y="6536383"/>
            <a:ext cx="82358" cy="321617"/>
          </a:xfrm>
          <a:prstGeom prst="roundRect">
            <a:avLst>
              <a:gd name="adj" fmla="val 22205"/>
            </a:avLst>
          </a:prstGeom>
          <a:solidFill>
            <a:srgbClr val="E08A3C">
              <a:alpha val="45000"/>
            </a:srgbClr>
          </a:solidFill>
          <a:ln/>
        </p:spPr>
        <p:txBody>
          <a:bodyPr/>
          <a:lstStyle/>
          <a:p>
            <a:endParaRPr lang="en-US"/>
          </a:p>
        </p:txBody>
      </p:sp>
      <p:sp>
        <p:nvSpPr>
          <p:cNvPr id="83" name="Shape 81"/>
          <p:cNvSpPr/>
          <p:nvPr/>
        </p:nvSpPr>
        <p:spPr>
          <a:xfrm>
            <a:off x="1153009" y="6561820"/>
            <a:ext cx="82358" cy="296180"/>
          </a:xfrm>
          <a:prstGeom prst="roundRect">
            <a:avLst>
              <a:gd name="adj" fmla="val 22205"/>
            </a:avLst>
          </a:prstGeom>
          <a:solidFill>
            <a:srgbClr val="E08A3C">
              <a:alpha val="45000"/>
            </a:srgbClr>
          </a:solidFill>
          <a:ln/>
        </p:spPr>
        <p:txBody>
          <a:bodyPr/>
          <a:lstStyle/>
          <a:p>
            <a:endParaRPr lang="en-US"/>
          </a:p>
        </p:txBody>
      </p:sp>
      <p:sp>
        <p:nvSpPr>
          <p:cNvPr id="84" name="Shape 82"/>
          <p:cNvSpPr/>
          <p:nvPr/>
        </p:nvSpPr>
        <p:spPr>
          <a:xfrm>
            <a:off x="1317725" y="6568714"/>
            <a:ext cx="82358" cy="289286"/>
          </a:xfrm>
          <a:prstGeom prst="roundRect">
            <a:avLst>
              <a:gd name="adj" fmla="val 22205"/>
            </a:avLst>
          </a:prstGeom>
          <a:solidFill>
            <a:srgbClr val="E08A3C">
              <a:alpha val="45000"/>
            </a:srgbClr>
          </a:solidFill>
          <a:ln/>
        </p:spPr>
        <p:txBody>
          <a:bodyPr/>
          <a:lstStyle/>
          <a:p>
            <a:endParaRPr lang="en-US"/>
          </a:p>
        </p:txBody>
      </p:sp>
      <p:sp>
        <p:nvSpPr>
          <p:cNvPr id="85" name="Shape 83"/>
          <p:cNvSpPr/>
          <p:nvPr/>
        </p:nvSpPr>
        <p:spPr>
          <a:xfrm>
            <a:off x="1482440" y="6347994"/>
            <a:ext cx="82358" cy="510006"/>
          </a:xfrm>
          <a:prstGeom prst="roundRect">
            <a:avLst>
              <a:gd name="adj" fmla="val 22205"/>
            </a:avLst>
          </a:prstGeom>
          <a:solidFill>
            <a:srgbClr val="E08A3C">
              <a:alpha val="45000"/>
            </a:srgbClr>
          </a:solidFill>
          <a:ln/>
        </p:spPr>
        <p:txBody>
          <a:bodyPr/>
          <a:lstStyle/>
          <a:p>
            <a:endParaRPr lang="en-US"/>
          </a:p>
        </p:txBody>
      </p:sp>
      <p:sp>
        <p:nvSpPr>
          <p:cNvPr id="86" name="Shape 84"/>
          <p:cNvSpPr/>
          <p:nvPr/>
        </p:nvSpPr>
        <p:spPr>
          <a:xfrm>
            <a:off x="1647156" y="6553181"/>
            <a:ext cx="82358" cy="304819"/>
          </a:xfrm>
          <a:prstGeom prst="roundRect">
            <a:avLst>
              <a:gd name="adj" fmla="val 22205"/>
            </a:avLst>
          </a:prstGeom>
          <a:solidFill>
            <a:srgbClr val="E08A3C">
              <a:alpha val="45000"/>
            </a:srgbClr>
          </a:solidFill>
          <a:ln/>
        </p:spPr>
        <p:txBody>
          <a:bodyPr/>
          <a:lstStyle/>
          <a:p>
            <a:endParaRPr lang="en-US"/>
          </a:p>
        </p:txBody>
      </p:sp>
      <p:sp>
        <p:nvSpPr>
          <p:cNvPr id="87" name="Shape 85"/>
          <p:cNvSpPr/>
          <p:nvPr/>
        </p:nvSpPr>
        <p:spPr>
          <a:xfrm>
            <a:off x="1811871" y="6265750"/>
            <a:ext cx="82358" cy="592250"/>
          </a:xfrm>
          <a:prstGeom prst="roundRect">
            <a:avLst>
              <a:gd name="adj" fmla="val 22205"/>
            </a:avLst>
          </a:prstGeom>
          <a:solidFill>
            <a:srgbClr val="E08A3C">
              <a:alpha val="45000"/>
            </a:srgbClr>
          </a:solidFill>
          <a:ln/>
        </p:spPr>
        <p:txBody>
          <a:bodyPr/>
          <a:lstStyle/>
          <a:p>
            <a:endParaRPr lang="en-US"/>
          </a:p>
        </p:txBody>
      </p:sp>
      <p:sp>
        <p:nvSpPr>
          <p:cNvPr id="88" name="Shape 86"/>
          <p:cNvSpPr/>
          <p:nvPr/>
        </p:nvSpPr>
        <p:spPr>
          <a:xfrm>
            <a:off x="1976587" y="6233183"/>
            <a:ext cx="82358" cy="624817"/>
          </a:xfrm>
          <a:prstGeom prst="roundRect">
            <a:avLst>
              <a:gd name="adj" fmla="val 22205"/>
            </a:avLst>
          </a:prstGeom>
          <a:solidFill>
            <a:srgbClr val="E08A3C">
              <a:alpha val="45000"/>
            </a:srgbClr>
          </a:solidFill>
          <a:ln/>
        </p:spPr>
        <p:txBody>
          <a:bodyPr/>
          <a:lstStyle/>
          <a:p>
            <a:endParaRPr lang="en-US"/>
          </a:p>
        </p:txBody>
      </p:sp>
      <p:sp>
        <p:nvSpPr>
          <p:cNvPr id="89" name="Shape 87"/>
          <p:cNvSpPr/>
          <p:nvPr/>
        </p:nvSpPr>
        <p:spPr>
          <a:xfrm>
            <a:off x="2141302" y="6123800"/>
            <a:ext cx="82358" cy="734200"/>
          </a:xfrm>
          <a:prstGeom prst="roundRect">
            <a:avLst>
              <a:gd name="adj" fmla="val 22205"/>
            </a:avLst>
          </a:prstGeom>
          <a:solidFill>
            <a:srgbClr val="E08A3C">
              <a:alpha val="45000"/>
            </a:srgbClr>
          </a:solidFill>
          <a:ln/>
        </p:spPr>
        <p:txBody>
          <a:bodyPr/>
          <a:lstStyle/>
          <a:p>
            <a:endParaRPr lang="en-US"/>
          </a:p>
        </p:txBody>
      </p:sp>
      <p:sp>
        <p:nvSpPr>
          <p:cNvPr id="90" name="Shape 88"/>
          <p:cNvSpPr/>
          <p:nvPr/>
        </p:nvSpPr>
        <p:spPr>
          <a:xfrm>
            <a:off x="2306018" y="6448321"/>
            <a:ext cx="82358" cy="409679"/>
          </a:xfrm>
          <a:prstGeom prst="roundRect">
            <a:avLst>
              <a:gd name="adj" fmla="val 22205"/>
            </a:avLst>
          </a:prstGeom>
          <a:solidFill>
            <a:srgbClr val="E08A3C">
              <a:alpha val="45000"/>
            </a:srgbClr>
          </a:solidFill>
          <a:ln/>
        </p:spPr>
        <p:txBody>
          <a:bodyPr/>
          <a:lstStyle/>
          <a:p>
            <a:endParaRPr lang="en-US"/>
          </a:p>
        </p:txBody>
      </p:sp>
      <p:sp>
        <p:nvSpPr>
          <p:cNvPr id="91" name="Shape 89"/>
          <p:cNvSpPr/>
          <p:nvPr/>
        </p:nvSpPr>
        <p:spPr>
          <a:xfrm>
            <a:off x="2470734" y="6461692"/>
            <a:ext cx="82358" cy="396308"/>
          </a:xfrm>
          <a:prstGeom prst="roundRect">
            <a:avLst>
              <a:gd name="adj" fmla="val 22205"/>
            </a:avLst>
          </a:prstGeom>
          <a:solidFill>
            <a:srgbClr val="E08A3C">
              <a:alpha val="45000"/>
            </a:srgbClr>
          </a:solidFill>
          <a:ln/>
        </p:spPr>
        <p:txBody>
          <a:bodyPr/>
          <a:lstStyle/>
          <a:p>
            <a:endParaRPr lang="en-US"/>
          </a:p>
        </p:txBody>
      </p:sp>
      <p:sp>
        <p:nvSpPr>
          <p:cNvPr id="92" name="Shape 90"/>
          <p:cNvSpPr/>
          <p:nvPr/>
        </p:nvSpPr>
        <p:spPr>
          <a:xfrm>
            <a:off x="2635449" y="6569494"/>
            <a:ext cx="82358" cy="288506"/>
          </a:xfrm>
          <a:prstGeom prst="roundRect">
            <a:avLst>
              <a:gd name="adj" fmla="val 22205"/>
            </a:avLst>
          </a:prstGeom>
          <a:solidFill>
            <a:srgbClr val="E08A3C">
              <a:alpha val="45000"/>
            </a:srgbClr>
          </a:solidFill>
          <a:ln/>
        </p:spPr>
        <p:txBody>
          <a:bodyPr/>
          <a:lstStyle/>
          <a:p>
            <a:endParaRPr lang="en-US"/>
          </a:p>
        </p:txBody>
      </p:sp>
      <p:sp>
        <p:nvSpPr>
          <p:cNvPr id="93" name="Shape 91"/>
          <p:cNvSpPr/>
          <p:nvPr/>
        </p:nvSpPr>
        <p:spPr>
          <a:xfrm>
            <a:off x="2800165" y="6507394"/>
            <a:ext cx="82358" cy="350606"/>
          </a:xfrm>
          <a:prstGeom prst="roundRect">
            <a:avLst>
              <a:gd name="adj" fmla="val 22205"/>
            </a:avLst>
          </a:prstGeom>
          <a:solidFill>
            <a:srgbClr val="E08A3C">
              <a:alpha val="45000"/>
            </a:srgbClr>
          </a:solidFill>
          <a:ln/>
        </p:spPr>
        <p:txBody>
          <a:bodyPr/>
          <a:lstStyle/>
          <a:p>
            <a:endParaRPr lang="en-US"/>
          </a:p>
        </p:txBody>
      </p:sp>
      <p:sp>
        <p:nvSpPr>
          <p:cNvPr id="94" name="Shape 92"/>
          <p:cNvSpPr/>
          <p:nvPr/>
        </p:nvSpPr>
        <p:spPr>
          <a:xfrm>
            <a:off x="2964880" y="6162923"/>
            <a:ext cx="82358" cy="695077"/>
          </a:xfrm>
          <a:prstGeom prst="roundRect">
            <a:avLst>
              <a:gd name="adj" fmla="val 22205"/>
            </a:avLst>
          </a:prstGeom>
          <a:solidFill>
            <a:srgbClr val="E08A3C">
              <a:alpha val="45000"/>
            </a:srgbClr>
          </a:solidFill>
          <a:ln/>
        </p:spPr>
        <p:txBody>
          <a:bodyPr/>
          <a:lstStyle/>
          <a:p>
            <a:endParaRPr lang="en-US"/>
          </a:p>
        </p:txBody>
      </p:sp>
      <p:sp>
        <p:nvSpPr>
          <p:cNvPr id="95" name="Shape 93"/>
          <p:cNvSpPr/>
          <p:nvPr/>
        </p:nvSpPr>
        <p:spPr>
          <a:xfrm>
            <a:off x="3129596" y="6571945"/>
            <a:ext cx="82358" cy="286055"/>
          </a:xfrm>
          <a:prstGeom prst="roundRect">
            <a:avLst>
              <a:gd name="adj" fmla="val 22205"/>
            </a:avLst>
          </a:prstGeom>
          <a:solidFill>
            <a:srgbClr val="E08A3C">
              <a:alpha val="45000"/>
            </a:srgbClr>
          </a:solidFill>
          <a:ln/>
        </p:spPr>
        <p:txBody>
          <a:bodyPr/>
          <a:lstStyle/>
          <a:p>
            <a:endParaRPr lang="en-US"/>
          </a:p>
        </p:txBody>
      </p:sp>
      <p:sp>
        <p:nvSpPr>
          <p:cNvPr id="96" name="Shape 94"/>
          <p:cNvSpPr/>
          <p:nvPr/>
        </p:nvSpPr>
        <p:spPr>
          <a:xfrm>
            <a:off x="3294311" y="6630197"/>
            <a:ext cx="82358" cy="227803"/>
          </a:xfrm>
          <a:prstGeom prst="roundRect">
            <a:avLst>
              <a:gd name="adj" fmla="val 22205"/>
            </a:avLst>
          </a:prstGeom>
          <a:solidFill>
            <a:srgbClr val="E08A3C">
              <a:alpha val="45000"/>
            </a:srgbClr>
          </a:solidFill>
          <a:ln/>
        </p:spPr>
        <p:txBody>
          <a:bodyPr/>
          <a:lstStyle/>
          <a:p>
            <a:endParaRPr lang="en-US"/>
          </a:p>
        </p:txBody>
      </p:sp>
      <p:sp>
        <p:nvSpPr>
          <p:cNvPr id="97" name="Shape 95"/>
          <p:cNvSpPr/>
          <p:nvPr/>
        </p:nvSpPr>
        <p:spPr>
          <a:xfrm>
            <a:off x="3459027" y="6162345"/>
            <a:ext cx="82358" cy="695655"/>
          </a:xfrm>
          <a:prstGeom prst="roundRect">
            <a:avLst>
              <a:gd name="adj" fmla="val 22205"/>
            </a:avLst>
          </a:prstGeom>
          <a:solidFill>
            <a:srgbClr val="E08A3C">
              <a:alpha val="45000"/>
            </a:srgbClr>
          </a:solidFill>
          <a:ln/>
        </p:spPr>
        <p:txBody>
          <a:bodyPr/>
          <a:lstStyle/>
          <a:p>
            <a:endParaRPr lang="en-US"/>
          </a:p>
        </p:txBody>
      </p:sp>
      <p:sp>
        <p:nvSpPr>
          <p:cNvPr id="98" name="Shape 96"/>
          <p:cNvSpPr/>
          <p:nvPr/>
        </p:nvSpPr>
        <p:spPr>
          <a:xfrm>
            <a:off x="3623742" y="6106956"/>
            <a:ext cx="82358" cy="751044"/>
          </a:xfrm>
          <a:prstGeom prst="roundRect">
            <a:avLst>
              <a:gd name="adj" fmla="val 22205"/>
            </a:avLst>
          </a:prstGeom>
          <a:solidFill>
            <a:srgbClr val="E08A3C">
              <a:alpha val="45000"/>
            </a:srgbClr>
          </a:solidFill>
          <a:ln/>
        </p:spPr>
        <p:txBody>
          <a:bodyPr/>
          <a:lstStyle/>
          <a:p>
            <a:endParaRPr lang="en-US"/>
          </a:p>
        </p:txBody>
      </p:sp>
      <p:sp>
        <p:nvSpPr>
          <p:cNvPr id="99" name="Shape 97"/>
          <p:cNvSpPr/>
          <p:nvPr/>
        </p:nvSpPr>
        <p:spPr>
          <a:xfrm>
            <a:off x="3788458" y="6283094"/>
            <a:ext cx="82358" cy="574906"/>
          </a:xfrm>
          <a:prstGeom prst="roundRect">
            <a:avLst>
              <a:gd name="adj" fmla="val 22205"/>
            </a:avLst>
          </a:prstGeom>
          <a:solidFill>
            <a:srgbClr val="E08A3C">
              <a:alpha val="45000"/>
            </a:srgbClr>
          </a:solidFill>
          <a:ln/>
        </p:spPr>
        <p:txBody>
          <a:bodyPr/>
          <a:lstStyle/>
          <a:p>
            <a:endParaRPr lang="en-US"/>
          </a:p>
        </p:txBody>
      </p:sp>
      <p:sp>
        <p:nvSpPr>
          <p:cNvPr id="100" name="Shape 98"/>
          <p:cNvSpPr/>
          <p:nvPr/>
        </p:nvSpPr>
        <p:spPr>
          <a:xfrm>
            <a:off x="3953174" y="6169914"/>
            <a:ext cx="82358" cy="688086"/>
          </a:xfrm>
          <a:prstGeom prst="roundRect">
            <a:avLst>
              <a:gd name="adj" fmla="val 22205"/>
            </a:avLst>
          </a:prstGeom>
          <a:solidFill>
            <a:srgbClr val="E08A3C">
              <a:alpha val="45000"/>
            </a:srgbClr>
          </a:solidFill>
          <a:ln/>
        </p:spPr>
        <p:txBody>
          <a:bodyPr/>
          <a:lstStyle/>
          <a:p>
            <a:endParaRPr lang="en-US"/>
          </a:p>
        </p:txBody>
      </p:sp>
      <p:sp>
        <p:nvSpPr>
          <p:cNvPr id="101" name="Shape 99"/>
          <p:cNvSpPr/>
          <p:nvPr/>
        </p:nvSpPr>
        <p:spPr>
          <a:xfrm>
            <a:off x="4117889" y="6297556"/>
            <a:ext cx="82358" cy="560444"/>
          </a:xfrm>
          <a:prstGeom prst="roundRect">
            <a:avLst>
              <a:gd name="adj" fmla="val 22205"/>
            </a:avLst>
          </a:prstGeom>
          <a:solidFill>
            <a:srgbClr val="E08A3C">
              <a:alpha val="45000"/>
            </a:srgbClr>
          </a:solidFill>
          <a:ln/>
        </p:spPr>
        <p:txBody>
          <a:bodyPr/>
          <a:lstStyle/>
          <a:p>
            <a:endParaRPr lang="en-US"/>
          </a:p>
        </p:txBody>
      </p:sp>
      <p:sp>
        <p:nvSpPr>
          <p:cNvPr id="102" name="Shape 100"/>
          <p:cNvSpPr/>
          <p:nvPr/>
        </p:nvSpPr>
        <p:spPr>
          <a:xfrm>
            <a:off x="4282605" y="6169470"/>
            <a:ext cx="82358" cy="688530"/>
          </a:xfrm>
          <a:prstGeom prst="roundRect">
            <a:avLst>
              <a:gd name="adj" fmla="val 22205"/>
            </a:avLst>
          </a:prstGeom>
          <a:solidFill>
            <a:srgbClr val="E08A3C">
              <a:alpha val="45000"/>
            </a:srgbClr>
          </a:solidFill>
          <a:ln/>
        </p:spPr>
        <p:txBody>
          <a:bodyPr/>
          <a:lstStyle/>
          <a:p>
            <a:endParaRPr lang="en-US"/>
          </a:p>
        </p:txBody>
      </p:sp>
      <p:sp>
        <p:nvSpPr>
          <p:cNvPr id="103" name="Shape 101"/>
          <p:cNvSpPr/>
          <p:nvPr/>
        </p:nvSpPr>
        <p:spPr>
          <a:xfrm>
            <a:off x="4447320" y="6519344"/>
            <a:ext cx="82358" cy="338656"/>
          </a:xfrm>
          <a:prstGeom prst="roundRect">
            <a:avLst>
              <a:gd name="adj" fmla="val 22205"/>
            </a:avLst>
          </a:prstGeom>
          <a:solidFill>
            <a:srgbClr val="E08A3C">
              <a:alpha val="45000"/>
            </a:srgbClr>
          </a:solidFill>
          <a:ln/>
        </p:spPr>
        <p:txBody>
          <a:bodyPr/>
          <a:lstStyle/>
          <a:p>
            <a:endParaRPr lang="en-US"/>
          </a:p>
        </p:txBody>
      </p:sp>
      <p:sp>
        <p:nvSpPr>
          <p:cNvPr id="104" name="Shape 102"/>
          <p:cNvSpPr/>
          <p:nvPr/>
        </p:nvSpPr>
        <p:spPr>
          <a:xfrm>
            <a:off x="4612036" y="5894523"/>
            <a:ext cx="82358" cy="963477"/>
          </a:xfrm>
          <a:prstGeom prst="roundRect">
            <a:avLst>
              <a:gd name="adj" fmla="val 22205"/>
            </a:avLst>
          </a:prstGeom>
          <a:solidFill>
            <a:srgbClr val="E08A3C">
              <a:alpha val="45000"/>
            </a:srgbClr>
          </a:solidFill>
          <a:ln/>
        </p:spPr>
        <p:txBody>
          <a:bodyPr/>
          <a:lstStyle/>
          <a:p>
            <a:endParaRPr lang="en-US"/>
          </a:p>
        </p:txBody>
      </p:sp>
      <p:sp>
        <p:nvSpPr>
          <p:cNvPr id="105" name="Shape 103"/>
          <p:cNvSpPr/>
          <p:nvPr/>
        </p:nvSpPr>
        <p:spPr>
          <a:xfrm>
            <a:off x="4776751" y="6243034"/>
            <a:ext cx="82358" cy="614966"/>
          </a:xfrm>
          <a:prstGeom prst="roundRect">
            <a:avLst>
              <a:gd name="adj" fmla="val 22205"/>
            </a:avLst>
          </a:prstGeom>
          <a:solidFill>
            <a:srgbClr val="E08A3C">
              <a:alpha val="45000"/>
            </a:srgbClr>
          </a:solidFill>
          <a:ln/>
        </p:spPr>
        <p:txBody>
          <a:bodyPr/>
          <a:lstStyle/>
          <a:p>
            <a:endParaRPr lang="en-US"/>
          </a:p>
        </p:txBody>
      </p:sp>
      <p:sp>
        <p:nvSpPr>
          <p:cNvPr id="106" name="Shape 104"/>
          <p:cNvSpPr/>
          <p:nvPr/>
        </p:nvSpPr>
        <p:spPr>
          <a:xfrm>
            <a:off x="4941467" y="6318504"/>
            <a:ext cx="82358" cy="539496"/>
          </a:xfrm>
          <a:prstGeom prst="roundRect">
            <a:avLst>
              <a:gd name="adj" fmla="val 22205"/>
            </a:avLst>
          </a:prstGeom>
          <a:solidFill>
            <a:srgbClr val="E08A3C">
              <a:alpha val="45000"/>
            </a:srgbClr>
          </a:solidFill>
          <a:ln/>
        </p:spPr>
        <p:txBody>
          <a:bodyPr/>
          <a:lstStyle/>
          <a:p>
            <a:endParaRPr lang="en-US"/>
          </a:p>
        </p:txBody>
      </p:sp>
      <p:sp>
        <p:nvSpPr>
          <p:cNvPr id="107" name="Shape 105"/>
          <p:cNvSpPr/>
          <p:nvPr/>
        </p:nvSpPr>
        <p:spPr>
          <a:xfrm>
            <a:off x="5106183" y="6013219"/>
            <a:ext cx="82358" cy="844781"/>
          </a:xfrm>
          <a:prstGeom prst="roundRect">
            <a:avLst>
              <a:gd name="adj" fmla="val 22205"/>
            </a:avLst>
          </a:prstGeom>
          <a:solidFill>
            <a:srgbClr val="E08A3C">
              <a:alpha val="45000"/>
            </a:srgbClr>
          </a:solidFill>
          <a:ln/>
        </p:spPr>
        <p:txBody>
          <a:bodyPr/>
          <a:lstStyle/>
          <a:p>
            <a:endParaRPr lang="en-US"/>
          </a:p>
        </p:txBody>
      </p:sp>
      <p:sp>
        <p:nvSpPr>
          <p:cNvPr id="108" name="Shape 106"/>
          <p:cNvSpPr/>
          <p:nvPr/>
        </p:nvSpPr>
        <p:spPr>
          <a:xfrm>
            <a:off x="5270898" y="6302869"/>
            <a:ext cx="82358" cy="555131"/>
          </a:xfrm>
          <a:prstGeom prst="roundRect">
            <a:avLst>
              <a:gd name="adj" fmla="val 22205"/>
            </a:avLst>
          </a:prstGeom>
          <a:solidFill>
            <a:srgbClr val="E08A3C">
              <a:alpha val="45000"/>
            </a:srgbClr>
          </a:solidFill>
          <a:ln/>
        </p:spPr>
        <p:txBody>
          <a:bodyPr/>
          <a:lstStyle/>
          <a:p>
            <a:endParaRPr lang="en-US"/>
          </a:p>
        </p:txBody>
      </p:sp>
      <p:sp>
        <p:nvSpPr>
          <p:cNvPr id="109" name="Shape 107"/>
          <p:cNvSpPr/>
          <p:nvPr/>
        </p:nvSpPr>
        <p:spPr>
          <a:xfrm>
            <a:off x="5435614" y="5842420"/>
            <a:ext cx="82358" cy="1015580"/>
          </a:xfrm>
          <a:prstGeom prst="roundRect">
            <a:avLst>
              <a:gd name="adj" fmla="val 22205"/>
            </a:avLst>
          </a:prstGeom>
          <a:solidFill>
            <a:srgbClr val="E08A3C">
              <a:alpha val="45000"/>
            </a:srgbClr>
          </a:solidFill>
          <a:ln/>
        </p:spPr>
        <p:txBody>
          <a:bodyPr/>
          <a:lstStyle/>
          <a:p>
            <a:endParaRPr lang="en-US"/>
          </a:p>
        </p:txBody>
      </p:sp>
      <p:sp>
        <p:nvSpPr>
          <p:cNvPr id="110" name="Shape 108"/>
          <p:cNvSpPr/>
          <p:nvPr/>
        </p:nvSpPr>
        <p:spPr>
          <a:xfrm>
            <a:off x="5600329" y="6109531"/>
            <a:ext cx="82358" cy="748469"/>
          </a:xfrm>
          <a:prstGeom prst="roundRect">
            <a:avLst>
              <a:gd name="adj" fmla="val 22205"/>
            </a:avLst>
          </a:prstGeom>
          <a:solidFill>
            <a:srgbClr val="E08A3C">
              <a:alpha val="45000"/>
            </a:srgbClr>
          </a:solidFill>
          <a:ln/>
        </p:spPr>
        <p:txBody>
          <a:bodyPr/>
          <a:lstStyle/>
          <a:p>
            <a:endParaRPr lang="en-US"/>
          </a:p>
        </p:txBody>
      </p:sp>
      <p:sp>
        <p:nvSpPr>
          <p:cNvPr id="111" name="Shape 109"/>
          <p:cNvSpPr/>
          <p:nvPr/>
        </p:nvSpPr>
        <p:spPr>
          <a:xfrm>
            <a:off x="5765045" y="6024700"/>
            <a:ext cx="82358" cy="833300"/>
          </a:xfrm>
          <a:prstGeom prst="roundRect">
            <a:avLst>
              <a:gd name="adj" fmla="val 22205"/>
            </a:avLst>
          </a:prstGeom>
          <a:solidFill>
            <a:srgbClr val="E08A3C">
              <a:alpha val="45000"/>
            </a:srgbClr>
          </a:solidFill>
          <a:ln/>
        </p:spPr>
        <p:txBody>
          <a:bodyPr/>
          <a:lstStyle/>
          <a:p>
            <a:endParaRPr lang="en-US"/>
          </a:p>
        </p:txBody>
      </p:sp>
      <p:sp>
        <p:nvSpPr>
          <p:cNvPr id="112" name="Shape 110"/>
          <p:cNvSpPr/>
          <p:nvPr/>
        </p:nvSpPr>
        <p:spPr>
          <a:xfrm>
            <a:off x="5929760" y="6317485"/>
            <a:ext cx="82358" cy="540515"/>
          </a:xfrm>
          <a:prstGeom prst="roundRect">
            <a:avLst>
              <a:gd name="adj" fmla="val 22205"/>
            </a:avLst>
          </a:prstGeom>
          <a:solidFill>
            <a:srgbClr val="E08A3C">
              <a:alpha val="45000"/>
            </a:srgbClr>
          </a:solidFill>
          <a:ln/>
        </p:spPr>
        <p:txBody>
          <a:bodyPr/>
          <a:lstStyle/>
          <a:p>
            <a:endParaRPr lang="en-US"/>
          </a:p>
        </p:txBody>
      </p:sp>
      <p:sp>
        <p:nvSpPr>
          <p:cNvPr id="113" name="Shape 111"/>
          <p:cNvSpPr/>
          <p:nvPr/>
        </p:nvSpPr>
        <p:spPr>
          <a:xfrm>
            <a:off x="6094476" y="6226312"/>
            <a:ext cx="82358" cy="631688"/>
          </a:xfrm>
          <a:prstGeom prst="roundRect">
            <a:avLst>
              <a:gd name="adj" fmla="val 22205"/>
            </a:avLst>
          </a:prstGeom>
          <a:solidFill>
            <a:srgbClr val="E08A3C">
              <a:alpha val="45000"/>
            </a:srgbClr>
          </a:solidFill>
          <a:ln/>
        </p:spPr>
        <p:txBody>
          <a:bodyPr/>
          <a:lstStyle/>
          <a:p>
            <a:endParaRPr lang="en-US"/>
          </a:p>
        </p:txBody>
      </p:sp>
      <p:sp>
        <p:nvSpPr>
          <p:cNvPr id="114" name="Shape 112"/>
          <p:cNvSpPr/>
          <p:nvPr/>
        </p:nvSpPr>
        <p:spPr>
          <a:xfrm>
            <a:off x="6259192" y="5936409"/>
            <a:ext cx="82358" cy="921591"/>
          </a:xfrm>
          <a:prstGeom prst="roundRect">
            <a:avLst>
              <a:gd name="adj" fmla="val 22205"/>
            </a:avLst>
          </a:prstGeom>
          <a:solidFill>
            <a:srgbClr val="E08A3C">
              <a:alpha val="45000"/>
            </a:srgbClr>
          </a:solidFill>
          <a:ln/>
        </p:spPr>
        <p:txBody>
          <a:bodyPr/>
          <a:lstStyle/>
          <a:p>
            <a:endParaRPr lang="en-US"/>
          </a:p>
        </p:txBody>
      </p:sp>
      <p:sp>
        <p:nvSpPr>
          <p:cNvPr id="115" name="Shape 113"/>
          <p:cNvSpPr/>
          <p:nvPr/>
        </p:nvSpPr>
        <p:spPr>
          <a:xfrm>
            <a:off x="6423907" y="6475111"/>
            <a:ext cx="82358" cy="382889"/>
          </a:xfrm>
          <a:prstGeom prst="roundRect">
            <a:avLst>
              <a:gd name="adj" fmla="val 22205"/>
            </a:avLst>
          </a:prstGeom>
          <a:solidFill>
            <a:srgbClr val="E08A3C">
              <a:alpha val="45000"/>
            </a:srgbClr>
          </a:solidFill>
          <a:ln/>
        </p:spPr>
        <p:txBody>
          <a:bodyPr/>
          <a:lstStyle/>
          <a:p>
            <a:endParaRPr lang="en-US"/>
          </a:p>
        </p:txBody>
      </p:sp>
      <p:sp>
        <p:nvSpPr>
          <p:cNvPr id="116" name="Shape 114"/>
          <p:cNvSpPr/>
          <p:nvPr/>
        </p:nvSpPr>
        <p:spPr>
          <a:xfrm>
            <a:off x="6588623" y="6009658"/>
            <a:ext cx="82358" cy="848342"/>
          </a:xfrm>
          <a:prstGeom prst="roundRect">
            <a:avLst>
              <a:gd name="adj" fmla="val 22205"/>
            </a:avLst>
          </a:prstGeom>
          <a:solidFill>
            <a:srgbClr val="E08A3C">
              <a:alpha val="45000"/>
            </a:srgbClr>
          </a:solidFill>
          <a:ln/>
        </p:spPr>
        <p:txBody>
          <a:bodyPr/>
          <a:lstStyle/>
          <a:p>
            <a:endParaRPr lang="en-US"/>
          </a:p>
        </p:txBody>
      </p:sp>
      <p:sp>
        <p:nvSpPr>
          <p:cNvPr id="117" name="Shape 115"/>
          <p:cNvSpPr/>
          <p:nvPr/>
        </p:nvSpPr>
        <p:spPr>
          <a:xfrm>
            <a:off x="6753338" y="5978771"/>
            <a:ext cx="82358" cy="879229"/>
          </a:xfrm>
          <a:prstGeom prst="roundRect">
            <a:avLst>
              <a:gd name="adj" fmla="val 22205"/>
            </a:avLst>
          </a:prstGeom>
          <a:solidFill>
            <a:srgbClr val="E08A3C">
              <a:alpha val="45000"/>
            </a:srgbClr>
          </a:solidFill>
          <a:ln/>
        </p:spPr>
        <p:txBody>
          <a:bodyPr/>
          <a:lstStyle/>
          <a:p>
            <a:endParaRPr lang="en-US"/>
          </a:p>
        </p:txBody>
      </p:sp>
      <p:sp>
        <p:nvSpPr>
          <p:cNvPr id="118" name="Shape 116"/>
          <p:cNvSpPr/>
          <p:nvPr/>
        </p:nvSpPr>
        <p:spPr>
          <a:xfrm>
            <a:off x="6918054" y="6247015"/>
            <a:ext cx="82358" cy="610985"/>
          </a:xfrm>
          <a:prstGeom prst="roundRect">
            <a:avLst>
              <a:gd name="adj" fmla="val 22205"/>
            </a:avLst>
          </a:prstGeom>
          <a:solidFill>
            <a:srgbClr val="E08A3C">
              <a:alpha val="45000"/>
            </a:srgbClr>
          </a:solidFill>
          <a:ln/>
        </p:spPr>
        <p:txBody>
          <a:bodyPr/>
          <a:lstStyle/>
          <a:p>
            <a:endParaRPr lang="en-US"/>
          </a:p>
        </p:txBody>
      </p:sp>
      <p:sp>
        <p:nvSpPr>
          <p:cNvPr id="119" name="Shape 117"/>
          <p:cNvSpPr/>
          <p:nvPr/>
        </p:nvSpPr>
        <p:spPr>
          <a:xfrm>
            <a:off x="7082769" y="5911092"/>
            <a:ext cx="82358" cy="946908"/>
          </a:xfrm>
          <a:prstGeom prst="roundRect">
            <a:avLst>
              <a:gd name="adj" fmla="val 22205"/>
            </a:avLst>
          </a:prstGeom>
          <a:solidFill>
            <a:srgbClr val="E08A3C">
              <a:alpha val="45000"/>
            </a:srgbClr>
          </a:solidFill>
          <a:ln/>
        </p:spPr>
        <p:txBody>
          <a:bodyPr/>
          <a:lstStyle/>
          <a:p>
            <a:endParaRPr lang="en-US"/>
          </a:p>
        </p:txBody>
      </p:sp>
      <p:sp>
        <p:nvSpPr>
          <p:cNvPr id="120" name="Shape 118"/>
          <p:cNvSpPr/>
          <p:nvPr/>
        </p:nvSpPr>
        <p:spPr>
          <a:xfrm>
            <a:off x="7247485" y="5928201"/>
            <a:ext cx="82358" cy="929799"/>
          </a:xfrm>
          <a:prstGeom prst="roundRect">
            <a:avLst>
              <a:gd name="adj" fmla="val 22205"/>
            </a:avLst>
          </a:prstGeom>
          <a:solidFill>
            <a:srgbClr val="E08A3C">
              <a:alpha val="45000"/>
            </a:srgbClr>
          </a:solidFill>
          <a:ln/>
        </p:spPr>
        <p:txBody>
          <a:bodyPr/>
          <a:lstStyle/>
          <a:p>
            <a:endParaRPr lang="en-US"/>
          </a:p>
        </p:txBody>
      </p:sp>
      <p:sp>
        <p:nvSpPr>
          <p:cNvPr id="121" name="Shape 119"/>
          <p:cNvSpPr/>
          <p:nvPr/>
        </p:nvSpPr>
        <p:spPr>
          <a:xfrm>
            <a:off x="7412201" y="5988875"/>
            <a:ext cx="82358" cy="869125"/>
          </a:xfrm>
          <a:prstGeom prst="roundRect">
            <a:avLst>
              <a:gd name="adj" fmla="val 22205"/>
            </a:avLst>
          </a:prstGeom>
          <a:solidFill>
            <a:srgbClr val="E08A3C">
              <a:alpha val="45000"/>
            </a:srgbClr>
          </a:solidFill>
          <a:ln/>
        </p:spPr>
        <p:txBody>
          <a:bodyPr/>
          <a:lstStyle/>
          <a:p>
            <a:endParaRPr lang="en-US"/>
          </a:p>
        </p:txBody>
      </p:sp>
      <p:sp>
        <p:nvSpPr>
          <p:cNvPr id="122" name="Shape 120"/>
          <p:cNvSpPr/>
          <p:nvPr/>
        </p:nvSpPr>
        <p:spPr>
          <a:xfrm>
            <a:off x="7576916" y="5894547"/>
            <a:ext cx="82358" cy="963453"/>
          </a:xfrm>
          <a:prstGeom prst="roundRect">
            <a:avLst>
              <a:gd name="adj" fmla="val 22205"/>
            </a:avLst>
          </a:prstGeom>
          <a:solidFill>
            <a:srgbClr val="E08A3C">
              <a:alpha val="45000"/>
            </a:srgbClr>
          </a:solidFill>
          <a:ln/>
        </p:spPr>
        <p:txBody>
          <a:bodyPr/>
          <a:lstStyle/>
          <a:p>
            <a:endParaRPr lang="en-US"/>
          </a:p>
        </p:txBody>
      </p:sp>
      <p:sp>
        <p:nvSpPr>
          <p:cNvPr id="123" name="Shape 121"/>
          <p:cNvSpPr/>
          <p:nvPr/>
        </p:nvSpPr>
        <p:spPr>
          <a:xfrm>
            <a:off x="7741632" y="6240311"/>
            <a:ext cx="82358" cy="617689"/>
          </a:xfrm>
          <a:prstGeom prst="roundRect">
            <a:avLst>
              <a:gd name="adj" fmla="val 22205"/>
            </a:avLst>
          </a:prstGeom>
          <a:solidFill>
            <a:srgbClr val="E08A3C">
              <a:alpha val="45000"/>
            </a:srgbClr>
          </a:solidFill>
          <a:ln/>
        </p:spPr>
        <p:txBody>
          <a:bodyPr/>
          <a:lstStyle/>
          <a:p>
            <a:endParaRPr lang="en-US"/>
          </a:p>
        </p:txBody>
      </p:sp>
      <p:sp>
        <p:nvSpPr>
          <p:cNvPr id="124" name="Shape 122"/>
          <p:cNvSpPr/>
          <p:nvPr/>
        </p:nvSpPr>
        <p:spPr>
          <a:xfrm>
            <a:off x="7906347" y="6104037"/>
            <a:ext cx="82358" cy="753963"/>
          </a:xfrm>
          <a:prstGeom prst="roundRect">
            <a:avLst>
              <a:gd name="adj" fmla="val 22205"/>
            </a:avLst>
          </a:prstGeom>
          <a:solidFill>
            <a:srgbClr val="E08A3C">
              <a:alpha val="45000"/>
            </a:srgbClr>
          </a:solidFill>
          <a:ln/>
        </p:spPr>
        <p:txBody>
          <a:bodyPr/>
          <a:lstStyle/>
          <a:p>
            <a:endParaRPr lang="en-US"/>
          </a:p>
        </p:txBody>
      </p:sp>
      <p:sp>
        <p:nvSpPr>
          <p:cNvPr id="125" name="Shape 123"/>
          <p:cNvSpPr/>
          <p:nvPr/>
        </p:nvSpPr>
        <p:spPr>
          <a:xfrm>
            <a:off x="8071063" y="6566826"/>
            <a:ext cx="82358" cy="291174"/>
          </a:xfrm>
          <a:prstGeom prst="roundRect">
            <a:avLst>
              <a:gd name="adj" fmla="val 22205"/>
            </a:avLst>
          </a:prstGeom>
          <a:solidFill>
            <a:srgbClr val="E08A3C">
              <a:alpha val="45000"/>
            </a:srgbClr>
          </a:solidFill>
          <a:ln/>
        </p:spPr>
        <p:txBody>
          <a:bodyPr/>
          <a:lstStyle/>
          <a:p>
            <a:endParaRPr lang="en-US"/>
          </a:p>
        </p:txBody>
      </p:sp>
      <p:sp>
        <p:nvSpPr>
          <p:cNvPr id="126" name="Shape 124"/>
          <p:cNvSpPr/>
          <p:nvPr/>
        </p:nvSpPr>
        <p:spPr>
          <a:xfrm>
            <a:off x="8235778" y="6408613"/>
            <a:ext cx="82358" cy="449387"/>
          </a:xfrm>
          <a:prstGeom prst="roundRect">
            <a:avLst>
              <a:gd name="adj" fmla="val 22205"/>
            </a:avLst>
          </a:prstGeom>
          <a:solidFill>
            <a:srgbClr val="E08A3C">
              <a:alpha val="45000"/>
            </a:srgbClr>
          </a:solidFill>
          <a:ln/>
        </p:spPr>
        <p:txBody>
          <a:bodyPr/>
          <a:lstStyle/>
          <a:p>
            <a:endParaRPr lang="en-US"/>
          </a:p>
        </p:txBody>
      </p:sp>
      <p:sp>
        <p:nvSpPr>
          <p:cNvPr id="127" name="Shape 125"/>
          <p:cNvSpPr/>
          <p:nvPr/>
        </p:nvSpPr>
        <p:spPr>
          <a:xfrm>
            <a:off x="8400494" y="6040081"/>
            <a:ext cx="82358" cy="817919"/>
          </a:xfrm>
          <a:prstGeom prst="roundRect">
            <a:avLst>
              <a:gd name="adj" fmla="val 22205"/>
            </a:avLst>
          </a:prstGeom>
          <a:solidFill>
            <a:srgbClr val="E08A3C">
              <a:alpha val="45000"/>
            </a:srgbClr>
          </a:solidFill>
          <a:ln/>
        </p:spPr>
        <p:txBody>
          <a:bodyPr/>
          <a:lstStyle/>
          <a:p>
            <a:endParaRPr lang="en-US"/>
          </a:p>
        </p:txBody>
      </p:sp>
      <p:sp>
        <p:nvSpPr>
          <p:cNvPr id="128" name="Shape 126"/>
          <p:cNvSpPr/>
          <p:nvPr/>
        </p:nvSpPr>
        <p:spPr>
          <a:xfrm>
            <a:off x="8565210" y="5954432"/>
            <a:ext cx="82358" cy="903568"/>
          </a:xfrm>
          <a:prstGeom prst="roundRect">
            <a:avLst>
              <a:gd name="adj" fmla="val 22205"/>
            </a:avLst>
          </a:prstGeom>
          <a:solidFill>
            <a:srgbClr val="E08A3C">
              <a:alpha val="45000"/>
            </a:srgbClr>
          </a:solidFill>
          <a:ln/>
        </p:spPr>
        <p:txBody>
          <a:bodyPr/>
          <a:lstStyle/>
          <a:p>
            <a:endParaRPr lang="en-US"/>
          </a:p>
        </p:txBody>
      </p:sp>
      <p:sp>
        <p:nvSpPr>
          <p:cNvPr id="129" name="Shape 127"/>
          <p:cNvSpPr/>
          <p:nvPr/>
        </p:nvSpPr>
        <p:spPr>
          <a:xfrm>
            <a:off x="8729925" y="6573931"/>
            <a:ext cx="82358" cy="284069"/>
          </a:xfrm>
          <a:prstGeom prst="roundRect">
            <a:avLst>
              <a:gd name="adj" fmla="val 22205"/>
            </a:avLst>
          </a:prstGeom>
          <a:solidFill>
            <a:srgbClr val="E08A3C">
              <a:alpha val="45000"/>
            </a:srgbClr>
          </a:solidFill>
          <a:ln/>
        </p:spPr>
        <p:txBody>
          <a:bodyPr/>
          <a:lstStyle/>
          <a:p>
            <a:endParaRPr lang="en-US"/>
          </a:p>
        </p:txBody>
      </p:sp>
      <p:sp>
        <p:nvSpPr>
          <p:cNvPr id="130" name="Shape 128"/>
          <p:cNvSpPr/>
          <p:nvPr/>
        </p:nvSpPr>
        <p:spPr>
          <a:xfrm>
            <a:off x="8894641" y="6422512"/>
            <a:ext cx="82358" cy="435488"/>
          </a:xfrm>
          <a:prstGeom prst="roundRect">
            <a:avLst>
              <a:gd name="adj" fmla="val 22205"/>
            </a:avLst>
          </a:prstGeom>
          <a:solidFill>
            <a:srgbClr val="E08A3C">
              <a:alpha val="45000"/>
            </a:srgbClr>
          </a:solidFill>
          <a:ln/>
        </p:spPr>
        <p:txBody>
          <a:bodyPr/>
          <a:lstStyle/>
          <a:p>
            <a:endParaRPr lang="en-US"/>
          </a:p>
        </p:txBody>
      </p:sp>
      <p:sp>
        <p:nvSpPr>
          <p:cNvPr id="131" name="Shape 129"/>
          <p:cNvSpPr/>
          <p:nvPr/>
        </p:nvSpPr>
        <p:spPr>
          <a:xfrm>
            <a:off x="9059356" y="6330774"/>
            <a:ext cx="82358" cy="527226"/>
          </a:xfrm>
          <a:prstGeom prst="roundRect">
            <a:avLst>
              <a:gd name="adj" fmla="val 22205"/>
            </a:avLst>
          </a:prstGeom>
          <a:solidFill>
            <a:srgbClr val="E08A3C">
              <a:alpha val="45000"/>
            </a:srgbClr>
          </a:solidFill>
          <a:ln/>
        </p:spPr>
        <p:txBody>
          <a:bodyPr/>
          <a:lstStyle/>
          <a:p>
            <a:endParaRPr lang="en-US"/>
          </a:p>
        </p:txBody>
      </p:sp>
      <p:sp>
        <p:nvSpPr>
          <p:cNvPr id="132" name="Shape 130"/>
          <p:cNvSpPr/>
          <p:nvPr/>
        </p:nvSpPr>
        <p:spPr>
          <a:xfrm>
            <a:off x="9224072" y="6037003"/>
            <a:ext cx="82358" cy="820997"/>
          </a:xfrm>
          <a:prstGeom prst="roundRect">
            <a:avLst>
              <a:gd name="adj" fmla="val 22205"/>
            </a:avLst>
          </a:prstGeom>
          <a:solidFill>
            <a:srgbClr val="E08A3C">
              <a:alpha val="45000"/>
            </a:srgbClr>
          </a:solidFill>
          <a:ln/>
        </p:spPr>
        <p:txBody>
          <a:bodyPr/>
          <a:lstStyle/>
          <a:p>
            <a:endParaRPr lang="en-US"/>
          </a:p>
        </p:txBody>
      </p:sp>
      <p:sp>
        <p:nvSpPr>
          <p:cNvPr id="133" name="Shape 131"/>
          <p:cNvSpPr/>
          <p:nvPr/>
        </p:nvSpPr>
        <p:spPr>
          <a:xfrm>
            <a:off x="9388787" y="6319687"/>
            <a:ext cx="82358" cy="538313"/>
          </a:xfrm>
          <a:prstGeom prst="roundRect">
            <a:avLst>
              <a:gd name="adj" fmla="val 22205"/>
            </a:avLst>
          </a:prstGeom>
          <a:solidFill>
            <a:srgbClr val="E08A3C">
              <a:alpha val="45000"/>
            </a:srgbClr>
          </a:solidFill>
          <a:ln/>
        </p:spPr>
        <p:txBody>
          <a:bodyPr/>
          <a:lstStyle/>
          <a:p>
            <a:endParaRPr lang="en-US"/>
          </a:p>
        </p:txBody>
      </p:sp>
      <p:sp>
        <p:nvSpPr>
          <p:cNvPr id="134" name="Shape 132"/>
          <p:cNvSpPr/>
          <p:nvPr/>
        </p:nvSpPr>
        <p:spPr>
          <a:xfrm>
            <a:off x="9553503" y="6618912"/>
            <a:ext cx="82358" cy="239088"/>
          </a:xfrm>
          <a:prstGeom prst="roundRect">
            <a:avLst>
              <a:gd name="adj" fmla="val 22205"/>
            </a:avLst>
          </a:prstGeom>
          <a:solidFill>
            <a:srgbClr val="E08A3C">
              <a:alpha val="45000"/>
            </a:srgbClr>
          </a:solidFill>
          <a:ln/>
        </p:spPr>
        <p:txBody>
          <a:bodyPr/>
          <a:lstStyle/>
          <a:p>
            <a:endParaRPr lang="en-US"/>
          </a:p>
        </p:txBody>
      </p:sp>
      <p:sp>
        <p:nvSpPr>
          <p:cNvPr id="135" name="Shape 133"/>
          <p:cNvSpPr/>
          <p:nvPr/>
        </p:nvSpPr>
        <p:spPr>
          <a:xfrm>
            <a:off x="9718218" y="6226898"/>
            <a:ext cx="82358" cy="631102"/>
          </a:xfrm>
          <a:prstGeom prst="roundRect">
            <a:avLst>
              <a:gd name="adj" fmla="val 22205"/>
            </a:avLst>
          </a:prstGeom>
          <a:solidFill>
            <a:srgbClr val="E08A3C">
              <a:alpha val="45000"/>
            </a:srgbClr>
          </a:solidFill>
          <a:ln/>
        </p:spPr>
        <p:txBody>
          <a:bodyPr/>
          <a:lstStyle/>
          <a:p>
            <a:endParaRPr lang="en-US"/>
          </a:p>
        </p:txBody>
      </p:sp>
      <p:sp>
        <p:nvSpPr>
          <p:cNvPr id="136" name="Shape 134"/>
          <p:cNvSpPr/>
          <p:nvPr/>
        </p:nvSpPr>
        <p:spPr>
          <a:xfrm>
            <a:off x="9882934" y="6196639"/>
            <a:ext cx="82358" cy="661361"/>
          </a:xfrm>
          <a:prstGeom prst="roundRect">
            <a:avLst>
              <a:gd name="adj" fmla="val 22205"/>
            </a:avLst>
          </a:prstGeom>
          <a:solidFill>
            <a:srgbClr val="E08A3C">
              <a:alpha val="45000"/>
            </a:srgbClr>
          </a:solidFill>
          <a:ln/>
        </p:spPr>
        <p:txBody>
          <a:bodyPr/>
          <a:lstStyle/>
          <a:p>
            <a:endParaRPr lang="en-US"/>
          </a:p>
        </p:txBody>
      </p:sp>
      <p:sp>
        <p:nvSpPr>
          <p:cNvPr id="137" name="Shape 135"/>
          <p:cNvSpPr/>
          <p:nvPr/>
        </p:nvSpPr>
        <p:spPr>
          <a:xfrm>
            <a:off x="10047650" y="6508437"/>
            <a:ext cx="82358" cy="349563"/>
          </a:xfrm>
          <a:prstGeom prst="roundRect">
            <a:avLst>
              <a:gd name="adj" fmla="val 22205"/>
            </a:avLst>
          </a:prstGeom>
          <a:solidFill>
            <a:srgbClr val="E08A3C">
              <a:alpha val="45000"/>
            </a:srgbClr>
          </a:solidFill>
          <a:ln/>
        </p:spPr>
        <p:txBody>
          <a:bodyPr/>
          <a:lstStyle/>
          <a:p>
            <a:endParaRPr lang="en-US"/>
          </a:p>
        </p:txBody>
      </p:sp>
      <p:sp>
        <p:nvSpPr>
          <p:cNvPr id="138" name="Shape 136"/>
          <p:cNvSpPr/>
          <p:nvPr/>
        </p:nvSpPr>
        <p:spPr>
          <a:xfrm>
            <a:off x="10212365" y="6675071"/>
            <a:ext cx="82358" cy="182929"/>
          </a:xfrm>
          <a:prstGeom prst="roundRect">
            <a:avLst>
              <a:gd name="adj" fmla="val 22205"/>
            </a:avLst>
          </a:prstGeom>
          <a:solidFill>
            <a:srgbClr val="E08A3C">
              <a:alpha val="45000"/>
            </a:srgbClr>
          </a:solidFill>
          <a:ln/>
        </p:spPr>
        <p:txBody>
          <a:bodyPr/>
          <a:lstStyle/>
          <a:p>
            <a:endParaRPr lang="en-US"/>
          </a:p>
        </p:txBody>
      </p:sp>
      <p:sp>
        <p:nvSpPr>
          <p:cNvPr id="139" name="Shape 137"/>
          <p:cNvSpPr/>
          <p:nvPr/>
        </p:nvSpPr>
        <p:spPr>
          <a:xfrm>
            <a:off x="10377081" y="6399880"/>
            <a:ext cx="82358" cy="458120"/>
          </a:xfrm>
          <a:prstGeom prst="roundRect">
            <a:avLst>
              <a:gd name="adj" fmla="val 22205"/>
            </a:avLst>
          </a:prstGeom>
          <a:solidFill>
            <a:srgbClr val="E08A3C">
              <a:alpha val="45000"/>
            </a:srgbClr>
          </a:solidFill>
          <a:ln/>
        </p:spPr>
        <p:txBody>
          <a:bodyPr/>
          <a:lstStyle/>
          <a:p>
            <a:endParaRPr lang="en-US"/>
          </a:p>
        </p:txBody>
      </p:sp>
      <p:sp>
        <p:nvSpPr>
          <p:cNvPr id="140" name="Shape 138"/>
          <p:cNvSpPr/>
          <p:nvPr/>
        </p:nvSpPr>
        <p:spPr>
          <a:xfrm>
            <a:off x="10541796" y="6324416"/>
            <a:ext cx="82358" cy="533584"/>
          </a:xfrm>
          <a:prstGeom prst="roundRect">
            <a:avLst>
              <a:gd name="adj" fmla="val 22205"/>
            </a:avLst>
          </a:prstGeom>
          <a:solidFill>
            <a:srgbClr val="E08A3C">
              <a:alpha val="45000"/>
            </a:srgbClr>
          </a:solidFill>
          <a:ln/>
        </p:spPr>
        <p:txBody>
          <a:bodyPr/>
          <a:lstStyle/>
          <a:p>
            <a:endParaRPr lang="en-US"/>
          </a:p>
        </p:txBody>
      </p:sp>
      <p:sp>
        <p:nvSpPr>
          <p:cNvPr id="141" name="Shape 139"/>
          <p:cNvSpPr/>
          <p:nvPr/>
        </p:nvSpPr>
        <p:spPr>
          <a:xfrm>
            <a:off x="10706512" y="6450682"/>
            <a:ext cx="82358" cy="407318"/>
          </a:xfrm>
          <a:prstGeom prst="roundRect">
            <a:avLst>
              <a:gd name="adj" fmla="val 22205"/>
            </a:avLst>
          </a:prstGeom>
          <a:solidFill>
            <a:srgbClr val="E08A3C">
              <a:alpha val="45000"/>
            </a:srgbClr>
          </a:solidFill>
          <a:ln/>
        </p:spPr>
        <p:txBody>
          <a:bodyPr/>
          <a:lstStyle/>
          <a:p>
            <a:endParaRPr lang="en-US"/>
          </a:p>
        </p:txBody>
      </p:sp>
      <p:sp>
        <p:nvSpPr>
          <p:cNvPr id="142" name="Shape 140"/>
          <p:cNvSpPr/>
          <p:nvPr/>
        </p:nvSpPr>
        <p:spPr>
          <a:xfrm>
            <a:off x="10871227" y="6700443"/>
            <a:ext cx="82358" cy="157557"/>
          </a:xfrm>
          <a:prstGeom prst="roundRect">
            <a:avLst>
              <a:gd name="adj" fmla="val 22205"/>
            </a:avLst>
          </a:prstGeom>
          <a:solidFill>
            <a:srgbClr val="E08A3C">
              <a:alpha val="45000"/>
            </a:srgbClr>
          </a:solidFill>
          <a:ln/>
        </p:spPr>
        <p:txBody>
          <a:bodyPr/>
          <a:lstStyle/>
          <a:p>
            <a:endParaRPr lang="en-US"/>
          </a:p>
        </p:txBody>
      </p:sp>
      <p:sp>
        <p:nvSpPr>
          <p:cNvPr id="143" name="Shape 141"/>
          <p:cNvSpPr/>
          <p:nvPr/>
        </p:nvSpPr>
        <p:spPr>
          <a:xfrm>
            <a:off x="11035943" y="6369910"/>
            <a:ext cx="82358" cy="488090"/>
          </a:xfrm>
          <a:prstGeom prst="roundRect">
            <a:avLst>
              <a:gd name="adj" fmla="val 22205"/>
            </a:avLst>
          </a:prstGeom>
          <a:solidFill>
            <a:srgbClr val="E08A3C">
              <a:alpha val="45000"/>
            </a:srgbClr>
          </a:solidFill>
          <a:ln/>
        </p:spPr>
        <p:txBody>
          <a:bodyPr/>
          <a:lstStyle/>
          <a:p>
            <a:endParaRPr lang="en-US"/>
          </a:p>
        </p:txBody>
      </p:sp>
      <p:sp>
        <p:nvSpPr>
          <p:cNvPr id="144" name="Shape 142"/>
          <p:cNvSpPr/>
          <p:nvPr/>
        </p:nvSpPr>
        <p:spPr>
          <a:xfrm>
            <a:off x="11200659" y="6409348"/>
            <a:ext cx="82358" cy="448652"/>
          </a:xfrm>
          <a:prstGeom prst="roundRect">
            <a:avLst>
              <a:gd name="adj" fmla="val 22205"/>
            </a:avLst>
          </a:prstGeom>
          <a:solidFill>
            <a:srgbClr val="E08A3C">
              <a:alpha val="45000"/>
            </a:srgbClr>
          </a:solidFill>
          <a:ln/>
        </p:spPr>
        <p:txBody>
          <a:bodyPr/>
          <a:lstStyle/>
          <a:p>
            <a:endParaRPr lang="en-US"/>
          </a:p>
        </p:txBody>
      </p:sp>
      <p:sp>
        <p:nvSpPr>
          <p:cNvPr id="145" name="Shape 143"/>
          <p:cNvSpPr/>
          <p:nvPr/>
        </p:nvSpPr>
        <p:spPr>
          <a:xfrm>
            <a:off x="11365374" y="6724582"/>
            <a:ext cx="82358" cy="133418"/>
          </a:xfrm>
          <a:prstGeom prst="roundRect">
            <a:avLst>
              <a:gd name="adj" fmla="val 22205"/>
            </a:avLst>
          </a:prstGeom>
          <a:solidFill>
            <a:srgbClr val="E08A3C">
              <a:alpha val="45000"/>
            </a:srgbClr>
          </a:solidFill>
          <a:ln/>
        </p:spPr>
        <p:txBody>
          <a:bodyPr/>
          <a:lstStyle/>
          <a:p>
            <a:endParaRPr lang="en-US"/>
          </a:p>
        </p:txBody>
      </p:sp>
      <p:sp>
        <p:nvSpPr>
          <p:cNvPr id="146" name="Shape 144"/>
          <p:cNvSpPr/>
          <p:nvPr/>
        </p:nvSpPr>
        <p:spPr>
          <a:xfrm>
            <a:off x="11530090" y="6772354"/>
            <a:ext cx="82358" cy="85646"/>
          </a:xfrm>
          <a:prstGeom prst="roundRect">
            <a:avLst>
              <a:gd name="adj" fmla="val 22205"/>
            </a:avLst>
          </a:prstGeom>
          <a:solidFill>
            <a:srgbClr val="E08A3C">
              <a:alpha val="45000"/>
            </a:srgbClr>
          </a:solidFill>
          <a:ln/>
        </p:spPr>
        <p:txBody>
          <a:bodyPr/>
          <a:lstStyle/>
          <a:p>
            <a:endParaRPr lang="en-US"/>
          </a:p>
        </p:txBody>
      </p:sp>
      <p:sp>
        <p:nvSpPr>
          <p:cNvPr id="147" name="Shape 145"/>
          <p:cNvSpPr/>
          <p:nvPr/>
        </p:nvSpPr>
        <p:spPr>
          <a:xfrm>
            <a:off x="11694805" y="6779570"/>
            <a:ext cx="82358" cy="78430"/>
          </a:xfrm>
          <a:prstGeom prst="roundRect">
            <a:avLst>
              <a:gd name="adj" fmla="val 23318"/>
            </a:avLst>
          </a:prstGeom>
          <a:solidFill>
            <a:srgbClr val="E08A3C">
              <a:alpha val="45000"/>
            </a:srgbClr>
          </a:solidFill>
          <a:ln/>
        </p:spPr>
        <p:txBody>
          <a:bodyPr/>
          <a:lstStyle/>
          <a:p>
            <a:endParaRPr lang="en-US"/>
          </a:p>
        </p:txBody>
      </p:sp>
      <p:sp>
        <p:nvSpPr>
          <p:cNvPr id="148" name="Shape 146"/>
          <p:cNvSpPr/>
          <p:nvPr/>
        </p:nvSpPr>
        <p:spPr>
          <a:xfrm>
            <a:off x="11859521" y="6694505"/>
            <a:ext cx="82358" cy="163495"/>
          </a:xfrm>
          <a:prstGeom prst="roundRect">
            <a:avLst>
              <a:gd name="adj" fmla="val 22205"/>
            </a:avLst>
          </a:prstGeom>
          <a:solidFill>
            <a:srgbClr val="E08A3C">
              <a:alpha val="45000"/>
            </a:srgbClr>
          </a:solidFill>
          <a:ln/>
        </p:spPr>
        <p:txBody>
          <a:bodyPr/>
          <a:lstStyle/>
          <a:p>
            <a:endParaRPr lang="en-US"/>
          </a:p>
        </p:txBody>
      </p:sp>
      <p:sp>
        <p:nvSpPr>
          <p:cNvPr id="149" name="Shape 147"/>
          <p:cNvSpPr/>
          <p:nvPr/>
        </p:nvSpPr>
        <p:spPr>
          <a:xfrm>
            <a:off x="12024236" y="6821424"/>
            <a:ext cx="82358" cy="36576"/>
          </a:xfrm>
          <a:prstGeom prst="roundRect">
            <a:avLst>
              <a:gd name="adj" fmla="val 50000"/>
            </a:avLst>
          </a:prstGeom>
          <a:solidFill>
            <a:srgbClr val="E08A3C">
              <a:alpha val="45000"/>
            </a:srgbClr>
          </a:solidFill>
          <a:ln/>
        </p:spPr>
        <p:txBody>
          <a:bodyPr/>
          <a:lstStyle/>
          <a:p>
            <a:endParaRPr lang="en-US"/>
          </a:p>
        </p:txBody>
      </p:sp>
      <p:sp>
        <p:nvSpPr>
          <p:cNvPr id="150" name="Text 148"/>
          <p:cNvSpPr/>
          <p:nvPr/>
        </p:nvSpPr>
        <p:spPr>
          <a:xfrm>
            <a:off x="773803" y="993809"/>
            <a:ext cx="10607040" cy="1691640"/>
          </a:xfrm>
          <a:prstGeom prst="rect">
            <a:avLst/>
          </a:prstGeom>
          <a:noFill/>
          <a:ln/>
        </p:spPr>
        <p:txBody>
          <a:bodyPr wrap="square" lIns="0" tIns="0" rIns="0" bIns="0" rtlCol="0" anchor="ctr"/>
          <a:lstStyle/>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Speech Noise Reduction Using</a:t>
            </a:r>
            <a:endParaRPr lang="en-US" sz="4000" dirty="0"/>
          </a:p>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Long Short-Term Memory Networks</a:t>
            </a:r>
            <a:endParaRPr lang="en-US" sz="4000" dirty="0"/>
          </a:p>
        </p:txBody>
      </p:sp>
      <p:sp>
        <p:nvSpPr>
          <p:cNvPr id="152" name="Shape 150"/>
          <p:cNvSpPr/>
          <p:nvPr/>
        </p:nvSpPr>
        <p:spPr>
          <a:xfrm>
            <a:off x="777240" y="3703320"/>
            <a:ext cx="4480560" cy="868680"/>
          </a:xfrm>
          <a:prstGeom prst="roundRect">
            <a:avLst>
              <a:gd name="adj" fmla="val 8421"/>
            </a:avLst>
          </a:prstGeom>
          <a:solidFill>
            <a:srgbClr val="1C3557"/>
          </a:solidFill>
          <a:ln/>
        </p:spPr>
        <p:txBody>
          <a:bodyPr/>
          <a:lstStyle/>
          <a:p>
            <a:endParaRPr lang="en-US"/>
          </a:p>
        </p:txBody>
      </p:sp>
      <p:sp>
        <p:nvSpPr>
          <p:cNvPr id="153" name="Text 151"/>
          <p:cNvSpPr/>
          <p:nvPr/>
        </p:nvSpPr>
        <p:spPr>
          <a:xfrm>
            <a:off x="1005840" y="3785616"/>
            <a:ext cx="4114800" cy="713232"/>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Skylar Denno</a:t>
            </a:r>
            <a:endParaRPr lang="en-US" sz="1500" dirty="0"/>
          </a:p>
          <a:p>
            <a:pPr marL="0" indent="0">
              <a:buNone/>
            </a:pPr>
            <a:r>
              <a:rPr lang="en-US" sz="1200" dirty="0">
                <a:solidFill>
                  <a:srgbClr val="C9D9E8"/>
                </a:solidFill>
                <a:latin typeface="Calibri" pitchFamily="34" charset="0"/>
                <a:ea typeface="Calibri" pitchFamily="34" charset="-122"/>
                <a:cs typeface="Calibri" pitchFamily="34" charset="-120"/>
              </a:rPr>
              <a:t>EECE 5644: Machine Learning </a:t>
            </a:r>
          </a:p>
          <a:p>
            <a:pPr marL="0" indent="0">
              <a:buNone/>
            </a:pPr>
            <a:r>
              <a:rPr lang="en-US" sz="1200" dirty="0">
                <a:solidFill>
                  <a:srgbClr val="C9D9E8"/>
                </a:solidFill>
                <a:latin typeface="Calibri" pitchFamily="34" charset="0"/>
                <a:ea typeface="Calibri" pitchFamily="34" charset="-122"/>
                <a:cs typeface="Calibri" pitchFamily="34" charset="-120"/>
              </a:rPr>
              <a:t>Northeastern University</a:t>
            </a:r>
            <a:endParaRPr lang="en-US" sz="1500" dirty="0"/>
          </a:p>
        </p:txBody>
      </p:sp>
      <p:pic>
        <p:nvPicPr>
          <p:cNvPr id="151" name="Picture 150" descr="Northeastern University Logo and symbol, meaning, history, PNG, brand">
            <a:extLst>
              <a:ext uri="{FF2B5EF4-FFF2-40B4-BE49-F238E27FC236}">
                <a16:creationId xmlns:a16="http://schemas.microsoft.com/office/drawing/2014/main" id="{F6FB5FE3-AFC2-151C-CCAE-3923F1003BE7}"/>
              </a:ext>
            </a:extLst>
          </p:cNvPr>
          <p:cNvPicPr>
            <a:picLocks noChangeAspect="1"/>
          </p:cNvPicPr>
          <p:nvPr/>
        </p:nvPicPr>
        <p:blipFill>
          <a:blip r:embed="rId3"/>
          <a:stretch>
            <a:fillRect/>
          </a:stretch>
        </p:blipFill>
        <p:spPr>
          <a:xfrm>
            <a:off x="7692302" y="2614973"/>
            <a:ext cx="4545979" cy="255332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PROBLEM STATEMENT</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The problem</a:t>
            </a:r>
            <a:endParaRPr lang="en-US" sz="3000" dirty="0"/>
          </a:p>
        </p:txBody>
      </p:sp>
      <p:sp>
        <p:nvSpPr>
          <p:cNvPr id="4" name="Text 2"/>
          <p:cNvSpPr/>
          <p:nvPr/>
        </p:nvSpPr>
        <p:spPr>
          <a:xfrm>
            <a:off x="640080" y="1737360"/>
            <a:ext cx="7498080" cy="1554480"/>
          </a:xfrm>
          <a:prstGeom prst="rect">
            <a:avLst/>
          </a:prstGeom>
          <a:noFill/>
          <a:ln/>
        </p:spPr>
        <p:txBody>
          <a:bodyPr wrap="square" lIns="0" tIns="0" rIns="0" bIns="0" rtlCol="0" anchor="t"/>
          <a:lstStyle/>
          <a:p>
            <a:pPr marL="0" indent="0">
              <a:lnSpc>
                <a:spcPct val="115000"/>
              </a:lnSpc>
              <a:buNone/>
            </a:pPr>
            <a:r>
              <a:rPr lang="en-US" sz="3200" b="1" dirty="0">
                <a:solidFill>
                  <a:srgbClr val="16202C"/>
                </a:solidFill>
                <a:latin typeface="Cambria" pitchFamily="34" charset="0"/>
                <a:ea typeface="Cambria" pitchFamily="34" charset="-122"/>
                <a:cs typeface="Cambria" pitchFamily="34" charset="-120"/>
              </a:rPr>
              <a:t>Noise is everywhere and hard for later systems to use</a:t>
            </a:r>
            <a:endParaRPr lang="en-US" sz="3200" dirty="0"/>
          </a:p>
        </p:txBody>
      </p:sp>
      <p:sp>
        <p:nvSpPr>
          <p:cNvPr id="5" name="Text 3"/>
          <p:cNvSpPr/>
          <p:nvPr/>
        </p:nvSpPr>
        <p:spPr>
          <a:xfrm>
            <a:off x="658368" y="3429000"/>
            <a:ext cx="7040880" cy="640080"/>
          </a:xfrm>
          <a:prstGeom prst="rect">
            <a:avLst/>
          </a:prstGeom>
          <a:noFill/>
          <a:ln/>
        </p:spPr>
        <p:txBody>
          <a:bodyPr wrap="square" lIns="0" tIns="0" rIns="0" bIns="0" rtlCol="0" anchor="t"/>
          <a:lstStyle/>
          <a:p>
            <a:pPr marL="0" indent="0">
              <a:buNone/>
            </a:pPr>
            <a:r>
              <a:rPr lang="en-US" sz="1650" dirty="0">
                <a:solidFill>
                  <a:srgbClr val="62707F"/>
                </a:solidFill>
                <a:latin typeface="Calibri" pitchFamily="34" charset="0"/>
                <a:ea typeface="Calibri" pitchFamily="34" charset="-122"/>
                <a:cs typeface="Calibri" pitchFamily="34" charset="-120"/>
              </a:rPr>
              <a:t>Learn the mapping from paired examples, so the model handles noise that changes over time.</a:t>
            </a:r>
            <a:endParaRPr lang="en-US" sz="1650" dirty="0"/>
          </a:p>
        </p:txBody>
      </p:sp>
      <p:sp>
        <p:nvSpPr>
          <p:cNvPr id="6" name="Shape 4"/>
          <p:cNvSpPr/>
          <p:nvPr/>
        </p:nvSpPr>
        <p:spPr>
          <a:xfrm>
            <a:off x="6400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7" name="Shape 5"/>
          <p:cNvSpPr/>
          <p:nvPr/>
        </p:nvSpPr>
        <p:spPr>
          <a:xfrm>
            <a:off x="896112" y="4407408"/>
            <a:ext cx="274320" cy="274320"/>
          </a:xfrm>
          <a:prstGeom prst="ellipse">
            <a:avLst/>
          </a:prstGeom>
          <a:solidFill>
            <a:srgbClr val="0E8A8F"/>
          </a:solidFill>
          <a:ln/>
        </p:spPr>
        <p:txBody>
          <a:bodyPr/>
          <a:lstStyle/>
          <a:p>
            <a:endParaRPr lang="en-US"/>
          </a:p>
        </p:txBody>
      </p:sp>
      <p:sp>
        <p:nvSpPr>
          <p:cNvPr id="8" name="Text 6"/>
          <p:cNvSpPr/>
          <p:nvPr/>
        </p:nvSpPr>
        <p:spPr>
          <a:xfrm>
            <a:off x="1298448" y="4352544"/>
            <a:ext cx="2560320" cy="36576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Dynamic noise</a:t>
            </a:r>
            <a:endParaRPr lang="en-US" sz="1600" dirty="0"/>
          </a:p>
        </p:txBody>
      </p:sp>
      <p:sp>
        <p:nvSpPr>
          <p:cNvPr id="9" name="Text 7"/>
          <p:cNvSpPr/>
          <p:nvPr/>
        </p:nvSpPr>
        <p:spPr>
          <a:xfrm>
            <a:off x="914400" y="4828032"/>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noise changes second to second.</a:t>
            </a:r>
            <a:endParaRPr lang="en-US" sz="1350" dirty="0"/>
          </a:p>
        </p:txBody>
      </p:sp>
      <p:sp>
        <p:nvSpPr>
          <p:cNvPr id="10" name="Shape 8"/>
          <p:cNvSpPr/>
          <p:nvPr/>
        </p:nvSpPr>
        <p:spPr>
          <a:xfrm>
            <a:off x="42976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1" name="Shape 9"/>
          <p:cNvSpPr/>
          <p:nvPr/>
        </p:nvSpPr>
        <p:spPr>
          <a:xfrm>
            <a:off x="4553712" y="4407408"/>
            <a:ext cx="274320" cy="274320"/>
          </a:xfrm>
          <a:prstGeom prst="ellipse">
            <a:avLst/>
          </a:prstGeom>
          <a:solidFill>
            <a:srgbClr val="0E8A8F"/>
          </a:solidFill>
          <a:ln/>
        </p:spPr>
        <p:txBody>
          <a:bodyPr/>
          <a:lstStyle/>
          <a:p>
            <a:endParaRPr lang="en-US"/>
          </a:p>
        </p:txBody>
      </p:sp>
      <p:sp>
        <p:nvSpPr>
          <p:cNvPr id="12" name="Text 10"/>
          <p:cNvSpPr/>
          <p:nvPr/>
        </p:nvSpPr>
        <p:spPr>
          <a:xfrm>
            <a:off x="4956048" y="4352544"/>
            <a:ext cx="2560320" cy="36576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Speech-like</a:t>
            </a:r>
            <a:endParaRPr lang="en-US" sz="1600" dirty="0"/>
          </a:p>
        </p:txBody>
      </p:sp>
      <p:sp>
        <p:nvSpPr>
          <p:cNvPr id="13" name="Text 11"/>
          <p:cNvSpPr/>
          <p:nvPr/>
        </p:nvSpPr>
        <p:spPr>
          <a:xfrm>
            <a:off x="4572000" y="4828032"/>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noise can be a voice or music. Can we tell which is the “correct” thing to focus on?</a:t>
            </a:r>
            <a:endParaRPr lang="en-US" sz="1350" dirty="0"/>
          </a:p>
        </p:txBody>
      </p:sp>
      <p:sp>
        <p:nvSpPr>
          <p:cNvPr id="14" name="Shape 12"/>
          <p:cNvSpPr/>
          <p:nvPr/>
        </p:nvSpPr>
        <p:spPr>
          <a:xfrm>
            <a:off x="7955280" y="4160520"/>
            <a:ext cx="3429000" cy="1600200"/>
          </a:xfrm>
          <a:prstGeom prst="roundRect">
            <a:avLst>
              <a:gd name="adj" fmla="val 514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5" name="Shape 13"/>
          <p:cNvSpPr/>
          <p:nvPr/>
        </p:nvSpPr>
        <p:spPr>
          <a:xfrm>
            <a:off x="8211312" y="4407408"/>
            <a:ext cx="274320" cy="274320"/>
          </a:xfrm>
          <a:prstGeom prst="ellipse">
            <a:avLst/>
          </a:prstGeom>
          <a:solidFill>
            <a:srgbClr val="0E8A8F"/>
          </a:solidFill>
          <a:ln/>
        </p:spPr>
        <p:txBody>
          <a:bodyPr/>
          <a:lstStyle/>
          <a:p>
            <a:endParaRPr lang="en-US"/>
          </a:p>
        </p:txBody>
      </p:sp>
      <p:sp>
        <p:nvSpPr>
          <p:cNvPr id="16" name="Text 14"/>
          <p:cNvSpPr/>
          <p:nvPr/>
        </p:nvSpPr>
        <p:spPr>
          <a:xfrm>
            <a:off x="8613648" y="4352544"/>
            <a:ext cx="2560320" cy="77724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How powerful can we make the model? What about fast?</a:t>
            </a:r>
            <a:endParaRPr lang="en-US" sz="1600" dirty="0"/>
          </a:p>
        </p:txBody>
      </p:sp>
      <p:sp>
        <p:nvSpPr>
          <p:cNvPr id="17" name="Text 15"/>
          <p:cNvSpPr/>
          <p:nvPr/>
        </p:nvSpPr>
        <p:spPr>
          <a:xfrm>
            <a:off x="8232611" y="5205055"/>
            <a:ext cx="2926080" cy="777240"/>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Goal: Make low-latency, real time model and a high-quality model</a:t>
            </a:r>
            <a:endParaRPr lang="en-US" sz="1350" dirty="0"/>
          </a:p>
        </p:txBody>
      </p:sp>
      <p:sp>
        <p:nvSpPr>
          <p:cNvPr id="18" name="Shape 16"/>
          <p:cNvSpPr/>
          <p:nvPr/>
        </p:nvSpPr>
        <p:spPr>
          <a:xfrm>
            <a:off x="8275320" y="1691640"/>
            <a:ext cx="3264408" cy="2194560"/>
          </a:xfrm>
          <a:prstGeom prst="roundRect">
            <a:avLst>
              <a:gd name="adj" fmla="val 3750"/>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19" name="Text 17"/>
          <p:cNvSpPr/>
          <p:nvPr/>
        </p:nvSpPr>
        <p:spPr>
          <a:xfrm>
            <a:off x="8531352" y="1874520"/>
            <a:ext cx="2743200" cy="219456"/>
          </a:xfrm>
          <a:prstGeom prst="rect">
            <a:avLst/>
          </a:prstGeom>
          <a:noFill/>
          <a:ln/>
        </p:spPr>
        <p:txBody>
          <a:bodyPr wrap="square" lIns="0" tIns="0" rIns="0" bIns="0" rtlCol="0" anchor="ctr"/>
          <a:lstStyle/>
          <a:p>
            <a:pPr marL="0" indent="0">
              <a:buNone/>
            </a:pPr>
            <a:r>
              <a:rPr lang="en-US" sz="1000" b="1" kern="0" spc="140" dirty="0">
                <a:solidFill>
                  <a:srgbClr val="E08A3C"/>
                </a:solidFill>
                <a:latin typeface="Calibri" pitchFamily="34" charset="0"/>
                <a:ea typeface="Calibri" pitchFamily="34" charset="-122"/>
                <a:cs typeface="Calibri" pitchFamily="34" charset="-120"/>
              </a:rPr>
              <a:t>NOISY</a:t>
            </a:r>
            <a:endParaRPr lang="en-US" sz="1000" dirty="0"/>
          </a:p>
        </p:txBody>
      </p:sp>
      <p:sp>
        <p:nvSpPr>
          <p:cNvPr id="20" name="Shape 18"/>
          <p:cNvSpPr/>
          <p:nvPr/>
        </p:nvSpPr>
        <p:spPr>
          <a:xfrm>
            <a:off x="8531352" y="2468816"/>
            <a:ext cx="45720" cy="201232"/>
          </a:xfrm>
          <a:prstGeom prst="roundRect">
            <a:avLst>
              <a:gd name="adj" fmla="val 40000"/>
            </a:avLst>
          </a:prstGeom>
          <a:solidFill>
            <a:srgbClr val="E08A3C">
              <a:alpha val="90000"/>
            </a:srgbClr>
          </a:solidFill>
          <a:ln/>
        </p:spPr>
        <p:txBody>
          <a:bodyPr/>
          <a:lstStyle/>
          <a:p>
            <a:endParaRPr lang="en-US"/>
          </a:p>
        </p:txBody>
      </p:sp>
      <p:sp>
        <p:nvSpPr>
          <p:cNvPr id="21" name="Shape 19"/>
          <p:cNvSpPr/>
          <p:nvPr/>
        </p:nvSpPr>
        <p:spPr>
          <a:xfrm>
            <a:off x="8622792" y="2487001"/>
            <a:ext cx="45720" cy="183047"/>
          </a:xfrm>
          <a:prstGeom prst="roundRect">
            <a:avLst>
              <a:gd name="adj" fmla="val 40000"/>
            </a:avLst>
          </a:prstGeom>
          <a:solidFill>
            <a:srgbClr val="E08A3C">
              <a:alpha val="90000"/>
            </a:srgbClr>
          </a:solidFill>
          <a:ln/>
        </p:spPr>
        <p:txBody>
          <a:bodyPr/>
          <a:lstStyle/>
          <a:p>
            <a:endParaRPr lang="en-US"/>
          </a:p>
        </p:txBody>
      </p:sp>
      <p:sp>
        <p:nvSpPr>
          <p:cNvPr id="22" name="Shape 20"/>
          <p:cNvSpPr/>
          <p:nvPr/>
        </p:nvSpPr>
        <p:spPr>
          <a:xfrm>
            <a:off x="8714232" y="2199483"/>
            <a:ext cx="45720" cy="470565"/>
          </a:xfrm>
          <a:prstGeom prst="roundRect">
            <a:avLst>
              <a:gd name="adj" fmla="val 40000"/>
            </a:avLst>
          </a:prstGeom>
          <a:solidFill>
            <a:srgbClr val="E08A3C">
              <a:alpha val="90000"/>
            </a:srgbClr>
          </a:solidFill>
          <a:ln/>
        </p:spPr>
        <p:txBody>
          <a:bodyPr/>
          <a:lstStyle/>
          <a:p>
            <a:endParaRPr lang="en-US"/>
          </a:p>
        </p:txBody>
      </p:sp>
      <p:sp>
        <p:nvSpPr>
          <p:cNvPr id="23" name="Shape 21"/>
          <p:cNvSpPr/>
          <p:nvPr/>
        </p:nvSpPr>
        <p:spPr>
          <a:xfrm>
            <a:off x="8805672" y="2451040"/>
            <a:ext cx="45720" cy="219008"/>
          </a:xfrm>
          <a:prstGeom prst="roundRect">
            <a:avLst>
              <a:gd name="adj" fmla="val 40000"/>
            </a:avLst>
          </a:prstGeom>
          <a:solidFill>
            <a:srgbClr val="E08A3C">
              <a:alpha val="90000"/>
            </a:srgbClr>
          </a:solidFill>
          <a:ln/>
        </p:spPr>
        <p:txBody>
          <a:bodyPr/>
          <a:lstStyle/>
          <a:p>
            <a:endParaRPr lang="en-US"/>
          </a:p>
        </p:txBody>
      </p:sp>
      <p:sp>
        <p:nvSpPr>
          <p:cNvPr id="24" name="Shape 22"/>
          <p:cNvSpPr/>
          <p:nvPr/>
        </p:nvSpPr>
        <p:spPr>
          <a:xfrm>
            <a:off x="8897112" y="2455592"/>
            <a:ext cx="45720" cy="214456"/>
          </a:xfrm>
          <a:prstGeom prst="roundRect">
            <a:avLst>
              <a:gd name="adj" fmla="val 40000"/>
            </a:avLst>
          </a:prstGeom>
          <a:solidFill>
            <a:srgbClr val="E08A3C">
              <a:alpha val="90000"/>
            </a:srgbClr>
          </a:solidFill>
          <a:ln/>
        </p:spPr>
        <p:txBody>
          <a:bodyPr/>
          <a:lstStyle/>
          <a:p>
            <a:endParaRPr lang="en-US"/>
          </a:p>
        </p:txBody>
      </p:sp>
      <p:sp>
        <p:nvSpPr>
          <p:cNvPr id="25" name="Shape 23"/>
          <p:cNvSpPr/>
          <p:nvPr/>
        </p:nvSpPr>
        <p:spPr>
          <a:xfrm>
            <a:off x="8988552" y="2252970"/>
            <a:ext cx="45720" cy="417078"/>
          </a:xfrm>
          <a:prstGeom prst="roundRect">
            <a:avLst>
              <a:gd name="adj" fmla="val 40000"/>
            </a:avLst>
          </a:prstGeom>
          <a:solidFill>
            <a:srgbClr val="E08A3C">
              <a:alpha val="90000"/>
            </a:srgbClr>
          </a:solidFill>
          <a:ln/>
        </p:spPr>
        <p:txBody>
          <a:bodyPr/>
          <a:lstStyle/>
          <a:p>
            <a:endParaRPr lang="en-US"/>
          </a:p>
        </p:txBody>
      </p:sp>
      <p:sp>
        <p:nvSpPr>
          <p:cNvPr id="26" name="Shape 24"/>
          <p:cNvSpPr/>
          <p:nvPr/>
        </p:nvSpPr>
        <p:spPr>
          <a:xfrm>
            <a:off x="9079992" y="2149570"/>
            <a:ext cx="45720" cy="520478"/>
          </a:xfrm>
          <a:prstGeom prst="roundRect">
            <a:avLst>
              <a:gd name="adj" fmla="val 40000"/>
            </a:avLst>
          </a:prstGeom>
          <a:solidFill>
            <a:srgbClr val="E08A3C">
              <a:alpha val="90000"/>
            </a:srgbClr>
          </a:solidFill>
          <a:ln/>
        </p:spPr>
        <p:txBody>
          <a:bodyPr/>
          <a:lstStyle/>
          <a:p>
            <a:endParaRPr lang="en-US"/>
          </a:p>
        </p:txBody>
      </p:sp>
      <p:sp>
        <p:nvSpPr>
          <p:cNvPr id="27" name="Shape 25"/>
          <p:cNvSpPr/>
          <p:nvPr/>
        </p:nvSpPr>
        <p:spPr>
          <a:xfrm>
            <a:off x="9171432" y="2256439"/>
            <a:ext cx="45720" cy="413609"/>
          </a:xfrm>
          <a:prstGeom prst="roundRect">
            <a:avLst>
              <a:gd name="adj" fmla="val 40000"/>
            </a:avLst>
          </a:prstGeom>
          <a:solidFill>
            <a:srgbClr val="E08A3C">
              <a:alpha val="90000"/>
            </a:srgbClr>
          </a:solidFill>
          <a:ln/>
        </p:spPr>
        <p:txBody>
          <a:bodyPr/>
          <a:lstStyle/>
          <a:p>
            <a:endParaRPr lang="en-US"/>
          </a:p>
        </p:txBody>
      </p:sp>
      <p:sp>
        <p:nvSpPr>
          <p:cNvPr id="28" name="Shape 26"/>
          <p:cNvSpPr/>
          <p:nvPr/>
        </p:nvSpPr>
        <p:spPr>
          <a:xfrm>
            <a:off x="9262872" y="2131585"/>
            <a:ext cx="45720" cy="538463"/>
          </a:xfrm>
          <a:prstGeom prst="roundRect">
            <a:avLst>
              <a:gd name="adj" fmla="val 40000"/>
            </a:avLst>
          </a:prstGeom>
          <a:solidFill>
            <a:srgbClr val="E08A3C">
              <a:alpha val="90000"/>
            </a:srgbClr>
          </a:solidFill>
          <a:ln/>
        </p:spPr>
        <p:txBody>
          <a:bodyPr/>
          <a:lstStyle/>
          <a:p>
            <a:endParaRPr lang="en-US"/>
          </a:p>
        </p:txBody>
      </p:sp>
      <p:sp>
        <p:nvSpPr>
          <p:cNvPr id="29" name="Shape 27"/>
          <p:cNvSpPr/>
          <p:nvPr/>
        </p:nvSpPr>
        <p:spPr>
          <a:xfrm>
            <a:off x="9354312" y="2174194"/>
            <a:ext cx="45720" cy="495854"/>
          </a:xfrm>
          <a:prstGeom prst="roundRect">
            <a:avLst>
              <a:gd name="adj" fmla="val 40000"/>
            </a:avLst>
          </a:prstGeom>
          <a:solidFill>
            <a:srgbClr val="E08A3C">
              <a:alpha val="90000"/>
            </a:srgbClr>
          </a:solidFill>
          <a:ln/>
        </p:spPr>
        <p:txBody>
          <a:bodyPr/>
          <a:lstStyle/>
          <a:p>
            <a:endParaRPr lang="en-US"/>
          </a:p>
        </p:txBody>
      </p:sp>
      <p:sp>
        <p:nvSpPr>
          <p:cNvPr id="30" name="Shape 28"/>
          <p:cNvSpPr/>
          <p:nvPr/>
        </p:nvSpPr>
        <p:spPr>
          <a:xfrm>
            <a:off x="9445752" y="2315744"/>
            <a:ext cx="45720" cy="354304"/>
          </a:xfrm>
          <a:prstGeom prst="roundRect">
            <a:avLst>
              <a:gd name="adj" fmla="val 40000"/>
            </a:avLst>
          </a:prstGeom>
          <a:solidFill>
            <a:srgbClr val="E08A3C">
              <a:alpha val="90000"/>
            </a:srgbClr>
          </a:solidFill>
          <a:ln/>
        </p:spPr>
        <p:txBody>
          <a:bodyPr/>
          <a:lstStyle/>
          <a:p>
            <a:endParaRPr lang="en-US"/>
          </a:p>
        </p:txBody>
      </p:sp>
      <p:sp>
        <p:nvSpPr>
          <p:cNvPr id="31" name="Shape 29"/>
          <p:cNvSpPr/>
          <p:nvPr/>
        </p:nvSpPr>
        <p:spPr>
          <a:xfrm>
            <a:off x="9537192" y="2153767"/>
            <a:ext cx="45720" cy="516281"/>
          </a:xfrm>
          <a:prstGeom prst="roundRect">
            <a:avLst>
              <a:gd name="adj" fmla="val 40000"/>
            </a:avLst>
          </a:prstGeom>
          <a:solidFill>
            <a:srgbClr val="E08A3C">
              <a:alpha val="90000"/>
            </a:srgbClr>
          </a:solidFill>
          <a:ln/>
        </p:spPr>
        <p:txBody>
          <a:bodyPr/>
          <a:lstStyle/>
          <a:p>
            <a:endParaRPr lang="en-US"/>
          </a:p>
        </p:txBody>
      </p:sp>
      <p:sp>
        <p:nvSpPr>
          <p:cNvPr id="32" name="Shape 30"/>
          <p:cNvSpPr/>
          <p:nvPr/>
        </p:nvSpPr>
        <p:spPr>
          <a:xfrm>
            <a:off x="9628632" y="2316624"/>
            <a:ext cx="45720" cy="353424"/>
          </a:xfrm>
          <a:prstGeom prst="roundRect">
            <a:avLst>
              <a:gd name="adj" fmla="val 40000"/>
            </a:avLst>
          </a:prstGeom>
          <a:solidFill>
            <a:srgbClr val="E08A3C">
              <a:alpha val="90000"/>
            </a:srgbClr>
          </a:solidFill>
          <a:ln/>
        </p:spPr>
        <p:txBody>
          <a:bodyPr/>
          <a:lstStyle/>
          <a:p>
            <a:endParaRPr lang="en-US"/>
          </a:p>
        </p:txBody>
      </p:sp>
      <p:sp>
        <p:nvSpPr>
          <p:cNvPr id="33" name="Shape 31"/>
          <p:cNvSpPr/>
          <p:nvPr/>
        </p:nvSpPr>
        <p:spPr>
          <a:xfrm>
            <a:off x="9720072" y="2401336"/>
            <a:ext cx="45720" cy="268712"/>
          </a:xfrm>
          <a:prstGeom prst="roundRect">
            <a:avLst>
              <a:gd name="adj" fmla="val 40000"/>
            </a:avLst>
          </a:prstGeom>
          <a:solidFill>
            <a:srgbClr val="E08A3C">
              <a:alpha val="90000"/>
            </a:srgbClr>
          </a:solidFill>
          <a:ln/>
        </p:spPr>
        <p:txBody>
          <a:bodyPr/>
          <a:lstStyle/>
          <a:p>
            <a:endParaRPr lang="en-US"/>
          </a:p>
        </p:txBody>
      </p:sp>
      <p:sp>
        <p:nvSpPr>
          <p:cNvPr id="34" name="Shape 32"/>
          <p:cNvSpPr/>
          <p:nvPr/>
        </p:nvSpPr>
        <p:spPr>
          <a:xfrm>
            <a:off x="9811512" y="2251049"/>
            <a:ext cx="45720" cy="418999"/>
          </a:xfrm>
          <a:prstGeom prst="roundRect">
            <a:avLst>
              <a:gd name="adj" fmla="val 40000"/>
            </a:avLst>
          </a:prstGeom>
          <a:solidFill>
            <a:srgbClr val="E08A3C">
              <a:alpha val="90000"/>
            </a:srgbClr>
          </a:solidFill>
          <a:ln/>
        </p:spPr>
        <p:txBody>
          <a:bodyPr/>
          <a:lstStyle/>
          <a:p>
            <a:endParaRPr lang="en-US"/>
          </a:p>
        </p:txBody>
      </p:sp>
      <p:sp>
        <p:nvSpPr>
          <p:cNvPr id="35" name="Shape 33"/>
          <p:cNvSpPr/>
          <p:nvPr/>
        </p:nvSpPr>
        <p:spPr>
          <a:xfrm>
            <a:off x="9902952" y="2310932"/>
            <a:ext cx="45720" cy="359116"/>
          </a:xfrm>
          <a:prstGeom prst="roundRect">
            <a:avLst>
              <a:gd name="adj" fmla="val 40000"/>
            </a:avLst>
          </a:prstGeom>
          <a:solidFill>
            <a:srgbClr val="E08A3C">
              <a:alpha val="90000"/>
            </a:srgbClr>
          </a:solidFill>
          <a:ln/>
        </p:spPr>
        <p:txBody>
          <a:bodyPr/>
          <a:lstStyle/>
          <a:p>
            <a:endParaRPr lang="en-US"/>
          </a:p>
        </p:txBody>
      </p:sp>
      <p:sp>
        <p:nvSpPr>
          <p:cNvPr id="36" name="Shape 34"/>
          <p:cNvSpPr/>
          <p:nvPr/>
        </p:nvSpPr>
        <p:spPr>
          <a:xfrm>
            <a:off x="9994392" y="2340945"/>
            <a:ext cx="45720" cy="329103"/>
          </a:xfrm>
          <a:prstGeom prst="roundRect">
            <a:avLst>
              <a:gd name="adj" fmla="val 40000"/>
            </a:avLst>
          </a:prstGeom>
          <a:solidFill>
            <a:srgbClr val="E08A3C">
              <a:alpha val="90000"/>
            </a:srgbClr>
          </a:solidFill>
          <a:ln/>
        </p:spPr>
        <p:txBody>
          <a:bodyPr/>
          <a:lstStyle/>
          <a:p>
            <a:endParaRPr lang="en-US"/>
          </a:p>
        </p:txBody>
      </p:sp>
      <p:sp>
        <p:nvSpPr>
          <p:cNvPr id="37" name="Shape 35"/>
          <p:cNvSpPr/>
          <p:nvPr/>
        </p:nvSpPr>
        <p:spPr>
          <a:xfrm>
            <a:off x="10085832" y="2516778"/>
            <a:ext cx="45720" cy="153270"/>
          </a:xfrm>
          <a:prstGeom prst="roundRect">
            <a:avLst>
              <a:gd name="adj" fmla="val 40000"/>
            </a:avLst>
          </a:prstGeom>
          <a:solidFill>
            <a:srgbClr val="E08A3C">
              <a:alpha val="90000"/>
            </a:srgbClr>
          </a:solidFill>
          <a:ln/>
        </p:spPr>
        <p:txBody>
          <a:bodyPr/>
          <a:lstStyle/>
          <a:p>
            <a:endParaRPr lang="en-US"/>
          </a:p>
        </p:txBody>
      </p:sp>
      <p:sp>
        <p:nvSpPr>
          <p:cNvPr id="38" name="Shape 36"/>
          <p:cNvSpPr/>
          <p:nvPr/>
        </p:nvSpPr>
        <p:spPr>
          <a:xfrm>
            <a:off x="10177272" y="2162489"/>
            <a:ext cx="45720" cy="507559"/>
          </a:xfrm>
          <a:prstGeom prst="roundRect">
            <a:avLst>
              <a:gd name="adj" fmla="val 40000"/>
            </a:avLst>
          </a:prstGeom>
          <a:solidFill>
            <a:srgbClr val="E08A3C">
              <a:alpha val="90000"/>
            </a:srgbClr>
          </a:solidFill>
          <a:ln/>
        </p:spPr>
        <p:txBody>
          <a:bodyPr/>
          <a:lstStyle/>
          <a:p>
            <a:endParaRPr lang="en-US"/>
          </a:p>
        </p:txBody>
      </p:sp>
      <p:sp>
        <p:nvSpPr>
          <p:cNvPr id="39" name="Shape 37"/>
          <p:cNvSpPr/>
          <p:nvPr/>
        </p:nvSpPr>
        <p:spPr>
          <a:xfrm>
            <a:off x="10268712" y="2146544"/>
            <a:ext cx="45720" cy="523504"/>
          </a:xfrm>
          <a:prstGeom prst="roundRect">
            <a:avLst>
              <a:gd name="adj" fmla="val 40000"/>
            </a:avLst>
          </a:prstGeom>
          <a:solidFill>
            <a:srgbClr val="E08A3C">
              <a:alpha val="90000"/>
            </a:srgbClr>
          </a:solidFill>
          <a:ln/>
        </p:spPr>
        <p:txBody>
          <a:bodyPr/>
          <a:lstStyle/>
          <a:p>
            <a:endParaRPr lang="en-US"/>
          </a:p>
        </p:txBody>
      </p:sp>
      <p:sp>
        <p:nvSpPr>
          <p:cNvPr id="40" name="Shape 38"/>
          <p:cNvSpPr/>
          <p:nvPr/>
        </p:nvSpPr>
        <p:spPr>
          <a:xfrm>
            <a:off x="10360152" y="2278524"/>
            <a:ext cx="45720" cy="391524"/>
          </a:xfrm>
          <a:prstGeom prst="roundRect">
            <a:avLst>
              <a:gd name="adj" fmla="val 40000"/>
            </a:avLst>
          </a:prstGeom>
          <a:solidFill>
            <a:srgbClr val="E08A3C">
              <a:alpha val="90000"/>
            </a:srgbClr>
          </a:solidFill>
          <a:ln/>
        </p:spPr>
        <p:txBody>
          <a:bodyPr/>
          <a:lstStyle/>
          <a:p>
            <a:endParaRPr lang="en-US"/>
          </a:p>
        </p:txBody>
      </p:sp>
      <p:sp>
        <p:nvSpPr>
          <p:cNvPr id="41" name="Shape 39"/>
          <p:cNvSpPr/>
          <p:nvPr/>
        </p:nvSpPr>
        <p:spPr>
          <a:xfrm>
            <a:off x="10451592" y="2212783"/>
            <a:ext cx="45720" cy="457265"/>
          </a:xfrm>
          <a:prstGeom prst="roundRect">
            <a:avLst>
              <a:gd name="adj" fmla="val 40000"/>
            </a:avLst>
          </a:prstGeom>
          <a:solidFill>
            <a:srgbClr val="E08A3C">
              <a:alpha val="90000"/>
            </a:srgbClr>
          </a:solidFill>
          <a:ln/>
        </p:spPr>
        <p:txBody>
          <a:bodyPr/>
          <a:lstStyle/>
          <a:p>
            <a:endParaRPr lang="en-US"/>
          </a:p>
        </p:txBody>
      </p:sp>
      <p:sp>
        <p:nvSpPr>
          <p:cNvPr id="42" name="Shape 40"/>
          <p:cNvSpPr/>
          <p:nvPr/>
        </p:nvSpPr>
        <p:spPr>
          <a:xfrm>
            <a:off x="10543032" y="2276930"/>
            <a:ext cx="45720" cy="393118"/>
          </a:xfrm>
          <a:prstGeom prst="roundRect">
            <a:avLst>
              <a:gd name="adj" fmla="val 40000"/>
            </a:avLst>
          </a:prstGeom>
          <a:solidFill>
            <a:srgbClr val="E08A3C">
              <a:alpha val="90000"/>
            </a:srgbClr>
          </a:solidFill>
          <a:ln/>
        </p:spPr>
        <p:txBody>
          <a:bodyPr/>
          <a:lstStyle/>
          <a:p>
            <a:endParaRPr lang="en-US"/>
          </a:p>
        </p:txBody>
      </p:sp>
      <p:sp>
        <p:nvSpPr>
          <p:cNvPr id="43" name="Shape 41"/>
          <p:cNvSpPr/>
          <p:nvPr/>
        </p:nvSpPr>
        <p:spPr>
          <a:xfrm>
            <a:off x="10634472" y="2214991"/>
            <a:ext cx="45720" cy="455057"/>
          </a:xfrm>
          <a:prstGeom prst="roundRect">
            <a:avLst>
              <a:gd name="adj" fmla="val 40000"/>
            </a:avLst>
          </a:prstGeom>
          <a:solidFill>
            <a:srgbClr val="E08A3C">
              <a:alpha val="90000"/>
            </a:srgbClr>
          </a:solidFill>
          <a:ln/>
        </p:spPr>
        <p:txBody>
          <a:bodyPr/>
          <a:lstStyle/>
          <a:p>
            <a:endParaRPr lang="en-US"/>
          </a:p>
        </p:txBody>
      </p:sp>
      <p:sp>
        <p:nvSpPr>
          <p:cNvPr id="44" name="Shape 42"/>
          <p:cNvSpPr/>
          <p:nvPr/>
        </p:nvSpPr>
        <p:spPr>
          <a:xfrm>
            <a:off x="10725912" y="2195502"/>
            <a:ext cx="45720" cy="474546"/>
          </a:xfrm>
          <a:prstGeom prst="roundRect">
            <a:avLst>
              <a:gd name="adj" fmla="val 40000"/>
            </a:avLst>
          </a:prstGeom>
          <a:solidFill>
            <a:srgbClr val="E08A3C">
              <a:alpha val="90000"/>
            </a:srgbClr>
          </a:solidFill>
          <a:ln/>
        </p:spPr>
        <p:txBody>
          <a:bodyPr/>
          <a:lstStyle/>
          <a:p>
            <a:endParaRPr lang="en-US"/>
          </a:p>
        </p:txBody>
      </p:sp>
      <p:sp>
        <p:nvSpPr>
          <p:cNvPr id="45" name="Shape 43"/>
          <p:cNvSpPr/>
          <p:nvPr/>
        </p:nvSpPr>
        <p:spPr>
          <a:xfrm>
            <a:off x="10817352" y="2402177"/>
            <a:ext cx="45720" cy="267871"/>
          </a:xfrm>
          <a:prstGeom prst="roundRect">
            <a:avLst>
              <a:gd name="adj" fmla="val 40000"/>
            </a:avLst>
          </a:prstGeom>
          <a:solidFill>
            <a:srgbClr val="E08A3C">
              <a:alpha val="90000"/>
            </a:srgbClr>
          </a:solidFill>
          <a:ln/>
        </p:spPr>
        <p:txBody>
          <a:bodyPr/>
          <a:lstStyle/>
          <a:p>
            <a:endParaRPr lang="en-US"/>
          </a:p>
        </p:txBody>
      </p:sp>
      <p:sp>
        <p:nvSpPr>
          <p:cNvPr id="46" name="Shape 44"/>
          <p:cNvSpPr/>
          <p:nvPr/>
        </p:nvSpPr>
        <p:spPr>
          <a:xfrm>
            <a:off x="10908792" y="2461213"/>
            <a:ext cx="45720" cy="208835"/>
          </a:xfrm>
          <a:prstGeom prst="roundRect">
            <a:avLst>
              <a:gd name="adj" fmla="val 40000"/>
            </a:avLst>
          </a:prstGeom>
          <a:solidFill>
            <a:srgbClr val="E08A3C">
              <a:alpha val="90000"/>
            </a:srgbClr>
          </a:solidFill>
          <a:ln/>
        </p:spPr>
        <p:txBody>
          <a:bodyPr/>
          <a:lstStyle/>
          <a:p>
            <a:endParaRPr lang="en-US"/>
          </a:p>
        </p:txBody>
      </p:sp>
      <p:sp>
        <p:nvSpPr>
          <p:cNvPr id="47" name="Shape 45"/>
          <p:cNvSpPr/>
          <p:nvPr/>
        </p:nvSpPr>
        <p:spPr>
          <a:xfrm>
            <a:off x="11000232" y="2144665"/>
            <a:ext cx="45720" cy="525383"/>
          </a:xfrm>
          <a:prstGeom prst="roundRect">
            <a:avLst>
              <a:gd name="adj" fmla="val 40000"/>
            </a:avLst>
          </a:prstGeom>
          <a:solidFill>
            <a:srgbClr val="E08A3C">
              <a:alpha val="90000"/>
            </a:srgbClr>
          </a:solidFill>
          <a:ln/>
        </p:spPr>
        <p:txBody>
          <a:bodyPr/>
          <a:lstStyle/>
          <a:p>
            <a:endParaRPr lang="en-US"/>
          </a:p>
        </p:txBody>
      </p:sp>
      <p:sp>
        <p:nvSpPr>
          <p:cNvPr id="48" name="Shape 46"/>
          <p:cNvSpPr/>
          <p:nvPr/>
        </p:nvSpPr>
        <p:spPr>
          <a:xfrm>
            <a:off x="11091672" y="2125177"/>
            <a:ext cx="45720" cy="544871"/>
          </a:xfrm>
          <a:prstGeom prst="roundRect">
            <a:avLst>
              <a:gd name="adj" fmla="val 40000"/>
            </a:avLst>
          </a:prstGeom>
          <a:solidFill>
            <a:srgbClr val="E08A3C">
              <a:alpha val="90000"/>
            </a:srgbClr>
          </a:solidFill>
          <a:ln/>
        </p:spPr>
        <p:txBody>
          <a:bodyPr/>
          <a:lstStyle/>
          <a:p>
            <a:endParaRPr lang="en-US"/>
          </a:p>
        </p:txBody>
      </p:sp>
      <p:sp>
        <p:nvSpPr>
          <p:cNvPr id="49" name="Shape 47"/>
          <p:cNvSpPr/>
          <p:nvPr/>
        </p:nvSpPr>
        <p:spPr>
          <a:xfrm>
            <a:off x="11183112" y="2264684"/>
            <a:ext cx="45720" cy="405364"/>
          </a:xfrm>
          <a:prstGeom prst="roundRect">
            <a:avLst>
              <a:gd name="adj" fmla="val 40000"/>
            </a:avLst>
          </a:prstGeom>
          <a:solidFill>
            <a:srgbClr val="E08A3C">
              <a:alpha val="90000"/>
            </a:srgbClr>
          </a:solidFill>
          <a:ln/>
        </p:spPr>
        <p:txBody>
          <a:bodyPr/>
          <a:lstStyle/>
          <a:p>
            <a:endParaRPr lang="en-US"/>
          </a:p>
        </p:txBody>
      </p:sp>
      <p:sp>
        <p:nvSpPr>
          <p:cNvPr id="50" name="Shape 48"/>
          <p:cNvSpPr/>
          <p:nvPr/>
        </p:nvSpPr>
        <p:spPr>
          <a:xfrm>
            <a:off x="9765792" y="2761488"/>
            <a:ext cx="292608" cy="310896"/>
          </a:xfrm>
          <a:prstGeom prst="downArrow">
            <a:avLst/>
          </a:prstGeom>
          <a:solidFill>
            <a:srgbClr val="0E8A8F"/>
          </a:solidFill>
          <a:ln/>
        </p:spPr>
        <p:txBody>
          <a:bodyPr/>
          <a:lstStyle/>
          <a:p>
            <a:endParaRPr lang="en-US"/>
          </a:p>
        </p:txBody>
      </p:sp>
      <p:sp>
        <p:nvSpPr>
          <p:cNvPr id="51" name="Text 49"/>
          <p:cNvSpPr/>
          <p:nvPr/>
        </p:nvSpPr>
        <p:spPr>
          <a:xfrm>
            <a:off x="8531352" y="3154680"/>
            <a:ext cx="2743200" cy="219456"/>
          </a:xfrm>
          <a:prstGeom prst="rect">
            <a:avLst/>
          </a:prstGeom>
          <a:noFill/>
          <a:ln/>
        </p:spPr>
        <p:txBody>
          <a:bodyPr wrap="square" lIns="0" tIns="0" rIns="0" bIns="0" rtlCol="0" anchor="ctr"/>
          <a:lstStyle/>
          <a:p>
            <a:pPr marL="0" indent="0">
              <a:buNone/>
            </a:pPr>
            <a:r>
              <a:rPr lang="en-US" sz="1000" b="1" kern="0" spc="140" dirty="0">
                <a:solidFill>
                  <a:srgbClr val="0E8A8F"/>
                </a:solidFill>
                <a:latin typeface="Calibri" pitchFamily="34" charset="0"/>
                <a:ea typeface="Calibri" pitchFamily="34" charset="-122"/>
                <a:cs typeface="Calibri" pitchFamily="34" charset="-120"/>
              </a:rPr>
              <a:t>CLEAN</a:t>
            </a:r>
            <a:endParaRPr lang="en-US" sz="1000" dirty="0"/>
          </a:p>
        </p:txBody>
      </p:sp>
      <p:sp>
        <p:nvSpPr>
          <p:cNvPr id="52" name="Shape 50"/>
          <p:cNvSpPr/>
          <p:nvPr/>
        </p:nvSpPr>
        <p:spPr>
          <a:xfrm>
            <a:off x="8531352" y="3749040"/>
            <a:ext cx="45720" cy="36576"/>
          </a:xfrm>
          <a:prstGeom prst="roundRect">
            <a:avLst>
              <a:gd name="adj" fmla="val 50000"/>
            </a:avLst>
          </a:prstGeom>
          <a:solidFill>
            <a:srgbClr val="0E8A8F"/>
          </a:solidFill>
          <a:ln/>
        </p:spPr>
        <p:txBody>
          <a:bodyPr/>
          <a:lstStyle/>
          <a:p>
            <a:endParaRPr lang="en-US"/>
          </a:p>
        </p:txBody>
      </p:sp>
      <p:sp>
        <p:nvSpPr>
          <p:cNvPr id="53" name="Shape 51"/>
          <p:cNvSpPr/>
          <p:nvPr/>
        </p:nvSpPr>
        <p:spPr>
          <a:xfrm>
            <a:off x="8622792" y="3747919"/>
            <a:ext cx="45720" cy="37697"/>
          </a:xfrm>
          <a:prstGeom prst="roundRect">
            <a:avLst>
              <a:gd name="adj" fmla="val 48513"/>
            </a:avLst>
          </a:prstGeom>
          <a:solidFill>
            <a:srgbClr val="0E8A8F"/>
          </a:solidFill>
          <a:ln/>
        </p:spPr>
        <p:txBody>
          <a:bodyPr/>
          <a:lstStyle/>
          <a:p>
            <a:endParaRPr lang="en-US"/>
          </a:p>
        </p:txBody>
      </p:sp>
      <p:sp>
        <p:nvSpPr>
          <p:cNvPr id="54" name="Shape 52"/>
          <p:cNvSpPr/>
          <p:nvPr/>
        </p:nvSpPr>
        <p:spPr>
          <a:xfrm>
            <a:off x="8714232" y="3644191"/>
            <a:ext cx="45720" cy="141425"/>
          </a:xfrm>
          <a:prstGeom prst="roundRect">
            <a:avLst>
              <a:gd name="adj" fmla="val 40000"/>
            </a:avLst>
          </a:prstGeom>
          <a:solidFill>
            <a:srgbClr val="0E8A8F"/>
          </a:solidFill>
          <a:ln/>
        </p:spPr>
        <p:txBody>
          <a:bodyPr/>
          <a:lstStyle/>
          <a:p>
            <a:endParaRPr lang="en-US"/>
          </a:p>
        </p:txBody>
      </p:sp>
      <p:sp>
        <p:nvSpPr>
          <p:cNvPr id="55" name="Shape 53"/>
          <p:cNvSpPr/>
          <p:nvPr/>
        </p:nvSpPr>
        <p:spPr>
          <a:xfrm>
            <a:off x="8805672" y="3703794"/>
            <a:ext cx="45720" cy="81822"/>
          </a:xfrm>
          <a:prstGeom prst="roundRect">
            <a:avLst>
              <a:gd name="adj" fmla="val 40000"/>
            </a:avLst>
          </a:prstGeom>
          <a:solidFill>
            <a:srgbClr val="0E8A8F"/>
          </a:solidFill>
          <a:ln/>
        </p:spPr>
        <p:txBody>
          <a:bodyPr/>
          <a:lstStyle/>
          <a:p>
            <a:endParaRPr lang="en-US"/>
          </a:p>
        </p:txBody>
      </p:sp>
      <p:sp>
        <p:nvSpPr>
          <p:cNvPr id="56" name="Shape 54"/>
          <p:cNvSpPr/>
          <p:nvPr/>
        </p:nvSpPr>
        <p:spPr>
          <a:xfrm>
            <a:off x="8897112" y="3692471"/>
            <a:ext cx="45720" cy="93145"/>
          </a:xfrm>
          <a:prstGeom prst="roundRect">
            <a:avLst>
              <a:gd name="adj" fmla="val 40000"/>
            </a:avLst>
          </a:prstGeom>
          <a:solidFill>
            <a:srgbClr val="0E8A8F"/>
          </a:solidFill>
          <a:ln/>
        </p:spPr>
        <p:txBody>
          <a:bodyPr/>
          <a:lstStyle/>
          <a:p>
            <a:endParaRPr lang="en-US"/>
          </a:p>
        </p:txBody>
      </p:sp>
      <p:sp>
        <p:nvSpPr>
          <p:cNvPr id="57" name="Shape 55"/>
          <p:cNvSpPr/>
          <p:nvPr/>
        </p:nvSpPr>
        <p:spPr>
          <a:xfrm>
            <a:off x="8988552" y="3582817"/>
            <a:ext cx="45720" cy="202799"/>
          </a:xfrm>
          <a:prstGeom prst="roundRect">
            <a:avLst>
              <a:gd name="adj" fmla="val 40000"/>
            </a:avLst>
          </a:prstGeom>
          <a:solidFill>
            <a:srgbClr val="0E8A8F"/>
          </a:solidFill>
          <a:ln/>
        </p:spPr>
        <p:txBody>
          <a:bodyPr/>
          <a:lstStyle/>
          <a:p>
            <a:endParaRPr lang="en-US"/>
          </a:p>
        </p:txBody>
      </p:sp>
      <p:sp>
        <p:nvSpPr>
          <p:cNvPr id="58" name="Shape 56"/>
          <p:cNvSpPr/>
          <p:nvPr/>
        </p:nvSpPr>
        <p:spPr>
          <a:xfrm>
            <a:off x="9079992" y="3509218"/>
            <a:ext cx="45720" cy="276398"/>
          </a:xfrm>
          <a:prstGeom prst="roundRect">
            <a:avLst>
              <a:gd name="adj" fmla="val 40000"/>
            </a:avLst>
          </a:prstGeom>
          <a:solidFill>
            <a:srgbClr val="0E8A8F"/>
          </a:solidFill>
          <a:ln/>
        </p:spPr>
        <p:txBody>
          <a:bodyPr/>
          <a:lstStyle/>
          <a:p>
            <a:endParaRPr lang="en-US"/>
          </a:p>
        </p:txBody>
      </p:sp>
      <p:sp>
        <p:nvSpPr>
          <p:cNvPr id="59" name="Shape 57"/>
          <p:cNvSpPr/>
          <p:nvPr/>
        </p:nvSpPr>
        <p:spPr>
          <a:xfrm>
            <a:off x="9171432" y="3549971"/>
            <a:ext cx="45720" cy="235645"/>
          </a:xfrm>
          <a:prstGeom prst="roundRect">
            <a:avLst>
              <a:gd name="adj" fmla="val 40000"/>
            </a:avLst>
          </a:prstGeom>
          <a:solidFill>
            <a:srgbClr val="0E8A8F"/>
          </a:solidFill>
          <a:ln/>
        </p:spPr>
        <p:txBody>
          <a:bodyPr/>
          <a:lstStyle/>
          <a:p>
            <a:endParaRPr lang="en-US"/>
          </a:p>
        </p:txBody>
      </p:sp>
      <p:sp>
        <p:nvSpPr>
          <p:cNvPr id="60" name="Shape 58"/>
          <p:cNvSpPr/>
          <p:nvPr/>
        </p:nvSpPr>
        <p:spPr>
          <a:xfrm>
            <a:off x="9262872" y="3460993"/>
            <a:ext cx="45720" cy="324623"/>
          </a:xfrm>
          <a:prstGeom prst="roundRect">
            <a:avLst>
              <a:gd name="adj" fmla="val 40000"/>
            </a:avLst>
          </a:prstGeom>
          <a:solidFill>
            <a:srgbClr val="0E8A8F"/>
          </a:solidFill>
          <a:ln/>
        </p:spPr>
        <p:txBody>
          <a:bodyPr/>
          <a:lstStyle/>
          <a:p>
            <a:endParaRPr lang="en-US"/>
          </a:p>
        </p:txBody>
      </p:sp>
      <p:sp>
        <p:nvSpPr>
          <p:cNvPr id="61" name="Shape 59"/>
          <p:cNvSpPr/>
          <p:nvPr/>
        </p:nvSpPr>
        <p:spPr>
          <a:xfrm>
            <a:off x="9354312" y="3472807"/>
            <a:ext cx="45720" cy="312809"/>
          </a:xfrm>
          <a:prstGeom prst="roundRect">
            <a:avLst>
              <a:gd name="adj" fmla="val 40000"/>
            </a:avLst>
          </a:prstGeom>
          <a:solidFill>
            <a:srgbClr val="0E8A8F"/>
          </a:solidFill>
          <a:ln/>
        </p:spPr>
        <p:txBody>
          <a:bodyPr/>
          <a:lstStyle/>
          <a:p>
            <a:endParaRPr lang="en-US"/>
          </a:p>
        </p:txBody>
      </p:sp>
      <p:sp>
        <p:nvSpPr>
          <p:cNvPr id="62" name="Shape 60"/>
          <p:cNvSpPr/>
          <p:nvPr/>
        </p:nvSpPr>
        <p:spPr>
          <a:xfrm>
            <a:off x="9445752" y="3553935"/>
            <a:ext cx="45720" cy="231681"/>
          </a:xfrm>
          <a:prstGeom prst="roundRect">
            <a:avLst>
              <a:gd name="adj" fmla="val 40000"/>
            </a:avLst>
          </a:prstGeom>
          <a:solidFill>
            <a:srgbClr val="0E8A8F"/>
          </a:solidFill>
          <a:ln/>
        </p:spPr>
        <p:txBody>
          <a:bodyPr/>
          <a:lstStyle/>
          <a:p>
            <a:endParaRPr lang="en-US"/>
          </a:p>
        </p:txBody>
      </p:sp>
      <p:sp>
        <p:nvSpPr>
          <p:cNvPr id="63" name="Shape 61"/>
          <p:cNvSpPr/>
          <p:nvPr/>
        </p:nvSpPr>
        <p:spPr>
          <a:xfrm>
            <a:off x="9537192" y="3438570"/>
            <a:ext cx="45720" cy="347046"/>
          </a:xfrm>
          <a:prstGeom prst="roundRect">
            <a:avLst>
              <a:gd name="adj" fmla="val 40000"/>
            </a:avLst>
          </a:prstGeom>
          <a:solidFill>
            <a:srgbClr val="0E8A8F"/>
          </a:solidFill>
          <a:ln/>
        </p:spPr>
        <p:txBody>
          <a:bodyPr/>
          <a:lstStyle/>
          <a:p>
            <a:endParaRPr lang="en-US"/>
          </a:p>
        </p:txBody>
      </p:sp>
      <p:sp>
        <p:nvSpPr>
          <p:cNvPr id="64" name="Shape 62"/>
          <p:cNvSpPr/>
          <p:nvPr/>
        </p:nvSpPr>
        <p:spPr>
          <a:xfrm>
            <a:off x="9628632" y="3543221"/>
            <a:ext cx="45720" cy="242395"/>
          </a:xfrm>
          <a:prstGeom prst="roundRect">
            <a:avLst>
              <a:gd name="adj" fmla="val 40000"/>
            </a:avLst>
          </a:prstGeom>
          <a:solidFill>
            <a:srgbClr val="0E8A8F"/>
          </a:solidFill>
          <a:ln/>
        </p:spPr>
        <p:txBody>
          <a:bodyPr/>
          <a:lstStyle/>
          <a:p>
            <a:endParaRPr lang="en-US"/>
          </a:p>
        </p:txBody>
      </p:sp>
      <p:sp>
        <p:nvSpPr>
          <p:cNvPr id="65" name="Shape 63"/>
          <p:cNvSpPr/>
          <p:nvPr/>
        </p:nvSpPr>
        <p:spPr>
          <a:xfrm>
            <a:off x="9720072" y="3598885"/>
            <a:ext cx="45720" cy="186731"/>
          </a:xfrm>
          <a:prstGeom prst="roundRect">
            <a:avLst>
              <a:gd name="adj" fmla="val 40000"/>
            </a:avLst>
          </a:prstGeom>
          <a:solidFill>
            <a:srgbClr val="0E8A8F"/>
          </a:solidFill>
          <a:ln/>
        </p:spPr>
        <p:txBody>
          <a:bodyPr/>
          <a:lstStyle/>
          <a:p>
            <a:endParaRPr lang="en-US"/>
          </a:p>
        </p:txBody>
      </p:sp>
      <p:sp>
        <p:nvSpPr>
          <p:cNvPr id="66" name="Shape 64"/>
          <p:cNvSpPr/>
          <p:nvPr/>
        </p:nvSpPr>
        <p:spPr>
          <a:xfrm>
            <a:off x="9811512" y="3492553"/>
            <a:ext cx="45720" cy="293063"/>
          </a:xfrm>
          <a:prstGeom prst="roundRect">
            <a:avLst>
              <a:gd name="adj" fmla="val 40000"/>
            </a:avLst>
          </a:prstGeom>
          <a:solidFill>
            <a:srgbClr val="0E8A8F"/>
          </a:solidFill>
          <a:ln/>
        </p:spPr>
        <p:txBody>
          <a:bodyPr/>
          <a:lstStyle/>
          <a:p>
            <a:endParaRPr lang="en-US"/>
          </a:p>
        </p:txBody>
      </p:sp>
      <p:sp>
        <p:nvSpPr>
          <p:cNvPr id="67" name="Shape 65"/>
          <p:cNvSpPr/>
          <p:nvPr/>
        </p:nvSpPr>
        <p:spPr>
          <a:xfrm>
            <a:off x="9902952" y="3534437"/>
            <a:ext cx="45720" cy="251179"/>
          </a:xfrm>
          <a:prstGeom prst="roundRect">
            <a:avLst>
              <a:gd name="adj" fmla="val 40000"/>
            </a:avLst>
          </a:prstGeom>
          <a:solidFill>
            <a:srgbClr val="0E8A8F"/>
          </a:solidFill>
          <a:ln/>
        </p:spPr>
        <p:txBody>
          <a:bodyPr/>
          <a:lstStyle/>
          <a:p>
            <a:endParaRPr lang="en-US"/>
          </a:p>
        </p:txBody>
      </p:sp>
      <p:sp>
        <p:nvSpPr>
          <p:cNvPr id="68" name="Shape 66"/>
          <p:cNvSpPr/>
          <p:nvPr/>
        </p:nvSpPr>
        <p:spPr>
          <a:xfrm>
            <a:off x="9994392" y="3556918"/>
            <a:ext cx="45720" cy="228698"/>
          </a:xfrm>
          <a:prstGeom prst="roundRect">
            <a:avLst>
              <a:gd name="adj" fmla="val 40000"/>
            </a:avLst>
          </a:prstGeom>
          <a:solidFill>
            <a:srgbClr val="0E8A8F"/>
          </a:solidFill>
          <a:ln/>
        </p:spPr>
        <p:txBody>
          <a:bodyPr/>
          <a:lstStyle/>
          <a:p>
            <a:endParaRPr lang="en-US"/>
          </a:p>
        </p:txBody>
      </p:sp>
      <p:sp>
        <p:nvSpPr>
          <p:cNvPr id="69" name="Shape 67"/>
          <p:cNvSpPr/>
          <p:nvPr/>
        </p:nvSpPr>
        <p:spPr>
          <a:xfrm>
            <a:off x="10085832" y="3680496"/>
            <a:ext cx="45720" cy="105120"/>
          </a:xfrm>
          <a:prstGeom prst="roundRect">
            <a:avLst>
              <a:gd name="adj" fmla="val 40000"/>
            </a:avLst>
          </a:prstGeom>
          <a:solidFill>
            <a:srgbClr val="0E8A8F"/>
          </a:solidFill>
          <a:ln/>
        </p:spPr>
        <p:txBody>
          <a:bodyPr/>
          <a:lstStyle/>
          <a:p>
            <a:endParaRPr lang="en-US"/>
          </a:p>
        </p:txBody>
      </p:sp>
      <p:sp>
        <p:nvSpPr>
          <p:cNvPr id="70" name="Shape 68"/>
          <p:cNvSpPr/>
          <p:nvPr/>
        </p:nvSpPr>
        <p:spPr>
          <a:xfrm>
            <a:off x="10177272" y="3444433"/>
            <a:ext cx="45720" cy="341183"/>
          </a:xfrm>
          <a:prstGeom prst="roundRect">
            <a:avLst>
              <a:gd name="adj" fmla="val 40000"/>
            </a:avLst>
          </a:prstGeom>
          <a:solidFill>
            <a:srgbClr val="0E8A8F"/>
          </a:solidFill>
          <a:ln/>
        </p:spPr>
        <p:txBody>
          <a:bodyPr/>
          <a:lstStyle/>
          <a:p>
            <a:endParaRPr lang="en-US"/>
          </a:p>
        </p:txBody>
      </p:sp>
      <p:sp>
        <p:nvSpPr>
          <p:cNvPr id="71" name="Shape 69"/>
          <p:cNvSpPr/>
          <p:nvPr/>
        </p:nvSpPr>
        <p:spPr>
          <a:xfrm>
            <a:off x="10268712" y="3443294"/>
            <a:ext cx="45720" cy="342322"/>
          </a:xfrm>
          <a:prstGeom prst="roundRect">
            <a:avLst>
              <a:gd name="adj" fmla="val 40000"/>
            </a:avLst>
          </a:prstGeom>
          <a:solidFill>
            <a:srgbClr val="0E8A8F"/>
          </a:solidFill>
          <a:ln/>
        </p:spPr>
        <p:txBody>
          <a:bodyPr/>
          <a:lstStyle/>
          <a:p>
            <a:endParaRPr lang="en-US"/>
          </a:p>
        </p:txBody>
      </p:sp>
      <p:sp>
        <p:nvSpPr>
          <p:cNvPr id="72" name="Shape 70"/>
          <p:cNvSpPr/>
          <p:nvPr/>
        </p:nvSpPr>
        <p:spPr>
          <a:xfrm>
            <a:off x="10360152" y="3538623"/>
            <a:ext cx="45720" cy="246993"/>
          </a:xfrm>
          <a:prstGeom prst="roundRect">
            <a:avLst>
              <a:gd name="adj" fmla="val 40000"/>
            </a:avLst>
          </a:prstGeom>
          <a:solidFill>
            <a:srgbClr val="0E8A8F"/>
          </a:solidFill>
          <a:ln/>
        </p:spPr>
        <p:txBody>
          <a:bodyPr/>
          <a:lstStyle/>
          <a:p>
            <a:endParaRPr lang="en-US"/>
          </a:p>
        </p:txBody>
      </p:sp>
      <p:sp>
        <p:nvSpPr>
          <p:cNvPr id="73" name="Shape 71"/>
          <p:cNvSpPr/>
          <p:nvPr/>
        </p:nvSpPr>
        <p:spPr>
          <a:xfrm>
            <a:off x="10451592" y="3509944"/>
            <a:ext cx="45720" cy="275672"/>
          </a:xfrm>
          <a:prstGeom prst="roundRect">
            <a:avLst>
              <a:gd name="adj" fmla="val 40000"/>
            </a:avLst>
          </a:prstGeom>
          <a:solidFill>
            <a:srgbClr val="0E8A8F"/>
          </a:solidFill>
          <a:ln/>
        </p:spPr>
        <p:txBody>
          <a:bodyPr/>
          <a:lstStyle/>
          <a:p>
            <a:endParaRPr lang="en-US"/>
          </a:p>
        </p:txBody>
      </p:sp>
      <p:sp>
        <p:nvSpPr>
          <p:cNvPr id="74" name="Shape 72"/>
          <p:cNvSpPr/>
          <p:nvPr/>
        </p:nvSpPr>
        <p:spPr>
          <a:xfrm>
            <a:off x="10543032" y="3561646"/>
            <a:ext cx="45720" cy="223970"/>
          </a:xfrm>
          <a:prstGeom prst="roundRect">
            <a:avLst>
              <a:gd name="adj" fmla="val 40000"/>
            </a:avLst>
          </a:prstGeom>
          <a:solidFill>
            <a:srgbClr val="0E8A8F"/>
          </a:solidFill>
          <a:ln/>
        </p:spPr>
        <p:txBody>
          <a:bodyPr/>
          <a:lstStyle/>
          <a:p>
            <a:endParaRPr lang="en-US"/>
          </a:p>
        </p:txBody>
      </p:sp>
      <p:sp>
        <p:nvSpPr>
          <p:cNvPr id="75" name="Shape 73"/>
          <p:cNvSpPr/>
          <p:nvPr/>
        </p:nvSpPr>
        <p:spPr>
          <a:xfrm>
            <a:off x="10634472" y="3543960"/>
            <a:ext cx="45720" cy="241656"/>
          </a:xfrm>
          <a:prstGeom prst="roundRect">
            <a:avLst>
              <a:gd name="adj" fmla="val 40000"/>
            </a:avLst>
          </a:prstGeom>
          <a:solidFill>
            <a:srgbClr val="0E8A8F"/>
          </a:solidFill>
          <a:ln/>
        </p:spPr>
        <p:txBody>
          <a:bodyPr/>
          <a:lstStyle/>
          <a:p>
            <a:endParaRPr lang="en-US"/>
          </a:p>
        </p:txBody>
      </p:sp>
      <p:sp>
        <p:nvSpPr>
          <p:cNvPr id="76" name="Shape 74"/>
          <p:cNvSpPr/>
          <p:nvPr/>
        </p:nvSpPr>
        <p:spPr>
          <a:xfrm>
            <a:off x="10725912" y="3554874"/>
            <a:ext cx="45720" cy="230742"/>
          </a:xfrm>
          <a:prstGeom prst="roundRect">
            <a:avLst>
              <a:gd name="adj" fmla="val 40000"/>
            </a:avLst>
          </a:prstGeom>
          <a:solidFill>
            <a:srgbClr val="0E8A8F"/>
          </a:solidFill>
          <a:ln/>
        </p:spPr>
        <p:txBody>
          <a:bodyPr/>
          <a:lstStyle/>
          <a:p>
            <a:endParaRPr lang="en-US"/>
          </a:p>
        </p:txBody>
      </p:sp>
      <p:sp>
        <p:nvSpPr>
          <p:cNvPr id="77" name="Shape 75"/>
          <p:cNvSpPr/>
          <p:nvPr/>
        </p:nvSpPr>
        <p:spPr>
          <a:xfrm>
            <a:off x="10817352" y="3669271"/>
            <a:ext cx="45720" cy="116345"/>
          </a:xfrm>
          <a:prstGeom prst="roundRect">
            <a:avLst>
              <a:gd name="adj" fmla="val 40000"/>
            </a:avLst>
          </a:prstGeom>
          <a:solidFill>
            <a:srgbClr val="0E8A8F"/>
          </a:solidFill>
          <a:ln/>
        </p:spPr>
        <p:txBody>
          <a:bodyPr/>
          <a:lstStyle/>
          <a:p>
            <a:endParaRPr lang="en-US"/>
          </a:p>
        </p:txBody>
      </p:sp>
      <p:sp>
        <p:nvSpPr>
          <p:cNvPr id="78" name="Shape 76"/>
          <p:cNvSpPr/>
          <p:nvPr/>
        </p:nvSpPr>
        <p:spPr>
          <a:xfrm>
            <a:off x="10908792" y="3707595"/>
            <a:ext cx="45720" cy="78021"/>
          </a:xfrm>
          <a:prstGeom prst="roundRect">
            <a:avLst>
              <a:gd name="adj" fmla="val 40000"/>
            </a:avLst>
          </a:prstGeom>
          <a:solidFill>
            <a:srgbClr val="0E8A8F"/>
          </a:solidFill>
          <a:ln/>
        </p:spPr>
        <p:txBody>
          <a:bodyPr/>
          <a:lstStyle/>
          <a:p>
            <a:endParaRPr lang="en-US"/>
          </a:p>
        </p:txBody>
      </p:sp>
      <p:sp>
        <p:nvSpPr>
          <p:cNvPr id="79" name="Shape 77"/>
          <p:cNvSpPr/>
          <p:nvPr/>
        </p:nvSpPr>
        <p:spPr>
          <a:xfrm>
            <a:off x="11000232" y="3627716"/>
            <a:ext cx="45720" cy="157900"/>
          </a:xfrm>
          <a:prstGeom prst="roundRect">
            <a:avLst>
              <a:gd name="adj" fmla="val 40000"/>
            </a:avLst>
          </a:prstGeom>
          <a:solidFill>
            <a:srgbClr val="0E8A8F"/>
          </a:solidFill>
          <a:ln/>
        </p:spPr>
        <p:txBody>
          <a:bodyPr/>
          <a:lstStyle/>
          <a:p>
            <a:endParaRPr lang="en-US"/>
          </a:p>
        </p:txBody>
      </p:sp>
      <p:sp>
        <p:nvSpPr>
          <p:cNvPr id="80" name="Shape 78"/>
          <p:cNvSpPr/>
          <p:nvPr/>
        </p:nvSpPr>
        <p:spPr>
          <a:xfrm>
            <a:off x="11091672" y="3673404"/>
            <a:ext cx="45720" cy="112212"/>
          </a:xfrm>
          <a:prstGeom prst="roundRect">
            <a:avLst>
              <a:gd name="adj" fmla="val 40000"/>
            </a:avLst>
          </a:prstGeom>
          <a:solidFill>
            <a:srgbClr val="0E8A8F"/>
          </a:solidFill>
          <a:ln/>
        </p:spPr>
        <p:txBody>
          <a:bodyPr/>
          <a:lstStyle/>
          <a:p>
            <a:endParaRPr lang="en-US"/>
          </a:p>
        </p:txBody>
      </p:sp>
      <p:sp>
        <p:nvSpPr>
          <p:cNvPr id="81" name="Shape 79"/>
          <p:cNvSpPr/>
          <p:nvPr/>
        </p:nvSpPr>
        <p:spPr>
          <a:xfrm>
            <a:off x="11183112" y="3749040"/>
            <a:ext cx="45720" cy="36576"/>
          </a:xfrm>
          <a:prstGeom prst="roundRect">
            <a:avLst>
              <a:gd name="adj" fmla="val 50000"/>
            </a:avLst>
          </a:prstGeom>
          <a:solidFill>
            <a:srgbClr val="0E8A8F"/>
          </a:solidFill>
          <a:ln/>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E5CAC-17DE-069B-3240-FBF7164B18F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462DB34-499C-BC1D-2D35-B7DD2C1375A1}"/>
              </a:ext>
            </a:extLst>
          </p:cNvPr>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DATASET</a:t>
            </a:r>
            <a:endParaRPr lang="en-US" sz="1150" dirty="0"/>
          </a:p>
        </p:txBody>
      </p:sp>
      <p:sp>
        <p:nvSpPr>
          <p:cNvPr id="3" name="Text 1">
            <a:extLst>
              <a:ext uri="{FF2B5EF4-FFF2-40B4-BE49-F238E27FC236}">
                <a16:creationId xmlns:a16="http://schemas.microsoft.com/office/drawing/2014/main" id="{DCADBEFE-FF2A-6237-3B4B-D73448EB525B}"/>
              </a:ext>
            </a:extLst>
          </p:cNvPr>
          <p:cNvSpPr/>
          <p:nvPr/>
        </p:nvSpPr>
        <p:spPr>
          <a:xfrm>
            <a:off x="640080" y="621792"/>
            <a:ext cx="7522613"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Edinburgh Noisy Speech Database</a:t>
            </a:r>
            <a:endParaRPr lang="en-US" sz="3000" dirty="0"/>
          </a:p>
        </p:txBody>
      </p:sp>
      <p:sp>
        <p:nvSpPr>
          <p:cNvPr id="4" name="Shape 2">
            <a:extLst>
              <a:ext uri="{FF2B5EF4-FFF2-40B4-BE49-F238E27FC236}">
                <a16:creationId xmlns:a16="http://schemas.microsoft.com/office/drawing/2014/main" id="{15A79860-1435-8FEC-DF03-6181BDD2CD18}"/>
              </a:ext>
            </a:extLst>
          </p:cNvPr>
          <p:cNvSpPr/>
          <p:nvPr/>
        </p:nvSpPr>
        <p:spPr>
          <a:xfrm>
            <a:off x="640080" y="1600200"/>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a:extLst>
              <a:ext uri="{FF2B5EF4-FFF2-40B4-BE49-F238E27FC236}">
                <a16:creationId xmlns:a16="http://schemas.microsoft.com/office/drawing/2014/main" id="{E834C0EB-BCE1-1DD6-A927-A178FD5BD158}"/>
              </a:ext>
            </a:extLst>
          </p:cNvPr>
          <p:cNvSpPr/>
          <p:nvPr/>
        </p:nvSpPr>
        <p:spPr>
          <a:xfrm>
            <a:off x="640080" y="1737360"/>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11,572</a:t>
            </a:r>
            <a:endParaRPr lang="en-US" sz="3400" dirty="0"/>
          </a:p>
        </p:txBody>
      </p:sp>
      <p:sp>
        <p:nvSpPr>
          <p:cNvPr id="6" name="Text 4">
            <a:extLst>
              <a:ext uri="{FF2B5EF4-FFF2-40B4-BE49-F238E27FC236}">
                <a16:creationId xmlns:a16="http://schemas.microsoft.com/office/drawing/2014/main" id="{C40164C1-C24F-B033-50D9-D840B38AF4E8}"/>
              </a:ext>
            </a:extLst>
          </p:cNvPr>
          <p:cNvSpPr/>
          <p:nvPr/>
        </p:nvSpPr>
        <p:spPr>
          <a:xfrm>
            <a:off x="640080" y="2377440"/>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clean / noisy</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file pairs</a:t>
            </a:r>
            <a:endParaRPr lang="en-US" sz="1200" dirty="0"/>
          </a:p>
        </p:txBody>
      </p:sp>
      <p:sp>
        <p:nvSpPr>
          <p:cNvPr id="7" name="Shape 5">
            <a:extLst>
              <a:ext uri="{FF2B5EF4-FFF2-40B4-BE49-F238E27FC236}">
                <a16:creationId xmlns:a16="http://schemas.microsoft.com/office/drawing/2014/main" id="{CC0AEC68-513E-D660-850A-B712E6353F00}"/>
              </a:ext>
            </a:extLst>
          </p:cNvPr>
          <p:cNvSpPr/>
          <p:nvPr/>
        </p:nvSpPr>
        <p:spPr>
          <a:xfrm>
            <a:off x="3456432" y="1600200"/>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8" name="Text 6">
            <a:extLst>
              <a:ext uri="{FF2B5EF4-FFF2-40B4-BE49-F238E27FC236}">
                <a16:creationId xmlns:a16="http://schemas.microsoft.com/office/drawing/2014/main" id="{1BDE2195-1619-BE85-D67B-A2359860952F}"/>
              </a:ext>
            </a:extLst>
          </p:cNvPr>
          <p:cNvSpPr/>
          <p:nvPr/>
        </p:nvSpPr>
        <p:spPr>
          <a:xfrm>
            <a:off x="3456432" y="1737360"/>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28</a:t>
            </a:r>
            <a:endParaRPr lang="en-US" sz="3400" dirty="0"/>
          </a:p>
        </p:txBody>
      </p:sp>
      <p:sp>
        <p:nvSpPr>
          <p:cNvPr id="9" name="Text 7">
            <a:extLst>
              <a:ext uri="{FF2B5EF4-FFF2-40B4-BE49-F238E27FC236}">
                <a16:creationId xmlns:a16="http://schemas.microsoft.com/office/drawing/2014/main" id="{2085A085-7C2E-2FB3-37C6-166E8DF182CB}"/>
              </a:ext>
            </a:extLst>
          </p:cNvPr>
          <p:cNvSpPr/>
          <p:nvPr/>
        </p:nvSpPr>
        <p:spPr>
          <a:xfrm>
            <a:off x="3456432" y="2377440"/>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speakers in</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the train set</a:t>
            </a:r>
            <a:endParaRPr lang="en-US" sz="1200" dirty="0"/>
          </a:p>
        </p:txBody>
      </p:sp>
      <p:sp>
        <p:nvSpPr>
          <p:cNvPr id="16" name="Text 14">
            <a:extLst>
              <a:ext uri="{FF2B5EF4-FFF2-40B4-BE49-F238E27FC236}">
                <a16:creationId xmlns:a16="http://schemas.microsoft.com/office/drawing/2014/main" id="{312CA272-90AE-4F21-A846-0BE81B61F216}"/>
              </a:ext>
            </a:extLst>
          </p:cNvPr>
          <p:cNvSpPr/>
          <p:nvPr/>
        </p:nvSpPr>
        <p:spPr>
          <a:xfrm>
            <a:off x="640080" y="3520440"/>
            <a:ext cx="6766560" cy="1737360"/>
          </a:xfrm>
          <a:prstGeom prst="rect">
            <a:avLst/>
          </a:prstGeom>
          <a:noFill/>
          <a:ln/>
        </p:spPr>
        <p:txBody>
          <a:bodyPr wrap="square" lIns="0" tIns="0" rIns="0" bIns="0" rtlCol="0" anchor="t"/>
          <a:lstStyle/>
          <a:p>
            <a:pPr marL="342900" indent="-342900">
              <a:spcAft>
                <a:spcPts val="1200"/>
              </a:spcAft>
              <a:buSzPct val="100000"/>
              <a:buChar char="•"/>
            </a:pPr>
            <a:r>
              <a:rPr lang="en-US" sz="1650" dirty="0">
                <a:solidFill>
                  <a:srgbClr val="16202C"/>
                </a:solidFill>
                <a:latin typeface="Calibri" pitchFamily="34" charset="0"/>
                <a:ea typeface="Calibri" pitchFamily="34" charset="-122"/>
                <a:cs typeface="Calibri" pitchFamily="34" charset="-120"/>
              </a:rPr>
              <a:t>Every clean file has a noisy twin.</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Organized by speakers</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These are recordings of short phrases with noise added over it</a:t>
            </a:r>
            <a:endParaRPr lang="en-US" sz="1650" dirty="0"/>
          </a:p>
        </p:txBody>
      </p:sp>
      <p:sp>
        <p:nvSpPr>
          <p:cNvPr id="17" name="Shape 15">
            <a:extLst>
              <a:ext uri="{FF2B5EF4-FFF2-40B4-BE49-F238E27FC236}">
                <a16:creationId xmlns:a16="http://schemas.microsoft.com/office/drawing/2014/main" id="{1E5F6070-6672-9310-524D-DF41BD06B334}"/>
              </a:ext>
            </a:extLst>
          </p:cNvPr>
          <p:cNvSpPr/>
          <p:nvPr/>
        </p:nvSpPr>
        <p:spPr>
          <a:xfrm>
            <a:off x="7772400" y="3520440"/>
            <a:ext cx="3767328" cy="2331720"/>
          </a:xfrm>
          <a:prstGeom prst="roundRect">
            <a:avLst>
              <a:gd name="adj" fmla="val 352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18" name="Text 16">
            <a:extLst>
              <a:ext uri="{FF2B5EF4-FFF2-40B4-BE49-F238E27FC236}">
                <a16:creationId xmlns:a16="http://schemas.microsoft.com/office/drawing/2014/main" id="{041822E1-546D-F575-5370-B1A4E7D3EF02}"/>
              </a:ext>
            </a:extLst>
          </p:cNvPr>
          <p:cNvSpPr/>
          <p:nvPr/>
        </p:nvSpPr>
        <p:spPr>
          <a:xfrm>
            <a:off x="8028432" y="3703320"/>
            <a:ext cx="3291840" cy="237744"/>
          </a:xfrm>
          <a:prstGeom prst="rect">
            <a:avLst/>
          </a:prstGeom>
          <a:noFill/>
          <a:ln/>
        </p:spPr>
        <p:txBody>
          <a:bodyPr wrap="square" lIns="0" tIns="0" rIns="0" bIns="0" rtlCol="0" anchor="ctr"/>
          <a:lstStyle/>
          <a:p>
            <a:pPr marL="0" indent="0">
              <a:buNone/>
            </a:pPr>
            <a:r>
              <a:rPr lang="en-US" sz="1050" b="1" kern="0" spc="120" dirty="0">
                <a:solidFill>
                  <a:srgbClr val="0E8A8F"/>
                </a:solidFill>
                <a:latin typeface="Calibri" pitchFamily="34" charset="0"/>
                <a:ea typeface="Calibri" pitchFamily="34" charset="-122"/>
                <a:cs typeface="Calibri" pitchFamily="34" charset="-120"/>
              </a:rPr>
              <a:t>Source</a:t>
            </a:r>
            <a:endParaRPr lang="en-US" sz="1050" dirty="0"/>
          </a:p>
        </p:txBody>
      </p:sp>
      <p:sp>
        <p:nvSpPr>
          <p:cNvPr id="19" name="Text 17">
            <a:extLst>
              <a:ext uri="{FF2B5EF4-FFF2-40B4-BE49-F238E27FC236}">
                <a16:creationId xmlns:a16="http://schemas.microsoft.com/office/drawing/2014/main" id="{EFB2E91E-6ADA-E220-1DF7-FC76B629447F}"/>
              </a:ext>
            </a:extLst>
          </p:cNvPr>
          <p:cNvSpPr/>
          <p:nvPr/>
        </p:nvSpPr>
        <p:spPr>
          <a:xfrm>
            <a:off x="8028432" y="4005072"/>
            <a:ext cx="3291840" cy="914400"/>
          </a:xfrm>
          <a:prstGeom prst="rect">
            <a:avLst/>
          </a:prstGeom>
          <a:noFill/>
          <a:ln/>
        </p:spPr>
        <p:txBody>
          <a:bodyPr wrap="square" lIns="0" tIns="0" rIns="0" bIns="0" rtlCol="0" anchor="t"/>
          <a:lstStyle/>
          <a:p>
            <a:pPr marL="0" indent="0">
              <a:lnSpc>
                <a:spcPct val="125000"/>
              </a:lnSpc>
              <a:buNone/>
            </a:pPr>
            <a:r>
              <a:rPr lang="en-US" sz="1300" b="1" dirty="0">
                <a:solidFill>
                  <a:srgbClr val="FFFFFF"/>
                </a:solidFill>
                <a:latin typeface="Calibri" pitchFamily="34" charset="0"/>
                <a:ea typeface="Calibri" pitchFamily="34" charset="-122"/>
                <a:cs typeface="Calibri" pitchFamily="34" charset="-120"/>
              </a:rPr>
              <a:t>University of Edinburgh DataShare</a:t>
            </a:r>
            <a:endParaRPr lang="en-US" sz="1300" dirty="0"/>
          </a:p>
          <a:p>
            <a:pPr marL="0" indent="0">
              <a:lnSpc>
                <a:spcPct val="125000"/>
              </a:lnSpc>
              <a:buNone/>
            </a:pPr>
            <a:r>
              <a:rPr lang="en-US" sz="1200" dirty="0">
                <a:solidFill>
                  <a:srgbClr val="C9D9E8"/>
                </a:solidFill>
                <a:latin typeface="Calibri" pitchFamily="34" charset="0"/>
                <a:ea typeface="Calibri" pitchFamily="34" charset="-122"/>
                <a:cs typeface="Calibri" pitchFamily="34" charset="-120"/>
              </a:rPr>
              <a:t>Centre for Speech Technology Research</a:t>
            </a:r>
            <a:endParaRPr lang="en-US" sz="1300" dirty="0"/>
          </a:p>
          <a:p>
            <a:pPr marL="0" indent="0">
              <a:lnSpc>
                <a:spcPct val="125000"/>
              </a:lnSpc>
              <a:buNone/>
            </a:pPr>
            <a:r>
              <a:rPr lang="en-US" sz="1150" i="1" dirty="0">
                <a:solidFill>
                  <a:srgbClr val="C9D9E8"/>
                </a:solidFill>
                <a:latin typeface="Calibri" pitchFamily="34" charset="0"/>
                <a:ea typeface="Calibri" pitchFamily="34" charset="-122"/>
                <a:cs typeface="Calibri" pitchFamily="34" charset="-120"/>
              </a:rPr>
              <a:t>doi.org/10.7488/ds/2117</a:t>
            </a:r>
            <a:endParaRPr lang="en-US" sz="1300" dirty="0"/>
          </a:p>
        </p:txBody>
      </p:sp>
      <p:sp>
        <p:nvSpPr>
          <p:cNvPr id="20" name="Text 18">
            <a:extLst>
              <a:ext uri="{FF2B5EF4-FFF2-40B4-BE49-F238E27FC236}">
                <a16:creationId xmlns:a16="http://schemas.microsoft.com/office/drawing/2014/main" id="{D88C2F10-9AC8-009C-FE53-3F3508334618}"/>
              </a:ext>
            </a:extLst>
          </p:cNvPr>
          <p:cNvSpPr/>
          <p:nvPr/>
        </p:nvSpPr>
        <p:spPr>
          <a:xfrm>
            <a:off x="8028432" y="5029200"/>
            <a:ext cx="3291840" cy="640080"/>
          </a:xfrm>
          <a:prstGeom prst="rect">
            <a:avLst/>
          </a:prstGeom>
          <a:noFill/>
          <a:ln/>
        </p:spPr>
        <p:txBody>
          <a:bodyPr wrap="square" lIns="0" tIns="0" rIns="0" bIns="0" rtlCol="0" anchor="t"/>
          <a:lstStyle/>
          <a:p>
            <a:pPr marL="0" indent="0">
              <a:buNone/>
            </a:pPr>
            <a:r>
              <a:rPr lang="en-US" sz="1150" dirty="0">
                <a:solidFill>
                  <a:srgbClr val="C9D9E8"/>
                </a:solidFill>
                <a:latin typeface="Calibri" pitchFamily="34" charset="0"/>
                <a:ea typeface="Calibri" pitchFamily="34" charset="-122"/>
                <a:cs typeface="Calibri" pitchFamily="34" charset="-120"/>
              </a:rPr>
              <a:t>Free for research use.</a:t>
            </a:r>
            <a:endParaRPr lang="en-US" sz="1150" dirty="0"/>
          </a:p>
        </p:txBody>
      </p:sp>
      <p:pic>
        <p:nvPicPr>
          <p:cNvPr id="10" name="Picture 9" descr="Edinburgh DataShare | Eden-Fidelis">
            <a:extLst>
              <a:ext uri="{FF2B5EF4-FFF2-40B4-BE49-F238E27FC236}">
                <a16:creationId xmlns:a16="http://schemas.microsoft.com/office/drawing/2014/main" id="{72C3381D-91C6-16F9-A05B-7BF8E26F2B04}"/>
              </a:ext>
            </a:extLst>
          </p:cNvPr>
          <p:cNvPicPr>
            <a:picLocks noChangeAspect="1"/>
          </p:cNvPicPr>
          <p:nvPr/>
        </p:nvPicPr>
        <p:blipFill>
          <a:blip r:embed="rId3"/>
          <a:stretch>
            <a:fillRect/>
          </a:stretch>
        </p:blipFill>
        <p:spPr>
          <a:xfrm>
            <a:off x="6732548" y="995606"/>
            <a:ext cx="4708603" cy="2040202"/>
          </a:xfrm>
          <a:prstGeom prst="rect">
            <a:avLst/>
          </a:prstGeom>
        </p:spPr>
      </p:pic>
    </p:spTree>
    <p:extLst>
      <p:ext uri="{BB962C8B-B14F-4D97-AF65-F5344CB8AC3E}">
        <p14:creationId xmlns:p14="http://schemas.microsoft.com/office/powerpoint/2010/main" val="170165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PREPROCESSING</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Verification of data quality</a:t>
            </a:r>
            <a:endParaRPr lang="en-US" sz="3000" dirty="0"/>
          </a:p>
        </p:txBody>
      </p:sp>
      <p:sp>
        <p:nvSpPr>
          <p:cNvPr id="4" name="Shape 2"/>
          <p:cNvSpPr/>
          <p:nvPr/>
        </p:nvSpPr>
        <p:spPr>
          <a:xfrm>
            <a:off x="640080" y="1645920"/>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5" name="Shape 3"/>
          <p:cNvSpPr/>
          <p:nvPr/>
        </p:nvSpPr>
        <p:spPr>
          <a:xfrm>
            <a:off x="822960" y="1874520"/>
            <a:ext cx="219456" cy="219456"/>
          </a:xfrm>
          <a:prstGeom prst="ellipse">
            <a:avLst/>
          </a:prstGeom>
          <a:solidFill>
            <a:srgbClr val="E08A3C"/>
          </a:solidFill>
          <a:ln/>
        </p:spPr>
        <p:txBody>
          <a:bodyPr/>
          <a:lstStyle/>
          <a:p>
            <a:endParaRPr lang="en-US"/>
          </a:p>
        </p:txBody>
      </p:sp>
      <p:sp>
        <p:nvSpPr>
          <p:cNvPr id="6" name="Text 4"/>
          <p:cNvSpPr/>
          <p:nvPr/>
        </p:nvSpPr>
        <p:spPr>
          <a:xfrm>
            <a:off x="1152144" y="1719072"/>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unpaired</a:t>
            </a:r>
            <a:endParaRPr lang="en-US" sz="1200" dirty="0"/>
          </a:p>
        </p:txBody>
      </p:sp>
      <p:sp>
        <p:nvSpPr>
          <p:cNvPr id="7" name="Text 5"/>
          <p:cNvSpPr/>
          <p:nvPr/>
        </p:nvSpPr>
        <p:spPr>
          <a:xfrm>
            <a:off x="1152144" y="1975104"/>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no partner file</a:t>
            </a:r>
            <a:endParaRPr lang="en-US" sz="1200" dirty="0"/>
          </a:p>
        </p:txBody>
      </p:sp>
      <p:sp>
        <p:nvSpPr>
          <p:cNvPr id="8" name="Shape 6"/>
          <p:cNvSpPr/>
          <p:nvPr/>
        </p:nvSpPr>
        <p:spPr>
          <a:xfrm>
            <a:off x="3886200" y="1645920"/>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9" name="Shape 7"/>
          <p:cNvSpPr/>
          <p:nvPr/>
        </p:nvSpPr>
        <p:spPr>
          <a:xfrm>
            <a:off x="4069080" y="1874520"/>
            <a:ext cx="219456" cy="219456"/>
          </a:xfrm>
          <a:prstGeom prst="ellipse">
            <a:avLst/>
          </a:prstGeom>
          <a:solidFill>
            <a:srgbClr val="E08A3C"/>
          </a:solidFill>
          <a:ln/>
        </p:spPr>
        <p:txBody>
          <a:bodyPr/>
          <a:lstStyle/>
          <a:p>
            <a:endParaRPr lang="en-US"/>
          </a:p>
        </p:txBody>
      </p:sp>
      <p:sp>
        <p:nvSpPr>
          <p:cNvPr id="10" name="Text 8"/>
          <p:cNvSpPr/>
          <p:nvPr/>
        </p:nvSpPr>
        <p:spPr>
          <a:xfrm>
            <a:off x="4398264" y="1719072"/>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quiet</a:t>
            </a:r>
            <a:endParaRPr lang="en-US" sz="1200" dirty="0"/>
          </a:p>
        </p:txBody>
      </p:sp>
      <p:sp>
        <p:nvSpPr>
          <p:cNvPr id="11" name="Text 9"/>
          <p:cNvSpPr/>
          <p:nvPr/>
        </p:nvSpPr>
        <p:spPr>
          <a:xfrm>
            <a:off x="4398264" y="1975104"/>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RMS below −40 dBFS</a:t>
            </a:r>
            <a:endParaRPr lang="en-US" sz="1200" dirty="0"/>
          </a:p>
        </p:txBody>
      </p:sp>
      <p:sp>
        <p:nvSpPr>
          <p:cNvPr id="12" name="Shape 10"/>
          <p:cNvSpPr/>
          <p:nvPr/>
        </p:nvSpPr>
        <p:spPr>
          <a:xfrm>
            <a:off x="640080" y="2487168"/>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13" name="Shape 11"/>
          <p:cNvSpPr/>
          <p:nvPr/>
        </p:nvSpPr>
        <p:spPr>
          <a:xfrm>
            <a:off x="822960" y="2715768"/>
            <a:ext cx="219456" cy="219456"/>
          </a:xfrm>
          <a:prstGeom prst="ellipse">
            <a:avLst/>
          </a:prstGeom>
          <a:solidFill>
            <a:srgbClr val="E08A3C"/>
          </a:solidFill>
          <a:ln/>
        </p:spPr>
        <p:txBody>
          <a:bodyPr/>
          <a:lstStyle/>
          <a:p>
            <a:endParaRPr lang="en-US"/>
          </a:p>
        </p:txBody>
      </p:sp>
      <p:sp>
        <p:nvSpPr>
          <p:cNvPr id="14" name="Text 12"/>
          <p:cNvSpPr/>
          <p:nvPr/>
        </p:nvSpPr>
        <p:spPr>
          <a:xfrm>
            <a:off x="1152144" y="2560320"/>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clipping</a:t>
            </a:r>
            <a:endParaRPr lang="en-US" sz="1200" dirty="0"/>
          </a:p>
        </p:txBody>
      </p:sp>
      <p:sp>
        <p:nvSpPr>
          <p:cNvPr id="15" name="Text 13"/>
          <p:cNvSpPr/>
          <p:nvPr/>
        </p:nvSpPr>
        <p:spPr>
          <a:xfrm>
            <a:off x="1152144" y="2816352"/>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&gt; 0.1 % samples at full scale</a:t>
            </a:r>
            <a:endParaRPr lang="en-US" sz="1200" dirty="0"/>
          </a:p>
        </p:txBody>
      </p:sp>
      <p:sp>
        <p:nvSpPr>
          <p:cNvPr id="16" name="Shape 14"/>
          <p:cNvSpPr/>
          <p:nvPr/>
        </p:nvSpPr>
        <p:spPr>
          <a:xfrm>
            <a:off x="3886200" y="2487168"/>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17" name="Shape 15"/>
          <p:cNvSpPr/>
          <p:nvPr/>
        </p:nvSpPr>
        <p:spPr>
          <a:xfrm>
            <a:off x="4069080" y="2715768"/>
            <a:ext cx="219456" cy="219456"/>
          </a:xfrm>
          <a:prstGeom prst="ellipse">
            <a:avLst/>
          </a:prstGeom>
          <a:solidFill>
            <a:srgbClr val="E08A3C"/>
          </a:solidFill>
          <a:ln/>
        </p:spPr>
        <p:txBody>
          <a:bodyPr/>
          <a:lstStyle/>
          <a:p>
            <a:endParaRPr lang="en-US"/>
          </a:p>
        </p:txBody>
      </p:sp>
      <p:sp>
        <p:nvSpPr>
          <p:cNvPr id="18" name="Text 16"/>
          <p:cNvSpPr/>
          <p:nvPr/>
        </p:nvSpPr>
        <p:spPr>
          <a:xfrm>
            <a:off x="4398264" y="2560320"/>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short</a:t>
            </a:r>
            <a:endParaRPr lang="en-US" sz="1200" dirty="0"/>
          </a:p>
        </p:txBody>
      </p:sp>
      <p:sp>
        <p:nvSpPr>
          <p:cNvPr id="19" name="Text 17"/>
          <p:cNvSpPr/>
          <p:nvPr/>
        </p:nvSpPr>
        <p:spPr>
          <a:xfrm>
            <a:off x="4398264" y="2816352"/>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under 1.0 second</a:t>
            </a:r>
            <a:endParaRPr lang="en-US" sz="1200" dirty="0"/>
          </a:p>
        </p:txBody>
      </p:sp>
      <p:sp>
        <p:nvSpPr>
          <p:cNvPr id="20" name="Shape 18"/>
          <p:cNvSpPr/>
          <p:nvPr/>
        </p:nvSpPr>
        <p:spPr>
          <a:xfrm>
            <a:off x="640080" y="3328416"/>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21" name="Shape 19"/>
          <p:cNvSpPr/>
          <p:nvPr/>
        </p:nvSpPr>
        <p:spPr>
          <a:xfrm>
            <a:off x="822960" y="3557016"/>
            <a:ext cx="219456" cy="219456"/>
          </a:xfrm>
          <a:prstGeom prst="ellipse">
            <a:avLst/>
          </a:prstGeom>
          <a:solidFill>
            <a:srgbClr val="E08A3C"/>
          </a:solidFill>
          <a:ln/>
        </p:spPr>
        <p:txBody>
          <a:bodyPr/>
          <a:lstStyle/>
          <a:p>
            <a:endParaRPr lang="en-US"/>
          </a:p>
        </p:txBody>
      </p:sp>
      <p:sp>
        <p:nvSpPr>
          <p:cNvPr id="22" name="Text 20"/>
          <p:cNvSpPr/>
          <p:nvPr/>
        </p:nvSpPr>
        <p:spPr>
          <a:xfrm>
            <a:off x="1152144" y="3401568"/>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bad_sr</a:t>
            </a:r>
            <a:endParaRPr lang="en-US" sz="1200" dirty="0"/>
          </a:p>
        </p:txBody>
      </p:sp>
      <p:sp>
        <p:nvSpPr>
          <p:cNvPr id="23" name="Text 21"/>
          <p:cNvSpPr/>
          <p:nvPr/>
        </p:nvSpPr>
        <p:spPr>
          <a:xfrm>
            <a:off x="1152144" y="3657600"/>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wrong sample rate</a:t>
            </a:r>
            <a:endParaRPr lang="en-US" sz="1200" dirty="0"/>
          </a:p>
        </p:txBody>
      </p:sp>
      <p:sp>
        <p:nvSpPr>
          <p:cNvPr id="24" name="Shape 22"/>
          <p:cNvSpPr/>
          <p:nvPr/>
        </p:nvSpPr>
        <p:spPr>
          <a:xfrm>
            <a:off x="3886200" y="3328416"/>
            <a:ext cx="3063240" cy="676656"/>
          </a:xfrm>
          <a:prstGeom prst="roundRect">
            <a:avLst>
              <a:gd name="adj" fmla="val 12162"/>
            </a:avLst>
          </a:prstGeom>
          <a:solidFill>
            <a:srgbClr val="FFFFFF"/>
          </a:solidFill>
          <a:ln w="12700">
            <a:solidFill>
              <a:srgbClr val="DFE5EB"/>
            </a:solidFill>
            <a:prstDash val="solid"/>
          </a:ln>
        </p:spPr>
        <p:txBody>
          <a:bodyPr/>
          <a:lstStyle/>
          <a:p>
            <a:endParaRPr lang="en-US"/>
          </a:p>
        </p:txBody>
      </p:sp>
      <p:sp>
        <p:nvSpPr>
          <p:cNvPr id="25" name="Shape 23"/>
          <p:cNvSpPr/>
          <p:nvPr/>
        </p:nvSpPr>
        <p:spPr>
          <a:xfrm>
            <a:off x="4069080" y="3557016"/>
            <a:ext cx="219456" cy="219456"/>
          </a:xfrm>
          <a:prstGeom prst="ellipse">
            <a:avLst/>
          </a:prstGeom>
          <a:solidFill>
            <a:srgbClr val="E08A3C"/>
          </a:solidFill>
          <a:ln/>
        </p:spPr>
        <p:txBody>
          <a:bodyPr/>
          <a:lstStyle/>
          <a:p>
            <a:endParaRPr lang="en-US"/>
          </a:p>
        </p:txBody>
      </p:sp>
      <p:sp>
        <p:nvSpPr>
          <p:cNvPr id="26" name="Text 24"/>
          <p:cNvSpPr/>
          <p:nvPr/>
        </p:nvSpPr>
        <p:spPr>
          <a:xfrm>
            <a:off x="4398264" y="3401568"/>
            <a:ext cx="2377440" cy="274320"/>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offset</a:t>
            </a:r>
            <a:endParaRPr lang="en-US" sz="1200" dirty="0"/>
          </a:p>
        </p:txBody>
      </p:sp>
      <p:sp>
        <p:nvSpPr>
          <p:cNvPr id="27" name="Text 25"/>
          <p:cNvSpPr/>
          <p:nvPr/>
        </p:nvSpPr>
        <p:spPr>
          <a:xfrm>
            <a:off x="4398264" y="3657600"/>
            <a:ext cx="2423160" cy="274320"/>
          </a:xfrm>
          <a:prstGeom prst="rect">
            <a:avLst/>
          </a:prstGeom>
          <a:noFill/>
          <a:ln/>
        </p:spPr>
        <p:txBody>
          <a:bodyPr wrap="square" lIns="0" tIns="0" rIns="0" bIns="0" rtlCol="0" anchor="ctr"/>
          <a:lstStyle/>
          <a:p>
            <a:pPr marL="0" indent="0">
              <a:buNone/>
            </a:pPr>
            <a:r>
              <a:rPr lang="en-US" sz="1200" dirty="0">
                <a:solidFill>
                  <a:srgbClr val="62707F"/>
                </a:solidFill>
                <a:latin typeface="Calibri" pitchFamily="34" charset="0"/>
                <a:ea typeface="Calibri" pitchFamily="34" charset="-122"/>
                <a:cs typeface="Calibri" pitchFamily="34" charset="-120"/>
              </a:rPr>
              <a:t>|DC offset| &gt; 0.05</a:t>
            </a:r>
            <a:endParaRPr lang="en-US" sz="1200" dirty="0"/>
          </a:p>
        </p:txBody>
      </p:sp>
      <p:sp>
        <p:nvSpPr>
          <p:cNvPr id="28" name="Text 26"/>
          <p:cNvSpPr/>
          <p:nvPr/>
        </p:nvSpPr>
        <p:spPr>
          <a:xfrm>
            <a:off x="640080" y="4407408"/>
            <a:ext cx="6583680" cy="685800"/>
          </a:xfrm>
          <a:prstGeom prst="rect">
            <a:avLst/>
          </a:prstGeom>
          <a:noFill/>
          <a:ln/>
        </p:spPr>
        <p:txBody>
          <a:bodyPr wrap="square" lIns="0" tIns="0" rIns="0" bIns="0" rtlCol="0" anchor="t"/>
          <a:lstStyle/>
          <a:p>
            <a:pPr marL="0" indent="0">
              <a:buNone/>
            </a:pPr>
            <a:r>
              <a:rPr lang="en-US" sz="1350" dirty="0">
                <a:solidFill>
                  <a:srgbClr val="16202C"/>
                </a:solidFill>
                <a:latin typeface="Calibri" pitchFamily="34" charset="0"/>
                <a:ea typeface="Calibri" pitchFamily="34" charset="-122"/>
                <a:cs typeface="Calibri" pitchFamily="34" charset="-120"/>
              </a:rPr>
              <a:t>These are the conditions in which files would be dropped</a:t>
            </a:r>
            <a:endParaRPr lang="en-US" sz="1350" dirty="0"/>
          </a:p>
        </p:txBody>
      </p:sp>
      <p:sp>
        <p:nvSpPr>
          <p:cNvPr id="29" name="Shape 27"/>
          <p:cNvSpPr/>
          <p:nvPr/>
        </p:nvSpPr>
        <p:spPr>
          <a:xfrm>
            <a:off x="7680960" y="1645920"/>
            <a:ext cx="3858768" cy="2359152"/>
          </a:xfrm>
          <a:prstGeom prst="roundRect">
            <a:avLst>
              <a:gd name="adj" fmla="val 3488"/>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30" name="Text 28"/>
          <p:cNvSpPr/>
          <p:nvPr/>
        </p:nvSpPr>
        <p:spPr>
          <a:xfrm>
            <a:off x="7936992" y="1828800"/>
            <a:ext cx="3383280" cy="457200"/>
          </a:xfrm>
          <a:prstGeom prst="rect">
            <a:avLst/>
          </a:prstGeom>
          <a:noFill/>
          <a:ln/>
        </p:spPr>
        <p:txBody>
          <a:bodyPr wrap="square" lIns="0" tIns="0" rIns="0" bIns="0" rtlCol="0" anchor="t"/>
          <a:lstStyle/>
          <a:p>
            <a:pPr marL="0" indent="0">
              <a:buNone/>
            </a:pPr>
            <a:r>
              <a:rPr lang="en-US" sz="1250" b="1" dirty="0">
                <a:solidFill>
                  <a:srgbClr val="0E8A8F"/>
                </a:solidFill>
                <a:latin typeface="Calibri" pitchFamily="34" charset="0"/>
                <a:ea typeface="Calibri" pitchFamily="34" charset="-122"/>
                <a:cs typeface="Calibri" pitchFamily="34" charset="-120"/>
              </a:rPr>
              <a:t>Tested with broken files</a:t>
            </a:r>
            <a:endParaRPr lang="en-US" sz="1250" dirty="0"/>
          </a:p>
        </p:txBody>
      </p:sp>
      <p:sp>
        <p:nvSpPr>
          <p:cNvPr id="31" name="Text 29"/>
          <p:cNvSpPr/>
          <p:nvPr/>
        </p:nvSpPr>
        <p:spPr>
          <a:xfrm>
            <a:off x="7936992" y="2331720"/>
            <a:ext cx="3383280" cy="1554480"/>
          </a:xfrm>
          <a:prstGeom prst="rect">
            <a:avLst/>
          </a:prstGeom>
          <a:noFill/>
          <a:ln/>
        </p:spPr>
        <p:txBody>
          <a:bodyPr wrap="square" lIns="0" tIns="0" rIns="0" bIns="0" rtlCol="0" anchor="t"/>
          <a:lstStyle/>
          <a:p>
            <a:pPr>
              <a:lnSpc>
                <a:spcPct val="135000"/>
              </a:lnSpc>
              <a:buSzPct val="100000"/>
            </a:pPr>
            <a:r>
              <a:rPr lang="en-US" sz="1200" dirty="0">
                <a:solidFill>
                  <a:srgbClr val="C9D9E8"/>
                </a:solidFill>
                <a:latin typeface="Calibri" pitchFamily="34" charset="0"/>
                <a:ea typeface="Calibri" pitchFamily="34" charset="-122"/>
                <a:cs typeface="Calibri" pitchFamily="34" charset="-120"/>
              </a:rPr>
              <a:t>8 broken pairs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silent files → quiet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square waves → clipping - skipped</a:t>
            </a:r>
            <a:endParaRPr lang="en-US" sz="1200" dirty="0"/>
          </a:p>
          <a:p>
            <a:pPr marL="0" indent="0">
              <a:lnSpc>
                <a:spcPct val="135000"/>
              </a:lnSpc>
              <a:buNone/>
            </a:pPr>
            <a:r>
              <a:rPr lang="en-US" sz="1200" dirty="0">
                <a:solidFill>
                  <a:srgbClr val="C9D9E8"/>
                </a:solidFill>
                <a:latin typeface="Calibri" pitchFamily="34" charset="0"/>
                <a:ea typeface="Calibri" pitchFamily="34" charset="-122"/>
                <a:cs typeface="Calibri" pitchFamily="34" charset="-120"/>
              </a:rPr>
              <a:t>2 short 44.1 kHz files → short, </a:t>
            </a:r>
            <a:r>
              <a:rPr lang="en-US" sz="1200" dirty="0" err="1">
                <a:solidFill>
                  <a:srgbClr val="C9D9E8"/>
                </a:solidFill>
                <a:latin typeface="Calibri" pitchFamily="34" charset="0"/>
                <a:ea typeface="Calibri" pitchFamily="34" charset="-122"/>
                <a:cs typeface="Calibri" pitchFamily="34" charset="-120"/>
              </a:rPr>
              <a:t>bad_sr</a:t>
            </a:r>
            <a:r>
              <a:rPr lang="en-US" sz="1200" dirty="0">
                <a:solidFill>
                  <a:srgbClr val="C9D9E8"/>
                </a:solidFill>
                <a:latin typeface="Calibri" pitchFamily="34" charset="0"/>
                <a:ea typeface="Calibri" pitchFamily="34" charset="-122"/>
                <a:cs typeface="Calibri" pitchFamily="34" charset="-120"/>
              </a:rPr>
              <a:t> - skipped</a:t>
            </a:r>
            <a:endParaRPr lang="en-US" sz="1200" dirty="0"/>
          </a:p>
        </p:txBody>
      </p:sp>
      <p:sp>
        <p:nvSpPr>
          <p:cNvPr id="32" name="Shape 30"/>
          <p:cNvSpPr/>
          <p:nvPr/>
        </p:nvSpPr>
        <p:spPr>
          <a:xfrm>
            <a:off x="7680960" y="4206240"/>
            <a:ext cx="3858768" cy="1536192"/>
          </a:xfrm>
          <a:prstGeom prst="roundRect">
            <a:avLst>
              <a:gd name="adj" fmla="val 5357"/>
            </a:avLst>
          </a:prstGeom>
          <a:solidFill>
            <a:srgbClr val="E3F2F2"/>
          </a:solidFill>
          <a:ln/>
        </p:spPr>
        <p:txBody>
          <a:bodyPr/>
          <a:lstStyle/>
          <a:p>
            <a:endParaRPr lang="en-US"/>
          </a:p>
        </p:txBody>
      </p:sp>
      <p:sp>
        <p:nvSpPr>
          <p:cNvPr id="33" name="Text 31"/>
          <p:cNvSpPr/>
          <p:nvPr/>
        </p:nvSpPr>
        <p:spPr>
          <a:xfrm>
            <a:off x="7680960" y="4315968"/>
            <a:ext cx="3858768" cy="603504"/>
          </a:xfrm>
          <a:prstGeom prst="rect">
            <a:avLst/>
          </a:prstGeom>
          <a:noFill/>
          <a:ln/>
        </p:spPr>
        <p:txBody>
          <a:bodyPr wrap="square" lIns="0" tIns="0" rIns="0" bIns="0" rtlCol="0" anchor="ctr"/>
          <a:lstStyle/>
          <a:p>
            <a:pPr marL="0" indent="0" algn="ctr">
              <a:buNone/>
            </a:pPr>
            <a:r>
              <a:rPr lang="en-US" sz="3200" b="1" dirty="0">
                <a:solidFill>
                  <a:srgbClr val="0E8A8F"/>
                </a:solidFill>
                <a:latin typeface="Cambria" pitchFamily="34" charset="0"/>
                <a:ea typeface="Cambria" pitchFamily="34" charset="-122"/>
                <a:cs typeface="Cambria" pitchFamily="34" charset="-120"/>
              </a:rPr>
              <a:t>11,572</a:t>
            </a:r>
            <a:endParaRPr lang="en-US" sz="3200" dirty="0"/>
          </a:p>
        </p:txBody>
      </p:sp>
      <p:sp>
        <p:nvSpPr>
          <p:cNvPr id="34" name="Text 32"/>
          <p:cNvSpPr/>
          <p:nvPr/>
        </p:nvSpPr>
        <p:spPr>
          <a:xfrm>
            <a:off x="7680960" y="4919472"/>
            <a:ext cx="3858768" cy="640080"/>
          </a:xfrm>
          <a:prstGeom prst="rect">
            <a:avLst/>
          </a:prstGeom>
          <a:noFill/>
          <a:ln/>
        </p:spPr>
        <p:txBody>
          <a:bodyPr wrap="square" lIns="0" tIns="0" rIns="0" bIns="0" rtlCol="0" anchor="t"/>
          <a:lstStyle/>
          <a:p>
            <a:pPr marL="0" indent="0" algn="ctr">
              <a:buNone/>
            </a:pPr>
            <a:r>
              <a:rPr lang="en-US" sz="1200" dirty="0">
                <a:solidFill>
                  <a:srgbClr val="12233A"/>
                </a:solidFill>
                <a:latin typeface="Calibri" pitchFamily="34" charset="0"/>
                <a:ea typeface="Calibri" pitchFamily="34" charset="-122"/>
                <a:cs typeface="Calibri" pitchFamily="34" charset="-120"/>
              </a:rPr>
              <a:t>pairs kept  ·  0 dropped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MODEL SELECTION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Why </a:t>
            </a:r>
            <a:r>
              <a:rPr lang="en-US" sz="3000" b="1">
                <a:solidFill>
                  <a:srgbClr val="12233A"/>
                </a:solidFill>
                <a:latin typeface="Cambria" pitchFamily="34" charset="0"/>
                <a:ea typeface="Cambria" pitchFamily="34" charset="-122"/>
                <a:cs typeface="Cambria" pitchFamily="34" charset="-120"/>
              </a:rPr>
              <a:t>an LSTM?</a:t>
            </a:r>
            <a:endParaRPr lang="en-US" sz="3000" dirty="0"/>
          </a:p>
        </p:txBody>
      </p:sp>
      <p:sp>
        <p:nvSpPr>
          <p:cNvPr id="4" name="Shape 2"/>
          <p:cNvSpPr/>
          <p:nvPr/>
        </p:nvSpPr>
        <p:spPr>
          <a:xfrm>
            <a:off x="640080" y="1691640"/>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5" name="Shape 3"/>
          <p:cNvSpPr/>
          <p:nvPr/>
        </p:nvSpPr>
        <p:spPr>
          <a:xfrm>
            <a:off x="896112" y="2020824"/>
            <a:ext cx="457200" cy="457200"/>
          </a:xfrm>
          <a:prstGeom prst="ellipse">
            <a:avLst/>
          </a:prstGeom>
          <a:solidFill>
            <a:srgbClr val="0E8A8F"/>
          </a:solidFill>
          <a:ln/>
        </p:spPr>
        <p:txBody>
          <a:bodyPr/>
          <a:lstStyle/>
          <a:p>
            <a:endParaRPr lang="en-US"/>
          </a:p>
        </p:txBody>
      </p:sp>
      <p:sp>
        <p:nvSpPr>
          <p:cNvPr id="6" name="Text 4"/>
          <p:cNvSpPr/>
          <p:nvPr/>
        </p:nvSpPr>
        <p:spPr>
          <a:xfrm>
            <a:off x="896112" y="2020824"/>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517904" y="1837944"/>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Noise is sequential</a:t>
            </a:r>
            <a:endParaRPr lang="en-US" sz="1600" dirty="0"/>
          </a:p>
        </p:txBody>
      </p:sp>
      <p:sp>
        <p:nvSpPr>
          <p:cNvPr id="8" name="Text 6"/>
          <p:cNvSpPr/>
          <p:nvPr/>
        </p:nvSpPr>
        <p:spPr>
          <a:xfrm>
            <a:off x="1517904" y="2130552"/>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Nearby frames look alike. The last mask helps to predict the next.</a:t>
            </a:r>
            <a:endParaRPr lang="en-US" sz="1350" dirty="0"/>
          </a:p>
        </p:txBody>
      </p:sp>
      <p:sp>
        <p:nvSpPr>
          <p:cNvPr id="9" name="Shape 7"/>
          <p:cNvSpPr/>
          <p:nvPr/>
        </p:nvSpPr>
        <p:spPr>
          <a:xfrm>
            <a:off x="640080" y="2990088"/>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10" name="Shape 8"/>
          <p:cNvSpPr/>
          <p:nvPr/>
        </p:nvSpPr>
        <p:spPr>
          <a:xfrm>
            <a:off x="896112" y="3319272"/>
            <a:ext cx="457200" cy="457200"/>
          </a:xfrm>
          <a:prstGeom prst="ellipse">
            <a:avLst/>
          </a:prstGeom>
          <a:solidFill>
            <a:srgbClr val="0E8A8F"/>
          </a:solidFill>
          <a:ln/>
        </p:spPr>
        <p:txBody>
          <a:bodyPr/>
          <a:lstStyle/>
          <a:p>
            <a:endParaRPr lang="en-US"/>
          </a:p>
        </p:txBody>
      </p:sp>
      <p:sp>
        <p:nvSpPr>
          <p:cNvPr id="11" name="Text 9"/>
          <p:cNvSpPr/>
          <p:nvPr/>
        </p:nvSpPr>
        <p:spPr>
          <a:xfrm>
            <a:off x="896112" y="331927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517904" y="3136392"/>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Vanishing gradient</a:t>
            </a:r>
            <a:endParaRPr lang="en-US" sz="1600" dirty="0"/>
          </a:p>
        </p:txBody>
      </p:sp>
      <p:sp>
        <p:nvSpPr>
          <p:cNvPr id="13" name="Text 11"/>
          <p:cNvSpPr/>
          <p:nvPr/>
        </p:nvSpPr>
        <p:spPr>
          <a:xfrm>
            <a:off x="1517904" y="3429000"/>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Hundreds of small gradients multiply down to zero in normal RNNs.</a:t>
            </a:r>
            <a:endParaRPr lang="en-US" sz="1350" dirty="0"/>
          </a:p>
        </p:txBody>
      </p:sp>
      <p:sp>
        <p:nvSpPr>
          <p:cNvPr id="14" name="Shape 12"/>
          <p:cNvSpPr/>
          <p:nvPr/>
        </p:nvSpPr>
        <p:spPr>
          <a:xfrm>
            <a:off x="640080" y="4288536"/>
            <a:ext cx="7223760" cy="1115568"/>
          </a:xfrm>
          <a:prstGeom prst="roundRect">
            <a:avLst>
              <a:gd name="adj" fmla="val 7377"/>
            </a:avLst>
          </a:prstGeom>
          <a:solidFill>
            <a:srgbClr val="FFFFFF"/>
          </a:solidFill>
          <a:ln w="12700">
            <a:solidFill>
              <a:srgbClr val="DFE5EB"/>
            </a:solidFill>
            <a:prstDash val="solid"/>
          </a:ln>
        </p:spPr>
        <p:txBody>
          <a:bodyPr/>
          <a:lstStyle/>
          <a:p>
            <a:endParaRPr lang="en-US"/>
          </a:p>
        </p:txBody>
      </p:sp>
      <p:sp>
        <p:nvSpPr>
          <p:cNvPr id="15" name="Shape 13"/>
          <p:cNvSpPr/>
          <p:nvPr/>
        </p:nvSpPr>
        <p:spPr>
          <a:xfrm>
            <a:off x="896112" y="4617720"/>
            <a:ext cx="457200" cy="457200"/>
          </a:xfrm>
          <a:prstGeom prst="ellipse">
            <a:avLst/>
          </a:prstGeom>
          <a:solidFill>
            <a:srgbClr val="0E8A8F"/>
          </a:solidFill>
          <a:ln/>
        </p:spPr>
        <p:txBody>
          <a:bodyPr/>
          <a:lstStyle/>
          <a:p>
            <a:endParaRPr lang="en-US"/>
          </a:p>
        </p:txBody>
      </p:sp>
      <p:sp>
        <p:nvSpPr>
          <p:cNvPr id="16" name="Text 14"/>
          <p:cNvSpPr/>
          <p:nvPr/>
        </p:nvSpPr>
        <p:spPr>
          <a:xfrm>
            <a:off x="896112" y="4617720"/>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517904" y="4434840"/>
            <a:ext cx="6126480" cy="274320"/>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LSTM cell state adds gradients</a:t>
            </a:r>
            <a:endParaRPr lang="en-US" sz="1600" dirty="0"/>
          </a:p>
        </p:txBody>
      </p:sp>
      <p:sp>
        <p:nvSpPr>
          <p:cNvPr id="18" name="Text 16"/>
          <p:cNvSpPr/>
          <p:nvPr/>
        </p:nvSpPr>
        <p:spPr>
          <a:xfrm>
            <a:off x="1517904" y="4727448"/>
            <a:ext cx="6126480" cy="603504"/>
          </a:xfrm>
          <a:prstGeom prst="rect">
            <a:avLst/>
          </a:prstGeom>
          <a:noFill/>
          <a:ln/>
        </p:spPr>
        <p:txBody>
          <a:bodyPr wrap="square" lIns="0" tIns="0" rIns="0" bIns="0" rtlCol="0" anchor="t"/>
          <a:lstStyle/>
          <a:p>
            <a:pPr marL="0" indent="0">
              <a:buNone/>
            </a:pPr>
            <a:r>
              <a:rPr lang="en-US" sz="1350" dirty="0">
                <a:solidFill>
                  <a:srgbClr val="62707F"/>
                </a:solidFill>
                <a:latin typeface="Calibri" pitchFamily="34" charset="0"/>
                <a:ea typeface="Calibri" pitchFamily="34" charset="-122"/>
                <a:cs typeface="Calibri" pitchFamily="34" charset="-120"/>
              </a:rPr>
              <a:t>The cell state adds instead of multiplies so frames from farther behind can effect the next one.</a:t>
            </a:r>
            <a:endParaRPr lang="en-US" sz="1350" dirty="0"/>
          </a:p>
        </p:txBody>
      </p:sp>
      <p:sp>
        <p:nvSpPr>
          <p:cNvPr id="19" name="Shape 17"/>
          <p:cNvSpPr/>
          <p:nvPr/>
        </p:nvSpPr>
        <p:spPr>
          <a:xfrm>
            <a:off x="8138160" y="1691640"/>
            <a:ext cx="3401568" cy="3895344"/>
          </a:xfrm>
          <a:prstGeom prst="roundRect">
            <a:avLst>
              <a:gd name="adj" fmla="val 241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20" name="Text 18"/>
          <p:cNvSpPr/>
          <p:nvPr/>
        </p:nvSpPr>
        <p:spPr>
          <a:xfrm>
            <a:off x="8394192" y="1874520"/>
            <a:ext cx="2889504" cy="274320"/>
          </a:xfrm>
          <a:prstGeom prst="rect">
            <a:avLst/>
          </a:prstGeom>
          <a:noFill/>
          <a:ln/>
        </p:spPr>
        <p:txBody>
          <a:bodyPr wrap="square" lIns="0" tIns="0" rIns="0" bIns="0" rtlCol="0" anchor="ctr"/>
          <a:lstStyle/>
          <a:p>
            <a:pPr marL="0" indent="0">
              <a:buNone/>
            </a:pPr>
            <a:r>
              <a:rPr lang="en-US" sz="1100" b="1" kern="0" spc="120" dirty="0">
                <a:solidFill>
                  <a:srgbClr val="0E8A8F"/>
                </a:solidFill>
                <a:latin typeface="Calibri" pitchFamily="34" charset="0"/>
                <a:ea typeface="Calibri" pitchFamily="34" charset="-122"/>
                <a:cs typeface="Calibri" pitchFamily="34" charset="-120"/>
              </a:rPr>
              <a:t>Framing</a:t>
            </a:r>
            <a:endParaRPr lang="en-US" sz="1100" dirty="0"/>
          </a:p>
        </p:txBody>
      </p:sp>
      <p:sp>
        <p:nvSpPr>
          <p:cNvPr id="21" name="Text 19"/>
          <p:cNvSpPr/>
          <p:nvPr/>
        </p:nvSpPr>
        <p:spPr>
          <a:xfrm>
            <a:off x="8394192" y="2176272"/>
            <a:ext cx="2889504" cy="38404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Many-to-many</a:t>
            </a:r>
            <a:endParaRPr lang="en-US" sz="2100" dirty="0"/>
          </a:p>
        </p:txBody>
      </p:sp>
      <p:sp>
        <p:nvSpPr>
          <p:cNvPr id="22" name="Text 20"/>
          <p:cNvSpPr/>
          <p:nvPr/>
        </p:nvSpPr>
        <p:spPr>
          <a:xfrm>
            <a:off x="8394192" y="2670048"/>
            <a:ext cx="2889504" cy="1234440"/>
          </a:xfrm>
          <a:prstGeom prst="rect">
            <a:avLst/>
          </a:prstGeom>
          <a:noFill/>
          <a:ln/>
        </p:spPr>
        <p:txBody>
          <a:bodyPr wrap="square" lIns="0" tIns="0" rIns="0" bIns="0" rtlCol="0" anchor="t"/>
          <a:lstStyle/>
          <a:p>
            <a:pPr marL="0" indent="0">
              <a:buNone/>
            </a:pPr>
            <a:r>
              <a:rPr lang="en-US" sz="1250" dirty="0">
                <a:solidFill>
                  <a:srgbClr val="C9D9E8"/>
                </a:solidFill>
                <a:latin typeface="Calibri" pitchFamily="34" charset="0"/>
                <a:ea typeface="Calibri" pitchFamily="34" charset="-122"/>
                <a:cs typeface="Calibri" pitchFamily="34" charset="-120"/>
              </a:rPr>
              <a:t>One frame: 257 frequency bucket magnitudes. 257 gain values out.</a:t>
            </a:r>
            <a:endParaRPr lang="en-US" sz="1250" dirty="0"/>
          </a:p>
        </p:txBody>
      </p:sp>
      <p:sp>
        <p:nvSpPr>
          <p:cNvPr id="23" name="Shape 21"/>
          <p:cNvSpPr/>
          <p:nvPr/>
        </p:nvSpPr>
        <p:spPr>
          <a:xfrm>
            <a:off x="8394192" y="4055468"/>
            <a:ext cx="65671" cy="516532"/>
          </a:xfrm>
          <a:prstGeom prst="roundRect">
            <a:avLst>
              <a:gd name="adj" fmla="val 27848"/>
            </a:avLst>
          </a:prstGeom>
          <a:solidFill>
            <a:srgbClr val="E08A3C">
              <a:alpha val="80000"/>
            </a:srgbClr>
          </a:solidFill>
          <a:ln/>
        </p:spPr>
        <p:txBody>
          <a:bodyPr/>
          <a:lstStyle/>
          <a:p>
            <a:endParaRPr lang="en-US"/>
          </a:p>
        </p:txBody>
      </p:sp>
      <p:sp>
        <p:nvSpPr>
          <p:cNvPr id="24" name="Shape 22"/>
          <p:cNvSpPr/>
          <p:nvPr/>
        </p:nvSpPr>
        <p:spPr>
          <a:xfrm>
            <a:off x="8525533" y="4183288"/>
            <a:ext cx="65671" cy="388712"/>
          </a:xfrm>
          <a:prstGeom prst="roundRect">
            <a:avLst>
              <a:gd name="adj" fmla="val 27848"/>
            </a:avLst>
          </a:prstGeom>
          <a:solidFill>
            <a:srgbClr val="E08A3C">
              <a:alpha val="80000"/>
            </a:srgbClr>
          </a:solidFill>
          <a:ln/>
        </p:spPr>
        <p:txBody>
          <a:bodyPr/>
          <a:lstStyle/>
          <a:p>
            <a:endParaRPr lang="en-US"/>
          </a:p>
        </p:txBody>
      </p:sp>
      <p:sp>
        <p:nvSpPr>
          <p:cNvPr id="25" name="Shape 23"/>
          <p:cNvSpPr/>
          <p:nvPr/>
        </p:nvSpPr>
        <p:spPr>
          <a:xfrm>
            <a:off x="8656874" y="4408106"/>
            <a:ext cx="65671" cy="163894"/>
          </a:xfrm>
          <a:prstGeom prst="roundRect">
            <a:avLst>
              <a:gd name="adj" fmla="val 27848"/>
            </a:avLst>
          </a:prstGeom>
          <a:solidFill>
            <a:srgbClr val="E08A3C">
              <a:alpha val="80000"/>
            </a:srgbClr>
          </a:solidFill>
          <a:ln/>
        </p:spPr>
        <p:txBody>
          <a:bodyPr/>
          <a:lstStyle/>
          <a:p>
            <a:endParaRPr lang="en-US"/>
          </a:p>
        </p:txBody>
      </p:sp>
      <p:sp>
        <p:nvSpPr>
          <p:cNvPr id="26" name="Shape 24"/>
          <p:cNvSpPr/>
          <p:nvPr/>
        </p:nvSpPr>
        <p:spPr>
          <a:xfrm>
            <a:off x="8788215" y="4375692"/>
            <a:ext cx="65671" cy="196308"/>
          </a:xfrm>
          <a:prstGeom prst="roundRect">
            <a:avLst>
              <a:gd name="adj" fmla="val 27848"/>
            </a:avLst>
          </a:prstGeom>
          <a:solidFill>
            <a:srgbClr val="E08A3C">
              <a:alpha val="80000"/>
            </a:srgbClr>
          </a:solidFill>
          <a:ln/>
        </p:spPr>
        <p:txBody>
          <a:bodyPr/>
          <a:lstStyle/>
          <a:p>
            <a:endParaRPr lang="en-US"/>
          </a:p>
        </p:txBody>
      </p:sp>
      <p:sp>
        <p:nvSpPr>
          <p:cNvPr id="27" name="Shape 25"/>
          <p:cNvSpPr/>
          <p:nvPr/>
        </p:nvSpPr>
        <p:spPr>
          <a:xfrm>
            <a:off x="8919556" y="4304305"/>
            <a:ext cx="65671" cy="267695"/>
          </a:xfrm>
          <a:prstGeom prst="roundRect">
            <a:avLst>
              <a:gd name="adj" fmla="val 27848"/>
            </a:avLst>
          </a:prstGeom>
          <a:solidFill>
            <a:srgbClr val="E08A3C">
              <a:alpha val="80000"/>
            </a:srgbClr>
          </a:solidFill>
          <a:ln/>
        </p:spPr>
        <p:txBody>
          <a:bodyPr/>
          <a:lstStyle/>
          <a:p>
            <a:endParaRPr lang="en-US"/>
          </a:p>
        </p:txBody>
      </p:sp>
      <p:sp>
        <p:nvSpPr>
          <p:cNvPr id="28" name="Shape 26"/>
          <p:cNvSpPr/>
          <p:nvPr/>
        </p:nvSpPr>
        <p:spPr>
          <a:xfrm>
            <a:off x="9050897" y="3989167"/>
            <a:ext cx="65671" cy="582833"/>
          </a:xfrm>
          <a:prstGeom prst="roundRect">
            <a:avLst>
              <a:gd name="adj" fmla="val 27848"/>
            </a:avLst>
          </a:prstGeom>
          <a:solidFill>
            <a:srgbClr val="E08A3C">
              <a:alpha val="80000"/>
            </a:srgbClr>
          </a:solidFill>
          <a:ln/>
        </p:spPr>
        <p:txBody>
          <a:bodyPr/>
          <a:lstStyle/>
          <a:p>
            <a:endParaRPr lang="en-US"/>
          </a:p>
        </p:txBody>
      </p:sp>
      <p:sp>
        <p:nvSpPr>
          <p:cNvPr id="29" name="Shape 27"/>
          <p:cNvSpPr/>
          <p:nvPr/>
        </p:nvSpPr>
        <p:spPr>
          <a:xfrm>
            <a:off x="9182239" y="4232616"/>
            <a:ext cx="65671" cy="339384"/>
          </a:xfrm>
          <a:prstGeom prst="roundRect">
            <a:avLst>
              <a:gd name="adj" fmla="val 27848"/>
            </a:avLst>
          </a:prstGeom>
          <a:solidFill>
            <a:srgbClr val="E08A3C">
              <a:alpha val="80000"/>
            </a:srgbClr>
          </a:solidFill>
          <a:ln/>
        </p:spPr>
        <p:txBody>
          <a:bodyPr/>
          <a:lstStyle/>
          <a:p>
            <a:endParaRPr lang="en-US"/>
          </a:p>
        </p:txBody>
      </p:sp>
      <p:sp>
        <p:nvSpPr>
          <p:cNvPr id="30" name="Shape 28"/>
          <p:cNvSpPr/>
          <p:nvPr/>
        </p:nvSpPr>
        <p:spPr>
          <a:xfrm>
            <a:off x="9313580" y="4422008"/>
            <a:ext cx="65671" cy="149992"/>
          </a:xfrm>
          <a:prstGeom prst="roundRect">
            <a:avLst>
              <a:gd name="adj" fmla="val 27848"/>
            </a:avLst>
          </a:prstGeom>
          <a:solidFill>
            <a:srgbClr val="E08A3C">
              <a:alpha val="80000"/>
            </a:srgbClr>
          </a:solidFill>
          <a:ln/>
        </p:spPr>
        <p:txBody>
          <a:bodyPr/>
          <a:lstStyle/>
          <a:p>
            <a:endParaRPr lang="en-US"/>
          </a:p>
        </p:txBody>
      </p:sp>
      <p:sp>
        <p:nvSpPr>
          <p:cNvPr id="31" name="Shape 29"/>
          <p:cNvSpPr/>
          <p:nvPr/>
        </p:nvSpPr>
        <p:spPr>
          <a:xfrm>
            <a:off x="9444921" y="4200602"/>
            <a:ext cx="65671" cy="371398"/>
          </a:xfrm>
          <a:prstGeom prst="roundRect">
            <a:avLst>
              <a:gd name="adj" fmla="val 27848"/>
            </a:avLst>
          </a:prstGeom>
          <a:solidFill>
            <a:srgbClr val="E08A3C">
              <a:alpha val="80000"/>
            </a:srgbClr>
          </a:solidFill>
          <a:ln/>
        </p:spPr>
        <p:txBody>
          <a:bodyPr/>
          <a:lstStyle/>
          <a:p>
            <a:endParaRPr lang="en-US"/>
          </a:p>
        </p:txBody>
      </p:sp>
      <p:sp>
        <p:nvSpPr>
          <p:cNvPr id="32" name="Shape 30"/>
          <p:cNvSpPr/>
          <p:nvPr/>
        </p:nvSpPr>
        <p:spPr>
          <a:xfrm>
            <a:off x="9576262" y="4166068"/>
            <a:ext cx="65671" cy="405932"/>
          </a:xfrm>
          <a:prstGeom prst="roundRect">
            <a:avLst>
              <a:gd name="adj" fmla="val 27848"/>
            </a:avLst>
          </a:prstGeom>
          <a:solidFill>
            <a:srgbClr val="E08A3C">
              <a:alpha val="80000"/>
            </a:srgbClr>
          </a:solidFill>
          <a:ln/>
        </p:spPr>
        <p:txBody>
          <a:bodyPr/>
          <a:lstStyle/>
          <a:p>
            <a:endParaRPr lang="en-US"/>
          </a:p>
        </p:txBody>
      </p:sp>
      <p:sp>
        <p:nvSpPr>
          <p:cNvPr id="33" name="Shape 31"/>
          <p:cNvSpPr/>
          <p:nvPr/>
        </p:nvSpPr>
        <p:spPr>
          <a:xfrm>
            <a:off x="9707603" y="4094824"/>
            <a:ext cx="65671" cy="477176"/>
          </a:xfrm>
          <a:prstGeom prst="roundRect">
            <a:avLst>
              <a:gd name="adj" fmla="val 27848"/>
            </a:avLst>
          </a:prstGeom>
          <a:solidFill>
            <a:srgbClr val="E08A3C">
              <a:alpha val="80000"/>
            </a:srgbClr>
          </a:solidFill>
          <a:ln/>
        </p:spPr>
        <p:txBody>
          <a:bodyPr/>
          <a:lstStyle/>
          <a:p>
            <a:endParaRPr lang="en-US"/>
          </a:p>
        </p:txBody>
      </p:sp>
      <p:sp>
        <p:nvSpPr>
          <p:cNvPr id="34" name="Shape 32"/>
          <p:cNvSpPr/>
          <p:nvPr/>
        </p:nvSpPr>
        <p:spPr>
          <a:xfrm>
            <a:off x="9838944" y="4142045"/>
            <a:ext cx="65671" cy="429955"/>
          </a:xfrm>
          <a:prstGeom prst="roundRect">
            <a:avLst>
              <a:gd name="adj" fmla="val 27848"/>
            </a:avLst>
          </a:prstGeom>
          <a:solidFill>
            <a:srgbClr val="E08A3C">
              <a:alpha val="80000"/>
            </a:srgbClr>
          </a:solidFill>
          <a:ln/>
        </p:spPr>
        <p:txBody>
          <a:bodyPr/>
          <a:lstStyle/>
          <a:p>
            <a:endParaRPr lang="en-US"/>
          </a:p>
        </p:txBody>
      </p:sp>
      <p:sp>
        <p:nvSpPr>
          <p:cNvPr id="35" name="Shape 33"/>
          <p:cNvSpPr/>
          <p:nvPr/>
        </p:nvSpPr>
        <p:spPr>
          <a:xfrm>
            <a:off x="9970285" y="4414499"/>
            <a:ext cx="65671" cy="157501"/>
          </a:xfrm>
          <a:prstGeom prst="roundRect">
            <a:avLst>
              <a:gd name="adj" fmla="val 27848"/>
            </a:avLst>
          </a:prstGeom>
          <a:solidFill>
            <a:srgbClr val="E08A3C">
              <a:alpha val="80000"/>
            </a:srgbClr>
          </a:solidFill>
          <a:ln/>
        </p:spPr>
        <p:txBody>
          <a:bodyPr/>
          <a:lstStyle/>
          <a:p>
            <a:endParaRPr lang="en-US"/>
          </a:p>
        </p:txBody>
      </p:sp>
      <p:sp>
        <p:nvSpPr>
          <p:cNvPr id="36" name="Shape 34"/>
          <p:cNvSpPr/>
          <p:nvPr/>
        </p:nvSpPr>
        <p:spPr>
          <a:xfrm>
            <a:off x="10101626" y="4235929"/>
            <a:ext cx="65671" cy="336071"/>
          </a:xfrm>
          <a:prstGeom prst="roundRect">
            <a:avLst>
              <a:gd name="adj" fmla="val 27848"/>
            </a:avLst>
          </a:prstGeom>
          <a:solidFill>
            <a:srgbClr val="E08A3C">
              <a:alpha val="80000"/>
            </a:srgbClr>
          </a:solidFill>
          <a:ln/>
        </p:spPr>
        <p:txBody>
          <a:bodyPr/>
          <a:lstStyle/>
          <a:p>
            <a:endParaRPr lang="en-US"/>
          </a:p>
        </p:txBody>
      </p:sp>
      <p:sp>
        <p:nvSpPr>
          <p:cNvPr id="37" name="Shape 35"/>
          <p:cNvSpPr/>
          <p:nvPr/>
        </p:nvSpPr>
        <p:spPr>
          <a:xfrm>
            <a:off x="10232967" y="4266884"/>
            <a:ext cx="65671" cy="305116"/>
          </a:xfrm>
          <a:prstGeom prst="roundRect">
            <a:avLst>
              <a:gd name="adj" fmla="val 27848"/>
            </a:avLst>
          </a:prstGeom>
          <a:solidFill>
            <a:srgbClr val="E08A3C">
              <a:alpha val="80000"/>
            </a:srgbClr>
          </a:solidFill>
          <a:ln/>
        </p:spPr>
        <p:txBody>
          <a:bodyPr/>
          <a:lstStyle/>
          <a:p>
            <a:endParaRPr lang="en-US"/>
          </a:p>
        </p:txBody>
      </p:sp>
      <p:sp>
        <p:nvSpPr>
          <p:cNvPr id="38" name="Shape 36"/>
          <p:cNvSpPr/>
          <p:nvPr/>
        </p:nvSpPr>
        <p:spPr>
          <a:xfrm>
            <a:off x="10364308" y="4315183"/>
            <a:ext cx="65671" cy="256817"/>
          </a:xfrm>
          <a:prstGeom prst="roundRect">
            <a:avLst>
              <a:gd name="adj" fmla="val 27848"/>
            </a:avLst>
          </a:prstGeom>
          <a:solidFill>
            <a:srgbClr val="E08A3C">
              <a:alpha val="80000"/>
            </a:srgbClr>
          </a:solidFill>
          <a:ln/>
        </p:spPr>
        <p:txBody>
          <a:bodyPr/>
          <a:lstStyle/>
          <a:p>
            <a:endParaRPr lang="en-US"/>
          </a:p>
        </p:txBody>
      </p:sp>
      <p:sp>
        <p:nvSpPr>
          <p:cNvPr id="39" name="Shape 37"/>
          <p:cNvSpPr/>
          <p:nvPr/>
        </p:nvSpPr>
        <p:spPr>
          <a:xfrm>
            <a:off x="10495649" y="4215614"/>
            <a:ext cx="65671" cy="356386"/>
          </a:xfrm>
          <a:prstGeom prst="roundRect">
            <a:avLst>
              <a:gd name="adj" fmla="val 27848"/>
            </a:avLst>
          </a:prstGeom>
          <a:solidFill>
            <a:srgbClr val="E08A3C">
              <a:alpha val="80000"/>
            </a:srgbClr>
          </a:solidFill>
          <a:ln/>
        </p:spPr>
        <p:txBody>
          <a:bodyPr/>
          <a:lstStyle/>
          <a:p>
            <a:endParaRPr lang="en-US"/>
          </a:p>
        </p:txBody>
      </p:sp>
      <p:sp>
        <p:nvSpPr>
          <p:cNvPr id="40" name="Shape 38"/>
          <p:cNvSpPr/>
          <p:nvPr/>
        </p:nvSpPr>
        <p:spPr>
          <a:xfrm>
            <a:off x="10626991" y="4275319"/>
            <a:ext cx="65671" cy="296681"/>
          </a:xfrm>
          <a:prstGeom prst="roundRect">
            <a:avLst>
              <a:gd name="adj" fmla="val 27848"/>
            </a:avLst>
          </a:prstGeom>
          <a:solidFill>
            <a:srgbClr val="E08A3C">
              <a:alpha val="80000"/>
            </a:srgbClr>
          </a:solidFill>
          <a:ln/>
        </p:spPr>
        <p:txBody>
          <a:bodyPr/>
          <a:lstStyle/>
          <a:p>
            <a:endParaRPr lang="en-US"/>
          </a:p>
        </p:txBody>
      </p:sp>
      <p:sp>
        <p:nvSpPr>
          <p:cNvPr id="41" name="Shape 39"/>
          <p:cNvSpPr/>
          <p:nvPr/>
        </p:nvSpPr>
        <p:spPr>
          <a:xfrm>
            <a:off x="10758332" y="4023810"/>
            <a:ext cx="65671" cy="548190"/>
          </a:xfrm>
          <a:prstGeom prst="roundRect">
            <a:avLst>
              <a:gd name="adj" fmla="val 27848"/>
            </a:avLst>
          </a:prstGeom>
          <a:solidFill>
            <a:srgbClr val="E08A3C">
              <a:alpha val="80000"/>
            </a:srgbClr>
          </a:solidFill>
          <a:ln/>
        </p:spPr>
        <p:txBody>
          <a:bodyPr/>
          <a:lstStyle/>
          <a:p>
            <a:endParaRPr lang="en-US"/>
          </a:p>
        </p:txBody>
      </p:sp>
      <p:sp>
        <p:nvSpPr>
          <p:cNvPr id="42" name="Shape 40"/>
          <p:cNvSpPr/>
          <p:nvPr/>
        </p:nvSpPr>
        <p:spPr>
          <a:xfrm>
            <a:off x="10889673" y="4059773"/>
            <a:ext cx="65671" cy="512227"/>
          </a:xfrm>
          <a:prstGeom prst="roundRect">
            <a:avLst>
              <a:gd name="adj" fmla="val 27848"/>
            </a:avLst>
          </a:prstGeom>
          <a:solidFill>
            <a:srgbClr val="E08A3C">
              <a:alpha val="80000"/>
            </a:srgbClr>
          </a:solidFill>
          <a:ln/>
        </p:spPr>
        <p:txBody>
          <a:bodyPr/>
          <a:lstStyle/>
          <a:p>
            <a:endParaRPr lang="en-US"/>
          </a:p>
        </p:txBody>
      </p:sp>
      <p:sp>
        <p:nvSpPr>
          <p:cNvPr id="43" name="Shape 41"/>
          <p:cNvSpPr/>
          <p:nvPr/>
        </p:nvSpPr>
        <p:spPr>
          <a:xfrm>
            <a:off x="11021014" y="4232459"/>
            <a:ext cx="65671" cy="339541"/>
          </a:xfrm>
          <a:prstGeom prst="roundRect">
            <a:avLst>
              <a:gd name="adj" fmla="val 27848"/>
            </a:avLst>
          </a:prstGeom>
          <a:solidFill>
            <a:srgbClr val="E08A3C">
              <a:alpha val="80000"/>
            </a:srgbClr>
          </a:solidFill>
          <a:ln/>
        </p:spPr>
        <p:txBody>
          <a:bodyPr/>
          <a:lstStyle/>
          <a:p>
            <a:endParaRPr lang="en-US"/>
          </a:p>
        </p:txBody>
      </p:sp>
      <p:sp>
        <p:nvSpPr>
          <p:cNvPr id="44" name="Shape 42"/>
          <p:cNvSpPr/>
          <p:nvPr/>
        </p:nvSpPr>
        <p:spPr>
          <a:xfrm>
            <a:off x="11152355" y="3997475"/>
            <a:ext cx="65671" cy="574525"/>
          </a:xfrm>
          <a:prstGeom prst="roundRect">
            <a:avLst>
              <a:gd name="adj" fmla="val 27848"/>
            </a:avLst>
          </a:prstGeom>
          <a:solidFill>
            <a:srgbClr val="E08A3C">
              <a:alpha val="80000"/>
            </a:srgbClr>
          </a:solidFill>
          <a:ln/>
        </p:spPr>
        <p:txBody>
          <a:bodyPr/>
          <a:lstStyle/>
          <a:p>
            <a:endParaRPr lang="en-US"/>
          </a:p>
        </p:txBody>
      </p:sp>
      <p:sp>
        <p:nvSpPr>
          <p:cNvPr id="45" name="Shape 43"/>
          <p:cNvSpPr/>
          <p:nvPr/>
        </p:nvSpPr>
        <p:spPr>
          <a:xfrm>
            <a:off x="9646920" y="4663440"/>
            <a:ext cx="365760" cy="292608"/>
          </a:xfrm>
          <a:prstGeom prst="downArrow">
            <a:avLst/>
          </a:prstGeom>
          <a:solidFill>
            <a:srgbClr val="0E8A8F"/>
          </a:solidFill>
          <a:ln/>
        </p:spPr>
        <p:txBody>
          <a:bodyPr/>
          <a:lstStyle/>
          <a:p>
            <a:endParaRPr lang="en-US"/>
          </a:p>
        </p:txBody>
      </p:sp>
      <p:sp>
        <p:nvSpPr>
          <p:cNvPr id="46" name="Shape 44"/>
          <p:cNvSpPr/>
          <p:nvPr/>
        </p:nvSpPr>
        <p:spPr>
          <a:xfrm>
            <a:off x="8394192" y="5449824"/>
            <a:ext cx="65671" cy="36576"/>
          </a:xfrm>
          <a:prstGeom prst="roundRect">
            <a:avLst>
              <a:gd name="adj" fmla="val 50000"/>
            </a:avLst>
          </a:prstGeom>
          <a:solidFill>
            <a:srgbClr val="0E8A8F"/>
          </a:solidFill>
          <a:ln/>
        </p:spPr>
        <p:txBody>
          <a:bodyPr/>
          <a:lstStyle/>
          <a:p>
            <a:endParaRPr lang="en-US"/>
          </a:p>
        </p:txBody>
      </p:sp>
      <p:sp>
        <p:nvSpPr>
          <p:cNvPr id="47" name="Shape 45"/>
          <p:cNvSpPr/>
          <p:nvPr/>
        </p:nvSpPr>
        <p:spPr>
          <a:xfrm>
            <a:off x="8525533" y="5381444"/>
            <a:ext cx="65671" cy="104956"/>
          </a:xfrm>
          <a:prstGeom prst="roundRect">
            <a:avLst>
              <a:gd name="adj" fmla="val 27848"/>
            </a:avLst>
          </a:prstGeom>
          <a:solidFill>
            <a:srgbClr val="0E8A8F"/>
          </a:solidFill>
          <a:ln/>
        </p:spPr>
        <p:txBody>
          <a:bodyPr/>
          <a:lstStyle/>
          <a:p>
            <a:endParaRPr lang="en-US"/>
          </a:p>
        </p:txBody>
      </p:sp>
      <p:sp>
        <p:nvSpPr>
          <p:cNvPr id="48" name="Shape 46"/>
          <p:cNvSpPr/>
          <p:nvPr/>
        </p:nvSpPr>
        <p:spPr>
          <a:xfrm>
            <a:off x="8656874" y="5422009"/>
            <a:ext cx="65671" cy="64391"/>
          </a:xfrm>
          <a:prstGeom prst="roundRect">
            <a:avLst>
              <a:gd name="adj" fmla="val 28401"/>
            </a:avLst>
          </a:prstGeom>
          <a:solidFill>
            <a:srgbClr val="0E8A8F"/>
          </a:solidFill>
          <a:ln/>
        </p:spPr>
        <p:txBody>
          <a:bodyPr/>
          <a:lstStyle/>
          <a:p>
            <a:endParaRPr lang="en-US"/>
          </a:p>
        </p:txBody>
      </p:sp>
      <p:sp>
        <p:nvSpPr>
          <p:cNvPr id="49" name="Shape 47"/>
          <p:cNvSpPr/>
          <p:nvPr/>
        </p:nvSpPr>
        <p:spPr>
          <a:xfrm>
            <a:off x="8788215" y="5391000"/>
            <a:ext cx="65671" cy="95400"/>
          </a:xfrm>
          <a:prstGeom prst="roundRect">
            <a:avLst>
              <a:gd name="adj" fmla="val 27848"/>
            </a:avLst>
          </a:prstGeom>
          <a:solidFill>
            <a:srgbClr val="0E8A8F"/>
          </a:solidFill>
          <a:ln/>
        </p:spPr>
        <p:txBody>
          <a:bodyPr/>
          <a:lstStyle/>
          <a:p>
            <a:endParaRPr lang="en-US"/>
          </a:p>
        </p:txBody>
      </p:sp>
      <p:sp>
        <p:nvSpPr>
          <p:cNvPr id="50" name="Shape 48"/>
          <p:cNvSpPr/>
          <p:nvPr/>
        </p:nvSpPr>
        <p:spPr>
          <a:xfrm>
            <a:off x="8919556" y="5336220"/>
            <a:ext cx="65671" cy="150180"/>
          </a:xfrm>
          <a:prstGeom prst="roundRect">
            <a:avLst>
              <a:gd name="adj" fmla="val 27848"/>
            </a:avLst>
          </a:prstGeom>
          <a:solidFill>
            <a:srgbClr val="0E8A8F"/>
          </a:solidFill>
          <a:ln/>
        </p:spPr>
        <p:txBody>
          <a:bodyPr/>
          <a:lstStyle/>
          <a:p>
            <a:endParaRPr lang="en-US"/>
          </a:p>
        </p:txBody>
      </p:sp>
      <p:sp>
        <p:nvSpPr>
          <p:cNvPr id="51" name="Shape 49"/>
          <p:cNvSpPr/>
          <p:nvPr/>
        </p:nvSpPr>
        <p:spPr>
          <a:xfrm>
            <a:off x="9050897" y="5123705"/>
            <a:ext cx="65671" cy="362695"/>
          </a:xfrm>
          <a:prstGeom prst="roundRect">
            <a:avLst>
              <a:gd name="adj" fmla="val 27848"/>
            </a:avLst>
          </a:prstGeom>
          <a:solidFill>
            <a:srgbClr val="0E8A8F"/>
          </a:solidFill>
          <a:ln/>
        </p:spPr>
        <p:txBody>
          <a:bodyPr/>
          <a:lstStyle/>
          <a:p>
            <a:endParaRPr lang="en-US"/>
          </a:p>
        </p:txBody>
      </p:sp>
      <p:sp>
        <p:nvSpPr>
          <p:cNvPr id="52" name="Shape 50"/>
          <p:cNvSpPr/>
          <p:nvPr/>
        </p:nvSpPr>
        <p:spPr>
          <a:xfrm>
            <a:off x="9182239" y="5258387"/>
            <a:ext cx="65671" cy="228013"/>
          </a:xfrm>
          <a:prstGeom prst="roundRect">
            <a:avLst>
              <a:gd name="adj" fmla="val 27848"/>
            </a:avLst>
          </a:prstGeom>
          <a:solidFill>
            <a:srgbClr val="0E8A8F"/>
          </a:solidFill>
          <a:ln/>
        </p:spPr>
        <p:txBody>
          <a:bodyPr/>
          <a:lstStyle/>
          <a:p>
            <a:endParaRPr lang="en-US"/>
          </a:p>
        </p:txBody>
      </p:sp>
      <p:sp>
        <p:nvSpPr>
          <p:cNvPr id="53" name="Shape 51"/>
          <p:cNvSpPr/>
          <p:nvPr/>
        </p:nvSpPr>
        <p:spPr>
          <a:xfrm>
            <a:off x="9313580" y="5379798"/>
            <a:ext cx="65671" cy="106602"/>
          </a:xfrm>
          <a:prstGeom prst="roundRect">
            <a:avLst>
              <a:gd name="adj" fmla="val 27848"/>
            </a:avLst>
          </a:prstGeom>
          <a:solidFill>
            <a:srgbClr val="0E8A8F"/>
          </a:solidFill>
          <a:ln/>
        </p:spPr>
        <p:txBody>
          <a:bodyPr/>
          <a:lstStyle/>
          <a:p>
            <a:endParaRPr lang="en-US"/>
          </a:p>
        </p:txBody>
      </p:sp>
      <p:sp>
        <p:nvSpPr>
          <p:cNvPr id="54" name="Shape 52"/>
          <p:cNvSpPr/>
          <p:nvPr/>
        </p:nvSpPr>
        <p:spPr>
          <a:xfrm>
            <a:off x="9444921" y="5211746"/>
            <a:ext cx="65671" cy="274654"/>
          </a:xfrm>
          <a:prstGeom prst="roundRect">
            <a:avLst>
              <a:gd name="adj" fmla="val 27848"/>
            </a:avLst>
          </a:prstGeom>
          <a:solidFill>
            <a:srgbClr val="0E8A8F"/>
          </a:solidFill>
          <a:ln/>
        </p:spPr>
        <p:txBody>
          <a:bodyPr/>
          <a:lstStyle/>
          <a:p>
            <a:endParaRPr lang="en-US"/>
          </a:p>
        </p:txBody>
      </p:sp>
      <p:sp>
        <p:nvSpPr>
          <p:cNvPr id="55" name="Shape 53"/>
          <p:cNvSpPr/>
          <p:nvPr/>
        </p:nvSpPr>
        <p:spPr>
          <a:xfrm>
            <a:off x="9576262" y="5178475"/>
            <a:ext cx="65671" cy="307925"/>
          </a:xfrm>
          <a:prstGeom prst="roundRect">
            <a:avLst>
              <a:gd name="adj" fmla="val 27848"/>
            </a:avLst>
          </a:prstGeom>
          <a:solidFill>
            <a:srgbClr val="0E8A8F"/>
          </a:solidFill>
          <a:ln/>
        </p:spPr>
        <p:txBody>
          <a:bodyPr/>
          <a:lstStyle/>
          <a:p>
            <a:endParaRPr lang="en-US"/>
          </a:p>
        </p:txBody>
      </p:sp>
      <p:sp>
        <p:nvSpPr>
          <p:cNvPr id="56" name="Shape 54"/>
          <p:cNvSpPr/>
          <p:nvPr/>
        </p:nvSpPr>
        <p:spPr>
          <a:xfrm>
            <a:off x="9707603" y="5119907"/>
            <a:ext cx="65671" cy="366493"/>
          </a:xfrm>
          <a:prstGeom prst="roundRect">
            <a:avLst>
              <a:gd name="adj" fmla="val 27848"/>
            </a:avLst>
          </a:prstGeom>
          <a:solidFill>
            <a:srgbClr val="0E8A8F"/>
          </a:solidFill>
          <a:ln/>
        </p:spPr>
        <p:txBody>
          <a:bodyPr/>
          <a:lstStyle/>
          <a:p>
            <a:endParaRPr lang="en-US"/>
          </a:p>
        </p:txBody>
      </p:sp>
      <p:sp>
        <p:nvSpPr>
          <p:cNvPr id="57" name="Shape 55"/>
          <p:cNvSpPr/>
          <p:nvPr/>
        </p:nvSpPr>
        <p:spPr>
          <a:xfrm>
            <a:off x="9838944" y="5156175"/>
            <a:ext cx="65671" cy="330225"/>
          </a:xfrm>
          <a:prstGeom prst="roundRect">
            <a:avLst>
              <a:gd name="adj" fmla="val 27848"/>
            </a:avLst>
          </a:prstGeom>
          <a:solidFill>
            <a:srgbClr val="0E8A8F"/>
          </a:solidFill>
          <a:ln/>
        </p:spPr>
        <p:txBody>
          <a:bodyPr/>
          <a:lstStyle/>
          <a:p>
            <a:endParaRPr lang="en-US"/>
          </a:p>
        </p:txBody>
      </p:sp>
      <p:sp>
        <p:nvSpPr>
          <p:cNvPr id="58" name="Shape 56"/>
          <p:cNvSpPr/>
          <p:nvPr/>
        </p:nvSpPr>
        <p:spPr>
          <a:xfrm>
            <a:off x="9970285" y="5366925"/>
            <a:ext cx="65671" cy="119475"/>
          </a:xfrm>
          <a:prstGeom prst="roundRect">
            <a:avLst>
              <a:gd name="adj" fmla="val 27848"/>
            </a:avLst>
          </a:prstGeom>
          <a:solidFill>
            <a:srgbClr val="0E8A8F"/>
          </a:solidFill>
          <a:ln/>
        </p:spPr>
        <p:txBody>
          <a:bodyPr/>
          <a:lstStyle/>
          <a:p>
            <a:endParaRPr lang="en-US"/>
          </a:p>
        </p:txBody>
      </p:sp>
      <p:sp>
        <p:nvSpPr>
          <p:cNvPr id="59" name="Shape 57"/>
          <p:cNvSpPr/>
          <p:nvPr/>
        </p:nvSpPr>
        <p:spPr>
          <a:xfrm>
            <a:off x="10101626" y="5237871"/>
            <a:ext cx="65671" cy="248529"/>
          </a:xfrm>
          <a:prstGeom prst="roundRect">
            <a:avLst>
              <a:gd name="adj" fmla="val 27848"/>
            </a:avLst>
          </a:prstGeom>
          <a:solidFill>
            <a:srgbClr val="0E8A8F"/>
          </a:solidFill>
          <a:ln/>
        </p:spPr>
        <p:txBody>
          <a:bodyPr/>
          <a:lstStyle/>
          <a:p>
            <a:endParaRPr lang="en-US"/>
          </a:p>
        </p:txBody>
      </p:sp>
      <p:sp>
        <p:nvSpPr>
          <p:cNvPr id="60" name="Shape 58"/>
          <p:cNvSpPr/>
          <p:nvPr/>
        </p:nvSpPr>
        <p:spPr>
          <a:xfrm>
            <a:off x="10232967" y="5269548"/>
            <a:ext cx="65671" cy="216852"/>
          </a:xfrm>
          <a:prstGeom prst="roundRect">
            <a:avLst>
              <a:gd name="adj" fmla="val 27848"/>
            </a:avLst>
          </a:prstGeom>
          <a:solidFill>
            <a:srgbClr val="0E8A8F"/>
          </a:solidFill>
          <a:ln/>
        </p:spPr>
        <p:txBody>
          <a:bodyPr/>
          <a:lstStyle/>
          <a:p>
            <a:endParaRPr lang="en-US"/>
          </a:p>
        </p:txBody>
      </p:sp>
      <p:sp>
        <p:nvSpPr>
          <p:cNvPr id="61" name="Shape 59"/>
          <p:cNvSpPr/>
          <p:nvPr/>
        </p:nvSpPr>
        <p:spPr>
          <a:xfrm>
            <a:off x="10364308" y="5313859"/>
            <a:ext cx="65671" cy="172541"/>
          </a:xfrm>
          <a:prstGeom prst="roundRect">
            <a:avLst>
              <a:gd name="adj" fmla="val 27848"/>
            </a:avLst>
          </a:prstGeom>
          <a:solidFill>
            <a:srgbClr val="0E8A8F"/>
          </a:solidFill>
          <a:ln/>
        </p:spPr>
        <p:txBody>
          <a:bodyPr/>
          <a:lstStyle/>
          <a:p>
            <a:endParaRPr lang="en-US"/>
          </a:p>
        </p:txBody>
      </p:sp>
      <p:sp>
        <p:nvSpPr>
          <p:cNvPr id="62" name="Shape 60"/>
          <p:cNvSpPr/>
          <p:nvPr/>
        </p:nvSpPr>
        <p:spPr>
          <a:xfrm>
            <a:off x="10495649" y="5264622"/>
            <a:ext cx="65671" cy="221778"/>
          </a:xfrm>
          <a:prstGeom prst="roundRect">
            <a:avLst>
              <a:gd name="adj" fmla="val 27848"/>
            </a:avLst>
          </a:prstGeom>
          <a:solidFill>
            <a:srgbClr val="0E8A8F"/>
          </a:solidFill>
          <a:ln/>
        </p:spPr>
        <p:txBody>
          <a:bodyPr/>
          <a:lstStyle/>
          <a:p>
            <a:endParaRPr lang="en-US"/>
          </a:p>
        </p:txBody>
      </p:sp>
      <p:sp>
        <p:nvSpPr>
          <p:cNvPr id="63" name="Shape 61"/>
          <p:cNvSpPr/>
          <p:nvPr/>
        </p:nvSpPr>
        <p:spPr>
          <a:xfrm>
            <a:off x="10626991" y="5319959"/>
            <a:ext cx="65671" cy="166441"/>
          </a:xfrm>
          <a:prstGeom prst="roundRect">
            <a:avLst>
              <a:gd name="adj" fmla="val 27848"/>
            </a:avLst>
          </a:prstGeom>
          <a:solidFill>
            <a:srgbClr val="0E8A8F"/>
          </a:solidFill>
          <a:ln/>
        </p:spPr>
        <p:txBody>
          <a:bodyPr/>
          <a:lstStyle/>
          <a:p>
            <a:endParaRPr lang="en-US"/>
          </a:p>
        </p:txBody>
      </p:sp>
      <p:sp>
        <p:nvSpPr>
          <p:cNvPr id="64" name="Shape 62"/>
          <p:cNvSpPr/>
          <p:nvPr/>
        </p:nvSpPr>
        <p:spPr>
          <a:xfrm>
            <a:off x="10758332" y="5219994"/>
            <a:ext cx="65671" cy="266406"/>
          </a:xfrm>
          <a:prstGeom prst="roundRect">
            <a:avLst>
              <a:gd name="adj" fmla="val 27848"/>
            </a:avLst>
          </a:prstGeom>
          <a:solidFill>
            <a:srgbClr val="0E8A8F"/>
          </a:solidFill>
          <a:ln/>
        </p:spPr>
        <p:txBody>
          <a:bodyPr/>
          <a:lstStyle/>
          <a:p>
            <a:endParaRPr lang="en-US"/>
          </a:p>
        </p:txBody>
      </p:sp>
      <p:sp>
        <p:nvSpPr>
          <p:cNvPr id="65" name="Shape 63"/>
          <p:cNvSpPr/>
          <p:nvPr/>
        </p:nvSpPr>
        <p:spPr>
          <a:xfrm>
            <a:off x="10889673" y="5285156"/>
            <a:ext cx="65671" cy="201244"/>
          </a:xfrm>
          <a:prstGeom prst="roundRect">
            <a:avLst>
              <a:gd name="adj" fmla="val 27848"/>
            </a:avLst>
          </a:prstGeom>
          <a:solidFill>
            <a:srgbClr val="0E8A8F"/>
          </a:solidFill>
          <a:ln/>
        </p:spPr>
        <p:txBody>
          <a:bodyPr/>
          <a:lstStyle/>
          <a:p>
            <a:endParaRPr lang="en-US"/>
          </a:p>
        </p:txBody>
      </p:sp>
      <p:sp>
        <p:nvSpPr>
          <p:cNvPr id="66" name="Shape 64"/>
          <p:cNvSpPr/>
          <p:nvPr/>
        </p:nvSpPr>
        <p:spPr>
          <a:xfrm>
            <a:off x="11021014" y="5394721"/>
            <a:ext cx="65671" cy="91679"/>
          </a:xfrm>
          <a:prstGeom prst="roundRect">
            <a:avLst>
              <a:gd name="adj" fmla="val 27848"/>
            </a:avLst>
          </a:prstGeom>
          <a:solidFill>
            <a:srgbClr val="0E8A8F"/>
          </a:solidFill>
          <a:ln/>
        </p:spPr>
        <p:txBody>
          <a:bodyPr/>
          <a:lstStyle/>
          <a:p>
            <a:endParaRPr lang="en-US"/>
          </a:p>
        </p:txBody>
      </p:sp>
      <p:sp>
        <p:nvSpPr>
          <p:cNvPr id="67" name="Shape 65"/>
          <p:cNvSpPr/>
          <p:nvPr/>
        </p:nvSpPr>
        <p:spPr>
          <a:xfrm>
            <a:off x="11152355" y="5449824"/>
            <a:ext cx="65671" cy="36576"/>
          </a:xfrm>
          <a:prstGeom prst="roundRect">
            <a:avLst>
              <a:gd name="adj" fmla="val 50000"/>
            </a:avLst>
          </a:prstGeom>
          <a:solidFill>
            <a:srgbClr val="0E8A8F"/>
          </a:solidFill>
          <a:ln/>
        </p:spPr>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a:solidFill>
                  <a:srgbClr val="0E8A8F"/>
                </a:solidFill>
                <a:latin typeface="Calibri" pitchFamily="34" charset="0"/>
                <a:ea typeface="Calibri" pitchFamily="34" charset="-122"/>
                <a:cs typeface="Calibri" pitchFamily="34" charset="-120"/>
              </a:rPr>
              <a:t>DATASET</a:t>
            </a:r>
            <a:endParaRPr lang="en-US" sz="1150" dirty="0"/>
          </a:p>
        </p:txBody>
      </p:sp>
      <p:sp>
        <p:nvSpPr>
          <p:cNvPr id="3" name="Text 1"/>
          <p:cNvSpPr/>
          <p:nvPr/>
        </p:nvSpPr>
        <p:spPr>
          <a:xfrm>
            <a:off x="640080" y="621792"/>
            <a:ext cx="11101647" cy="658368"/>
          </a:xfrm>
          <a:prstGeom prst="rect">
            <a:avLst/>
          </a:prstGeom>
          <a:noFill/>
          <a:ln/>
        </p:spPr>
        <p:txBody>
          <a:bodyPr wrap="square" lIns="0" tIns="0" rIns="0" bIns="0" rtlCol="0" anchor="t"/>
          <a:lstStyle/>
          <a:p>
            <a:pPr marL="0" indent="0">
              <a:buNone/>
            </a:pPr>
            <a:r>
              <a:rPr lang="en-US" sz="3000" b="1">
                <a:solidFill>
                  <a:srgbClr val="12233A"/>
                </a:solidFill>
                <a:latin typeface="Cambria" pitchFamily="34" charset="0"/>
                <a:ea typeface="Cambria" pitchFamily="34" charset="-122"/>
                <a:cs typeface="Cambria" pitchFamily="34" charset="-120"/>
              </a:rPr>
              <a:t>Encoding – Short-Time Fourier Transform</a:t>
            </a:r>
            <a:endParaRPr lang="en-US" sz="3000" dirty="0"/>
          </a:p>
        </p:txBody>
      </p:sp>
      <p:sp>
        <p:nvSpPr>
          <p:cNvPr id="16" name="Text 14"/>
          <p:cNvSpPr/>
          <p:nvPr/>
        </p:nvSpPr>
        <p:spPr>
          <a:xfrm>
            <a:off x="640080" y="3520440"/>
            <a:ext cx="6766560" cy="2333950"/>
          </a:xfrm>
          <a:prstGeom prst="rect">
            <a:avLst/>
          </a:prstGeom>
          <a:noFill/>
          <a:ln/>
        </p:spPr>
        <p:txBody>
          <a:bodyPr wrap="square" lIns="0" tIns="0" rIns="0" bIns="0" rtlCol="0" anchor="t"/>
          <a:lstStyle/>
          <a:p>
            <a:pPr marL="342900" indent="-342900">
              <a:spcAft>
                <a:spcPts val="1200"/>
              </a:spcAft>
              <a:buSzPct val="100000"/>
              <a:buChar char="•"/>
            </a:pPr>
            <a:r>
              <a:rPr lang="en-US" sz="1650" dirty="0">
                <a:solidFill>
                  <a:srgbClr val="16202C"/>
                </a:solidFill>
                <a:latin typeface="Calibri" pitchFamily="34" charset="0"/>
                <a:cs typeface="Calibri" pitchFamily="34" charset="-120"/>
              </a:rPr>
              <a:t>Not just going to feed the raw audio digital samples into the LSTM as the training data</a:t>
            </a:r>
          </a:p>
          <a:p>
            <a:pPr marL="342900" indent="-342900">
              <a:spcAft>
                <a:spcPts val="1200"/>
              </a:spcAft>
              <a:buSzPct val="100000"/>
              <a:buChar char="•"/>
            </a:pPr>
            <a:r>
              <a:rPr lang="en-US" sz="1650" dirty="0">
                <a:solidFill>
                  <a:srgbClr val="16202C"/>
                </a:solidFill>
                <a:latin typeface="Calibri" pitchFamily="34" charset="0"/>
                <a:ea typeface="Calibri" pitchFamily="34" charset="-122"/>
                <a:cs typeface="Calibri" pitchFamily="34" charset="-120"/>
              </a:rPr>
              <a:t>Inherently a frequency problem (frequency bins)</a:t>
            </a:r>
          </a:p>
          <a:p>
            <a:pPr marL="342900" indent="-342900">
              <a:spcAft>
                <a:spcPts val="1200"/>
              </a:spcAft>
              <a:buSzPct val="100000"/>
              <a:buChar char="•"/>
            </a:pPr>
            <a:r>
              <a:rPr lang="en-US" sz="1650" dirty="0">
                <a:solidFill>
                  <a:srgbClr val="16202C"/>
                </a:solidFill>
                <a:latin typeface="Calibri" pitchFamily="34" charset="0"/>
                <a:cs typeface="Calibri" pitchFamily="34" charset="-120"/>
              </a:rPr>
              <a:t>Also a time problem (time frames)</a:t>
            </a:r>
          </a:p>
          <a:p>
            <a:pPr marL="342900" indent="-342900">
              <a:spcAft>
                <a:spcPts val="1200"/>
              </a:spcAft>
              <a:buSzPct val="100000"/>
              <a:buChar char="•"/>
            </a:pPr>
            <a:r>
              <a:rPr lang="en-US" sz="1650" dirty="0">
                <a:sym typeface="Wingdings" pitchFamily="2" charset="2"/>
              </a:rPr>
              <a:t>So we use STFT which encodes both of these in a way that is easy for LSTM to learn from and easy for DSP processing</a:t>
            </a:r>
            <a:endParaRPr lang="en-US" sz="1650" dirty="0"/>
          </a:p>
        </p:txBody>
      </p:sp>
      <p:sp>
        <p:nvSpPr>
          <p:cNvPr id="22" name="Shape 8">
            <a:extLst>
              <a:ext uri="{FF2B5EF4-FFF2-40B4-BE49-F238E27FC236}">
                <a16:creationId xmlns:a16="http://schemas.microsoft.com/office/drawing/2014/main" id="{94A37EC4-74DC-D067-B65E-04ABEF86D196}"/>
              </a:ext>
            </a:extLst>
          </p:cNvPr>
          <p:cNvSpPr/>
          <p:nvPr/>
        </p:nvSpPr>
        <p:spPr>
          <a:xfrm>
            <a:off x="691896" y="1613916"/>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Text 9">
            <a:extLst>
              <a:ext uri="{FF2B5EF4-FFF2-40B4-BE49-F238E27FC236}">
                <a16:creationId xmlns:a16="http://schemas.microsoft.com/office/drawing/2014/main" id="{0D8DB09E-9B49-EE0E-3D7F-C9EA3B853E99}"/>
              </a:ext>
            </a:extLst>
          </p:cNvPr>
          <p:cNvSpPr/>
          <p:nvPr/>
        </p:nvSpPr>
        <p:spPr>
          <a:xfrm>
            <a:off x="691896" y="1751076"/>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257</a:t>
            </a:r>
            <a:endParaRPr lang="en-US" sz="3400" dirty="0"/>
          </a:p>
        </p:txBody>
      </p:sp>
      <p:sp>
        <p:nvSpPr>
          <p:cNvPr id="24" name="Text 10">
            <a:extLst>
              <a:ext uri="{FF2B5EF4-FFF2-40B4-BE49-F238E27FC236}">
                <a16:creationId xmlns:a16="http://schemas.microsoft.com/office/drawing/2014/main" id="{85B05CAA-6CBC-9FCC-A726-B658C9214B75}"/>
              </a:ext>
            </a:extLst>
          </p:cNvPr>
          <p:cNvSpPr/>
          <p:nvPr/>
        </p:nvSpPr>
        <p:spPr>
          <a:xfrm>
            <a:off x="691896" y="2391156"/>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frequency bins</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per STFT frame</a:t>
            </a:r>
            <a:endParaRPr lang="en-US" sz="1200" dirty="0"/>
          </a:p>
        </p:txBody>
      </p:sp>
      <p:sp>
        <p:nvSpPr>
          <p:cNvPr id="25" name="Shape 11">
            <a:extLst>
              <a:ext uri="{FF2B5EF4-FFF2-40B4-BE49-F238E27FC236}">
                <a16:creationId xmlns:a16="http://schemas.microsoft.com/office/drawing/2014/main" id="{B440D73A-D044-8448-E191-01FA4BFA9CD8}"/>
              </a:ext>
            </a:extLst>
          </p:cNvPr>
          <p:cNvSpPr/>
          <p:nvPr/>
        </p:nvSpPr>
        <p:spPr>
          <a:xfrm>
            <a:off x="3508248" y="1613916"/>
            <a:ext cx="2587752" cy="1572768"/>
          </a:xfrm>
          <a:prstGeom prst="roundRect">
            <a:avLst>
              <a:gd name="adj" fmla="val 5233"/>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6" name="Text 12">
            <a:extLst>
              <a:ext uri="{FF2B5EF4-FFF2-40B4-BE49-F238E27FC236}">
                <a16:creationId xmlns:a16="http://schemas.microsoft.com/office/drawing/2014/main" id="{62066F64-C585-D16F-8D37-94A48C45C42B}"/>
              </a:ext>
            </a:extLst>
          </p:cNvPr>
          <p:cNvSpPr/>
          <p:nvPr/>
        </p:nvSpPr>
        <p:spPr>
          <a:xfrm>
            <a:off x="3508248" y="1751076"/>
            <a:ext cx="2587752" cy="658368"/>
          </a:xfrm>
          <a:prstGeom prst="rect">
            <a:avLst/>
          </a:prstGeom>
          <a:noFill/>
          <a:ln/>
        </p:spPr>
        <p:txBody>
          <a:bodyPr wrap="square" lIns="0" tIns="0" rIns="0" bIns="0" rtlCol="0" anchor="ctr"/>
          <a:lstStyle/>
          <a:p>
            <a:pPr marL="0" indent="0" algn="ctr">
              <a:buNone/>
            </a:pPr>
            <a:r>
              <a:rPr lang="en-US" sz="3400" b="1" dirty="0">
                <a:solidFill>
                  <a:srgbClr val="0E8A8F"/>
                </a:solidFill>
                <a:latin typeface="Cambria" pitchFamily="34" charset="0"/>
                <a:ea typeface="Cambria" pitchFamily="34" charset="-122"/>
                <a:cs typeface="Cambria" pitchFamily="34" charset="-120"/>
              </a:rPr>
              <a:t>32 ms</a:t>
            </a:r>
            <a:endParaRPr lang="en-US" sz="3400" dirty="0"/>
          </a:p>
        </p:txBody>
      </p:sp>
      <p:sp>
        <p:nvSpPr>
          <p:cNvPr id="27" name="Text 13">
            <a:extLst>
              <a:ext uri="{FF2B5EF4-FFF2-40B4-BE49-F238E27FC236}">
                <a16:creationId xmlns:a16="http://schemas.microsoft.com/office/drawing/2014/main" id="{726FC490-0536-838B-C94B-82E64D96881C}"/>
              </a:ext>
            </a:extLst>
          </p:cNvPr>
          <p:cNvSpPr/>
          <p:nvPr/>
        </p:nvSpPr>
        <p:spPr>
          <a:xfrm>
            <a:off x="3508248" y="2391156"/>
            <a:ext cx="2587752" cy="658368"/>
          </a:xfrm>
          <a:prstGeom prst="rect">
            <a:avLst/>
          </a:prstGeom>
          <a:noFill/>
          <a:ln/>
        </p:spPr>
        <p:txBody>
          <a:bodyPr wrap="square" lIns="0" tIns="0" rIns="0" bIns="0" rtlCol="0" anchor="t"/>
          <a:lstStyle/>
          <a:p>
            <a:pPr marL="0" indent="0" algn="ctr">
              <a:buNone/>
            </a:pPr>
            <a:r>
              <a:rPr lang="en-US" sz="1200" dirty="0">
                <a:solidFill>
                  <a:srgbClr val="62707F"/>
                </a:solidFill>
                <a:latin typeface="Calibri" pitchFamily="34" charset="0"/>
                <a:ea typeface="Calibri" pitchFamily="34" charset="-122"/>
                <a:cs typeface="Calibri" pitchFamily="34" charset="-120"/>
              </a:rPr>
              <a:t>per frame</a:t>
            </a:r>
            <a:endParaRPr lang="en-US" sz="1200" dirty="0"/>
          </a:p>
          <a:p>
            <a:pPr marL="0" indent="0" algn="ctr">
              <a:buNone/>
            </a:pPr>
            <a:r>
              <a:rPr lang="en-US" sz="1200" dirty="0">
                <a:solidFill>
                  <a:srgbClr val="62707F"/>
                </a:solidFill>
                <a:latin typeface="Calibri" pitchFamily="34" charset="0"/>
                <a:ea typeface="Calibri" pitchFamily="34" charset="-122"/>
                <a:cs typeface="Calibri" pitchFamily="34" charset="-120"/>
              </a:rPr>
              <a:t>(512 samples @ 16 kHz)</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cs typeface="Calibri" pitchFamily="34" charset="-120"/>
              </a:rPr>
              <a:t>PIPELINE</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Architecture summary</a:t>
            </a:r>
            <a:endParaRPr lang="en-US" sz="3000" dirty="0"/>
          </a:p>
        </p:txBody>
      </p:sp>
      <p:sp>
        <p:nvSpPr>
          <p:cNvPr id="4" name="Shape 2"/>
          <p:cNvSpPr/>
          <p:nvPr/>
        </p:nvSpPr>
        <p:spPr>
          <a:xfrm>
            <a:off x="640080"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5" name="Text 3"/>
          <p:cNvSpPr/>
          <p:nvPr/>
        </p:nvSpPr>
        <p:spPr>
          <a:xfrm>
            <a:off x="731520"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Noisy WAV</a:t>
            </a:r>
            <a:endParaRPr lang="en-US" sz="1250" dirty="0"/>
          </a:p>
        </p:txBody>
      </p:sp>
      <p:sp>
        <p:nvSpPr>
          <p:cNvPr id="6" name="Text 4"/>
          <p:cNvSpPr/>
          <p:nvPr/>
        </p:nvSpPr>
        <p:spPr>
          <a:xfrm>
            <a:off x="713232"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mono, 16 kHz</a:t>
            </a:r>
            <a:endParaRPr lang="en-US" sz="1000" dirty="0"/>
          </a:p>
        </p:txBody>
      </p:sp>
      <p:sp>
        <p:nvSpPr>
          <p:cNvPr id="7" name="Shape 5"/>
          <p:cNvSpPr/>
          <p:nvPr/>
        </p:nvSpPr>
        <p:spPr>
          <a:xfrm>
            <a:off x="2125980" y="2395728"/>
            <a:ext cx="118872" cy="146304"/>
          </a:xfrm>
          <a:prstGeom prst="rightArrow">
            <a:avLst/>
          </a:prstGeom>
          <a:solidFill>
            <a:srgbClr val="0E8A8F"/>
          </a:solidFill>
          <a:ln/>
        </p:spPr>
        <p:txBody>
          <a:bodyPr/>
          <a:lstStyle/>
          <a:p>
            <a:endParaRPr lang="en-US"/>
          </a:p>
        </p:txBody>
      </p:sp>
      <p:sp>
        <p:nvSpPr>
          <p:cNvPr id="8" name="Shape 6"/>
          <p:cNvSpPr/>
          <p:nvPr/>
        </p:nvSpPr>
        <p:spPr>
          <a:xfrm>
            <a:off x="2249424"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9" name="Text 7"/>
          <p:cNvSpPr/>
          <p:nvPr/>
        </p:nvSpPr>
        <p:spPr>
          <a:xfrm>
            <a:off x="2340864"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STFT</a:t>
            </a:r>
            <a:endParaRPr lang="en-US" sz="1250" dirty="0"/>
          </a:p>
        </p:txBody>
      </p:sp>
      <p:sp>
        <p:nvSpPr>
          <p:cNvPr id="10" name="Text 8"/>
          <p:cNvSpPr/>
          <p:nvPr/>
        </p:nvSpPr>
        <p:spPr>
          <a:xfrm>
            <a:off x="2322576"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257 × T complex</a:t>
            </a:r>
            <a:endParaRPr lang="en-US" sz="1000" dirty="0"/>
          </a:p>
        </p:txBody>
      </p:sp>
      <p:sp>
        <p:nvSpPr>
          <p:cNvPr id="11" name="Shape 9"/>
          <p:cNvSpPr/>
          <p:nvPr/>
        </p:nvSpPr>
        <p:spPr>
          <a:xfrm>
            <a:off x="3735324" y="2395728"/>
            <a:ext cx="118872" cy="146304"/>
          </a:xfrm>
          <a:prstGeom prst="rightArrow">
            <a:avLst/>
          </a:prstGeom>
          <a:solidFill>
            <a:srgbClr val="0E8A8F"/>
          </a:solidFill>
          <a:ln/>
        </p:spPr>
        <p:txBody>
          <a:bodyPr/>
          <a:lstStyle/>
          <a:p>
            <a:endParaRPr lang="en-US"/>
          </a:p>
        </p:txBody>
      </p:sp>
      <p:sp>
        <p:nvSpPr>
          <p:cNvPr id="12" name="Shape 10"/>
          <p:cNvSpPr/>
          <p:nvPr/>
        </p:nvSpPr>
        <p:spPr>
          <a:xfrm>
            <a:off x="3858768"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13" name="Text 11"/>
          <p:cNvSpPr/>
          <p:nvPr/>
        </p:nvSpPr>
        <p:spPr>
          <a:xfrm>
            <a:off x="3950208"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log1p |Y|</a:t>
            </a:r>
            <a:endParaRPr lang="en-US" sz="1250" dirty="0"/>
          </a:p>
        </p:txBody>
      </p:sp>
      <p:sp>
        <p:nvSpPr>
          <p:cNvPr id="14" name="Text 12"/>
          <p:cNvSpPr/>
          <p:nvPr/>
        </p:nvSpPr>
        <p:spPr>
          <a:xfrm>
            <a:off x="3931920"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input features</a:t>
            </a:r>
            <a:endParaRPr lang="en-US" sz="1000" dirty="0"/>
          </a:p>
        </p:txBody>
      </p:sp>
      <p:sp>
        <p:nvSpPr>
          <p:cNvPr id="15" name="Shape 13"/>
          <p:cNvSpPr/>
          <p:nvPr/>
        </p:nvSpPr>
        <p:spPr>
          <a:xfrm>
            <a:off x="5344668" y="2395728"/>
            <a:ext cx="118872" cy="146304"/>
          </a:xfrm>
          <a:prstGeom prst="rightArrow">
            <a:avLst/>
          </a:prstGeom>
          <a:solidFill>
            <a:srgbClr val="0E8A8F"/>
          </a:solidFill>
          <a:ln/>
        </p:spPr>
        <p:txBody>
          <a:bodyPr/>
          <a:lstStyle/>
          <a:p>
            <a:endParaRPr lang="en-US"/>
          </a:p>
        </p:txBody>
      </p:sp>
      <p:sp>
        <p:nvSpPr>
          <p:cNvPr id="16" name="Shape 14"/>
          <p:cNvSpPr/>
          <p:nvPr/>
        </p:nvSpPr>
        <p:spPr>
          <a:xfrm>
            <a:off x="5468112" y="1874520"/>
            <a:ext cx="1481328" cy="1188720"/>
          </a:xfrm>
          <a:prstGeom prst="roundRect">
            <a:avLst>
              <a:gd name="adj" fmla="val 6923"/>
            </a:avLst>
          </a:prstGeom>
          <a:solidFill>
            <a:srgbClr val="12233A"/>
          </a:solidFill>
          <a:ln/>
        </p:spPr>
        <p:txBody>
          <a:bodyPr/>
          <a:lstStyle/>
          <a:p>
            <a:endParaRPr lang="en-US"/>
          </a:p>
        </p:txBody>
      </p:sp>
      <p:sp>
        <p:nvSpPr>
          <p:cNvPr id="17" name="Text 15"/>
          <p:cNvSpPr/>
          <p:nvPr/>
        </p:nvSpPr>
        <p:spPr>
          <a:xfrm>
            <a:off x="5559552" y="2011680"/>
            <a:ext cx="1298448"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LSTM</a:t>
            </a:r>
            <a:endParaRPr lang="en-US" sz="1250" dirty="0"/>
          </a:p>
        </p:txBody>
      </p:sp>
      <p:sp>
        <p:nvSpPr>
          <p:cNvPr id="18" name="Text 16"/>
          <p:cNvSpPr/>
          <p:nvPr/>
        </p:nvSpPr>
        <p:spPr>
          <a:xfrm>
            <a:off x="5541264" y="2514600"/>
            <a:ext cx="1335024" cy="457200"/>
          </a:xfrm>
          <a:prstGeom prst="rect">
            <a:avLst/>
          </a:prstGeom>
          <a:noFill/>
          <a:ln/>
        </p:spPr>
        <p:txBody>
          <a:bodyPr wrap="square" lIns="0" tIns="0" rIns="0" bIns="0" rtlCol="0" anchor="t"/>
          <a:lstStyle/>
          <a:p>
            <a:pPr marL="0" indent="0" algn="ctr">
              <a:buNone/>
            </a:pPr>
            <a:r>
              <a:rPr lang="en-US" sz="1000" dirty="0">
                <a:solidFill>
                  <a:srgbClr val="C9D9E8"/>
                </a:solidFill>
                <a:latin typeface="Calibri" pitchFamily="34" charset="0"/>
                <a:ea typeface="Calibri" pitchFamily="34" charset="-122"/>
                <a:cs typeface="Calibri" pitchFamily="34" charset="-120"/>
              </a:rPr>
              <a:t>packed sequences</a:t>
            </a:r>
            <a:endParaRPr lang="en-US" sz="1000" dirty="0"/>
          </a:p>
        </p:txBody>
      </p:sp>
      <p:sp>
        <p:nvSpPr>
          <p:cNvPr id="19" name="Shape 17"/>
          <p:cNvSpPr/>
          <p:nvPr/>
        </p:nvSpPr>
        <p:spPr>
          <a:xfrm>
            <a:off x="6954012" y="2395728"/>
            <a:ext cx="118872" cy="146304"/>
          </a:xfrm>
          <a:prstGeom prst="rightArrow">
            <a:avLst/>
          </a:prstGeom>
          <a:solidFill>
            <a:srgbClr val="0E8A8F"/>
          </a:solidFill>
          <a:ln/>
        </p:spPr>
        <p:txBody>
          <a:bodyPr/>
          <a:lstStyle/>
          <a:p>
            <a:endParaRPr lang="en-US"/>
          </a:p>
        </p:txBody>
      </p:sp>
      <p:sp>
        <p:nvSpPr>
          <p:cNvPr id="20" name="Shape 18"/>
          <p:cNvSpPr/>
          <p:nvPr/>
        </p:nvSpPr>
        <p:spPr>
          <a:xfrm>
            <a:off x="7077456" y="1874520"/>
            <a:ext cx="1481328" cy="1188720"/>
          </a:xfrm>
          <a:prstGeom prst="roundRect">
            <a:avLst>
              <a:gd name="adj" fmla="val 6923"/>
            </a:avLst>
          </a:prstGeom>
          <a:solidFill>
            <a:srgbClr val="12233A"/>
          </a:solidFill>
          <a:ln/>
        </p:spPr>
        <p:txBody>
          <a:bodyPr/>
          <a:lstStyle/>
          <a:p>
            <a:endParaRPr lang="en-US"/>
          </a:p>
        </p:txBody>
      </p:sp>
      <p:sp>
        <p:nvSpPr>
          <p:cNvPr id="21" name="Text 19"/>
          <p:cNvSpPr/>
          <p:nvPr/>
        </p:nvSpPr>
        <p:spPr>
          <a:xfrm>
            <a:off x="7168896" y="2011680"/>
            <a:ext cx="1298448" cy="50292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Linear + Sigmoid</a:t>
            </a:r>
            <a:endParaRPr lang="en-US" sz="1250" dirty="0"/>
          </a:p>
        </p:txBody>
      </p:sp>
      <p:sp>
        <p:nvSpPr>
          <p:cNvPr id="22" name="Text 20"/>
          <p:cNvSpPr/>
          <p:nvPr/>
        </p:nvSpPr>
        <p:spPr>
          <a:xfrm>
            <a:off x="7150608" y="2514600"/>
            <a:ext cx="1335024" cy="457200"/>
          </a:xfrm>
          <a:prstGeom prst="rect">
            <a:avLst/>
          </a:prstGeom>
          <a:noFill/>
          <a:ln/>
        </p:spPr>
        <p:txBody>
          <a:bodyPr wrap="square" lIns="0" tIns="0" rIns="0" bIns="0" rtlCol="0" anchor="t"/>
          <a:lstStyle/>
          <a:p>
            <a:pPr marL="0" indent="0" algn="ctr">
              <a:buNone/>
            </a:pPr>
            <a:r>
              <a:rPr lang="en-US" sz="1000" dirty="0">
                <a:solidFill>
                  <a:srgbClr val="C9D9E8"/>
                </a:solidFill>
                <a:latin typeface="Calibri" pitchFamily="34" charset="0"/>
                <a:ea typeface="Calibri" pitchFamily="34" charset="-122"/>
                <a:cs typeface="Calibri" pitchFamily="34" charset="-120"/>
              </a:rPr>
              <a:t>257 gain values</a:t>
            </a:r>
            <a:endParaRPr lang="en-US" sz="1000" dirty="0"/>
          </a:p>
        </p:txBody>
      </p:sp>
      <p:sp>
        <p:nvSpPr>
          <p:cNvPr id="23" name="Shape 21"/>
          <p:cNvSpPr/>
          <p:nvPr/>
        </p:nvSpPr>
        <p:spPr>
          <a:xfrm>
            <a:off x="8563356" y="2395728"/>
            <a:ext cx="118872" cy="146304"/>
          </a:xfrm>
          <a:prstGeom prst="rightArrow">
            <a:avLst/>
          </a:prstGeom>
          <a:solidFill>
            <a:srgbClr val="0E8A8F"/>
          </a:solidFill>
          <a:ln/>
        </p:spPr>
        <p:txBody>
          <a:bodyPr/>
          <a:lstStyle/>
          <a:p>
            <a:endParaRPr lang="en-US"/>
          </a:p>
        </p:txBody>
      </p:sp>
      <p:sp>
        <p:nvSpPr>
          <p:cNvPr id="24" name="Shape 22"/>
          <p:cNvSpPr/>
          <p:nvPr/>
        </p:nvSpPr>
        <p:spPr>
          <a:xfrm>
            <a:off x="8686800"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25" name="Text 23"/>
          <p:cNvSpPr/>
          <p:nvPr/>
        </p:nvSpPr>
        <p:spPr>
          <a:xfrm>
            <a:off x="8778240"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Mask × |Y|</a:t>
            </a:r>
            <a:endParaRPr lang="en-US" sz="1250" dirty="0"/>
          </a:p>
        </p:txBody>
      </p:sp>
      <p:sp>
        <p:nvSpPr>
          <p:cNvPr id="26" name="Text 24"/>
          <p:cNvSpPr/>
          <p:nvPr/>
        </p:nvSpPr>
        <p:spPr>
          <a:xfrm>
            <a:off x="8759952"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clean magnitude</a:t>
            </a:r>
            <a:endParaRPr lang="en-US" sz="1000" dirty="0"/>
          </a:p>
        </p:txBody>
      </p:sp>
      <p:sp>
        <p:nvSpPr>
          <p:cNvPr id="27" name="Shape 25"/>
          <p:cNvSpPr/>
          <p:nvPr/>
        </p:nvSpPr>
        <p:spPr>
          <a:xfrm>
            <a:off x="10172700" y="2395728"/>
            <a:ext cx="118872" cy="146304"/>
          </a:xfrm>
          <a:prstGeom prst="rightArrow">
            <a:avLst/>
          </a:prstGeom>
          <a:solidFill>
            <a:srgbClr val="0E8A8F"/>
          </a:solidFill>
          <a:ln/>
        </p:spPr>
        <p:txBody>
          <a:bodyPr/>
          <a:lstStyle/>
          <a:p>
            <a:endParaRPr lang="en-US"/>
          </a:p>
        </p:txBody>
      </p:sp>
      <p:sp>
        <p:nvSpPr>
          <p:cNvPr id="28" name="Shape 26"/>
          <p:cNvSpPr/>
          <p:nvPr/>
        </p:nvSpPr>
        <p:spPr>
          <a:xfrm>
            <a:off x="10296144" y="1874520"/>
            <a:ext cx="1481328" cy="1188720"/>
          </a:xfrm>
          <a:prstGeom prst="roundRect">
            <a:avLst>
              <a:gd name="adj" fmla="val 6923"/>
            </a:avLst>
          </a:prstGeom>
          <a:solidFill>
            <a:srgbClr val="FFFFFF"/>
          </a:solidFill>
          <a:ln w="12700">
            <a:solidFill>
              <a:srgbClr val="DFE5EB"/>
            </a:solidFill>
            <a:prstDash val="solid"/>
          </a:ln>
        </p:spPr>
        <p:txBody>
          <a:bodyPr/>
          <a:lstStyle/>
          <a:p>
            <a:endParaRPr lang="en-US"/>
          </a:p>
        </p:txBody>
      </p:sp>
      <p:sp>
        <p:nvSpPr>
          <p:cNvPr id="29" name="Text 27"/>
          <p:cNvSpPr/>
          <p:nvPr/>
        </p:nvSpPr>
        <p:spPr>
          <a:xfrm>
            <a:off x="10387584" y="2011680"/>
            <a:ext cx="1298448" cy="502920"/>
          </a:xfrm>
          <a:prstGeom prst="rect">
            <a:avLst/>
          </a:prstGeom>
          <a:noFill/>
          <a:ln/>
        </p:spPr>
        <p:txBody>
          <a:bodyPr wrap="square" lIns="0" tIns="0" rIns="0" bIns="0" rtlCol="0" anchor="ctr"/>
          <a:lstStyle/>
          <a:p>
            <a:pPr marL="0" indent="0" algn="ctr">
              <a:buNone/>
            </a:pPr>
            <a:r>
              <a:rPr lang="en-US" sz="1250" b="1" dirty="0">
                <a:solidFill>
                  <a:srgbClr val="12233A"/>
                </a:solidFill>
                <a:latin typeface="Calibri" pitchFamily="34" charset="0"/>
                <a:ea typeface="Calibri" pitchFamily="34" charset="-122"/>
                <a:cs typeface="Calibri" pitchFamily="34" charset="-120"/>
              </a:rPr>
              <a:t>iSTFT</a:t>
            </a:r>
            <a:endParaRPr lang="en-US" sz="1250" dirty="0"/>
          </a:p>
        </p:txBody>
      </p:sp>
      <p:sp>
        <p:nvSpPr>
          <p:cNvPr id="30" name="Text 28"/>
          <p:cNvSpPr/>
          <p:nvPr/>
        </p:nvSpPr>
        <p:spPr>
          <a:xfrm>
            <a:off x="10369296" y="2514600"/>
            <a:ext cx="1335024" cy="457200"/>
          </a:xfrm>
          <a:prstGeom prst="rect">
            <a:avLst/>
          </a:prstGeom>
          <a:noFill/>
          <a:ln/>
        </p:spPr>
        <p:txBody>
          <a:bodyPr wrap="square" lIns="0" tIns="0" rIns="0" bIns="0" rtlCol="0" anchor="t"/>
          <a:lstStyle/>
          <a:p>
            <a:pPr marL="0" indent="0" algn="ctr">
              <a:buNone/>
            </a:pPr>
            <a:r>
              <a:rPr lang="en-US" sz="1000" dirty="0">
                <a:solidFill>
                  <a:srgbClr val="62707F"/>
                </a:solidFill>
                <a:latin typeface="Calibri" pitchFamily="34" charset="0"/>
                <a:ea typeface="Calibri" pitchFamily="34" charset="-122"/>
                <a:cs typeface="Calibri" pitchFamily="34" charset="-120"/>
              </a:rPr>
              <a:t>noisy phase</a:t>
            </a:r>
            <a:endParaRPr lang="en-US" sz="1000" dirty="0"/>
          </a:p>
        </p:txBody>
      </p:sp>
      <p:sp>
        <p:nvSpPr>
          <p:cNvPr id="31" name="Text 29"/>
          <p:cNvSpPr/>
          <p:nvPr/>
        </p:nvSpPr>
        <p:spPr>
          <a:xfrm>
            <a:off x="640080" y="342900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Input size</a:t>
            </a:r>
            <a:endParaRPr lang="en-US" sz="1250" dirty="0"/>
          </a:p>
        </p:txBody>
      </p:sp>
      <p:sp>
        <p:nvSpPr>
          <p:cNvPr id="32" name="Text 30"/>
          <p:cNvSpPr/>
          <p:nvPr/>
        </p:nvSpPr>
        <p:spPr>
          <a:xfrm>
            <a:off x="2651760" y="342900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257 bins</a:t>
            </a:r>
            <a:endParaRPr lang="en-US" sz="1250" dirty="0"/>
          </a:p>
        </p:txBody>
      </p:sp>
      <p:sp>
        <p:nvSpPr>
          <p:cNvPr id="33" name="Shape 31"/>
          <p:cNvSpPr/>
          <p:nvPr/>
        </p:nvSpPr>
        <p:spPr>
          <a:xfrm>
            <a:off x="640080" y="3886200"/>
            <a:ext cx="6675120" cy="0"/>
          </a:xfrm>
          <a:prstGeom prst="line">
            <a:avLst/>
          </a:prstGeom>
          <a:noFill/>
          <a:ln w="12700">
            <a:solidFill>
              <a:srgbClr val="DFE5EB"/>
            </a:solidFill>
            <a:prstDash val="solid"/>
          </a:ln>
        </p:spPr>
        <p:txBody>
          <a:bodyPr/>
          <a:lstStyle/>
          <a:p>
            <a:endParaRPr lang="en-US"/>
          </a:p>
        </p:txBody>
      </p:sp>
      <p:sp>
        <p:nvSpPr>
          <p:cNvPr id="34" name="Text 32"/>
          <p:cNvSpPr/>
          <p:nvPr/>
        </p:nvSpPr>
        <p:spPr>
          <a:xfrm>
            <a:off x="640080" y="397764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Direction</a:t>
            </a:r>
            <a:endParaRPr lang="en-US" sz="1250" dirty="0"/>
          </a:p>
        </p:txBody>
      </p:sp>
      <p:sp>
        <p:nvSpPr>
          <p:cNvPr id="35" name="Text 33"/>
          <p:cNvSpPr/>
          <p:nvPr/>
        </p:nvSpPr>
        <p:spPr>
          <a:xfrm>
            <a:off x="2651760" y="397764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Bidirectional (high quality) / Causal (standard quality) → 2 × hidden</a:t>
            </a:r>
            <a:endParaRPr lang="en-US" sz="1250" dirty="0"/>
          </a:p>
        </p:txBody>
      </p:sp>
      <p:sp>
        <p:nvSpPr>
          <p:cNvPr id="36" name="Shape 34"/>
          <p:cNvSpPr/>
          <p:nvPr/>
        </p:nvSpPr>
        <p:spPr>
          <a:xfrm>
            <a:off x="640080" y="4434840"/>
            <a:ext cx="6675120" cy="0"/>
          </a:xfrm>
          <a:prstGeom prst="line">
            <a:avLst/>
          </a:prstGeom>
          <a:noFill/>
          <a:ln w="12700">
            <a:solidFill>
              <a:srgbClr val="DFE5EB"/>
            </a:solidFill>
            <a:prstDash val="solid"/>
          </a:ln>
        </p:spPr>
        <p:txBody>
          <a:bodyPr/>
          <a:lstStyle/>
          <a:p>
            <a:endParaRPr lang="en-US"/>
          </a:p>
        </p:txBody>
      </p:sp>
      <p:sp>
        <p:nvSpPr>
          <p:cNvPr id="37" name="Text 35"/>
          <p:cNvSpPr/>
          <p:nvPr/>
        </p:nvSpPr>
        <p:spPr>
          <a:xfrm>
            <a:off x="640080" y="452628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Output head</a:t>
            </a:r>
            <a:endParaRPr lang="en-US" sz="1250" dirty="0"/>
          </a:p>
        </p:txBody>
      </p:sp>
      <p:sp>
        <p:nvSpPr>
          <p:cNvPr id="38" name="Text 36"/>
          <p:cNvSpPr/>
          <p:nvPr/>
        </p:nvSpPr>
        <p:spPr>
          <a:xfrm>
            <a:off x="2651760" y="4526280"/>
            <a:ext cx="4663440" cy="384048"/>
          </a:xfrm>
          <a:prstGeom prst="rect">
            <a:avLst/>
          </a:prstGeom>
          <a:noFill/>
          <a:ln/>
        </p:spPr>
        <p:txBody>
          <a:bodyPr wrap="square" lIns="0" tIns="0" rIns="0" bIns="0" rtlCol="0" anchor="ctr"/>
          <a:lstStyle/>
          <a:p>
            <a:pPr marL="0" indent="0">
              <a:buNone/>
            </a:pPr>
            <a:r>
              <a:rPr lang="en-US" sz="1200" dirty="0">
                <a:solidFill>
                  <a:srgbClr val="16202C"/>
                </a:solidFill>
                <a:latin typeface="Calibri" pitchFamily="34" charset="0"/>
                <a:ea typeface="Calibri" pitchFamily="34" charset="-122"/>
                <a:cs typeface="Calibri" pitchFamily="34" charset="-120"/>
              </a:rPr>
              <a:t>Linear → Sigmoid, scaled by </a:t>
            </a:r>
            <a:r>
              <a:rPr lang="en-US" sz="1200" dirty="0" err="1">
                <a:solidFill>
                  <a:srgbClr val="16202C"/>
                </a:solidFill>
                <a:latin typeface="Calibri" pitchFamily="34" charset="0"/>
                <a:ea typeface="Calibri" pitchFamily="34" charset="-122"/>
                <a:cs typeface="Calibri" pitchFamily="34" charset="-120"/>
              </a:rPr>
              <a:t>mask_max</a:t>
            </a:r>
            <a:r>
              <a:rPr lang="en-US" sz="1200" dirty="0">
                <a:solidFill>
                  <a:srgbClr val="16202C"/>
                </a:solidFill>
                <a:latin typeface="Calibri" pitchFamily="34" charset="0"/>
                <a:ea typeface="Calibri" pitchFamily="34" charset="-122"/>
                <a:cs typeface="Calibri" pitchFamily="34" charset="-120"/>
              </a:rPr>
              <a:t>. Each freq. bin judged separately</a:t>
            </a:r>
            <a:endParaRPr lang="en-US" sz="1200" dirty="0"/>
          </a:p>
        </p:txBody>
      </p:sp>
      <p:sp>
        <p:nvSpPr>
          <p:cNvPr id="39" name="Shape 37"/>
          <p:cNvSpPr/>
          <p:nvPr/>
        </p:nvSpPr>
        <p:spPr>
          <a:xfrm>
            <a:off x="640080" y="4983480"/>
            <a:ext cx="6675120" cy="0"/>
          </a:xfrm>
          <a:prstGeom prst="line">
            <a:avLst/>
          </a:prstGeom>
          <a:noFill/>
          <a:ln w="12700">
            <a:solidFill>
              <a:srgbClr val="DFE5EB"/>
            </a:solidFill>
            <a:prstDash val="solid"/>
          </a:ln>
        </p:spPr>
        <p:txBody>
          <a:bodyPr/>
          <a:lstStyle/>
          <a:p>
            <a:endParaRPr lang="en-US"/>
          </a:p>
        </p:txBody>
      </p:sp>
      <p:sp>
        <p:nvSpPr>
          <p:cNvPr id="40" name="Text 38"/>
          <p:cNvSpPr/>
          <p:nvPr/>
        </p:nvSpPr>
        <p:spPr>
          <a:xfrm>
            <a:off x="640080" y="5074920"/>
            <a:ext cx="2011680" cy="384048"/>
          </a:xfrm>
          <a:prstGeom prst="rect">
            <a:avLst/>
          </a:prstGeom>
          <a:noFill/>
          <a:ln/>
        </p:spPr>
        <p:txBody>
          <a:bodyPr wrap="square" lIns="0" tIns="0" rIns="0" bIns="0" rtlCol="0" anchor="ctr"/>
          <a:lstStyle/>
          <a:p>
            <a:pPr marL="0" indent="0">
              <a:buNone/>
            </a:pPr>
            <a:r>
              <a:rPr lang="en-US" sz="1250" b="1" dirty="0">
                <a:solidFill>
                  <a:srgbClr val="0E8A8F"/>
                </a:solidFill>
                <a:latin typeface="Calibri" pitchFamily="34" charset="0"/>
                <a:ea typeface="Calibri" pitchFamily="34" charset="-122"/>
                <a:cs typeface="Calibri" pitchFamily="34" charset="-120"/>
              </a:rPr>
              <a:t>Phase</a:t>
            </a:r>
            <a:endParaRPr lang="en-US" sz="1250" dirty="0"/>
          </a:p>
        </p:txBody>
      </p:sp>
      <p:sp>
        <p:nvSpPr>
          <p:cNvPr id="41" name="Text 39"/>
          <p:cNvSpPr/>
          <p:nvPr/>
        </p:nvSpPr>
        <p:spPr>
          <a:xfrm>
            <a:off x="2651760" y="5074920"/>
            <a:ext cx="4663440" cy="384048"/>
          </a:xfrm>
          <a:prstGeom prst="rect">
            <a:avLst/>
          </a:prstGeom>
          <a:noFill/>
          <a:ln/>
        </p:spPr>
        <p:txBody>
          <a:bodyPr wrap="square" lIns="0" tIns="0" rIns="0" bIns="0" rtlCol="0" anchor="ctr"/>
          <a:lstStyle/>
          <a:p>
            <a:pPr marL="0" indent="0">
              <a:buNone/>
            </a:pPr>
            <a:r>
              <a:rPr lang="en-US" sz="1250" dirty="0">
                <a:solidFill>
                  <a:srgbClr val="16202C"/>
                </a:solidFill>
                <a:latin typeface="Calibri" pitchFamily="34" charset="0"/>
                <a:ea typeface="Calibri" pitchFamily="34" charset="-122"/>
                <a:cs typeface="Calibri" pitchFamily="34" charset="-120"/>
              </a:rPr>
              <a:t>Reuse the noisy phase</a:t>
            </a:r>
            <a:endParaRPr lang="en-US" sz="1250" dirty="0"/>
          </a:p>
        </p:txBody>
      </p:sp>
      <p:sp>
        <p:nvSpPr>
          <p:cNvPr id="42" name="Shape 40"/>
          <p:cNvSpPr/>
          <p:nvPr/>
        </p:nvSpPr>
        <p:spPr>
          <a:xfrm>
            <a:off x="640080" y="5532120"/>
            <a:ext cx="6675120" cy="0"/>
          </a:xfrm>
          <a:prstGeom prst="line">
            <a:avLst/>
          </a:prstGeom>
          <a:noFill/>
          <a:ln w="12700">
            <a:solidFill>
              <a:srgbClr val="DFE5EB"/>
            </a:solidFill>
            <a:prstDash val="solid"/>
          </a:ln>
        </p:spPr>
        <p:txBody>
          <a:bodyPr/>
          <a:lstStyle/>
          <a:p>
            <a:endParaRPr lang="en-US"/>
          </a:p>
        </p:txBody>
      </p:sp>
      <p:pic>
        <p:nvPicPr>
          <p:cNvPr id="46" name="Picture 45" descr="Sigmoid function | Formula, Derivative, &amp; Machine Learning | Britannica">
            <a:extLst>
              <a:ext uri="{FF2B5EF4-FFF2-40B4-BE49-F238E27FC236}">
                <a16:creationId xmlns:a16="http://schemas.microsoft.com/office/drawing/2014/main" id="{8EEE3511-6170-BF80-7DB7-6DD141C3ABBE}"/>
              </a:ext>
            </a:extLst>
          </p:cNvPr>
          <p:cNvPicPr>
            <a:picLocks noChangeAspect="1"/>
          </p:cNvPicPr>
          <p:nvPr/>
        </p:nvPicPr>
        <p:blipFill>
          <a:blip r:embed="rId3"/>
          <a:stretch>
            <a:fillRect/>
          </a:stretch>
        </p:blipFill>
        <p:spPr>
          <a:xfrm>
            <a:off x="7367018" y="3233635"/>
            <a:ext cx="4568646" cy="335338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DATA SPLIT</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Split by speaker, not by file</a:t>
            </a:r>
            <a:endParaRPr lang="en-US" sz="3000" dirty="0"/>
          </a:p>
        </p:txBody>
      </p:sp>
      <p:sp>
        <p:nvSpPr>
          <p:cNvPr id="4" name="Shape 2"/>
          <p:cNvSpPr/>
          <p:nvPr/>
        </p:nvSpPr>
        <p:spPr>
          <a:xfrm>
            <a:off x="640080" y="1691640"/>
            <a:ext cx="6720840" cy="2788920"/>
          </a:xfrm>
          <a:prstGeom prst="roundRect">
            <a:avLst>
              <a:gd name="adj" fmla="val 2951"/>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p:cNvSpPr/>
          <p:nvPr/>
        </p:nvSpPr>
        <p:spPr>
          <a:xfrm>
            <a:off x="914400" y="1874520"/>
            <a:ext cx="6217920" cy="292608"/>
          </a:xfrm>
          <a:prstGeom prst="rect">
            <a:avLst/>
          </a:prstGeom>
          <a:noFill/>
          <a:ln/>
        </p:spPr>
        <p:txBody>
          <a:bodyPr wrap="square" lIns="0" tIns="0" rIns="0" bIns="0" rtlCol="0" anchor="ctr"/>
          <a:lstStyle/>
          <a:p>
            <a:pPr marL="0" indent="0">
              <a:buNone/>
            </a:pPr>
            <a:r>
              <a:rPr lang="en-US" sz="1300" b="1" dirty="0">
                <a:solidFill>
                  <a:srgbClr val="12233A"/>
                </a:solidFill>
                <a:latin typeface="Calibri" pitchFamily="34" charset="0"/>
                <a:ea typeface="Calibri" pitchFamily="34" charset="-122"/>
                <a:cs typeface="Calibri" pitchFamily="34" charset="-120"/>
              </a:rPr>
              <a:t>28 speakers, split before training</a:t>
            </a:r>
            <a:endParaRPr lang="en-US" sz="1300" dirty="0"/>
          </a:p>
        </p:txBody>
      </p:sp>
      <p:sp>
        <p:nvSpPr>
          <p:cNvPr id="6" name="Shape 4"/>
          <p:cNvSpPr/>
          <p:nvPr/>
        </p:nvSpPr>
        <p:spPr>
          <a:xfrm>
            <a:off x="914400" y="2331720"/>
            <a:ext cx="329184" cy="329184"/>
          </a:xfrm>
          <a:prstGeom prst="ellipse">
            <a:avLst/>
          </a:prstGeom>
          <a:solidFill>
            <a:srgbClr val="0E8A8F"/>
          </a:solidFill>
          <a:ln/>
        </p:spPr>
        <p:txBody>
          <a:bodyPr/>
          <a:lstStyle/>
          <a:p>
            <a:endParaRPr lang="en-US"/>
          </a:p>
        </p:txBody>
      </p:sp>
      <p:sp>
        <p:nvSpPr>
          <p:cNvPr id="7" name="Shape 5"/>
          <p:cNvSpPr/>
          <p:nvPr/>
        </p:nvSpPr>
        <p:spPr>
          <a:xfrm>
            <a:off x="1344168" y="2331720"/>
            <a:ext cx="329184" cy="329184"/>
          </a:xfrm>
          <a:prstGeom prst="ellipse">
            <a:avLst/>
          </a:prstGeom>
          <a:solidFill>
            <a:srgbClr val="0E8A8F"/>
          </a:solidFill>
          <a:ln/>
        </p:spPr>
        <p:txBody>
          <a:bodyPr/>
          <a:lstStyle/>
          <a:p>
            <a:endParaRPr lang="en-US"/>
          </a:p>
        </p:txBody>
      </p:sp>
      <p:sp>
        <p:nvSpPr>
          <p:cNvPr id="8" name="Shape 6"/>
          <p:cNvSpPr/>
          <p:nvPr/>
        </p:nvSpPr>
        <p:spPr>
          <a:xfrm>
            <a:off x="1773936" y="2331720"/>
            <a:ext cx="329184" cy="329184"/>
          </a:xfrm>
          <a:prstGeom prst="ellipse">
            <a:avLst/>
          </a:prstGeom>
          <a:solidFill>
            <a:srgbClr val="0E8A8F"/>
          </a:solidFill>
          <a:ln/>
        </p:spPr>
        <p:txBody>
          <a:bodyPr/>
          <a:lstStyle/>
          <a:p>
            <a:endParaRPr lang="en-US"/>
          </a:p>
        </p:txBody>
      </p:sp>
      <p:sp>
        <p:nvSpPr>
          <p:cNvPr id="9" name="Shape 7"/>
          <p:cNvSpPr/>
          <p:nvPr/>
        </p:nvSpPr>
        <p:spPr>
          <a:xfrm>
            <a:off x="2203704" y="2331720"/>
            <a:ext cx="329184" cy="329184"/>
          </a:xfrm>
          <a:prstGeom prst="ellipse">
            <a:avLst/>
          </a:prstGeom>
          <a:solidFill>
            <a:srgbClr val="0E8A8F"/>
          </a:solidFill>
          <a:ln/>
        </p:spPr>
        <p:txBody>
          <a:bodyPr/>
          <a:lstStyle/>
          <a:p>
            <a:endParaRPr lang="en-US"/>
          </a:p>
        </p:txBody>
      </p:sp>
      <p:sp>
        <p:nvSpPr>
          <p:cNvPr id="10" name="Shape 8"/>
          <p:cNvSpPr/>
          <p:nvPr/>
        </p:nvSpPr>
        <p:spPr>
          <a:xfrm>
            <a:off x="2633472" y="2331720"/>
            <a:ext cx="329184" cy="329184"/>
          </a:xfrm>
          <a:prstGeom prst="ellipse">
            <a:avLst/>
          </a:prstGeom>
          <a:solidFill>
            <a:srgbClr val="0E8A8F"/>
          </a:solidFill>
          <a:ln/>
        </p:spPr>
        <p:txBody>
          <a:bodyPr/>
          <a:lstStyle/>
          <a:p>
            <a:endParaRPr lang="en-US"/>
          </a:p>
        </p:txBody>
      </p:sp>
      <p:sp>
        <p:nvSpPr>
          <p:cNvPr id="11" name="Shape 9"/>
          <p:cNvSpPr/>
          <p:nvPr/>
        </p:nvSpPr>
        <p:spPr>
          <a:xfrm>
            <a:off x="3063240" y="2331720"/>
            <a:ext cx="329184" cy="329184"/>
          </a:xfrm>
          <a:prstGeom prst="ellipse">
            <a:avLst/>
          </a:prstGeom>
          <a:solidFill>
            <a:srgbClr val="0E8A8F"/>
          </a:solidFill>
          <a:ln/>
        </p:spPr>
        <p:txBody>
          <a:bodyPr/>
          <a:lstStyle/>
          <a:p>
            <a:endParaRPr lang="en-US"/>
          </a:p>
        </p:txBody>
      </p:sp>
      <p:sp>
        <p:nvSpPr>
          <p:cNvPr id="12" name="Shape 10"/>
          <p:cNvSpPr/>
          <p:nvPr/>
        </p:nvSpPr>
        <p:spPr>
          <a:xfrm>
            <a:off x="3493008" y="2331720"/>
            <a:ext cx="329184" cy="329184"/>
          </a:xfrm>
          <a:prstGeom prst="ellipse">
            <a:avLst/>
          </a:prstGeom>
          <a:solidFill>
            <a:srgbClr val="0E8A8F"/>
          </a:solidFill>
          <a:ln/>
        </p:spPr>
        <p:txBody>
          <a:bodyPr/>
          <a:lstStyle/>
          <a:p>
            <a:endParaRPr lang="en-US"/>
          </a:p>
        </p:txBody>
      </p:sp>
      <p:sp>
        <p:nvSpPr>
          <p:cNvPr id="13" name="Shape 11"/>
          <p:cNvSpPr/>
          <p:nvPr/>
        </p:nvSpPr>
        <p:spPr>
          <a:xfrm>
            <a:off x="3922776" y="2331720"/>
            <a:ext cx="329184" cy="329184"/>
          </a:xfrm>
          <a:prstGeom prst="ellipse">
            <a:avLst/>
          </a:prstGeom>
          <a:solidFill>
            <a:srgbClr val="0E8A8F"/>
          </a:solidFill>
          <a:ln/>
        </p:spPr>
        <p:txBody>
          <a:bodyPr/>
          <a:lstStyle/>
          <a:p>
            <a:endParaRPr lang="en-US"/>
          </a:p>
        </p:txBody>
      </p:sp>
      <p:sp>
        <p:nvSpPr>
          <p:cNvPr id="14" name="Shape 12"/>
          <p:cNvSpPr/>
          <p:nvPr/>
        </p:nvSpPr>
        <p:spPr>
          <a:xfrm>
            <a:off x="4352544" y="2331720"/>
            <a:ext cx="329184" cy="329184"/>
          </a:xfrm>
          <a:prstGeom prst="ellipse">
            <a:avLst/>
          </a:prstGeom>
          <a:solidFill>
            <a:srgbClr val="0E8A8F"/>
          </a:solidFill>
          <a:ln/>
        </p:spPr>
        <p:txBody>
          <a:bodyPr/>
          <a:lstStyle/>
          <a:p>
            <a:endParaRPr lang="en-US"/>
          </a:p>
        </p:txBody>
      </p:sp>
      <p:sp>
        <p:nvSpPr>
          <p:cNvPr id="15" name="Shape 13"/>
          <p:cNvSpPr/>
          <p:nvPr/>
        </p:nvSpPr>
        <p:spPr>
          <a:xfrm>
            <a:off x="4782312" y="2331720"/>
            <a:ext cx="329184" cy="329184"/>
          </a:xfrm>
          <a:prstGeom prst="ellipse">
            <a:avLst/>
          </a:prstGeom>
          <a:solidFill>
            <a:srgbClr val="0E8A8F"/>
          </a:solidFill>
          <a:ln/>
        </p:spPr>
        <p:txBody>
          <a:bodyPr/>
          <a:lstStyle/>
          <a:p>
            <a:endParaRPr lang="en-US"/>
          </a:p>
        </p:txBody>
      </p:sp>
      <p:sp>
        <p:nvSpPr>
          <p:cNvPr id="16" name="Shape 14"/>
          <p:cNvSpPr/>
          <p:nvPr/>
        </p:nvSpPr>
        <p:spPr>
          <a:xfrm>
            <a:off x="5212080" y="2331720"/>
            <a:ext cx="329184" cy="329184"/>
          </a:xfrm>
          <a:prstGeom prst="ellipse">
            <a:avLst/>
          </a:prstGeom>
          <a:solidFill>
            <a:srgbClr val="0E8A8F"/>
          </a:solidFill>
          <a:ln/>
        </p:spPr>
        <p:txBody>
          <a:bodyPr/>
          <a:lstStyle/>
          <a:p>
            <a:endParaRPr lang="en-US"/>
          </a:p>
        </p:txBody>
      </p:sp>
      <p:sp>
        <p:nvSpPr>
          <p:cNvPr id="17" name="Shape 15"/>
          <p:cNvSpPr/>
          <p:nvPr/>
        </p:nvSpPr>
        <p:spPr>
          <a:xfrm>
            <a:off x="5641848" y="2331720"/>
            <a:ext cx="329184" cy="329184"/>
          </a:xfrm>
          <a:prstGeom prst="ellipse">
            <a:avLst/>
          </a:prstGeom>
          <a:solidFill>
            <a:srgbClr val="0E8A8F"/>
          </a:solidFill>
          <a:ln/>
        </p:spPr>
        <p:txBody>
          <a:bodyPr/>
          <a:lstStyle/>
          <a:p>
            <a:endParaRPr lang="en-US"/>
          </a:p>
        </p:txBody>
      </p:sp>
      <p:sp>
        <p:nvSpPr>
          <p:cNvPr id="18" name="Shape 16"/>
          <p:cNvSpPr/>
          <p:nvPr/>
        </p:nvSpPr>
        <p:spPr>
          <a:xfrm>
            <a:off x="6071616" y="2331720"/>
            <a:ext cx="329184" cy="329184"/>
          </a:xfrm>
          <a:prstGeom prst="ellipse">
            <a:avLst/>
          </a:prstGeom>
          <a:solidFill>
            <a:srgbClr val="0E8A8F"/>
          </a:solidFill>
          <a:ln/>
        </p:spPr>
        <p:txBody>
          <a:bodyPr/>
          <a:lstStyle/>
          <a:p>
            <a:endParaRPr lang="en-US"/>
          </a:p>
        </p:txBody>
      </p:sp>
      <p:sp>
        <p:nvSpPr>
          <p:cNvPr id="19" name="Shape 17"/>
          <p:cNvSpPr/>
          <p:nvPr/>
        </p:nvSpPr>
        <p:spPr>
          <a:xfrm>
            <a:off x="6501384" y="2331720"/>
            <a:ext cx="329184" cy="329184"/>
          </a:xfrm>
          <a:prstGeom prst="ellipse">
            <a:avLst/>
          </a:prstGeom>
          <a:solidFill>
            <a:srgbClr val="0E8A8F"/>
          </a:solidFill>
          <a:ln/>
        </p:spPr>
        <p:txBody>
          <a:bodyPr/>
          <a:lstStyle/>
          <a:p>
            <a:endParaRPr lang="en-US"/>
          </a:p>
        </p:txBody>
      </p:sp>
      <p:sp>
        <p:nvSpPr>
          <p:cNvPr id="20" name="Shape 18"/>
          <p:cNvSpPr/>
          <p:nvPr/>
        </p:nvSpPr>
        <p:spPr>
          <a:xfrm>
            <a:off x="914400" y="2834640"/>
            <a:ext cx="329184" cy="329184"/>
          </a:xfrm>
          <a:prstGeom prst="ellipse">
            <a:avLst/>
          </a:prstGeom>
          <a:solidFill>
            <a:srgbClr val="0E8A8F"/>
          </a:solidFill>
          <a:ln/>
        </p:spPr>
        <p:txBody>
          <a:bodyPr/>
          <a:lstStyle/>
          <a:p>
            <a:endParaRPr lang="en-US"/>
          </a:p>
        </p:txBody>
      </p:sp>
      <p:sp>
        <p:nvSpPr>
          <p:cNvPr id="21" name="Shape 19"/>
          <p:cNvSpPr/>
          <p:nvPr/>
        </p:nvSpPr>
        <p:spPr>
          <a:xfrm>
            <a:off x="1344168" y="2834640"/>
            <a:ext cx="329184" cy="329184"/>
          </a:xfrm>
          <a:prstGeom prst="ellipse">
            <a:avLst/>
          </a:prstGeom>
          <a:solidFill>
            <a:srgbClr val="0E8A8F"/>
          </a:solidFill>
          <a:ln/>
        </p:spPr>
        <p:txBody>
          <a:bodyPr/>
          <a:lstStyle/>
          <a:p>
            <a:endParaRPr lang="en-US"/>
          </a:p>
        </p:txBody>
      </p:sp>
      <p:sp>
        <p:nvSpPr>
          <p:cNvPr id="22" name="Shape 20"/>
          <p:cNvSpPr/>
          <p:nvPr/>
        </p:nvSpPr>
        <p:spPr>
          <a:xfrm>
            <a:off x="1773936" y="2834640"/>
            <a:ext cx="329184" cy="329184"/>
          </a:xfrm>
          <a:prstGeom prst="ellipse">
            <a:avLst/>
          </a:prstGeom>
          <a:solidFill>
            <a:srgbClr val="0E8A8F"/>
          </a:solidFill>
          <a:ln/>
        </p:spPr>
        <p:txBody>
          <a:bodyPr/>
          <a:lstStyle/>
          <a:p>
            <a:endParaRPr lang="en-US"/>
          </a:p>
        </p:txBody>
      </p:sp>
      <p:sp>
        <p:nvSpPr>
          <p:cNvPr id="23" name="Shape 21"/>
          <p:cNvSpPr/>
          <p:nvPr/>
        </p:nvSpPr>
        <p:spPr>
          <a:xfrm>
            <a:off x="2203704" y="2834640"/>
            <a:ext cx="329184" cy="329184"/>
          </a:xfrm>
          <a:prstGeom prst="ellipse">
            <a:avLst/>
          </a:prstGeom>
          <a:solidFill>
            <a:srgbClr val="0E8A8F"/>
          </a:solidFill>
          <a:ln/>
        </p:spPr>
        <p:txBody>
          <a:bodyPr/>
          <a:lstStyle/>
          <a:p>
            <a:endParaRPr lang="en-US"/>
          </a:p>
        </p:txBody>
      </p:sp>
      <p:sp>
        <p:nvSpPr>
          <p:cNvPr id="24" name="Shape 22"/>
          <p:cNvSpPr/>
          <p:nvPr/>
        </p:nvSpPr>
        <p:spPr>
          <a:xfrm>
            <a:off x="2633472" y="2834640"/>
            <a:ext cx="329184" cy="329184"/>
          </a:xfrm>
          <a:prstGeom prst="ellipse">
            <a:avLst/>
          </a:prstGeom>
          <a:solidFill>
            <a:srgbClr val="0E8A8F"/>
          </a:solidFill>
          <a:ln/>
        </p:spPr>
        <p:txBody>
          <a:bodyPr/>
          <a:lstStyle/>
          <a:p>
            <a:endParaRPr lang="en-US"/>
          </a:p>
        </p:txBody>
      </p:sp>
      <p:sp>
        <p:nvSpPr>
          <p:cNvPr id="25" name="Shape 23"/>
          <p:cNvSpPr/>
          <p:nvPr/>
        </p:nvSpPr>
        <p:spPr>
          <a:xfrm>
            <a:off x="3063240" y="2834640"/>
            <a:ext cx="329184" cy="329184"/>
          </a:xfrm>
          <a:prstGeom prst="ellipse">
            <a:avLst/>
          </a:prstGeom>
          <a:solidFill>
            <a:srgbClr val="0E8A8F"/>
          </a:solidFill>
          <a:ln/>
        </p:spPr>
        <p:txBody>
          <a:bodyPr/>
          <a:lstStyle/>
          <a:p>
            <a:endParaRPr lang="en-US"/>
          </a:p>
        </p:txBody>
      </p:sp>
      <p:sp>
        <p:nvSpPr>
          <p:cNvPr id="26" name="Shape 24"/>
          <p:cNvSpPr/>
          <p:nvPr/>
        </p:nvSpPr>
        <p:spPr>
          <a:xfrm>
            <a:off x="3493008" y="2834640"/>
            <a:ext cx="329184" cy="329184"/>
          </a:xfrm>
          <a:prstGeom prst="ellipse">
            <a:avLst/>
          </a:prstGeom>
          <a:solidFill>
            <a:srgbClr val="0E8A8F"/>
          </a:solidFill>
          <a:ln/>
        </p:spPr>
        <p:txBody>
          <a:bodyPr/>
          <a:lstStyle/>
          <a:p>
            <a:endParaRPr lang="en-US"/>
          </a:p>
        </p:txBody>
      </p:sp>
      <p:sp>
        <p:nvSpPr>
          <p:cNvPr id="27" name="Shape 25"/>
          <p:cNvSpPr/>
          <p:nvPr/>
        </p:nvSpPr>
        <p:spPr>
          <a:xfrm>
            <a:off x="3922776" y="2834640"/>
            <a:ext cx="329184" cy="329184"/>
          </a:xfrm>
          <a:prstGeom prst="ellipse">
            <a:avLst/>
          </a:prstGeom>
          <a:solidFill>
            <a:srgbClr val="0E8A8F"/>
          </a:solidFill>
          <a:ln/>
        </p:spPr>
        <p:txBody>
          <a:bodyPr/>
          <a:lstStyle/>
          <a:p>
            <a:endParaRPr lang="en-US"/>
          </a:p>
        </p:txBody>
      </p:sp>
      <p:sp>
        <p:nvSpPr>
          <p:cNvPr id="28" name="Shape 26"/>
          <p:cNvSpPr/>
          <p:nvPr/>
        </p:nvSpPr>
        <p:spPr>
          <a:xfrm>
            <a:off x="4352544" y="2834640"/>
            <a:ext cx="329184" cy="329184"/>
          </a:xfrm>
          <a:prstGeom prst="ellipse">
            <a:avLst/>
          </a:prstGeom>
          <a:solidFill>
            <a:srgbClr val="0E8A8F"/>
          </a:solidFill>
          <a:ln/>
        </p:spPr>
        <p:txBody>
          <a:bodyPr/>
          <a:lstStyle/>
          <a:p>
            <a:endParaRPr lang="en-US"/>
          </a:p>
        </p:txBody>
      </p:sp>
      <p:sp>
        <p:nvSpPr>
          <p:cNvPr id="29" name="Shape 27"/>
          <p:cNvSpPr/>
          <p:nvPr/>
        </p:nvSpPr>
        <p:spPr>
          <a:xfrm>
            <a:off x="4782312" y="2834640"/>
            <a:ext cx="329184" cy="329184"/>
          </a:xfrm>
          <a:prstGeom prst="ellipse">
            <a:avLst/>
          </a:prstGeom>
          <a:solidFill>
            <a:srgbClr val="0E8A8F"/>
          </a:solidFill>
          <a:ln/>
        </p:spPr>
        <p:txBody>
          <a:bodyPr/>
          <a:lstStyle/>
          <a:p>
            <a:endParaRPr lang="en-US"/>
          </a:p>
        </p:txBody>
      </p:sp>
      <p:sp>
        <p:nvSpPr>
          <p:cNvPr id="30" name="Shape 28"/>
          <p:cNvSpPr/>
          <p:nvPr/>
        </p:nvSpPr>
        <p:spPr>
          <a:xfrm>
            <a:off x="5212080" y="2834640"/>
            <a:ext cx="329184" cy="329184"/>
          </a:xfrm>
          <a:prstGeom prst="ellipse">
            <a:avLst/>
          </a:prstGeom>
          <a:solidFill>
            <a:srgbClr val="E08A3C"/>
          </a:solidFill>
          <a:ln/>
        </p:spPr>
        <p:txBody>
          <a:bodyPr/>
          <a:lstStyle/>
          <a:p>
            <a:endParaRPr lang="en-US"/>
          </a:p>
        </p:txBody>
      </p:sp>
      <p:sp>
        <p:nvSpPr>
          <p:cNvPr id="31" name="Shape 29"/>
          <p:cNvSpPr/>
          <p:nvPr/>
        </p:nvSpPr>
        <p:spPr>
          <a:xfrm>
            <a:off x="5641848" y="2834640"/>
            <a:ext cx="329184" cy="329184"/>
          </a:xfrm>
          <a:prstGeom prst="ellipse">
            <a:avLst/>
          </a:prstGeom>
          <a:solidFill>
            <a:srgbClr val="E08A3C"/>
          </a:solidFill>
          <a:ln/>
        </p:spPr>
        <p:txBody>
          <a:bodyPr/>
          <a:lstStyle/>
          <a:p>
            <a:endParaRPr lang="en-US"/>
          </a:p>
        </p:txBody>
      </p:sp>
      <p:sp>
        <p:nvSpPr>
          <p:cNvPr id="32" name="Shape 30"/>
          <p:cNvSpPr/>
          <p:nvPr/>
        </p:nvSpPr>
        <p:spPr>
          <a:xfrm>
            <a:off x="6071616" y="2834640"/>
            <a:ext cx="329184" cy="329184"/>
          </a:xfrm>
          <a:prstGeom prst="ellipse">
            <a:avLst/>
          </a:prstGeom>
          <a:solidFill>
            <a:srgbClr val="E08A3C"/>
          </a:solidFill>
          <a:ln/>
        </p:spPr>
        <p:txBody>
          <a:bodyPr/>
          <a:lstStyle/>
          <a:p>
            <a:endParaRPr lang="en-US"/>
          </a:p>
        </p:txBody>
      </p:sp>
      <p:sp>
        <p:nvSpPr>
          <p:cNvPr id="33" name="Shape 31"/>
          <p:cNvSpPr/>
          <p:nvPr/>
        </p:nvSpPr>
        <p:spPr>
          <a:xfrm>
            <a:off x="6501384" y="2834640"/>
            <a:ext cx="329184" cy="329184"/>
          </a:xfrm>
          <a:prstGeom prst="ellipse">
            <a:avLst/>
          </a:prstGeom>
          <a:solidFill>
            <a:srgbClr val="E08A3C"/>
          </a:solidFill>
          <a:ln/>
        </p:spPr>
        <p:txBody>
          <a:bodyPr/>
          <a:lstStyle/>
          <a:p>
            <a:endParaRPr lang="en-US"/>
          </a:p>
        </p:txBody>
      </p:sp>
      <p:sp>
        <p:nvSpPr>
          <p:cNvPr id="34" name="Shape 32"/>
          <p:cNvSpPr/>
          <p:nvPr/>
        </p:nvSpPr>
        <p:spPr>
          <a:xfrm>
            <a:off x="914400" y="3520440"/>
            <a:ext cx="201168" cy="201168"/>
          </a:xfrm>
          <a:prstGeom prst="ellipse">
            <a:avLst/>
          </a:prstGeom>
          <a:solidFill>
            <a:srgbClr val="0E8A8F"/>
          </a:solidFill>
          <a:ln/>
        </p:spPr>
        <p:txBody>
          <a:bodyPr/>
          <a:lstStyle/>
          <a:p>
            <a:endParaRPr lang="en-US"/>
          </a:p>
        </p:txBody>
      </p:sp>
      <p:sp>
        <p:nvSpPr>
          <p:cNvPr id="35" name="Text 33"/>
          <p:cNvSpPr/>
          <p:nvPr/>
        </p:nvSpPr>
        <p:spPr>
          <a:xfrm>
            <a:off x="1207008" y="3456432"/>
            <a:ext cx="3840480" cy="292608"/>
          </a:xfrm>
          <a:prstGeom prst="rect">
            <a:avLst/>
          </a:prstGeom>
          <a:noFill/>
          <a:ln/>
        </p:spPr>
        <p:txBody>
          <a:bodyPr wrap="square" lIns="0" tIns="0" rIns="0" bIns="0" rtlCol="0" anchor="ctr"/>
          <a:lstStyle/>
          <a:p>
            <a:pPr marL="0" indent="0">
              <a:buNone/>
            </a:pPr>
            <a:r>
              <a:rPr lang="en-US" sz="1200" dirty="0">
                <a:solidFill>
                  <a:srgbClr val="16202C"/>
                </a:solidFill>
                <a:latin typeface="Calibri" pitchFamily="34" charset="0"/>
                <a:ea typeface="Calibri" pitchFamily="34" charset="-122"/>
                <a:cs typeface="Calibri" pitchFamily="34" charset="-120"/>
              </a:rPr>
              <a:t>24 training speakers — 9,964 utterances</a:t>
            </a:r>
            <a:endParaRPr lang="en-US" sz="1200" dirty="0"/>
          </a:p>
        </p:txBody>
      </p:sp>
      <p:sp>
        <p:nvSpPr>
          <p:cNvPr id="36" name="Shape 34"/>
          <p:cNvSpPr/>
          <p:nvPr/>
        </p:nvSpPr>
        <p:spPr>
          <a:xfrm>
            <a:off x="914400" y="3886200"/>
            <a:ext cx="201168" cy="201168"/>
          </a:xfrm>
          <a:prstGeom prst="ellipse">
            <a:avLst/>
          </a:prstGeom>
          <a:solidFill>
            <a:srgbClr val="E08A3C"/>
          </a:solidFill>
          <a:ln/>
        </p:spPr>
        <p:txBody>
          <a:bodyPr/>
          <a:lstStyle/>
          <a:p>
            <a:endParaRPr lang="en-US"/>
          </a:p>
        </p:txBody>
      </p:sp>
      <p:sp>
        <p:nvSpPr>
          <p:cNvPr id="37" name="Text 35"/>
          <p:cNvSpPr/>
          <p:nvPr/>
        </p:nvSpPr>
        <p:spPr>
          <a:xfrm>
            <a:off x="1207008" y="3822192"/>
            <a:ext cx="5852160" cy="292608"/>
          </a:xfrm>
          <a:prstGeom prst="rect">
            <a:avLst/>
          </a:prstGeom>
          <a:noFill/>
          <a:ln/>
        </p:spPr>
        <p:txBody>
          <a:bodyPr wrap="square" lIns="0" tIns="0" rIns="0" bIns="0" rtlCol="0" anchor="ctr"/>
          <a:lstStyle/>
          <a:p>
            <a:pPr marL="0" indent="0">
              <a:buNone/>
            </a:pPr>
            <a:r>
              <a:rPr lang="en-US" sz="1200" dirty="0">
                <a:solidFill>
                  <a:srgbClr val="16202C"/>
                </a:solidFill>
                <a:latin typeface="Calibri" pitchFamily="34" charset="0"/>
                <a:ea typeface="Calibri" pitchFamily="34" charset="-122"/>
                <a:cs typeface="Calibri" pitchFamily="34" charset="-120"/>
              </a:rPr>
              <a:t>4 validation speakers — 1,608 utterances</a:t>
            </a:r>
            <a:endParaRPr lang="en-US" sz="1200" dirty="0"/>
          </a:p>
        </p:txBody>
      </p:sp>
      <p:sp>
        <p:nvSpPr>
          <p:cNvPr id="38" name="Shape 36"/>
          <p:cNvSpPr/>
          <p:nvPr/>
        </p:nvSpPr>
        <p:spPr>
          <a:xfrm>
            <a:off x="7635240" y="1691640"/>
            <a:ext cx="3904488" cy="2788920"/>
          </a:xfrm>
          <a:prstGeom prst="roundRect">
            <a:avLst>
              <a:gd name="adj" fmla="val 2951"/>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39" name="Text 37"/>
          <p:cNvSpPr/>
          <p:nvPr/>
        </p:nvSpPr>
        <p:spPr>
          <a:xfrm>
            <a:off x="7891272" y="1874520"/>
            <a:ext cx="3383280" cy="274320"/>
          </a:xfrm>
          <a:prstGeom prst="rect">
            <a:avLst/>
          </a:prstGeom>
          <a:noFill/>
          <a:ln/>
        </p:spPr>
        <p:txBody>
          <a:bodyPr wrap="square" lIns="0" tIns="0" rIns="0" bIns="0" rtlCol="0" anchor="ctr"/>
          <a:lstStyle/>
          <a:p>
            <a:pPr marL="0" indent="0">
              <a:buNone/>
            </a:pPr>
            <a:r>
              <a:rPr lang="en-US" sz="1100" b="1" kern="0" spc="120" dirty="0">
                <a:solidFill>
                  <a:srgbClr val="E08A3C"/>
                </a:solidFill>
                <a:latin typeface="Calibri" pitchFamily="34" charset="0"/>
                <a:ea typeface="Calibri" pitchFamily="34" charset="-122"/>
                <a:cs typeface="Calibri" pitchFamily="34" charset="-120"/>
              </a:rPr>
              <a:t>Why it matters</a:t>
            </a:r>
            <a:endParaRPr lang="en-US" sz="1100" dirty="0"/>
          </a:p>
        </p:txBody>
      </p:sp>
      <p:sp>
        <p:nvSpPr>
          <p:cNvPr id="40" name="Text 38"/>
          <p:cNvSpPr/>
          <p:nvPr/>
        </p:nvSpPr>
        <p:spPr>
          <a:xfrm>
            <a:off x="7891272" y="2212848"/>
            <a:ext cx="3383280" cy="2148840"/>
          </a:xfrm>
          <a:prstGeom prst="rect">
            <a:avLst/>
          </a:prstGeom>
          <a:noFill/>
          <a:ln/>
        </p:spPr>
        <p:txBody>
          <a:bodyPr wrap="square" lIns="0" tIns="0" rIns="0" bIns="0" rtlCol="0" anchor="t"/>
          <a:lstStyle/>
          <a:p>
            <a:pPr marL="0" indent="0">
              <a:buNone/>
            </a:pPr>
            <a:r>
              <a:rPr lang="en-US" sz="1400" dirty="0">
                <a:solidFill>
                  <a:srgbClr val="12233A"/>
                </a:solidFill>
                <a:latin typeface="Calibri" pitchFamily="34" charset="0"/>
                <a:ea typeface="Calibri" pitchFamily="34" charset="-122"/>
                <a:cs typeface="Calibri" pitchFamily="34" charset="-120"/>
              </a:rPr>
              <a:t>A file split puts one voice in both sets. The model then might have an advantage by knowing the speaker. A speaker split stops this.</a:t>
            </a:r>
            <a:endParaRPr lang="en-US" sz="1400" dirty="0"/>
          </a:p>
        </p:txBody>
      </p:sp>
      <p:sp>
        <p:nvSpPr>
          <p:cNvPr id="41" name="Shape 39"/>
          <p:cNvSpPr/>
          <p:nvPr/>
        </p:nvSpPr>
        <p:spPr>
          <a:xfrm>
            <a:off x="640080" y="4663440"/>
            <a:ext cx="10899648" cy="960120"/>
          </a:xfrm>
          <a:prstGeom prst="roundRect">
            <a:avLst>
              <a:gd name="adj" fmla="val 8571"/>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42" name="Text 40"/>
          <p:cNvSpPr/>
          <p:nvPr/>
        </p:nvSpPr>
        <p:spPr>
          <a:xfrm>
            <a:off x="914400" y="4663440"/>
            <a:ext cx="10332720" cy="960120"/>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cs typeface="Calibri" pitchFamily="34" charset="-120"/>
              </a:rPr>
              <a:t>The randomizer is seeded for repeatability. The script ensures that the intersection of the training and validation speaker sets is empty.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VALIDATION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How to evaluate something qualitative like audio quality?</a:t>
            </a:r>
            <a:endParaRPr lang="en-US" sz="3000" dirty="0"/>
          </a:p>
        </p:txBody>
      </p:sp>
      <p:sp>
        <p:nvSpPr>
          <p:cNvPr id="4" name="Text 2"/>
          <p:cNvSpPr/>
          <p:nvPr/>
        </p:nvSpPr>
        <p:spPr>
          <a:xfrm>
            <a:off x="640080" y="1627632"/>
            <a:ext cx="5212080" cy="274320"/>
          </a:xfrm>
          <a:prstGeom prst="rect">
            <a:avLst/>
          </a:prstGeom>
          <a:noFill/>
          <a:ln/>
        </p:spPr>
        <p:txBody>
          <a:bodyPr wrap="square" lIns="0" tIns="0" rIns="0" bIns="0" rtlCol="0" anchor="ctr"/>
          <a:lstStyle/>
          <a:p>
            <a:pPr marL="0" indent="0">
              <a:buNone/>
            </a:pPr>
            <a:r>
              <a:rPr lang="en-US" sz="1150" b="1" kern="0" spc="120" dirty="0">
                <a:solidFill>
                  <a:srgbClr val="0E8A8F"/>
                </a:solidFill>
                <a:latin typeface="Calibri" pitchFamily="34" charset="0"/>
                <a:ea typeface="Calibri" pitchFamily="34" charset="-122"/>
                <a:cs typeface="Calibri" pitchFamily="34" charset="-120"/>
              </a:rPr>
              <a:t>Optimization metrics</a:t>
            </a:r>
            <a:endParaRPr lang="en-US" sz="1150" dirty="0"/>
          </a:p>
        </p:txBody>
      </p:sp>
      <p:sp>
        <p:nvSpPr>
          <p:cNvPr id="5" name="Shape 3"/>
          <p:cNvSpPr/>
          <p:nvPr/>
        </p:nvSpPr>
        <p:spPr>
          <a:xfrm>
            <a:off x="640080" y="1965960"/>
            <a:ext cx="5257800" cy="914400"/>
          </a:xfrm>
          <a:prstGeom prst="roundRect">
            <a:avLst>
              <a:gd name="adj" fmla="val 9000"/>
            </a:avLst>
          </a:prstGeom>
          <a:solidFill>
            <a:srgbClr val="FFFFFF"/>
          </a:solidFill>
          <a:ln w="12700">
            <a:solidFill>
              <a:srgbClr val="DFE5EB"/>
            </a:solidFill>
            <a:prstDash val="solid"/>
          </a:ln>
        </p:spPr>
        <p:txBody>
          <a:bodyPr/>
          <a:lstStyle/>
          <a:p>
            <a:endParaRPr lang="en-US"/>
          </a:p>
        </p:txBody>
      </p:sp>
      <p:sp>
        <p:nvSpPr>
          <p:cNvPr id="6" name="Text 4"/>
          <p:cNvSpPr/>
          <p:nvPr/>
        </p:nvSpPr>
        <p:spPr>
          <a:xfrm>
            <a:off x="914400" y="2084832"/>
            <a:ext cx="4754880" cy="274320"/>
          </a:xfrm>
          <a:prstGeom prst="rect">
            <a:avLst/>
          </a:prstGeom>
          <a:noFill/>
          <a:ln/>
        </p:spPr>
        <p:txBody>
          <a:bodyPr wrap="square" lIns="0" tIns="0" rIns="0" bIns="0" rtlCol="0" anchor="ctr"/>
          <a:lstStyle/>
          <a:p>
            <a:pPr marL="0" indent="0">
              <a:buNone/>
            </a:pPr>
            <a:r>
              <a:rPr lang="en-US" sz="1350" b="1" dirty="0">
                <a:solidFill>
                  <a:srgbClr val="12233A"/>
                </a:solidFill>
                <a:latin typeface="Calibri" pitchFamily="34" charset="0"/>
                <a:ea typeface="Calibri" pitchFamily="34" charset="-122"/>
                <a:cs typeface="Calibri" pitchFamily="34" charset="-120"/>
              </a:rPr>
              <a:t>Validation loss / MSE</a:t>
            </a:r>
            <a:endParaRPr lang="en-US" sz="1350" dirty="0"/>
          </a:p>
        </p:txBody>
      </p:sp>
      <p:sp>
        <p:nvSpPr>
          <p:cNvPr id="7" name="Text 5"/>
          <p:cNvSpPr/>
          <p:nvPr/>
        </p:nvSpPr>
        <p:spPr>
          <a:xfrm>
            <a:off x="914400" y="2377440"/>
            <a:ext cx="4754880" cy="41148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Squared error on speakers the model never saw in training.</a:t>
            </a:r>
            <a:endParaRPr lang="en-US" sz="1300" dirty="0"/>
          </a:p>
        </p:txBody>
      </p:sp>
      <p:sp>
        <p:nvSpPr>
          <p:cNvPr id="8" name="Shape 6"/>
          <p:cNvSpPr/>
          <p:nvPr/>
        </p:nvSpPr>
        <p:spPr>
          <a:xfrm>
            <a:off x="640080" y="3044952"/>
            <a:ext cx="5257800" cy="914400"/>
          </a:xfrm>
          <a:prstGeom prst="roundRect">
            <a:avLst>
              <a:gd name="adj" fmla="val 9000"/>
            </a:avLst>
          </a:prstGeom>
          <a:solidFill>
            <a:srgbClr val="FFFFFF"/>
          </a:solidFill>
          <a:ln w="12700">
            <a:solidFill>
              <a:srgbClr val="DFE5EB"/>
            </a:solidFill>
            <a:prstDash val="solid"/>
          </a:ln>
        </p:spPr>
        <p:txBody>
          <a:bodyPr/>
          <a:lstStyle/>
          <a:p>
            <a:endParaRPr lang="en-US"/>
          </a:p>
        </p:txBody>
      </p:sp>
      <p:sp>
        <p:nvSpPr>
          <p:cNvPr id="9" name="Text 7"/>
          <p:cNvSpPr/>
          <p:nvPr/>
        </p:nvSpPr>
        <p:spPr>
          <a:xfrm>
            <a:off x="914400" y="3163824"/>
            <a:ext cx="4754880" cy="274320"/>
          </a:xfrm>
          <a:prstGeom prst="rect">
            <a:avLst/>
          </a:prstGeom>
          <a:noFill/>
          <a:ln/>
        </p:spPr>
        <p:txBody>
          <a:bodyPr wrap="square" lIns="0" tIns="0" rIns="0" bIns="0" rtlCol="0" anchor="ctr"/>
          <a:lstStyle/>
          <a:p>
            <a:pPr marL="0" indent="0">
              <a:buNone/>
            </a:pPr>
            <a:r>
              <a:rPr lang="en-US" sz="1350" b="1" dirty="0">
                <a:solidFill>
                  <a:srgbClr val="12233A"/>
                </a:solidFill>
                <a:latin typeface="Calibri" pitchFamily="34" charset="0"/>
                <a:ea typeface="Calibri" pitchFamily="34" charset="-122"/>
                <a:cs typeface="Calibri" pitchFamily="34" charset="-120"/>
              </a:rPr>
              <a:t>R²</a:t>
            </a:r>
            <a:endParaRPr lang="en-US" sz="1350" dirty="0"/>
          </a:p>
        </p:txBody>
      </p:sp>
      <p:sp>
        <p:nvSpPr>
          <p:cNvPr id="10" name="Text 8"/>
          <p:cNvSpPr/>
          <p:nvPr/>
        </p:nvSpPr>
        <p:spPr>
          <a:xfrm>
            <a:off x="914400" y="3456432"/>
            <a:ext cx="4754880" cy="41148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How much spectral variance the model explains.</a:t>
            </a:r>
            <a:endParaRPr lang="en-US" sz="1300" dirty="0"/>
          </a:p>
        </p:txBody>
      </p:sp>
      <p:sp>
        <p:nvSpPr>
          <p:cNvPr id="11" name="Shape 9"/>
          <p:cNvSpPr/>
          <p:nvPr/>
        </p:nvSpPr>
        <p:spPr>
          <a:xfrm>
            <a:off x="640080" y="4206240"/>
            <a:ext cx="5257800" cy="1417320"/>
          </a:xfrm>
          <a:prstGeom prst="roundRect">
            <a:avLst>
              <a:gd name="adj" fmla="val 5806"/>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12" name="Text 10"/>
          <p:cNvSpPr/>
          <p:nvPr/>
        </p:nvSpPr>
        <p:spPr>
          <a:xfrm>
            <a:off x="914400" y="4206240"/>
            <a:ext cx="4754880" cy="1417320"/>
          </a:xfrm>
          <a:prstGeom prst="rect">
            <a:avLst/>
          </a:prstGeom>
          <a:noFill/>
          <a:ln/>
        </p:spPr>
        <p:txBody>
          <a:bodyPr wrap="square" lIns="0" tIns="0" rIns="0" bIns="0"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Which is more useful to validate on?</a:t>
            </a:r>
          </a:p>
          <a:p>
            <a:pPr marL="0" indent="0">
              <a:buNone/>
            </a:pPr>
            <a:endParaRPr lang="en-US" sz="1500" b="1" dirty="0">
              <a:solidFill>
                <a:srgbClr val="12233A"/>
              </a:solidFill>
              <a:latin typeface="Calibri" pitchFamily="34" charset="0"/>
              <a:ea typeface="Calibri" pitchFamily="34" charset="-122"/>
              <a:cs typeface="Calibri" pitchFamily="34" charset="-120"/>
            </a:endParaRPr>
          </a:p>
          <a:p>
            <a:pPr marL="0" indent="0">
              <a:buNone/>
            </a:pPr>
            <a:r>
              <a:rPr lang="en-US" sz="1500" dirty="0">
                <a:solidFill>
                  <a:srgbClr val="12233A"/>
                </a:solidFill>
                <a:latin typeface="Calibri" pitchFamily="34" charset="0"/>
                <a:ea typeface="Calibri" pitchFamily="34" charset="-122"/>
                <a:cs typeface="Calibri" pitchFamily="34" charset="-120"/>
              </a:rPr>
              <a:t>PESQ not differentiable :(</a:t>
            </a:r>
          </a:p>
          <a:p>
            <a:pPr marL="0" indent="0">
              <a:buNone/>
            </a:pPr>
            <a:r>
              <a:rPr lang="en-US" sz="1500" dirty="0">
                <a:solidFill>
                  <a:srgbClr val="12233A"/>
                </a:solidFill>
                <a:latin typeface="Calibri" pitchFamily="34" charset="0"/>
                <a:cs typeface="Calibri" pitchFamily="34" charset="-120"/>
              </a:rPr>
              <a:t>Also, the perceptual metrics might not always agree with each other. They measure different things.</a:t>
            </a:r>
            <a:endParaRPr lang="en-US" sz="1500" dirty="0"/>
          </a:p>
        </p:txBody>
      </p:sp>
      <p:sp>
        <p:nvSpPr>
          <p:cNvPr id="13" name="Text 11"/>
          <p:cNvSpPr/>
          <p:nvPr/>
        </p:nvSpPr>
        <p:spPr>
          <a:xfrm>
            <a:off x="6309360" y="1627632"/>
            <a:ext cx="5212080" cy="274320"/>
          </a:xfrm>
          <a:prstGeom prst="rect">
            <a:avLst/>
          </a:prstGeom>
          <a:noFill/>
          <a:ln/>
        </p:spPr>
        <p:txBody>
          <a:bodyPr wrap="square" lIns="0" tIns="0" rIns="0" bIns="0" rtlCol="0" anchor="ctr"/>
          <a:lstStyle/>
          <a:p>
            <a:pPr marL="0" indent="0">
              <a:buNone/>
            </a:pPr>
            <a:r>
              <a:rPr lang="en-US" sz="1150" b="1" kern="0" spc="120" dirty="0">
                <a:solidFill>
                  <a:srgbClr val="E08A3C"/>
                </a:solidFill>
                <a:latin typeface="Calibri" pitchFamily="34" charset="0"/>
                <a:ea typeface="Calibri" pitchFamily="34" charset="-122"/>
                <a:cs typeface="Calibri" pitchFamily="34" charset="-120"/>
              </a:rPr>
              <a:t>Perceptual / signal metrics</a:t>
            </a:r>
            <a:endParaRPr lang="en-US" sz="1150" dirty="0"/>
          </a:p>
        </p:txBody>
      </p:sp>
      <p:sp>
        <p:nvSpPr>
          <p:cNvPr id="14" name="Shape 12"/>
          <p:cNvSpPr/>
          <p:nvPr/>
        </p:nvSpPr>
        <p:spPr>
          <a:xfrm>
            <a:off x="6309360" y="196596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5" name="Text 13"/>
          <p:cNvSpPr/>
          <p:nvPr/>
        </p:nvSpPr>
        <p:spPr>
          <a:xfrm>
            <a:off x="6583680" y="209397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PESQ</a:t>
            </a:r>
            <a:endParaRPr lang="en-US" sz="1700" dirty="0"/>
          </a:p>
        </p:txBody>
      </p:sp>
      <p:sp>
        <p:nvSpPr>
          <p:cNvPr id="16" name="Text 14"/>
          <p:cNvSpPr/>
          <p:nvPr/>
        </p:nvSpPr>
        <p:spPr>
          <a:xfrm>
            <a:off x="8412480" y="213055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−0.5 → 4.5 Higher better</a:t>
            </a:r>
            <a:endParaRPr lang="en-US" sz="1150" dirty="0"/>
          </a:p>
        </p:txBody>
      </p:sp>
      <p:sp>
        <p:nvSpPr>
          <p:cNvPr id="17" name="Text 15"/>
          <p:cNvSpPr/>
          <p:nvPr/>
        </p:nvSpPr>
        <p:spPr>
          <a:xfrm>
            <a:off x="6583680" y="245973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Perceptual Evaluation of Speech Quality</a:t>
            </a:r>
            <a:endParaRPr lang="en-US" sz="1300" dirty="0"/>
          </a:p>
        </p:txBody>
      </p:sp>
      <p:sp>
        <p:nvSpPr>
          <p:cNvPr id="18" name="Shape 16"/>
          <p:cNvSpPr/>
          <p:nvPr/>
        </p:nvSpPr>
        <p:spPr>
          <a:xfrm>
            <a:off x="6309360" y="324612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9" name="Text 17"/>
          <p:cNvSpPr/>
          <p:nvPr/>
        </p:nvSpPr>
        <p:spPr>
          <a:xfrm>
            <a:off x="6583680" y="337413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STOI</a:t>
            </a:r>
            <a:endParaRPr lang="en-US" sz="1700" dirty="0"/>
          </a:p>
        </p:txBody>
      </p:sp>
      <p:sp>
        <p:nvSpPr>
          <p:cNvPr id="20" name="Text 18"/>
          <p:cNvSpPr/>
          <p:nvPr/>
        </p:nvSpPr>
        <p:spPr>
          <a:xfrm>
            <a:off x="8412480" y="341071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0 → 1 Higher better</a:t>
            </a:r>
            <a:endParaRPr lang="en-US" sz="1150" dirty="0"/>
          </a:p>
        </p:txBody>
      </p:sp>
      <p:sp>
        <p:nvSpPr>
          <p:cNvPr id="21" name="Text 19"/>
          <p:cNvSpPr/>
          <p:nvPr/>
        </p:nvSpPr>
        <p:spPr>
          <a:xfrm>
            <a:off x="6583680" y="373989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Short-Time Objective Intelligibility</a:t>
            </a:r>
            <a:endParaRPr lang="en-US" sz="1300" dirty="0"/>
          </a:p>
        </p:txBody>
      </p:sp>
      <p:sp>
        <p:nvSpPr>
          <p:cNvPr id="22" name="Shape 20"/>
          <p:cNvSpPr/>
          <p:nvPr/>
        </p:nvSpPr>
        <p:spPr>
          <a:xfrm>
            <a:off x="6309360" y="4526280"/>
            <a:ext cx="5230368" cy="1115568"/>
          </a:xfrm>
          <a:prstGeom prst="roundRect">
            <a:avLst>
              <a:gd name="adj" fmla="val 7377"/>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Text 21"/>
          <p:cNvSpPr/>
          <p:nvPr/>
        </p:nvSpPr>
        <p:spPr>
          <a:xfrm>
            <a:off x="6583680" y="4654296"/>
            <a:ext cx="1828800" cy="310896"/>
          </a:xfrm>
          <a:prstGeom prst="rect">
            <a:avLst/>
          </a:prstGeom>
          <a:noFill/>
          <a:ln/>
        </p:spPr>
        <p:txBody>
          <a:bodyPr wrap="square" lIns="0" tIns="0" rIns="0" bIns="0" rtlCol="0" anchor="ctr"/>
          <a:lstStyle/>
          <a:p>
            <a:pPr marL="0" indent="0">
              <a:buNone/>
            </a:pPr>
            <a:r>
              <a:rPr lang="en-US" sz="1700" b="1" dirty="0">
                <a:solidFill>
                  <a:srgbClr val="12233A"/>
                </a:solidFill>
                <a:latin typeface="Cambria" pitchFamily="34" charset="0"/>
                <a:ea typeface="Cambria" pitchFamily="34" charset="-122"/>
                <a:cs typeface="Cambria" pitchFamily="34" charset="-120"/>
              </a:rPr>
              <a:t>SI-SDR</a:t>
            </a:r>
            <a:endParaRPr lang="en-US" sz="1700" dirty="0"/>
          </a:p>
        </p:txBody>
      </p:sp>
      <p:sp>
        <p:nvSpPr>
          <p:cNvPr id="24" name="Text 22"/>
          <p:cNvSpPr/>
          <p:nvPr/>
        </p:nvSpPr>
        <p:spPr>
          <a:xfrm>
            <a:off x="8412480" y="4690872"/>
            <a:ext cx="2834640" cy="274320"/>
          </a:xfrm>
          <a:prstGeom prst="rect">
            <a:avLst/>
          </a:prstGeom>
          <a:noFill/>
          <a:ln/>
        </p:spPr>
        <p:txBody>
          <a:bodyPr wrap="square" lIns="0" tIns="0" rIns="0" bIns="0" rtlCol="0" anchor="ctr"/>
          <a:lstStyle/>
          <a:p>
            <a:pPr marL="0" indent="0" algn="r">
              <a:buNone/>
            </a:pPr>
            <a:r>
              <a:rPr lang="en-US" sz="1150" b="1" dirty="0">
                <a:solidFill>
                  <a:srgbClr val="0E8A8F"/>
                </a:solidFill>
                <a:latin typeface="Calibri" pitchFamily="34" charset="0"/>
                <a:ea typeface="Calibri" pitchFamily="34" charset="-122"/>
                <a:cs typeface="Calibri" pitchFamily="34" charset="-120"/>
              </a:rPr>
              <a:t>dB – Higher better</a:t>
            </a:r>
            <a:endParaRPr lang="en-US" sz="1150" dirty="0"/>
          </a:p>
        </p:txBody>
      </p:sp>
      <p:sp>
        <p:nvSpPr>
          <p:cNvPr id="25" name="Text 23"/>
          <p:cNvSpPr/>
          <p:nvPr/>
        </p:nvSpPr>
        <p:spPr>
          <a:xfrm>
            <a:off x="6583680" y="5020056"/>
            <a:ext cx="4663440" cy="548640"/>
          </a:xfrm>
          <a:prstGeom prst="rect">
            <a:avLst/>
          </a:prstGeom>
          <a:noFill/>
          <a:ln/>
        </p:spPr>
        <p:txBody>
          <a:bodyPr wrap="square" lIns="0" tIns="0" rIns="0" bIns="0" rtlCol="0" anchor="t"/>
          <a:lstStyle/>
          <a:p>
            <a:r>
              <a:rPr lang="en-US" sz="1300" dirty="0">
                <a:solidFill>
                  <a:srgbClr val="62707F"/>
                </a:solidFill>
                <a:latin typeface="Calibri" pitchFamily="34" charset="0"/>
                <a:ea typeface="Calibri" pitchFamily="34" charset="-122"/>
                <a:cs typeface="Calibri" pitchFamily="34" charset="-120"/>
              </a:rPr>
              <a:t>Scale-Invariant Signal-to-Distortion Ratio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STAGE 4 — TRAINING</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Training the network</a:t>
            </a:r>
            <a:endParaRPr lang="en-US" sz="3000" dirty="0"/>
          </a:p>
        </p:txBody>
      </p:sp>
      <p:sp>
        <p:nvSpPr>
          <p:cNvPr id="4" name="Shape 2"/>
          <p:cNvSpPr/>
          <p:nvPr/>
        </p:nvSpPr>
        <p:spPr>
          <a:xfrm>
            <a:off x="640080" y="1318950"/>
            <a:ext cx="5349240" cy="1097280"/>
          </a:xfrm>
          <a:prstGeom prst="roundRect">
            <a:avLst>
              <a:gd name="adj" fmla="val 6818"/>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Shape 3"/>
          <p:cNvSpPr/>
          <p:nvPr/>
        </p:nvSpPr>
        <p:spPr>
          <a:xfrm>
            <a:off x="877824" y="1514299"/>
            <a:ext cx="274320" cy="249382"/>
          </a:xfrm>
          <a:prstGeom prst="ellipse">
            <a:avLst/>
          </a:prstGeom>
          <a:solidFill>
            <a:srgbClr val="0E8A8F"/>
          </a:solidFill>
          <a:ln/>
        </p:spPr>
        <p:txBody>
          <a:bodyPr/>
          <a:lstStyle/>
          <a:p>
            <a:endParaRPr lang="en-US"/>
          </a:p>
        </p:txBody>
      </p:sp>
      <p:sp>
        <p:nvSpPr>
          <p:cNvPr id="6" name="Text 4"/>
          <p:cNvSpPr/>
          <p:nvPr/>
        </p:nvSpPr>
        <p:spPr>
          <a:xfrm>
            <a:off x="1280160" y="1442810"/>
            <a:ext cx="4480560" cy="282633"/>
          </a:xfrm>
          <a:prstGeom prst="rect">
            <a:avLst/>
          </a:prstGeom>
          <a:noFill/>
          <a:ln/>
        </p:spPr>
        <p:txBody>
          <a:bodyPr wrap="square" lIns="0" tIns="0" rIns="0" bIns="0" rtlCol="0" anchor="ctr"/>
          <a:lstStyle/>
          <a:p>
            <a:pPr marL="0" indent="0">
              <a:buNone/>
            </a:pPr>
            <a:r>
              <a:rPr lang="en-US" sz="1450" b="1" dirty="0">
                <a:solidFill>
                  <a:srgbClr val="12233A"/>
                </a:solidFill>
                <a:latin typeface="Calibri" pitchFamily="34" charset="0"/>
                <a:ea typeface="Calibri" pitchFamily="34" charset="-122"/>
                <a:cs typeface="Calibri" pitchFamily="34" charset="-120"/>
              </a:rPr>
              <a:t>Pad, then pack</a:t>
            </a:r>
            <a:endParaRPr lang="en-US" sz="1450" dirty="0"/>
          </a:p>
        </p:txBody>
      </p:sp>
      <p:sp>
        <p:nvSpPr>
          <p:cNvPr id="7" name="Text 5"/>
          <p:cNvSpPr/>
          <p:nvPr/>
        </p:nvSpPr>
        <p:spPr>
          <a:xfrm>
            <a:off x="1280160" y="1805245"/>
            <a:ext cx="4526280" cy="581891"/>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Each batch pads to its longest file. Packing tells the LSTM where the real audio stops. A masked MSE stops the MSE from empty padding signal from being considered</a:t>
            </a:r>
            <a:endParaRPr lang="en-US" sz="1300" dirty="0"/>
          </a:p>
        </p:txBody>
      </p:sp>
      <p:sp>
        <p:nvSpPr>
          <p:cNvPr id="8" name="Shape 6"/>
          <p:cNvSpPr/>
          <p:nvPr/>
        </p:nvSpPr>
        <p:spPr>
          <a:xfrm>
            <a:off x="640080" y="2690550"/>
            <a:ext cx="5349240" cy="1097280"/>
          </a:xfrm>
          <a:prstGeom prst="roundRect">
            <a:avLst>
              <a:gd name="adj" fmla="val 6818"/>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9" name="Shape 7"/>
          <p:cNvSpPr/>
          <p:nvPr/>
        </p:nvSpPr>
        <p:spPr>
          <a:xfrm>
            <a:off x="877824" y="2885899"/>
            <a:ext cx="274320" cy="249382"/>
          </a:xfrm>
          <a:prstGeom prst="ellipse">
            <a:avLst/>
          </a:prstGeom>
          <a:solidFill>
            <a:srgbClr val="0E8A8F"/>
          </a:solidFill>
          <a:ln/>
        </p:spPr>
        <p:txBody>
          <a:bodyPr/>
          <a:lstStyle/>
          <a:p>
            <a:endParaRPr lang="en-US"/>
          </a:p>
        </p:txBody>
      </p:sp>
      <p:sp>
        <p:nvSpPr>
          <p:cNvPr id="10" name="Text 8"/>
          <p:cNvSpPr/>
          <p:nvPr/>
        </p:nvSpPr>
        <p:spPr>
          <a:xfrm>
            <a:off x="1280160" y="2814410"/>
            <a:ext cx="4480560" cy="282633"/>
          </a:xfrm>
          <a:prstGeom prst="rect">
            <a:avLst/>
          </a:prstGeom>
          <a:noFill/>
          <a:ln/>
        </p:spPr>
        <p:txBody>
          <a:bodyPr wrap="square" lIns="0" tIns="0" rIns="0" bIns="0" rtlCol="0" anchor="ctr"/>
          <a:lstStyle/>
          <a:p>
            <a:pPr marL="0" indent="0">
              <a:buNone/>
            </a:pPr>
            <a:r>
              <a:rPr lang="en-US" sz="1450" b="1" dirty="0">
                <a:solidFill>
                  <a:srgbClr val="12233A"/>
                </a:solidFill>
                <a:latin typeface="Calibri" pitchFamily="34" charset="0"/>
                <a:ea typeface="Calibri" pitchFamily="34" charset="-122"/>
                <a:cs typeface="Calibri" pitchFamily="34" charset="-120"/>
              </a:rPr>
              <a:t>Masked MSE loss</a:t>
            </a:r>
            <a:endParaRPr lang="en-US" sz="1450" dirty="0"/>
          </a:p>
        </p:txBody>
      </p:sp>
      <p:sp>
        <p:nvSpPr>
          <p:cNvPr id="11" name="Text 9"/>
          <p:cNvSpPr/>
          <p:nvPr/>
        </p:nvSpPr>
        <p:spPr>
          <a:xfrm>
            <a:off x="1280160" y="3176845"/>
            <a:ext cx="4526280" cy="581891"/>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The loss ignores every padded frame, so silence adds no gradient.</a:t>
            </a:r>
            <a:endParaRPr lang="en-US" sz="1300" dirty="0"/>
          </a:p>
        </p:txBody>
      </p:sp>
      <p:sp>
        <p:nvSpPr>
          <p:cNvPr id="12" name="Shape 10"/>
          <p:cNvSpPr/>
          <p:nvPr/>
        </p:nvSpPr>
        <p:spPr>
          <a:xfrm>
            <a:off x="640080" y="4069632"/>
            <a:ext cx="5349240" cy="1246909"/>
          </a:xfrm>
          <a:prstGeom prst="roundRect">
            <a:avLst>
              <a:gd name="adj" fmla="val 6000"/>
            </a:avLst>
          </a:prstGeom>
          <a:solidFill>
            <a:srgbClr val="E3F2F2"/>
          </a:solidFill>
          <a:ln/>
          <a:effectLst>
            <a:outerShdw blurRad="101600" dist="12700" dir="5400000" algn="bl" rotWithShape="0">
              <a:srgbClr val="9AA7B4">
                <a:alpha val="18000"/>
              </a:srgbClr>
            </a:outerShdw>
          </a:effectLst>
        </p:spPr>
        <p:txBody>
          <a:bodyPr/>
          <a:lstStyle/>
          <a:p>
            <a:endParaRPr lang="en-US"/>
          </a:p>
        </p:txBody>
      </p:sp>
      <p:sp>
        <p:nvSpPr>
          <p:cNvPr id="13" name="Text 11"/>
          <p:cNvSpPr/>
          <p:nvPr/>
        </p:nvSpPr>
        <p:spPr>
          <a:xfrm>
            <a:off x="877824" y="4156084"/>
            <a:ext cx="4846320" cy="232756"/>
          </a:xfrm>
          <a:prstGeom prst="rect">
            <a:avLst/>
          </a:prstGeom>
          <a:noFill/>
          <a:ln/>
        </p:spPr>
        <p:txBody>
          <a:bodyPr wrap="square" lIns="0" tIns="0" rIns="0" bIns="0" rtlCol="0" anchor="ctr"/>
          <a:lstStyle/>
          <a:p>
            <a:pPr marL="0" indent="0">
              <a:buNone/>
            </a:pPr>
            <a:r>
              <a:rPr lang="en-US" sz="1100" b="1" kern="0" spc="100" dirty="0">
                <a:solidFill>
                  <a:srgbClr val="0E8A8F"/>
                </a:solidFill>
                <a:latin typeface="Calibri" pitchFamily="34" charset="0"/>
                <a:ea typeface="Calibri" pitchFamily="34" charset="-122"/>
                <a:cs typeface="Calibri" pitchFamily="34" charset="-120"/>
              </a:rPr>
              <a:t>What the model outputs</a:t>
            </a:r>
            <a:endParaRPr lang="en-US" sz="1100" dirty="0"/>
          </a:p>
        </p:txBody>
      </p:sp>
      <p:sp>
        <p:nvSpPr>
          <p:cNvPr id="14" name="Text 12"/>
          <p:cNvSpPr/>
          <p:nvPr/>
        </p:nvSpPr>
        <p:spPr>
          <a:xfrm>
            <a:off x="877824" y="4485684"/>
            <a:ext cx="4846320" cy="789709"/>
          </a:xfrm>
          <a:prstGeom prst="rect">
            <a:avLst/>
          </a:prstGeom>
          <a:noFill/>
          <a:ln/>
        </p:spPr>
        <p:txBody>
          <a:bodyPr wrap="square" lIns="0" tIns="0" rIns="0" bIns="0" rtlCol="0" anchor="t"/>
          <a:lstStyle/>
          <a:p>
            <a:pPr marL="0" indent="0">
              <a:buNone/>
            </a:pPr>
            <a:r>
              <a:rPr lang="en-US" sz="1300" b="1" dirty="0">
                <a:solidFill>
                  <a:srgbClr val="12233A"/>
                </a:solidFill>
                <a:latin typeface="Calibri" pitchFamily="34" charset="0"/>
                <a:ea typeface="Calibri" pitchFamily="34" charset="-122"/>
                <a:cs typeface="Calibri" pitchFamily="34" charset="-120"/>
              </a:rPr>
              <a:t>An IRM mask.</a:t>
            </a:r>
            <a:r>
              <a:rPr lang="en-US" sz="1300" dirty="0">
                <a:solidFill>
                  <a:srgbClr val="12233A"/>
                </a:solidFill>
                <a:latin typeface="Calibri" pitchFamily="34" charset="0"/>
                <a:ea typeface="Calibri" pitchFamily="34" charset="-122"/>
                <a:cs typeface="Calibri" pitchFamily="34" charset="-120"/>
              </a:rPr>
              <a:t>  Sigmoid gives a 0-1 gain per bin. The gain multiplies the noisy magnitude to estimate the clean one.</a:t>
            </a:r>
            <a:endParaRPr lang="en-US" sz="1300" dirty="0"/>
          </a:p>
        </p:txBody>
      </p:sp>
      <p:sp>
        <p:nvSpPr>
          <p:cNvPr id="15" name="Shape 13"/>
          <p:cNvSpPr/>
          <p:nvPr/>
        </p:nvSpPr>
        <p:spPr>
          <a:xfrm>
            <a:off x="6172200" y="1451123"/>
            <a:ext cx="5367528" cy="3740727"/>
          </a:xfrm>
          <a:prstGeom prst="roundRect">
            <a:avLst>
              <a:gd name="adj" fmla="val 200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6" name="Text 14"/>
          <p:cNvSpPr/>
          <p:nvPr/>
        </p:nvSpPr>
        <p:spPr>
          <a:xfrm>
            <a:off x="6446520" y="1459435"/>
            <a:ext cx="4846320" cy="249382"/>
          </a:xfrm>
          <a:prstGeom prst="rect">
            <a:avLst/>
          </a:prstGeom>
          <a:noFill/>
          <a:ln/>
        </p:spPr>
        <p:txBody>
          <a:bodyPr wrap="square" lIns="0" tIns="0" rIns="0" bIns="0" rtlCol="0" anchor="ctr"/>
          <a:lstStyle/>
          <a:p>
            <a:pPr marL="0" indent="0">
              <a:buNone/>
            </a:pPr>
            <a:r>
              <a:rPr lang="en-US" sz="1150" b="1" kern="0" spc="100" dirty="0">
                <a:solidFill>
                  <a:srgbClr val="0E8A8F"/>
                </a:solidFill>
                <a:latin typeface="Calibri" pitchFamily="34" charset="0"/>
                <a:ea typeface="Calibri" pitchFamily="34" charset="-122"/>
                <a:cs typeface="Calibri" pitchFamily="34" charset="-120"/>
              </a:rPr>
              <a:t>Settings  ·  4_train.yaml</a:t>
            </a:r>
            <a:endParaRPr lang="en-US" sz="1150" dirty="0"/>
          </a:p>
        </p:txBody>
      </p:sp>
      <p:sp>
        <p:nvSpPr>
          <p:cNvPr id="17" name="Text 15"/>
          <p:cNvSpPr/>
          <p:nvPr/>
        </p:nvSpPr>
        <p:spPr>
          <a:xfrm>
            <a:off x="6446520" y="1875903"/>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Optimizer</a:t>
            </a:r>
            <a:endParaRPr lang="en-US" sz="1350" dirty="0"/>
          </a:p>
        </p:txBody>
      </p:sp>
      <p:sp>
        <p:nvSpPr>
          <p:cNvPr id="18" name="Text 16"/>
          <p:cNvSpPr/>
          <p:nvPr/>
        </p:nvSpPr>
        <p:spPr>
          <a:xfrm>
            <a:off x="8778240" y="1875903"/>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Adam</a:t>
            </a:r>
            <a:endParaRPr lang="en-US" sz="1300" dirty="0"/>
          </a:p>
        </p:txBody>
      </p:sp>
      <p:sp>
        <p:nvSpPr>
          <p:cNvPr id="19" name="Shape 17"/>
          <p:cNvSpPr/>
          <p:nvPr/>
        </p:nvSpPr>
        <p:spPr>
          <a:xfrm>
            <a:off x="6446520" y="2242494"/>
            <a:ext cx="4818888" cy="0"/>
          </a:xfrm>
          <a:prstGeom prst="line">
            <a:avLst/>
          </a:prstGeom>
          <a:noFill/>
          <a:ln w="12700">
            <a:solidFill>
              <a:srgbClr val="DFE5EB"/>
            </a:solidFill>
            <a:prstDash val="solid"/>
          </a:ln>
        </p:spPr>
        <p:txBody>
          <a:bodyPr/>
          <a:lstStyle/>
          <a:p>
            <a:endParaRPr lang="en-US"/>
          </a:p>
        </p:txBody>
      </p:sp>
      <p:sp>
        <p:nvSpPr>
          <p:cNvPr id="20" name="Text 18"/>
          <p:cNvSpPr/>
          <p:nvPr/>
        </p:nvSpPr>
        <p:spPr>
          <a:xfrm>
            <a:off x="6446520" y="2259951"/>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Learning rate</a:t>
            </a:r>
            <a:endParaRPr lang="en-US" sz="1350" dirty="0"/>
          </a:p>
        </p:txBody>
      </p:sp>
      <p:sp>
        <p:nvSpPr>
          <p:cNvPr id="21" name="Text 19"/>
          <p:cNvSpPr/>
          <p:nvPr/>
        </p:nvSpPr>
        <p:spPr>
          <a:xfrm>
            <a:off x="8778240" y="2259951"/>
            <a:ext cx="2651760" cy="349135"/>
          </a:xfrm>
          <a:prstGeom prst="rect">
            <a:avLst/>
          </a:prstGeom>
          <a:noFill/>
          <a:ln/>
        </p:spPr>
        <p:txBody>
          <a:bodyPr wrap="square" lIns="0" tIns="0" rIns="0" bIns="0" rtlCol="0" anchor="ctr"/>
          <a:lstStyle/>
          <a:p>
            <a:pPr marL="0" indent="0">
              <a:buNone/>
            </a:pPr>
            <a:r>
              <a:rPr lang="en-US" sz="1200" b="1" dirty="0">
                <a:solidFill>
                  <a:srgbClr val="12233A"/>
                </a:solidFill>
                <a:latin typeface="Courier New" pitchFamily="34" charset="0"/>
                <a:ea typeface="Courier New" pitchFamily="34" charset="-122"/>
                <a:cs typeface="Courier New" pitchFamily="34" charset="-120"/>
              </a:rPr>
              <a:t>[Hyperparameter]</a:t>
            </a:r>
            <a:endParaRPr lang="en-US" sz="1200" dirty="0"/>
          </a:p>
        </p:txBody>
      </p:sp>
      <p:sp>
        <p:nvSpPr>
          <p:cNvPr id="22" name="Shape 20"/>
          <p:cNvSpPr/>
          <p:nvPr/>
        </p:nvSpPr>
        <p:spPr>
          <a:xfrm>
            <a:off x="6446520" y="2626542"/>
            <a:ext cx="4818888" cy="0"/>
          </a:xfrm>
          <a:prstGeom prst="line">
            <a:avLst/>
          </a:prstGeom>
          <a:noFill/>
          <a:ln w="12700">
            <a:solidFill>
              <a:srgbClr val="DFE5EB"/>
            </a:solidFill>
            <a:prstDash val="solid"/>
          </a:ln>
        </p:spPr>
        <p:txBody>
          <a:bodyPr/>
          <a:lstStyle/>
          <a:p>
            <a:endParaRPr lang="en-US"/>
          </a:p>
        </p:txBody>
      </p:sp>
      <p:sp>
        <p:nvSpPr>
          <p:cNvPr id="23" name="Text 21"/>
          <p:cNvSpPr/>
          <p:nvPr/>
        </p:nvSpPr>
        <p:spPr>
          <a:xfrm>
            <a:off x="6446520" y="2643999"/>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Weight decay</a:t>
            </a:r>
            <a:endParaRPr lang="en-US" sz="1350" dirty="0"/>
          </a:p>
        </p:txBody>
      </p:sp>
      <p:sp>
        <p:nvSpPr>
          <p:cNvPr id="24" name="Text 22"/>
          <p:cNvSpPr/>
          <p:nvPr/>
        </p:nvSpPr>
        <p:spPr>
          <a:xfrm>
            <a:off x="8778240" y="2643999"/>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0.0</a:t>
            </a:r>
            <a:endParaRPr lang="en-US" sz="1300" dirty="0"/>
          </a:p>
        </p:txBody>
      </p:sp>
      <p:sp>
        <p:nvSpPr>
          <p:cNvPr id="25" name="Shape 23"/>
          <p:cNvSpPr/>
          <p:nvPr/>
        </p:nvSpPr>
        <p:spPr>
          <a:xfrm>
            <a:off x="6446520" y="3010590"/>
            <a:ext cx="4818888" cy="0"/>
          </a:xfrm>
          <a:prstGeom prst="line">
            <a:avLst/>
          </a:prstGeom>
          <a:noFill/>
          <a:ln w="12700">
            <a:solidFill>
              <a:srgbClr val="DFE5EB"/>
            </a:solidFill>
            <a:prstDash val="solid"/>
          </a:ln>
        </p:spPr>
        <p:txBody>
          <a:bodyPr/>
          <a:lstStyle/>
          <a:p>
            <a:endParaRPr lang="en-US"/>
          </a:p>
        </p:txBody>
      </p:sp>
      <p:sp>
        <p:nvSpPr>
          <p:cNvPr id="26" name="Text 24"/>
          <p:cNvSpPr/>
          <p:nvPr/>
        </p:nvSpPr>
        <p:spPr>
          <a:xfrm>
            <a:off x="6446520" y="3028047"/>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Gradient clip</a:t>
            </a:r>
            <a:endParaRPr lang="en-US" sz="1350" dirty="0"/>
          </a:p>
        </p:txBody>
      </p:sp>
      <p:sp>
        <p:nvSpPr>
          <p:cNvPr id="27" name="Text 25"/>
          <p:cNvSpPr/>
          <p:nvPr/>
        </p:nvSpPr>
        <p:spPr>
          <a:xfrm>
            <a:off x="8778240" y="3028047"/>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1.0</a:t>
            </a:r>
            <a:endParaRPr lang="en-US" sz="1300" dirty="0"/>
          </a:p>
        </p:txBody>
      </p:sp>
      <p:sp>
        <p:nvSpPr>
          <p:cNvPr id="28" name="Shape 26"/>
          <p:cNvSpPr/>
          <p:nvPr/>
        </p:nvSpPr>
        <p:spPr>
          <a:xfrm>
            <a:off x="6446520" y="3394638"/>
            <a:ext cx="4818888" cy="0"/>
          </a:xfrm>
          <a:prstGeom prst="line">
            <a:avLst/>
          </a:prstGeom>
          <a:noFill/>
          <a:ln w="12700">
            <a:solidFill>
              <a:srgbClr val="DFE5EB"/>
            </a:solidFill>
            <a:prstDash val="solid"/>
          </a:ln>
        </p:spPr>
        <p:txBody>
          <a:bodyPr/>
          <a:lstStyle/>
          <a:p>
            <a:endParaRPr lang="en-US"/>
          </a:p>
        </p:txBody>
      </p:sp>
      <p:sp>
        <p:nvSpPr>
          <p:cNvPr id="29" name="Text 27"/>
          <p:cNvSpPr/>
          <p:nvPr/>
        </p:nvSpPr>
        <p:spPr>
          <a:xfrm>
            <a:off x="6446520" y="3412095"/>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Hidden size / layers</a:t>
            </a:r>
            <a:endParaRPr lang="en-US" sz="1350" dirty="0"/>
          </a:p>
        </p:txBody>
      </p:sp>
      <p:sp>
        <p:nvSpPr>
          <p:cNvPr id="30" name="Text 28"/>
          <p:cNvSpPr/>
          <p:nvPr/>
        </p:nvSpPr>
        <p:spPr>
          <a:xfrm>
            <a:off x="8778240" y="3412095"/>
            <a:ext cx="2651760" cy="349135"/>
          </a:xfrm>
          <a:prstGeom prst="rect">
            <a:avLst/>
          </a:prstGeom>
          <a:noFill/>
          <a:ln/>
        </p:spPr>
        <p:txBody>
          <a:bodyPr wrap="square" lIns="0" tIns="0" rIns="0" bIns="0" rtlCol="0" anchor="ctr"/>
          <a:lstStyle/>
          <a:p>
            <a:r>
              <a:rPr lang="en-US" sz="1200" b="1" dirty="0">
                <a:solidFill>
                  <a:srgbClr val="12233A"/>
                </a:solidFill>
                <a:latin typeface="Courier New" pitchFamily="34" charset="0"/>
                <a:ea typeface="Courier New" pitchFamily="34" charset="-122"/>
                <a:cs typeface="Courier New" pitchFamily="34" charset="-120"/>
              </a:rPr>
              <a:t>[Hyperparameter]</a:t>
            </a:r>
            <a:endParaRPr lang="en-US" sz="1200" dirty="0"/>
          </a:p>
        </p:txBody>
      </p:sp>
      <p:sp>
        <p:nvSpPr>
          <p:cNvPr id="31" name="Shape 29"/>
          <p:cNvSpPr/>
          <p:nvPr/>
        </p:nvSpPr>
        <p:spPr>
          <a:xfrm>
            <a:off x="6446520" y="3778686"/>
            <a:ext cx="4818888" cy="0"/>
          </a:xfrm>
          <a:prstGeom prst="line">
            <a:avLst/>
          </a:prstGeom>
          <a:noFill/>
          <a:ln w="12700">
            <a:solidFill>
              <a:srgbClr val="DFE5EB"/>
            </a:solidFill>
            <a:prstDash val="solid"/>
          </a:ln>
        </p:spPr>
        <p:txBody>
          <a:bodyPr/>
          <a:lstStyle/>
          <a:p>
            <a:endParaRPr lang="en-US"/>
          </a:p>
        </p:txBody>
      </p:sp>
      <p:sp>
        <p:nvSpPr>
          <p:cNvPr id="32" name="Text 30"/>
          <p:cNvSpPr/>
          <p:nvPr/>
        </p:nvSpPr>
        <p:spPr>
          <a:xfrm>
            <a:off x="6446520" y="3796143"/>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Dropout</a:t>
            </a:r>
            <a:endParaRPr lang="en-US" sz="1350" dirty="0"/>
          </a:p>
        </p:txBody>
      </p:sp>
      <p:sp>
        <p:nvSpPr>
          <p:cNvPr id="33" name="Text 31"/>
          <p:cNvSpPr/>
          <p:nvPr/>
        </p:nvSpPr>
        <p:spPr>
          <a:xfrm>
            <a:off x="8778240" y="3796143"/>
            <a:ext cx="2651760" cy="349135"/>
          </a:xfrm>
          <a:prstGeom prst="rect">
            <a:avLst/>
          </a:prstGeom>
          <a:noFill/>
          <a:ln/>
        </p:spPr>
        <p:txBody>
          <a:bodyPr wrap="square" lIns="0" tIns="0" rIns="0" bIns="0" rtlCol="0" anchor="ctr"/>
          <a:lstStyle/>
          <a:p>
            <a:r>
              <a:rPr lang="en-US" sz="1200" b="1" dirty="0">
                <a:solidFill>
                  <a:srgbClr val="12233A"/>
                </a:solidFill>
                <a:latin typeface="Courier New" pitchFamily="34" charset="0"/>
                <a:ea typeface="Courier New" pitchFamily="34" charset="-122"/>
                <a:cs typeface="Courier New" pitchFamily="34" charset="-120"/>
              </a:rPr>
              <a:t>[Hyperparameter]</a:t>
            </a:r>
            <a:endParaRPr lang="en-US" sz="1200" dirty="0"/>
          </a:p>
        </p:txBody>
      </p:sp>
      <p:sp>
        <p:nvSpPr>
          <p:cNvPr id="34" name="Shape 32"/>
          <p:cNvSpPr/>
          <p:nvPr/>
        </p:nvSpPr>
        <p:spPr>
          <a:xfrm>
            <a:off x="6446520" y="4162734"/>
            <a:ext cx="4818888" cy="0"/>
          </a:xfrm>
          <a:prstGeom prst="line">
            <a:avLst/>
          </a:prstGeom>
          <a:noFill/>
          <a:ln w="12700">
            <a:solidFill>
              <a:srgbClr val="DFE5EB"/>
            </a:solidFill>
            <a:prstDash val="solid"/>
          </a:ln>
        </p:spPr>
        <p:txBody>
          <a:bodyPr/>
          <a:lstStyle/>
          <a:p>
            <a:endParaRPr lang="en-US"/>
          </a:p>
        </p:txBody>
      </p:sp>
      <p:sp>
        <p:nvSpPr>
          <p:cNvPr id="35" name="Text 33"/>
          <p:cNvSpPr/>
          <p:nvPr/>
        </p:nvSpPr>
        <p:spPr>
          <a:xfrm>
            <a:off x="6446520" y="4180191"/>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Batch size</a:t>
            </a:r>
            <a:endParaRPr lang="en-US" sz="1350" dirty="0"/>
          </a:p>
        </p:txBody>
      </p:sp>
      <p:sp>
        <p:nvSpPr>
          <p:cNvPr id="36" name="Text 34"/>
          <p:cNvSpPr/>
          <p:nvPr/>
        </p:nvSpPr>
        <p:spPr>
          <a:xfrm>
            <a:off x="8778240" y="4180191"/>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8</a:t>
            </a:r>
            <a:endParaRPr lang="en-US" sz="1300" dirty="0"/>
          </a:p>
        </p:txBody>
      </p:sp>
      <p:sp>
        <p:nvSpPr>
          <p:cNvPr id="37" name="Shape 35"/>
          <p:cNvSpPr/>
          <p:nvPr/>
        </p:nvSpPr>
        <p:spPr>
          <a:xfrm>
            <a:off x="6446520" y="4546782"/>
            <a:ext cx="4818888" cy="0"/>
          </a:xfrm>
          <a:prstGeom prst="line">
            <a:avLst/>
          </a:prstGeom>
          <a:noFill/>
          <a:ln w="12700">
            <a:solidFill>
              <a:srgbClr val="DFE5EB"/>
            </a:solidFill>
            <a:prstDash val="solid"/>
          </a:ln>
        </p:spPr>
        <p:txBody>
          <a:bodyPr/>
          <a:lstStyle/>
          <a:p>
            <a:endParaRPr lang="en-US"/>
          </a:p>
        </p:txBody>
      </p:sp>
      <p:sp>
        <p:nvSpPr>
          <p:cNvPr id="38" name="Text 36"/>
          <p:cNvSpPr/>
          <p:nvPr/>
        </p:nvSpPr>
        <p:spPr>
          <a:xfrm>
            <a:off x="6446520" y="4564239"/>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Epochs</a:t>
            </a:r>
            <a:endParaRPr lang="en-US" sz="1350" dirty="0"/>
          </a:p>
        </p:txBody>
      </p:sp>
      <p:sp>
        <p:nvSpPr>
          <p:cNvPr id="39" name="Text 37"/>
          <p:cNvSpPr/>
          <p:nvPr/>
        </p:nvSpPr>
        <p:spPr>
          <a:xfrm>
            <a:off x="8778240" y="4564239"/>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cs typeface="Courier New" pitchFamily="34" charset="-120"/>
              </a:rPr>
              <a:t>64 – stop at overfit</a:t>
            </a:r>
            <a:endParaRPr lang="en-US" sz="1300" dirty="0"/>
          </a:p>
        </p:txBody>
      </p:sp>
      <p:sp>
        <p:nvSpPr>
          <p:cNvPr id="40" name="Shape 38"/>
          <p:cNvSpPr/>
          <p:nvPr/>
        </p:nvSpPr>
        <p:spPr>
          <a:xfrm>
            <a:off x="6446520" y="4930830"/>
            <a:ext cx="4818888" cy="0"/>
          </a:xfrm>
          <a:prstGeom prst="line">
            <a:avLst/>
          </a:prstGeom>
          <a:noFill/>
          <a:ln w="12700">
            <a:solidFill>
              <a:srgbClr val="DFE5EB"/>
            </a:solidFill>
            <a:prstDash val="solid"/>
          </a:ln>
        </p:spPr>
        <p:txBody>
          <a:bodyPr/>
          <a:lstStyle/>
          <a:p>
            <a:endParaRPr lang="en-US"/>
          </a:p>
        </p:txBody>
      </p:sp>
      <p:sp>
        <p:nvSpPr>
          <p:cNvPr id="41" name="Text 39"/>
          <p:cNvSpPr/>
          <p:nvPr/>
        </p:nvSpPr>
        <p:spPr>
          <a:xfrm>
            <a:off x="6446520" y="4948287"/>
            <a:ext cx="2331720" cy="349135"/>
          </a:xfrm>
          <a:prstGeom prst="rect">
            <a:avLst/>
          </a:prstGeom>
          <a:noFill/>
          <a:ln/>
        </p:spPr>
        <p:txBody>
          <a:bodyPr wrap="square" lIns="0" tIns="0" rIns="0" bIns="0" rtlCol="0" anchor="ctr"/>
          <a:lstStyle/>
          <a:p>
            <a:pPr marL="0" indent="0">
              <a:buNone/>
            </a:pPr>
            <a:r>
              <a:rPr lang="en-US" sz="1350" dirty="0">
                <a:solidFill>
                  <a:srgbClr val="62707F"/>
                </a:solidFill>
                <a:latin typeface="Calibri" pitchFamily="34" charset="0"/>
                <a:ea typeface="Calibri" pitchFamily="34" charset="-122"/>
                <a:cs typeface="Calibri" pitchFamily="34" charset="-120"/>
              </a:rPr>
              <a:t>Checkpoint on</a:t>
            </a:r>
            <a:endParaRPr lang="en-US" sz="1350" dirty="0"/>
          </a:p>
        </p:txBody>
      </p:sp>
      <p:sp>
        <p:nvSpPr>
          <p:cNvPr id="42" name="Text 40"/>
          <p:cNvSpPr/>
          <p:nvPr/>
        </p:nvSpPr>
        <p:spPr>
          <a:xfrm>
            <a:off x="8778240" y="4948287"/>
            <a:ext cx="2651760" cy="349135"/>
          </a:xfrm>
          <a:prstGeom prst="rect">
            <a:avLst/>
          </a:prstGeom>
          <a:noFill/>
          <a:ln/>
        </p:spPr>
        <p:txBody>
          <a:bodyPr wrap="square" lIns="0" tIns="0" rIns="0" bIns="0" rtlCol="0" anchor="ctr"/>
          <a:lstStyle/>
          <a:p>
            <a:pPr marL="0" indent="0">
              <a:buNone/>
            </a:pPr>
            <a:r>
              <a:rPr lang="en-US" sz="1300" b="1" dirty="0">
                <a:solidFill>
                  <a:srgbClr val="12233A"/>
                </a:solidFill>
                <a:latin typeface="Courier New" pitchFamily="34" charset="0"/>
                <a:ea typeface="Courier New" pitchFamily="34" charset="-122"/>
                <a:cs typeface="Courier New" pitchFamily="34" charset="-120"/>
              </a:rPr>
              <a:t>validation MSE</a:t>
            </a:r>
            <a:endParaRPr lang="en-US" sz="1300" dirty="0"/>
          </a:p>
        </p:txBody>
      </p:sp>
      <p:sp>
        <p:nvSpPr>
          <p:cNvPr id="43" name="Shape 18">
            <a:extLst>
              <a:ext uri="{FF2B5EF4-FFF2-40B4-BE49-F238E27FC236}">
                <a16:creationId xmlns:a16="http://schemas.microsoft.com/office/drawing/2014/main" id="{1F75D08A-6BD0-8EF7-F31E-A65855C53F1C}"/>
              </a:ext>
            </a:extLst>
          </p:cNvPr>
          <p:cNvSpPr/>
          <p:nvPr/>
        </p:nvSpPr>
        <p:spPr>
          <a:xfrm>
            <a:off x="652272" y="5591432"/>
            <a:ext cx="10899648" cy="593320"/>
          </a:xfrm>
          <a:prstGeom prst="roundRect">
            <a:avLst>
              <a:gd name="adj" fmla="val 9474"/>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44" name="Text 19">
            <a:extLst>
              <a:ext uri="{FF2B5EF4-FFF2-40B4-BE49-F238E27FC236}">
                <a16:creationId xmlns:a16="http://schemas.microsoft.com/office/drawing/2014/main" id="{ECABD144-93CB-E514-3A80-86F4C193F14D}"/>
              </a:ext>
            </a:extLst>
          </p:cNvPr>
          <p:cNvSpPr/>
          <p:nvPr/>
        </p:nvSpPr>
        <p:spPr>
          <a:xfrm>
            <a:off x="926592" y="5591432"/>
            <a:ext cx="10332720" cy="593320"/>
          </a:xfrm>
          <a:prstGeom prst="rect">
            <a:avLst/>
          </a:prstGeom>
          <a:noFill/>
          <a:ln/>
        </p:spPr>
        <p:txBody>
          <a:bodyPr wrap="square" lIns="0" tIns="0" rIns="0" bIns="0" rtlCol="0" anchor="ctr"/>
          <a:lstStyle/>
          <a:p>
            <a:pPr marL="0" indent="0">
              <a:buNone/>
            </a:pPr>
            <a:r>
              <a:rPr lang="en-US" sz="1300" b="1" dirty="0">
                <a:solidFill>
                  <a:srgbClr val="0E8A8F"/>
                </a:solidFill>
                <a:latin typeface="Calibri" pitchFamily="34" charset="0"/>
                <a:ea typeface="Calibri" pitchFamily="34" charset="-122"/>
                <a:cs typeface="Calibri" pitchFamily="34" charset="-120"/>
              </a:rPr>
              <a:t>Run A  </a:t>
            </a:r>
            <a:r>
              <a:rPr lang="en-US" sz="1300" dirty="0">
                <a:solidFill>
                  <a:srgbClr val="FFFFFF"/>
                </a:solidFill>
                <a:latin typeface="Calibri" pitchFamily="34" charset="0"/>
                <a:ea typeface="Calibri" pitchFamily="34" charset="-122"/>
                <a:cs typeface="Calibri" pitchFamily="34" charset="-120"/>
              </a:rPr>
              <a:t>16 kHz · unidirectional · 512-sample frames · 25 epochs · batch 4          </a:t>
            </a:r>
            <a:r>
              <a:rPr lang="en-US" sz="1300" b="1" dirty="0">
                <a:solidFill>
                  <a:srgbClr val="E08A3C"/>
                </a:solidFill>
                <a:latin typeface="Calibri" pitchFamily="34" charset="0"/>
                <a:ea typeface="Calibri" pitchFamily="34" charset="-122"/>
                <a:cs typeface="Calibri" pitchFamily="34" charset="-120"/>
              </a:rPr>
              <a:t>Run B  </a:t>
            </a:r>
            <a:r>
              <a:rPr lang="en-US" sz="1300" dirty="0">
                <a:solidFill>
                  <a:srgbClr val="FFFFFF"/>
                </a:solidFill>
                <a:latin typeface="Calibri" pitchFamily="34" charset="0"/>
                <a:ea typeface="Calibri" pitchFamily="34" charset="-122"/>
                <a:cs typeface="Calibri" pitchFamily="34" charset="-120"/>
              </a:rPr>
              <a:t>44.1 kHz · bidirectional · 2048-sample frames · 32 epochs · batch 8</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hape 25"/>
          <p:cNvSpPr/>
          <p:nvPr/>
        </p:nvSpPr>
        <p:spPr>
          <a:xfrm>
            <a:off x="640080" y="3904488"/>
            <a:ext cx="6858000" cy="2148840"/>
          </a:xfrm>
          <a:prstGeom prst="roundRect">
            <a:avLst>
              <a:gd name="adj" fmla="val 5143"/>
            </a:avLst>
          </a:prstGeom>
          <a:solidFill>
            <a:srgbClr val="F3F6F9"/>
          </a:solidFill>
          <a:ln w="12700">
            <a:solidFill>
              <a:srgbClr val="DFE5EB"/>
            </a:solidFill>
            <a:prstDash val="solid"/>
          </a:ln>
        </p:spPr>
        <p:txBody>
          <a:bodyPr/>
          <a:lstStyle/>
          <a:p>
            <a:endParaRPr lang="en-US" dirty="0"/>
          </a:p>
        </p:txBody>
      </p:sp>
      <p:sp>
        <p:nvSpPr>
          <p:cNvPr id="106" name="Shape 42">
            <a:extLst>
              <a:ext uri="{FF2B5EF4-FFF2-40B4-BE49-F238E27FC236}">
                <a16:creationId xmlns:a16="http://schemas.microsoft.com/office/drawing/2014/main" id="{391D856D-D9B1-12D8-1F37-1D20EBA5B4EB}"/>
              </a:ext>
            </a:extLst>
          </p:cNvPr>
          <p:cNvSpPr/>
          <p:nvPr/>
        </p:nvSpPr>
        <p:spPr>
          <a:xfrm>
            <a:off x="3194304" y="5633373"/>
            <a:ext cx="1554480" cy="292608"/>
          </a:xfrm>
          <a:prstGeom prst="roundRect">
            <a:avLst>
              <a:gd name="adj" fmla="val 15625"/>
            </a:avLst>
          </a:prstGeom>
          <a:solidFill>
            <a:srgbClr val="E3F2F2"/>
          </a:solidFill>
          <a:ln/>
        </p:spPr>
        <p:txBody>
          <a:bodyPr/>
          <a:lstStyle/>
          <a:p>
            <a:endParaRPr lang="en-US"/>
          </a:p>
        </p:txBody>
      </p:sp>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TUNING</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Hyperparameter tuning</a:t>
            </a:r>
            <a:endParaRPr lang="en-US" sz="3000" dirty="0"/>
          </a:p>
        </p:txBody>
      </p:sp>
      <p:sp>
        <p:nvSpPr>
          <p:cNvPr id="4" name="Shape 2"/>
          <p:cNvSpPr/>
          <p:nvPr/>
        </p:nvSpPr>
        <p:spPr>
          <a:xfrm>
            <a:off x="640080"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Shape 3"/>
          <p:cNvSpPr/>
          <p:nvPr/>
        </p:nvSpPr>
        <p:spPr>
          <a:xfrm>
            <a:off x="859536" y="1700784"/>
            <a:ext cx="402336" cy="402336"/>
          </a:xfrm>
          <a:prstGeom prst="ellipse">
            <a:avLst/>
          </a:prstGeom>
          <a:solidFill>
            <a:srgbClr val="0E8A8F"/>
          </a:solidFill>
          <a:ln/>
        </p:spPr>
        <p:txBody>
          <a:bodyPr/>
          <a:lstStyle/>
          <a:p>
            <a:endParaRPr lang="en-US"/>
          </a:p>
        </p:txBody>
      </p:sp>
      <p:sp>
        <p:nvSpPr>
          <p:cNvPr id="6" name="Text 4"/>
          <p:cNvSpPr/>
          <p:nvPr/>
        </p:nvSpPr>
        <p:spPr>
          <a:xfrm>
            <a:off x="859536"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59536"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Build the grid</a:t>
            </a:r>
            <a:endParaRPr lang="en-US" sz="1600" dirty="0"/>
          </a:p>
        </p:txBody>
      </p:sp>
      <p:sp>
        <p:nvSpPr>
          <p:cNvPr id="8" name="Text 6"/>
          <p:cNvSpPr/>
          <p:nvPr/>
        </p:nvSpPr>
        <p:spPr>
          <a:xfrm>
            <a:off x="859536"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List values in the config. Take every combination. 2^4 = 16</a:t>
            </a:r>
            <a:endParaRPr lang="en-US" sz="1300" dirty="0"/>
          </a:p>
        </p:txBody>
      </p:sp>
      <p:sp>
        <p:nvSpPr>
          <p:cNvPr id="9" name="Shape 7"/>
          <p:cNvSpPr/>
          <p:nvPr/>
        </p:nvSpPr>
        <p:spPr>
          <a:xfrm>
            <a:off x="3236976" y="2441448"/>
            <a:ext cx="146304" cy="182880"/>
          </a:xfrm>
          <a:prstGeom prst="rightArrow">
            <a:avLst/>
          </a:prstGeom>
          <a:solidFill>
            <a:srgbClr val="C9D9E8"/>
          </a:solidFill>
          <a:ln/>
        </p:spPr>
        <p:txBody>
          <a:bodyPr/>
          <a:lstStyle/>
          <a:p>
            <a:endParaRPr lang="en-US"/>
          </a:p>
        </p:txBody>
      </p:sp>
      <p:sp>
        <p:nvSpPr>
          <p:cNvPr id="10" name="Shape 8"/>
          <p:cNvSpPr/>
          <p:nvPr/>
        </p:nvSpPr>
        <p:spPr>
          <a:xfrm>
            <a:off x="3410712"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1" name="Shape 9"/>
          <p:cNvSpPr/>
          <p:nvPr/>
        </p:nvSpPr>
        <p:spPr>
          <a:xfrm>
            <a:off x="3630168" y="1700784"/>
            <a:ext cx="402336" cy="402336"/>
          </a:xfrm>
          <a:prstGeom prst="ellipse">
            <a:avLst/>
          </a:prstGeom>
          <a:solidFill>
            <a:srgbClr val="0E8A8F"/>
          </a:solidFill>
          <a:ln/>
        </p:spPr>
        <p:txBody>
          <a:bodyPr/>
          <a:lstStyle/>
          <a:p>
            <a:endParaRPr lang="en-US"/>
          </a:p>
        </p:txBody>
      </p:sp>
      <p:sp>
        <p:nvSpPr>
          <p:cNvPr id="12" name="Text 10"/>
          <p:cNvSpPr/>
          <p:nvPr/>
        </p:nvSpPr>
        <p:spPr>
          <a:xfrm>
            <a:off x="3630168"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3630168"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Short trials</a:t>
            </a:r>
            <a:endParaRPr lang="en-US" sz="1600" dirty="0"/>
          </a:p>
        </p:txBody>
      </p:sp>
      <p:sp>
        <p:nvSpPr>
          <p:cNvPr id="14" name="Text 12"/>
          <p:cNvSpPr/>
          <p:nvPr/>
        </p:nvSpPr>
        <p:spPr>
          <a:xfrm>
            <a:off x="3630168"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Train each combination for 3 epochs, not 25 to see the general direction of improvement.</a:t>
            </a:r>
            <a:endParaRPr lang="en-US" sz="1300" dirty="0"/>
          </a:p>
        </p:txBody>
      </p:sp>
      <p:sp>
        <p:nvSpPr>
          <p:cNvPr id="15" name="Shape 13"/>
          <p:cNvSpPr/>
          <p:nvPr/>
        </p:nvSpPr>
        <p:spPr>
          <a:xfrm>
            <a:off x="6007608" y="2441448"/>
            <a:ext cx="146304" cy="182880"/>
          </a:xfrm>
          <a:prstGeom prst="rightArrow">
            <a:avLst/>
          </a:prstGeom>
          <a:solidFill>
            <a:srgbClr val="C9D9E8"/>
          </a:solidFill>
          <a:ln/>
        </p:spPr>
        <p:txBody>
          <a:bodyPr/>
          <a:lstStyle/>
          <a:p>
            <a:endParaRPr lang="en-US"/>
          </a:p>
        </p:txBody>
      </p:sp>
      <p:sp>
        <p:nvSpPr>
          <p:cNvPr id="16" name="Shape 14"/>
          <p:cNvSpPr/>
          <p:nvPr/>
        </p:nvSpPr>
        <p:spPr>
          <a:xfrm>
            <a:off x="6181344"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17" name="Shape 15"/>
          <p:cNvSpPr/>
          <p:nvPr/>
        </p:nvSpPr>
        <p:spPr>
          <a:xfrm>
            <a:off x="6400800" y="1700784"/>
            <a:ext cx="402336" cy="402336"/>
          </a:xfrm>
          <a:prstGeom prst="ellipse">
            <a:avLst/>
          </a:prstGeom>
          <a:solidFill>
            <a:srgbClr val="0E8A8F"/>
          </a:solidFill>
          <a:ln/>
        </p:spPr>
        <p:txBody>
          <a:bodyPr/>
          <a:lstStyle/>
          <a:p>
            <a:endParaRPr lang="en-US"/>
          </a:p>
        </p:txBody>
      </p:sp>
      <p:sp>
        <p:nvSpPr>
          <p:cNvPr id="18" name="Text 16"/>
          <p:cNvSpPr/>
          <p:nvPr/>
        </p:nvSpPr>
        <p:spPr>
          <a:xfrm>
            <a:off x="6400800"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p:nvPr/>
        </p:nvSpPr>
        <p:spPr>
          <a:xfrm>
            <a:off x="6400800"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rPr>
              <a:t>Best combination</a:t>
            </a:r>
            <a:endParaRPr lang="en-US" sz="1600" dirty="0"/>
          </a:p>
        </p:txBody>
      </p:sp>
      <p:sp>
        <p:nvSpPr>
          <p:cNvPr id="20" name="Text 18"/>
          <p:cNvSpPr/>
          <p:nvPr/>
        </p:nvSpPr>
        <p:spPr>
          <a:xfrm>
            <a:off x="6400800"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Keep the lowest best validation MSE during the 3 epochs</a:t>
            </a:r>
            <a:endParaRPr lang="en-US" sz="1300" dirty="0"/>
          </a:p>
        </p:txBody>
      </p:sp>
      <p:sp>
        <p:nvSpPr>
          <p:cNvPr id="21" name="Shape 19"/>
          <p:cNvSpPr/>
          <p:nvPr/>
        </p:nvSpPr>
        <p:spPr>
          <a:xfrm>
            <a:off x="8778240" y="2441448"/>
            <a:ext cx="146304" cy="182880"/>
          </a:xfrm>
          <a:prstGeom prst="rightArrow">
            <a:avLst/>
          </a:prstGeom>
          <a:solidFill>
            <a:srgbClr val="C9D9E8"/>
          </a:solidFill>
          <a:ln/>
        </p:spPr>
        <p:txBody>
          <a:bodyPr/>
          <a:lstStyle/>
          <a:p>
            <a:endParaRPr lang="en-US"/>
          </a:p>
        </p:txBody>
      </p:sp>
      <p:sp>
        <p:nvSpPr>
          <p:cNvPr id="22" name="Shape 20"/>
          <p:cNvSpPr/>
          <p:nvPr/>
        </p:nvSpPr>
        <p:spPr>
          <a:xfrm>
            <a:off x="8951976" y="1481328"/>
            <a:ext cx="2587752" cy="2148840"/>
          </a:xfrm>
          <a:prstGeom prst="roundRect">
            <a:avLst>
              <a:gd name="adj" fmla="val 3830"/>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3" name="Shape 21"/>
          <p:cNvSpPr/>
          <p:nvPr/>
        </p:nvSpPr>
        <p:spPr>
          <a:xfrm>
            <a:off x="9171432" y="1700784"/>
            <a:ext cx="402336" cy="402336"/>
          </a:xfrm>
          <a:prstGeom prst="ellipse">
            <a:avLst/>
          </a:prstGeom>
          <a:solidFill>
            <a:srgbClr val="0E8A8F"/>
          </a:solidFill>
          <a:ln/>
        </p:spPr>
        <p:txBody>
          <a:bodyPr/>
          <a:lstStyle/>
          <a:p>
            <a:endParaRPr lang="en-US"/>
          </a:p>
        </p:txBody>
      </p:sp>
      <p:sp>
        <p:nvSpPr>
          <p:cNvPr id="24" name="Text 22"/>
          <p:cNvSpPr/>
          <p:nvPr/>
        </p:nvSpPr>
        <p:spPr>
          <a:xfrm>
            <a:off x="9171432" y="17007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9171432" y="2231136"/>
            <a:ext cx="2148840" cy="310896"/>
          </a:xfrm>
          <a:prstGeom prst="rect">
            <a:avLst/>
          </a:prstGeom>
          <a:noFill/>
          <a:ln/>
        </p:spPr>
        <p:txBody>
          <a:bodyPr wrap="square" lIns="0" tIns="0" rIns="0" bIns="0" rtlCol="0" anchor="ctr"/>
          <a:lstStyle/>
          <a:p>
            <a:pPr marL="0" indent="0">
              <a:buNone/>
            </a:pPr>
            <a:r>
              <a:rPr lang="en-US" sz="1600" b="1" dirty="0">
                <a:solidFill>
                  <a:srgbClr val="12233A"/>
                </a:solidFill>
                <a:latin typeface="Cambria" pitchFamily="34" charset="0"/>
                <a:ea typeface="Cambria" pitchFamily="34" charset="-122"/>
                <a:cs typeface="Cambria" pitchFamily="34" charset="-120"/>
              </a:rPr>
              <a:t>Retrain in full</a:t>
            </a:r>
            <a:endParaRPr lang="en-US" sz="1600" dirty="0"/>
          </a:p>
        </p:txBody>
      </p:sp>
      <p:sp>
        <p:nvSpPr>
          <p:cNvPr id="26" name="Text 24"/>
          <p:cNvSpPr/>
          <p:nvPr/>
        </p:nvSpPr>
        <p:spPr>
          <a:xfrm>
            <a:off x="9171432" y="2578608"/>
            <a:ext cx="2148840" cy="914400"/>
          </a:xfrm>
          <a:prstGeom prst="rect">
            <a:avLst/>
          </a:prstGeom>
          <a:noFill/>
          <a:ln/>
        </p:spPr>
        <p:txBody>
          <a:bodyPr wrap="square" lIns="0" tIns="0" rIns="0" bIns="0" rtlCol="0" anchor="t"/>
          <a:lstStyle/>
          <a:p>
            <a:pPr marL="0" indent="0">
              <a:buNone/>
            </a:pPr>
            <a:r>
              <a:rPr lang="en-US" sz="1300" dirty="0">
                <a:solidFill>
                  <a:srgbClr val="62707F"/>
                </a:solidFill>
                <a:latin typeface="Calibri" pitchFamily="34" charset="0"/>
                <a:ea typeface="Calibri" pitchFamily="34" charset="-122"/>
                <a:cs typeface="Calibri" pitchFamily="34" charset="-120"/>
              </a:rPr>
              <a:t>Run the winner for the full schedule.</a:t>
            </a:r>
            <a:endParaRPr lang="en-US" sz="1300" dirty="0"/>
          </a:p>
        </p:txBody>
      </p:sp>
      <p:sp>
        <p:nvSpPr>
          <p:cNvPr id="31" name="Shape 29"/>
          <p:cNvSpPr/>
          <p:nvPr/>
        </p:nvSpPr>
        <p:spPr>
          <a:xfrm>
            <a:off x="7680960" y="3904488"/>
            <a:ext cx="3858768" cy="2350008"/>
          </a:xfrm>
          <a:prstGeom prst="roundRect">
            <a:avLst>
              <a:gd name="adj" fmla="val 5143"/>
            </a:avLst>
          </a:prstGeom>
          <a:solidFill>
            <a:srgbClr val="FBEEE1"/>
          </a:solidFill>
          <a:ln/>
          <a:effectLst>
            <a:outerShdw blurRad="101600" dist="12700" dir="5400000" algn="bl" rotWithShape="0">
              <a:srgbClr val="9AA7B4">
                <a:alpha val="18000"/>
              </a:srgbClr>
            </a:outerShdw>
          </a:effectLst>
        </p:spPr>
        <p:txBody>
          <a:bodyPr/>
          <a:lstStyle/>
          <a:p>
            <a:endParaRPr lang="en-US" dirty="0"/>
          </a:p>
        </p:txBody>
      </p:sp>
      <p:sp>
        <p:nvSpPr>
          <p:cNvPr id="32" name="Text 30"/>
          <p:cNvSpPr/>
          <p:nvPr/>
        </p:nvSpPr>
        <p:spPr>
          <a:xfrm>
            <a:off x="7936992" y="4521708"/>
            <a:ext cx="3346704" cy="1143000"/>
          </a:xfrm>
          <a:prstGeom prst="rect">
            <a:avLst/>
          </a:prstGeom>
          <a:noFill/>
          <a:ln/>
        </p:spPr>
        <p:txBody>
          <a:bodyPr wrap="square" lIns="0" tIns="0" rIns="0" bIns="0" rtlCol="0" anchor="ctr"/>
          <a:lstStyle/>
          <a:p>
            <a:pPr marL="0" indent="0">
              <a:buNone/>
            </a:pPr>
            <a:r>
              <a:rPr lang="en-US" sz="1100" b="1" kern="0" spc="100" dirty="0">
                <a:solidFill>
                  <a:srgbClr val="E08A3C"/>
                </a:solidFill>
                <a:latin typeface="Calibri" pitchFamily="34" charset="0"/>
                <a:ea typeface="Calibri" pitchFamily="34" charset="-122"/>
                <a:cs typeface="Calibri" pitchFamily="34" charset="-120"/>
              </a:rPr>
              <a:t>Why use these four?</a:t>
            </a:r>
            <a:br>
              <a:rPr lang="en-US" sz="1100" b="1" kern="0" spc="100" dirty="0">
                <a:solidFill>
                  <a:srgbClr val="E08A3C"/>
                </a:solidFill>
                <a:latin typeface="Calibri" pitchFamily="34" charset="0"/>
                <a:ea typeface="Calibri" pitchFamily="34" charset="-122"/>
                <a:cs typeface="Calibri" pitchFamily="34" charset="-120"/>
              </a:rPr>
            </a:br>
            <a:endParaRPr lang="en-US" sz="1100" b="1" kern="0" spc="100" dirty="0">
              <a:solidFill>
                <a:srgbClr val="E08A3C"/>
              </a:solidFill>
              <a:latin typeface="Calibri" pitchFamily="34" charset="0"/>
              <a:ea typeface="Calibri" pitchFamily="34" charset="-122"/>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Learning rate is very useful – gently change gradients or more aggressive?</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Hidden size helps to balance capacity and overfitting risk</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Layers help show if there is a higher level relationship between speech and noise</a:t>
            </a:r>
            <a:br>
              <a:rPr lang="en-US" sz="1100" kern="0" spc="100" dirty="0">
                <a:solidFill>
                  <a:srgbClr val="E08A3C"/>
                </a:solidFill>
                <a:latin typeface="Calibri" pitchFamily="34" charset="0"/>
                <a:cs typeface="Calibri" pitchFamily="34" charset="-120"/>
              </a:rPr>
            </a:br>
            <a:endParaRPr lang="en-US" sz="1100" kern="0" spc="100" dirty="0">
              <a:solidFill>
                <a:srgbClr val="E08A3C"/>
              </a:solidFill>
              <a:latin typeface="Calibri" pitchFamily="34" charset="0"/>
              <a:cs typeface="Calibri" pitchFamily="34" charset="-120"/>
            </a:endParaRPr>
          </a:p>
          <a:p>
            <a:pPr marL="171450" indent="-171450">
              <a:buFontTx/>
              <a:buChar char="-"/>
            </a:pPr>
            <a:r>
              <a:rPr lang="en-US" sz="1100" kern="0" spc="100" dirty="0">
                <a:solidFill>
                  <a:srgbClr val="E08A3C"/>
                </a:solidFill>
                <a:latin typeface="Calibri" pitchFamily="34" charset="0"/>
                <a:cs typeface="Calibri" pitchFamily="34" charset="-120"/>
              </a:rPr>
              <a:t>Dropout finds if generalizing helps prevent overfitting  </a:t>
            </a:r>
            <a:endParaRPr lang="en-US" sz="1100" dirty="0"/>
          </a:p>
        </p:txBody>
      </p:sp>
      <p:sp>
        <p:nvSpPr>
          <p:cNvPr id="33" name="Text 31"/>
          <p:cNvSpPr/>
          <p:nvPr/>
        </p:nvSpPr>
        <p:spPr>
          <a:xfrm>
            <a:off x="7936992" y="4370832"/>
            <a:ext cx="3346704" cy="1005840"/>
          </a:xfrm>
          <a:prstGeom prst="rect">
            <a:avLst/>
          </a:prstGeom>
          <a:noFill/>
          <a:ln/>
        </p:spPr>
        <p:txBody>
          <a:bodyPr wrap="square" lIns="0" tIns="0" rIns="0" bIns="0" rtlCol="0" anchor="t"/>
          <a:lstStyle/>
          <a:p>
            <a:pPr marL="0" indent="0">
              <a:buNone/>
            </a:pPr>
            <a:endParaRPr lang="en-US" sz="1300" dirty="0"/>
          </a:p>
        </p:txBody>
      </p:sp>
      <p:sp>
        <p:nvSpPr>
          <p:cNvPr id="82" name="Text 26">
            <a:extLst>
              <a:ext uri="{FF2B5EF4-FFF2-40B4-BE49-F238E27FC236}">
                <a16:creationId xmlns:a16="http://schemas.microsoft.com/office/drawing/2014/main" id="{78F63EAE-B6CB-0BE2-7BFF-BAEBAA2A207C}"/>
              </a:ext>
            </a:extLst>
          </p:cNvPr>
          <p:cNvSpPr/>
          <p:nvPr/>
        </p:nvSpPr>
        <p:spPr>
          <a:xfrm>
            <a:off x="908304" y="3950208"/>
            <a:ext cx="6400800" cy="274320"/>
          </a:xfrm>
          <a:prstGeom prst="rect">
            <a:avLst/>
          </a:prstGeom>
          <a:noFill/>
          <a:ln/>
        </p:spPr>
        <p:txBody>
          <a:bodyPr wrap="square" lIns="0" tIns="0" rIns="0" bIns="0" rtlCol="0" anchor="ctr"/>
          <a:lstStyle/>
          <a:p>
            <a:pPr marL="0" indent="0">
              <a:buNone/>
            </a:pPr>
            <a:r>
              <a:rPr lang="en-US" sz="1150" b="1" kern="0" spc="100" dirty="0">
                <a:solidFill>
                  <a:srgbClr val="0E8A8F"/>
                </a:solidFill>
                <a:latin typeface="Calibri" pitchFamily="34" charset="0"/>
                <a:ea typeface="Calibri" pitchFamily="34" charset="-122"/>
                <a:cs typeface="Calibri" pitchFamily="34" charset="-120"/>
              </a:rPr>
              <a:t>Grid searched: 16 trials</a:t>
            </a:r>
            <a:endParaRPr lang="en-US" sz="1150" dirty="0"/>
          </a:p>
        </p:txBody>
      </p:sp>
      <p:sp>
        <p:nvSpPr>
          <p:cNvPr id="83" name="Text 27">
            <a:extLst>
              <a:ext uri="{FF2B5EF4-FFF2-40B4-BE49-F238E27FC236}">
                <a16:creationId xmlns:a16="http://schemas.microsoft.com/office/drawing/2014/main" id="{2120461A-6B42-B2CF-80D6-18AD899F5BB6}"/>
              </a:ext>
            </a:extLst>
          </p:cNvPr>
          <p:cNvSpPr/>
          <p:nvPr/>
        </p:nvSpPr>
        <p:spPr>
          <a:xfrm>
            <a:off x="908304" y="4352544"/>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learning rate (Adam step)</a:t>
            </a:r>
            <a:endParaRPr lang="en-US" sz="1350" dirty="0"/>
          </a:p>
        </p:txBody>
      </p:sp>
      <p:sp>
        <p:nvSpPr>
          <p:cNvPr id="84" name="Shape 28">
            <a:extLst>
              <a:ext uri="{FF2B5EF4-FFF2-40B4-BE49-F238E27FC236}">
                <a16:creationId xmlns:a16="http://schemas.microsoft.com/office/drawing/2014/main" id="{50124DA3-3D71-FAB7-6369-BCA8F4C61563}"/>
              </a:ext>
            </a:extLst>
          </p:cNvPr>
          <p:cNvSpPr/>
          <p:nvPr/>
        </p:nvSpPr>
        <p:spPr>
          <a:xfrm>
            <a:off x="3194304" y="4398264"/>
            <a:ext cx="1554480" cy="292608"/>
          </a:xfrm>
          <a:prstGeom prst="roundRect">
            <a:avLst>
              <a:gd name="adj" fmla="val 15625"/>
            </a:avLst>
          </a:prstGeom>
          <a:solidFill>
            <a:srgbClr val="E3F2F2"/>
          </a:solidFill>
          <a:ln/>
        </p:spPr>
        <p:txBody>
          <a:bodyPr/>
          <a:lstStyle/>
          <a:p>
            <a:endParaRPr lang="en-US" dirty="0"/>
          </a:p>
        </p:txBody>
      </p:sp>
      <p:sp>
        <p:nvSpPr>
          <p:cNvPr id="85" name="Text 29">
            <a:extLst>
              <a:ext uri="{FF2B5EF4-FFF2-40B4-BE49-F238E27FC236}">
                <a16:creationId xmlns:a16="http://schemas.microsoft.com/office/drawing/2014/main" id="{47C2FB5D-2275-2EC1-5C1D-31A7DB789362}"/>
              </a:ext>
            </a:extLst>
          </p:cNvPr>
          <p:cNvSpPr/>
          <p:nvPr/>
        </p:nvSpPr>
        <p:spPr>
          <a:xfrm>
            <a:off x="3194304" y="4398264"/>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0.001</a:t>
            </a:r>
            <a:endParaRPr lang="en-US" sz="1300" dirty="0"/>
          </a:p>
        </p:txBody>
      </p:sp>
      <p:sp>
        <p:nvSpPr>
          <p:cNvPr id="86" name="Shape 30">
            <a:extLst>
              <a:ext uri="{FF2B5EF4-FFF2-40B4-BE49-F238E27FC236}">
                <a16:creationId xmlns:a16="http://schemas.microsoft.com/office/drawing/2014/main" id="{EEC2677F-C9C3-03FD-9FE3-461341C1A66B}"/>
              </a:ext>
            </a:extLst>
          </p:cNvPr>
          <p:cNvSpPr/>
          <p:nvPr/>
        </p:nvSpPr>
        <p:spPr>
          <a:xfrm>
            <a:off x="4885944" y="4398264"/>
            <a:ext cx="1554480" cy="292608"/>
          </a:xfrm>
          <a:prstGeom prst="roundRect">
            <a:avLst>
              <a:gd name="adj" fmla="val 15625"/>
            </a:avLst>
          </a:prstGeom>
          <a:solidFill>
            <a:schemeClr val="accent6">
              <a:lumMod val="60000"/>
              <a:lumOff val="40000"/>
            </a:schemeClr>
          </a:solidFill>
          <a:ln/>
        </p:spPr>
        <p:txBody>
          <a:bodyPr/>
          <a:lstStyle/>
          <a:p>
            <a:endParaRPr lang="en-US" dirty="0"/>
          </a:p>
        </p:txBody>
      </p:sp>
      <p:sp>
        <p:nvSpPr>
          <p:cNvPr id="87" name="Text 31">
            <a:extLst>
              <a:ext uri="{FF2B5EF4-FFF2-40B4-BE49-F238E27FC236}">
                <a16:creationId xmlns:a16="http://schemas.microsoft.com/office/drawing/2014/main" id="{0DCF5878-A8B8-D61E-901C-93C2F5BD2B83}"/>
              </a:ext>
            </a:extLst>
          </p:cNvPr>
          <p:cNvSpPr/>
          <p:nvPr/>
        </p:nvSpPr>
        <p:spPr>
          <a:xfrm>
            <a:off x="4885944" y="4398264"/>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0.0005</a:t>
            </a:r>
            <a:endParaRPr lang="en-US" sz="1300" dirty="0"/>
          </a:p>
        </p:txBody>
      </p:sp>
      <p:sp>
        <p:nvSpPr>
          <p:cNvPr id="88" name="Shape 32">
            <a:extLst>
              <a:ext uri="{FF2B5EF4-FFF2-40B4-BE49-F238E27FC236}">
                <a16:creationId xmlns:a16="http://schemas.microsoft.com/office/drawing/2014/main" id="{6EFCD348-CDB1-A419-0EA1-A6A7EC0D41DC}"/>
              </a:ext>
            </a:extLst>
          </p:cNvPr>
          <p:cNvSpPr/>
          <p:nvPr/>
        </p:nvSpPr>
        <p:spPr>
          <a:xfrm>
            <a:off x="908304" y="4754880"/>
            <a:ext cx="5532120" cy="0"/>
          </a:xfrm>
          <a:prstGeom prst="line">
            <a:avLst/>
          </a:prstGeom>
          <a:noFill/>
          <a:ln w="12700">
            <a:solidFill>
              <a:srgbClr val="DFE5EB"/>
            </a:solidFill>
            <a:prstDash val="solid"/>
          </a:ln>
        </p:spPr>
        <p:txBody>
          <a:bodyPr/>
          <a:lstStyle/>
          <a:p>
            <a:endParaRPr lang="en-US"/>
          </a:p>
        </p:txBody>
      </p:sp>
      <p:sp>
        <p:nvSpPr>
          <p:cNvPr id="89" name="Text 33">
            <a:extLst>
              <a:ext uri="{FF2B5EF4-FFF2-40B4-BE49-F238E27FC236}">
                <a16:creationId xmlns:a16="http://schemas.microsoft.com/office/drawing/2014/main" id="{D93764A1-9115-9769-0FC3-7431D5811E6B}"/>
              </a:ext>
            </a:extLst>
          </p:cNvPr>
          <p:cNvSpPr/>
          <p:nvPr/>
        </p:nvSpPr>
        <p:spPr>
          <a:xfrm>
            <a:off x="908304" y="4754880"/>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hidden size (capacity vs overfit)</a:t>
            </a:r>
            <a:endParaRPr lang="en-US" sz="1350" dirty="0"/>
          </a:p>
        </p:txBody>
      </p:sp>
      <p:sp>
        <p:nvSpPr>
          <p:cNvPr id="90" name="Shape 34">
            <a:extLst>
              <a:ext uri="{FF2B5EF4-FFF2-40B4-BE49-F238E27FC236}">
                <a16:creationId xmlns:a16="http://schemas.microsoft.com/office/drawing/2014/main" id="{B591D2F9-9224-4FD5-1F04-7CCB46AAF44A}"/>
              </a:ext>
            </a:extLst>
          </p:cNvPr>
          <p:cNvSpPr/>
          <p:nvPr/>
        </p:nvSpPr>
        <p:spPr>
          <a:xfrm>
            <a:off x="3194304" y="4800600"/>
            <a:ext cx="1554480" cy="292608"/>
          </a:xfrm>
          <a:prstGeom prst="roundRect">
            <a:avLst>
              <a:gd name="adj" fmla="val 15625"/>
            </a:avLst>
          </a:prstGeom>
          <a:solidFill>
            <a:srgbClr val="E3F2F2"/>
          </a:solidFill>
          <a:ln/>
        </p:spPr>
        <p:txBody>
          <a:bodyPr/>
          <a:lstStyle/>
          <a:p>
            <a:endParaRPr lang="en-US"/>
          </a:p>
        </p:txBody>
      </p:sp>
      <p:sp>
        <p:nvSpPr>
          <p:cNvPr id="91" name="Text 35">
            <a:extLst>
              <a:ext uri="{FF2B5EF4-FFF2-40B4-BE49-F238E27FC236}">
                <a16:creationId xmlns:a16="http://schemas.microsoft.com/office/drawing/2014/main" id="{7BF50C8F-E95A-766E-147B-280FAD82CC50}"/>
              </a:ext>
            </a:extLst>
          </p:cNvPr>
          <p:cNvSpPr/>
          <p:nvPr/>
        </p:nvSpPr>
        <p:spPr>
          <a:xfrm>
            <a:off x="3194304" y="4800600"/>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128</a:t>
            </a:r>
            <a:endParaRPr lang="en-US" sz="1300" dirty="0"/>
          </a:p>
        </p:txBody>
      </p:sp>
      <p:sp>
        <p:nvSpPr>
          <p:cNvPr id="92" name="Shape 36">
            <a:extLst>
              <a:ext uri="{FF2B5EF4-FFF2-40B4-BE49-F238E27FC236}">
                <a16:creationId xmlns:a16="http://schemas.microsoft.com/office/drawing/2014/main" id="{90259A82-A303-A8AA-A40A-FDF9A85FCB90}"/>
              </a:ext>
            </a:extLst>
          </p:cNvPr>
          <p:cNvSpPr/>
          <p:nvPr/>
        </p:nvSpPr>
        <p:spPr>
          <a:xfrm>
            <a:off x="4885944" y="4800600"/>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93" name="Text 37">
            <a:extLst>
              <a:ext uri="{FF2B5EF4-FFF2-40B4-BE49-F238E27FC236}">
                <a16:creationId xmlns:a16="http://schemas.microsoft.com/office/drawing/2014/main" id="{FA42730F-2F2C-C40D-BFF4-89EAD043414F}"/>
              </a:ext>
            </a:extLst>
          </p:cNvPr>
          <p:cNvSpPr/>
          <p:nvPr/>
        </p:nvSpPr>
        <p:spPr>
          <a:xfrm>
            <a:off x="4885944" y="4800600"/>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256</a:t>
            </a:r>
            <a:endParaRPr lang="en-US" sz="1300" dirty="0"/>
          </a:p>
        </p:txBody>
      </p:sp>
      <p:sp>
        <p:nvSpPr>
          <p:cNvPr id="94" name="Shape 38">
            <a:extLst>
              <a:ext uri="{FF2B5EF4-FFF2-40B4-BE49-F238E27FC236}">
                <a16:creationId xmlns:a16="http://schemas.microsoft.com/office/drawing/2014/main" id="{B44F119B-DDBE-8460-3048-D12ED12E7F53}"/>
              </a:ext>
            </a:extLst>
          </p:cNvPr>
          <p:cNvSpPr/>
          <p:nvPr/>
        </p:nvSpPr>
        <p:spPr>
          <a:xfrm>
            <a:off x="908304" y="5157216"/>
            <a:ext cx="5532120" cy="0"/>
          </a:xfrm>
          <a:prstGeom prst="line">
            <a:avLst/>
          </a:prstGeom>
          <a:noFill/>
          <a:ln w="12700">
            <a:solidFill>
              <a:srgbClr val="DFE5EB"/>
            </a:solidFill>
            <a:prstDash val="solid"/>
          </a:ln>
        </p:spPr>
        <p:txBody>
          <a:bodyPr/>
          <a:lstStyle/>
          <a:p>
            <a:endParaRPr lang="en-US"/>
          </a:p>
        </p:txBody>
      </p:sp>
      <p:sp>
        <p:nvSpPr>
          <p:cNvPr id="95" name="Text 39">
            <a:extLst>
              <a:ext uri="{FF2B5EF4-FFF2-40B4-BE49-F238E27FC236}">
                <a16:creationId xmlns:a16="http://schemas.microsoft.com/office/drawing/2014/main" id="{174AF8D3-BB19-4F79-0654-8D01ABAD4AAB}"/>
              </a:ext>
            </a:extLst>
          </p:cNvPr>
          <p:cNvSpPr/>
          <p:nvPr/>
        </p:nvSpPr>
        <p:spPr>
          <a:xfrm>
            <a:off x="908304" y="5157216"/>
            <a:ext cx="2286000" cy="402336"/>
          </a:xfrm>
          <a:prstGeom prst="rect">
            <a:avLst/>
          </a:prstGeom>
          <a:noFill/>
          <a:ln/>
        </p:spPr>
        <p:txBody>
          <a:bodyPr wrap="square" lIns="0" tIns="0" rIns="0" bIns="0" rtlCol="0" anchor="ctr"/>
          <a:lstStyle/>
          <a:p>
            <a:pPr marL="0" indent="0">
              <a:buNone/>
            </a:pPr>
            <a:r>
              <a:rPr lang="en-US" sz="1300" dirty="0">
                <a:solidFill>
                  <a:srgbClr val="16202C"/>
                </a:solidFill>
                <a:latin typeface="Calibri" pitchFamily="34" charset="0"/>
                <a:ea typeface="Calibri" pitchFamily="34" charset="-122"/>
                <a:cs typeface="Calibri" pitchFamily="34" charset="-120"/>
              </a:rPr>
              <a:t>layers (higher level relationship?)</a:t>
            </a:r>
            <a:endParaRPr lang="en-US" sz="1300" dirty="0"/>
          </a:p>
        </p:txBody>
      </p:sp>
      <p:sp>
        <p:nvSpPr>
          <p:cNvPr id="96" name="Shape 40">
            <a:extLst>
              <a:ext uri="{FF2B5EF4-FFF2-40B4-BE49-F238E27FC236}">
                <a16:creationId xmlns:a16="http://schemas.microsoft.com/office/drawing/2014/main" id="{FCD87E89-6C3D-89E6-7829-7A89A3A10E0D}"/>
              </a:ext>
            </a:extLst>
          </p:cNvPr>
          <p:cNvSpPr/>
          <p:nvPr/>
        </p:nvSpPr>
        <p:spPr>
          <a:xfrm>
            <a:off x="3194304" y="5202936"/>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97" name="Text 41">
            <a:extLst>
              <a:ext uri="{FF2B5EF4-FFF2-40B4-BE49-F238E27FC236}">
                <a16:creationId xmlns:a16="http://schemas.microsoft.com/office/drawing/2014/main" id="{A567AFCF-8134-2E05-FF65-CF9790AD23A6}"/>
              </a:ext>
            </a:extLst>
          </p:cNvPr>
          <p:cNvSpPr/>
          <p:nvPr/>
        </p:nvSpPr>
        <p:spPr>
          <a:xfrm>
            <a:off x="3194304" y="5202936"/>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1</a:t>
            </a:r>
            <a:endParaRPr lang="en-US" sz="1300" dirty="0"/>
          </a:p>
        </p:txBody>
      </p:sp>
      <p:sp>
        <p:nvSpPr>
          <p:cNvPr id="98" name="Shape 42">
            <a:extLst>
              <a:ext uri="{FF2B5EF4-FFF2-40B4-BE49-F238E27FC236}">
                <a16:creationId xmlns:a16="http://schemas.microsoft.com/office/drawing/2014/main" id="{316E2B88-BB34-8D39-69C2-5530C92E52C6}"/>
              </a:ext>
            </a:extLst>
          </p:cNvPr>
          <p:cNvSpPr/>
          <p:nvPr/>
        </p:nvSpPr>
        <p:spPr>
          <a:xfrm>
            <a:off x="4885944" y="5202936"/>
            <a:ext cx="1554480" cy="292608"/>
          </a:xfrm>
          <a:prstGeom prst="roundRect">
            <a:avLst>
              <a:gd name="adj" fmla="val 15625"/>
            </a:avLst>
          </a:prstGeom>
          <a:solidFill>
            <a:srgbClr val="E3F2F2"/>
          </a:solidFill>
          <a:ln/>
        </p:spPr>
        <p:txBody>
          <a:bodyPr/>
          <a:lstStyle/>
          <a:p>
            <a:endParaRPr lang="en-US"/>
          </a:p>
        </p:txBody>
      </p:sp>
      <p:sp>
        <p:nvSpPr>
          <p:cNvPr id="99" name="Text 43">
            <a:extLst>
              <a:ext uri="{FF2B5EF4-FFF2-40B4-BE49-F238E27FC236}">
                <a16:creationId xmlns:a16="http://schemas.microsoft.com/office/drawing/2014/main" id="{0385A9FF-F097-E5E9-2B18-F9A7A18D76C5}"/>
              </a:ext>
            </a:extLst>
          </p:cNvPr>
          <p:cNvSpPr/>
          <p:nvPr/>
        </p:nvSpPr>
        <p:spPr>
          <a:xfrm>
            <a:off x="4885944" y="5202936"/>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2</a:t>
            </a:r>
            <a:endParaRPr lang="en-US" sz="1300" dirty="0"/>
          </a:p>
        </p:txBody>
      </p:sp>
      <p:sp>
        <p:nvSpPr>
          <p:cNvPr id="100" name="Shape 44">
            <a:extLst>
              <a:ext uri="{FF2B5EF4-FFF2-40B4-BE49-F238E27FC236}">
                <a16:creationId xmlns:a16="http://schemas.microsoft.com/office/drawing/2014/main" id="{F983B694-C43E-A47C-717F-7A137F8C39BE}"/>
              </a:ext>
            </a:extLst>
          </p:cNvPr>
          <p:cNvSpPr/>
          <p:nvPr/>
        </p:nvSpPr>
        <p:spPr>
          <a:xfrm>
            <a:off x="908304" y="5559552"/>
            <a:ext cx="5532120" cy="0"/>
          </a:xfrm>
          <a:prstGeom prst="line">
            <a:avLst/>
          </a:prstGeom>
          <a:noFill/>
          <a:ln w="12700">
            <a:solidFill>
              <a:srgbClr val="DFE5EB"/>
            </a:solidFill>
            <a:prstDash val="solid"/>
          </a:ln>
        </p:spPr>
        <p:txBody>
          <a:bodyPr/>
          <a:lstStyle/>
          <a:p>
            <a:endParaRPr lang="en-US"/>
          </a:p>
        </p:txBody>
      </p:sp>
      <p:sp>
        <p:nvSpPr>
          <p:cNvPr id="101" name="Text 45">
            <a:extLst>
              <a:ext uri="{FF2B5EF4-FFF2-40B4-BE49-F238E27FC236}">
                <a16:creationId xmlns:a16="http://schemas.microsoft.com/office/drawing/2014/main" id="{BC82F521-7C66-4443-3EC3-40E8A0AE4BD3}"/>
              </a:ext>
            </a:extLst>
          </p:cNvPr>
          <p:cNvSpPr/>
          <p:nvPr/>
        </p:nvSpPr>
        <p:spPr>
          <a:xfrm>
            <a:off x="908304" y="5559552"/>
            <a:ext cx="2286000" cy="402336"/>
          </a:xfrm>
          <a:prstGeom prst="rect">
            <a:avLst/>
          </a:prstGeom>
          <a:noFill/>
          <a:ln/>
        </p:spPr>
        <p:txBody>
          <a:bodyPr wrap="square" lIns="0" tIns="0" rIns="0" bIns="0" rtlCol="0" anchor="ctr"/>
          <a:lstStyle/>
          <a:p>
            <a:pPr marL="0" indent="0">
              <a:buNone/>
            </a:pPr>
            <a:r>
              <a:rPr lang="en-US" sz="1350" dirty="0">
                <a:solidFill>
                  <a:srgbClr val="16202C"/>
                </a:solidFill>
                <a:latin typeface="Calibri" pitchFamily="34" charset="0"/>
                <a:ea typeface="Calibri" pitchFamily="34" charset="-122"/>
                <a:cs typeface="Calibri" pitchFamily="34" charset="-120"/>
              </a:rPr>
              <a:t>Dropout (overfitting risk?)</a:t>
            </a:r>
            <a:endParaRPr lang="en-US" sz="1350" dirty="0"/>
          </a:p>
        </p:txBody>
      </p:sp>
      <p:sp>
        <p:nvSpPr>
          <p:cNvPr id="103" name="Text 47">
            <a:extLst>
              <a:ext uri="{FF2B5EF4-FFF2-40B4-BE49-F238E27FC236}">
                <a16:creationId xmlns:a16="http://schemas.microsoft.com/office/drawing/2014/main" id="{849222BE-06F7-220B-1812-6DC611C7D610}"/>
              </a:ext>
            </a:extLst>
          </p:cNvPr>
          <p:cNvSpPr/>
          <p:nvPr/>
        </p:nvSpPr>
        <p:spPr>
          <a:xfrm>
            <a:off x="3194304" y="5605272"/>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0.0</a:t>
            </a:r>
            <a:endParaRPr lang="en-US" sz="1300" dirty="0"/>
          </a:p>
        </p:txBody>
      </p:sp>
      <p:sp>
        <p:nvSpPr>
          <p:cNvPr id="104" name="Shape 48">
            <a:extLst>
              <a:ext uri="{FF2B5EF4-FFF2-40B4-BE49-F238E27FC236}">
                <a16:creationId xmlns:a16="http://schemas.microsoft.com/office/drawing/2014/main" id="{E7A3B29E-0B8E-44DF-6A60-BC43BF3C6E67}"/>
              </a:ext>
            </a:extLst>
          </p:cNvPr>
          <p:cNvSpPr/>
          <p:nvPr/>
        </p:nvSpPr>
        <p:spPr>
          <a:xfrm>
            <a:off x="4885944" y="5605272"/>
            <a:ext cx="1554480" cy="292608"/>
          </a:xfrm>
          <a:prstGeom prst="roundRect">
            <a:avLst>
              <a:gd name="adj" fmla="val 15625"/>
            </a:avLst>
          </a:prstGeom>
          <a:solidFill>
            <a:schemeClr val="accent6">
              <a:lumMod val="60000"/>
              <a:lumOff val="40000"/>
            </a:schemeClr>
          </a:solidFill>
          <a:ln/>
        </p:spPr>
        <p:txBody>
          <a:bodyPr/>
          <a:lstStyle/>
          <a:p>
            <a:endParaRPr lang="en-US"/>
          </a:p>
        </p:txBody>
      </p:sp>
      <p:sp>
        <p:nvSpPr>
          <p:cNvPr id="105" name="Text 49">
            <a:extLst>
              <a:ext uri="{FF2B5EF4-FFF2-40B4-BE49-F238E27FC236}">
                <a16:creationId xmlns:a16="http://schemas.microsoft.com/office/drawing/2014/main" id="{08C892C0-B3CA-8C6B-9488-1074F8EEE3CE}"/>
              </a:ext>
            </a:extLst>
          </p:cNvPr>
          <p:cNvSpPr/>
          <p:nvPr/>
        </p:nvSpPr>
        <p:spPr>
          <a:xfrm>
            <a:off x="4885944" y="5605272"/>
            <a:ext cx="1554480" cy="292608"/>
          </a:xfrm>
          <a:prstGeom prst="rect">
            <a:avLst/>
          </a:prstGeom>
          <a:noFill/>
          <a:ln/>
        </p:spPr>
        <p:txBody>
          <a:bodyPr wrap="square" lIns="0" tIns="0" rIns="0" bIns="0" rtlCol="0" anchor="ctr"/>
          <a:lstStyle/>
          <a:p>
            <a:pPr marL="0" indent="0" algn="ctr">
              <a:buNone/>
            </a:pPr>
            <a:r>
              <a:rPr lang="en-US" sz="1300" b="1" dirty="0">
                <a:solidFill>
                  <a:srgbClr val="12233A"/>
                </a:solidFill>
                <a:latin typeface="Courier New" pitchFamily="34" charset="0"/>
                <a:ea typeface="Courier New" pitchFamily="34" charset="-122"/>
                <a:cs typeface="Courier New" pitchFamily="34" charset="-120"/>
              </a:rPr>
              <a:t>0.2</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16 KHZ RUN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Val loss learning curve</a:t>
            </a:r>
            <a:endParaRPr lang="en-US" sz="3000" dirty="0"/>
          </a:p>
        </p:txBody>
      </p:sp>
      <p:graphicFrame>
        <p:nvGraphicFramePr>
          <p:cNvPr id="4" name="Chart 0"/>
          <p:cNvGraphicFramePr/>
          <p:nvPr/>
        </p:nvGraphicFramePr>
        <p:xfrm>
          <a:off x="640080" y="1645920"/>
          <a:ext cx="74066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366760" y="1645920"/>
            <a:ext cx="3172968" cy="1600200"/>
          </a:xfrm>
          <a:prstGeom prst="roundRect">
            <a:avLst>
              <a:gd name="adj" fmla="val 5143"/>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6" name="Text 3"/>
          <p:cNvSpPr/>
          <p:nvPr/>
        </p:nvSpPr>
        <p:spPr>
          <a:xfrm>
            <a:off x="8366760" y="1783080"/>
            <a:ext cx="3172968" cy="640080"/>
          </a:xfrm>
          <a:prstGeom prst="rect">
            <a:avLst/>
          </a:prstGeom>
          <a:noFill/>
          <a:ln/>
        </p:spPr>
        <p:txBody>
          <a:bodyPr wrap="square" lIns="0" tIns="0" rIns="0" bIns="0" rtlCol="0" anchor="ctr"/>
          <a:lstStyle/>
          <a:p>
            <a:pPr marL="0" indent="0" algn="ctr">
              <a:buNone/>
            </a:pPr>
            <a:r>
              <a:rPr lang="en-US" sz="2700" b="1" dirty="0">
                <a:solidFill>
                  <a:srgbClr val="FFFFFF"/>
                </a:solidFill>
                <a:latin typeface="Cambria" pitchFamily="34" charset="0"/>
                <a:ea typeface="Cambria" pitchFamily="34" charset="-122"/>
                <a:cs typeface="Cambria" pitchFamily="34" charset="-120"/>
              </a:rPr>
              <a:t>2.97 × 10⁻⁴</a:t>
            </a:r>
            <a:endParaRPr lang="en-US" sz="2700" dirty="0"/>
          </a:p>
        </p:txBody>
      </p:sp>
      <p:sp>
        <p:nvSpPr>
          <p:cNvPr id="7" name="Text 4"/>
          <p:cNvSpPr/>
          <p:nvPr/>
        </p:nvSpPr>
        <p:spPr>
          <a:xfrm>
            <a:off x="8366760" y="2423160"/>
            <a:ext cx="3172968" cy="548640"/>
          </a:xfrm>
          <a:prstGeom prst="rect">
            <a:avLst/>
          </a:prstGeom>
          <a:noFill/>
          <a:ln/>
        </p:spPr>
        <p:txBody>
          <a:bodyPr wrap="square" lIns="0" tIns="0" rIns="0" bIns="0" rtlCol="0" anchor="t"/>
          <a:lstStyle/>
          <a:p>
            <a:pPr marL="0" indent="0" algn="ctr">
              <a:buNone/>
            </a:pPr>
            <a:r>
              <a:rPr lang="en-US" sz="1200" dirty="0">
                <a:solidFill>
                  <a:srgbClr val="C9D9E8"/>
                </a:solidFill>
                <a:latin typeface="Calibri" pitchFamily="34" charset="0"/>
                <a:ea typeface="Calibri" pitchFamily="34" charset="-122"/>
                <a:cs typeface="Calibri" pitchFamily="34" charset="-120"/>
              </a:rPr>
              <a:t>best validation loss (epoch 24)</a:t>
            </a:r>
            <a:endParaRPr lang="en-US" sz="1200" dirty="0"/>
          </a:p>
        </p:txBody>
      </p:sp>
      <p:sp>
        <p:nvSpPr>
          <p:cNvPr id="8" name="Text 5"/>
          <p:cNvSpPr/>
          <p:nvPr/>
        </p:nvSpPr>
        <p:spPr>
          <a:xfrm>
            <a:off x="8366760" y="3429000"/>
            <a:ext cx="3172968" cy="219456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Most of the gain is from first five epochs.</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Train and validation stay together.</a:t>
            </a:r>
            <a:r>
              <a:rPr lang="en-US" sz="1400" dirty="0"/>
              <a:t> =&gt; </a:t>
            </a:r>
            <a:r>
              <a:rPr lang="en-US" sz="1400" dirty="0">
                <a:solidFill>
                  <a:srgbClr val="16202C"/>
                </a:solidFill>
                <a:latin typeface="Calibri" pitchFamily="34" charset="0"/>
                <a:ea typeface="Calibri" pitchFamily="34" charset="-122"/>
                <a:cs typeface="Calibri" pitchFamily="34" charset="-120"/>
              </a:rPr>
              <a:t>No overfitting, even when compared to new speakers.</a:t>
            </a:r>
          </a:p>
          <a:p>
            <a:pPr marL="342900" indent="-342900">
              <a:spcAft>
                <a:spcPts val="1200"/>
              </a:spcAft>
              <a:buSzPct val="100000"/>
              <a:buChar char="•"/>
            </a:pPr>
            <a:r>
              <a:rPr lang="en-US" sz="1400" dirty="0">
                <a:solidFill>
                  <a:srgbClr val="16202C"/>
                </a:solidFill>
                <a:latin typeface="Calibri" pitchFamily="34" charset="0"/>
                <a:cs typeface="Calibri" pitchFamily="34" charset="-120"/>
              </a:rPr>
              <a:t>After 25, overfitting starts happening and validation loss plateaus, increases, train loss keeps dropping.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16 KHZ RUN</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R² and </a:t>
            </a:r>
            <a:r>
              <a:rPr lang="en-US" sz="3000" b="1">
                <a:solidFill>
                  <a:srgbClr val="12233A"/>
                </a:solidFill>
                <a:latin typeface="Cambria" pitchFamily="34" charset="0"/>
                <a:ea typeface="Cambria" pitchFamily="34" charset="-122"/>
                <a:cs typeface="Cambria" pitchFamily="34" charset="-120"/>
              </a:rPr>
              <a:t>F1 learning curves</a:t>
            </a:r>
            <a:endParaRPr lang="en-US" sz="3000" dirty="0"/>
          </a:p>
        </p:txBody>
      </p:sp>
      <p:graphicFrame>
        <p:nvGraphicFramePr>
          <p:cNvPr id="4" name="Chart 0"/>
          <p:cNvGraphicFramePr/>
          <p:nvPr/>
        </p:nvGraphicFramePr>
        <p:xfrm>
          <a:off x="640080" y="1645920"/>
          <a:ext cx="7406640" cy="397764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366760" y="1645920"/>
            <a:ext cx="3172968" cy="1481328"/>
          </a:xfrm>
          <a:prstGeom prst="roundRect">
            <a:avLst>
              <a:gd name="adj" fmla="val 5556"/>
            </a:avLst>
          </a:prstGeom>
          <a:solidFill>
            <a:srgbClr val="E3F2F2"/>
          </a:solidFill>
          <a:ln/>
          <a:effectLst>
            <a:outerShdw blurRad="101600" dist="12700" dir="5400000" algn="bl" rotWithShape="0">
              <a:srgbClr val="9AA7B4">
                <a:alpha val="18000"/>
              </a:srgbClr>
            </a:outerShdw>
          </a:effectLst>
        </p:spPr>
        <p:txBody>
          <a:bodyPr/>
          <a:lstStyle/>
          <a:p>
            <a:endParaRPr lang="en-US"/>
          </a:p>
        </p:txBody>
      </p:sp>
      <p:sp>
        <p:nvSpPr>
          <p:cNvPr id="6" name="Text 3"/>
          <p:cNvSpPr/>
          <p:nvPr/>
        </p:nvSpPr>
        <p:spPr>
          <a:xfrm>
            <a:off x="8366760" y="1737360"/>
            <a:ext cx="3172968" cy="603504"/>
          </a:xfrm>
          <a:prstGeom prst="rect">
            <a:avLst/>
          </a:prstGeom>
          <a:noFill/>
          <a:ln/>
        </p:spPr>
        <p:txBody>
          <a:bodyPr wrap="square" lIns="0" tIns="0" rIns="0" bIns="0" rtlCol="0" anchor="ctr"/>
          <a:lstStyle/>
          <a:p>
            <a:pPr marL="0" indent="0" algn="ctr">
              <a:buNone/>
            </a:pPr>
            <a:r>
              <a:rPr lang="en-US" sz="3000" b="1" dirty="0">
                <a:solidFill>
                  <a:srgbClr val="0E8A8F"/>
                </a:solidFill>
                <a:latin typeface="Cambria" pitchFamily="34" charset="0"/>
                <a:ea typeface="Cambria" pitchFamily="34" charset="-122"/>
                <a:cs typeface="Cambria" pitchFamily="34" charset="-120"/>
              </a:rPr>
              <a:t>0.964</a:t>
            </a:r>
            <a:endParaRPr lang="en-US" sz="3000" dirty="0"/>
          </a:p>
        </p:txBody>
      </p:sp>
      <p:sp>
        <p:nvSpPr>
          <p:cNvPr id="7" name="Text 4"/>
          <p:cNvSpPr/>
          <p:nvPr/>
        </p:nvSpPr>
        <p:spPr>
          <a:xfrm>
            <a:off x="8366760" y="2340864"/>
            <a:ext cx="3172968" cy="548640"/>
          </a:xfrm>
          <a:prstGeom prst="rect">
            <a:avLst/>
          </a:prstGeom>
          <a:noFill/>
          <a:ln/>
        </p:spPr>
        <p:txBody>
          <a:bodyPr wrap="square" lIns="0" tIns="0" rIns="0" bIns="0" rtlCol="0" anchor="t"/>
          <a:lstStyle/>
          <a:p>
            <a:pPr marL="0" indent="0" algn="ctr">
              <a:buNone/>
            </a:pPr>
            <a:r>
              <a:rPr lang="en-US" sz="1200" dirty="0">
                <a:solidFill>
                  <a:srgbClr val="12233A"/>
                </a:solidFill>
                <a:latin typeface="Calibri" pitchFamily="34" charset="0"/>
                <a:ea typeface="Calibri" pitchFamily="34" charset="-122"/>
                <a:cs typeface="Calibri" pitchFamily="34" charset="-120"/>
              </a:rPr>
              <a:t>best validation R² (epoch 24)</a:t>
            </a:r>
            <a:endParaRPr lang="en-US" sz="1200" dirty="0"/>
          </a:p>
        </p:txBody>
      </p:sp>
      <p:sp>
        <p:nvSpPr>
          <p:cNvPr id="8" name="Text 5"/>
          <p:cNvSpPr/>
          <p:nvPr/>
        </p:nvSpPr>
        <p:spPr>
          <a:xfrm>
            <a:off x="8366760" y="3310128"/>
            <a:ext cx="3172968" cy="228600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R² above 0.96 on speakers it never saw.</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F1 comes from a threshold, not the model.</a:t>
            </a:r>
            <a:endParaRPr lang="en-US" sz="1400" dirty="0"/>
          </a:p>
          <a:p>
            <a:pPr marL="342900" indent="-342900">
              <a:spcAft>
                <a:spcPts val="1200"/>
              </a:spcAft>
              <a:buSzPct val="100000"/>
              <a:buChar char="•"/>
            </a:pPr>
            <a:r>
              <a:rPr lang="en-US" sz="1400" dirty="0">
                <a:solidFill>
                  <a:srgbClr val="16202C"/>
                </a:solidFill>
                <a:latin typeface="Calibri" pitchFamily="34" charset="0"/>
                <a:ea typeface="Calibri" pitchFamily="34" charset="-122"/>
                <a:cs typeface="Calibri" pitchFamily="34" charset="-120"/>
              </a:rPr>
              <a:t>Dropout is off during validation.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RESULTS: CONFUSION MATRICES</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Confusion matrices: </a:t>
            </a:r>
            <a:r>
              <a:rPr lang="en-US" sz="3000" dirty="0">
                <a:solidFill>
                  <a:srgbClr val="12233A"/>
                </a:solidFill>
                <a:latin typeface="Cambria" pitchFamily="34" charset="0"/>
                <a:ea typeface="Cambria" pitchFamily="34" charset="-122"/>
                <a:cs typeface="Cambria" pitchFamily="34" charset="-120"/>
              </a:rPr>
              <a:t>(But this is not a classification model)</a:t>
            </a:r>
            <a:endParaRPr lang="en-US" sz="3000" dirty="0"/>
          </a:p>
        </p:txBody>
      </p:sp>
      <p:sp>
        <p:nvSpPr>
          <p:cNvPr id="4" name="Shape 2"/>
          <p:cNvSpPr/>
          <p:nvPr/>
        </p:nvSpPr>
        <p:spPr>
          <a:xfrm>
            <a:off x="640080" y="1645920"/>
            <a:ext cx="5230368" cy="3246120"/>
          </a:xfrm>
          <a:prstGeom prst="roundRect">
            <a:avLst>
              <a:gd name="adj" fmla="val 2535"/>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5" name="Text 3"/>
          <p:cNvSpPr/>
          <p:nvPr/>
        </p:nvSpPr>
        <p:spPr>
          <a:xfrm>
            <a:off x="914400" y="1810512"/>
            <a:ext cx="3291840" cy="274320"/>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Run A — 16 kHz unidirectional</a:t>
            </a:r>
            <a:endParaRPr lang="en-US" sz="1400" dirty="0"/>
          </a:p>
        </p:txBody>
      </p:sp>
      <p:sp>
        <p:nvSpPr>
          <p:cNvPr id="6" name="Text 4"/>
          <p:cNvSpPr/>
          <p:nvPr/>
        </p:nvSpPr>
        <p:spPr>
          <a:xfrm>
            <a:off x="914400" y="2084832"/>
            <a:ext cx="4663440" cy="237744"/>
          </a:xfrm>
          <a:prstGeom prst="rect">
            <a:avLst/>
          </a:prstGeom>
          <a:noFill/>
          <a:ln/>
        </p:spPr>
        <p:txBody>
          <a:bodyPr wrap="square" lIns="0" tIns="0" rIns="0" bIns="0" rtlCol="0" anchor="ctr"/>
          <a:lstStyle/>
          <a:p>
            <a:pPr marL="0" indent="0">
              <a:buNone/>
            </a:pPr>
            <a:r>
              <a:rPr lang="en-US" sz="1100" dirty="0">
                <a:solidFill>
                  <a:srgbClr val="62707F"/>
                </a:solidFill>
                <a:latin typeface="Calibri" pitchFamily="34" charset="0"/>
                <a:ea typeface="Calibri" pitchFamily="34" charset="-122"/>
                <a:cs typeface="Calibri" pitchFamily="34" charset="-120"/>
              </a:rPr>
              <a:t>validation, epoch 25</a:t>
            </a:r>
            <a:endParaRPr lang="en-US" sz="1100" dirty="0"/>
          </a:p>
        </p:txBody>
      </p:sp>
      <p:sp>
        <p:nvSpPr>
          <p:cNvPr id="7" name="Shape 5"/>
          <p:cNvSpPr/>
          <p:nvPr/>
        </p:nvSpPr>
        <p:spPr>
          <a:xfrm>
            <a:off x="1874520" y="2487168"/>
            <a:ext cx="1773936" cy="813816"/>
          </a:xfrm>
          <a:prstGeom prst="rect">
            <a:avLst/>
          </a:prstGeom>
          <a:solidFill>
            <a:srgbClr val="12233A"/>
          </a:solidFill>
          <a:ln/>
        </p:spPr>
        <p:txBody>
          <a:bodyPr/>
          <a:lstStyle/>
          <a:p>
            <a:endParaRPr lang="en-US"/>
          </a:p>
        </p:txBody>
      </p:sp>
      <p:sp>
        <p:nvSpPr>
          <p:cNvPr id="8" name="Text 6"/>
          <p:cNvSpPr/>
          <p:nvPr/>
        </p:nvSpPr>
        <p:spPr>
          <a:xfrm>
            <a:off x="1874520" y="248716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162,501,813</a:t>
            </a:r>
            <a:endParaRPr lang="en-US" sz="1300" dirty="0"/>
          </a:p>
        </p:txBody>
      </p:sp>
      <p:sp>
        <p:nvSpPr>
          <p:cNvPr id="9" name="Shape 7"/>
          <p:cNvSpPr/>
          <p:nvPr/>
        </p:nvSpPr>
        <p:spPr>
          <a:xfrm>
            <a:off x="3703320" y="2487168"/>
            <a:ext cx="1773936" cy="813816"/>
          </a:xfrm>
          <a:prstGeom prst="rect">
            <a:avLst/>
          </a:prstGeom>
          <a:solidFill>
            <a:srgbClr val="EEF2F6"/>
          </a:solidFill>
          <a:ln/>
        </p:spPr>
        <p:txBody>
          <a:bodyPr/>
          <a:lstStyle/>
          <a:p>
            <a:endParaRPr lang="en-US"/>
          </a:p>
        </p:txBody>
      </p:sp>
      <p:sp>
        <p:nvSpPr>
          <p:cNvPr id="10" name="Text 8"/>
          <p:cNvSpPr/>
          <p:nvPr/>
        </p:nvSpPr>
        <p:spPr>
          <a:xfrm>
            <a:off x="3703320" y="248716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3,283</a:t>
            </a:r>
            <a:endParaRPr lang="en-US" sz="1300" dirty="0"/>
          </a:p>
        </p:txBody>
      </p:sp>
      <p:sp>
        <p:nvSpPr>
          <p:cNvPr id="11" name="Shape 9"/>
          <p:cNvSpPr/>
          <p:nvPr/>
        </p:nvSpPr>
        <p:spPr>
          <a:xfrm>
            <a:off x="1874520" y="3355848"/>
            <a:ext cx="1773936" cy="813816"/>
          </a:xfrm>
          <a:prstGeom prst="rect">
            <a:avLst/>
          </a:prstGeom>
          <a:solidFill>
            <a:srgbClr val="EEF2F6"/>
          </a:solidFill>
          <a:ln/>
        </p:spPr>
        <p:txBody>
          <a:bodyPr/>
          <a:lstStyle/>
          <a:p>
            <a:endParaRPr lang="en-US"/>
          </a:p>
        </p:txBody>
      </p:sp>
      <p:sp>
        <p:nvSpPr>
          <p:cNvPr id="12" name="Text 10"/>
          <p:cNvSpPr/>
          <p:nvPr/>
        </p:nvSpPr>
        <p:spPr>
          <a:xfrm>
            <a:off x="1874520" y="335584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6,739</a:t>
            </a:r>
            <a:endParaRPr lang="en-US" sz="1300" dirty="0"/>
          </a:p>
        </p:txBody>
      </p:sp>
      <p:sp>
        <p:nvSpPr>
          <p:cNvPr id="13" name="Shape 11"/>
          <p:cNvSpPr/>
          <p:nvPr/>
        </p:nvSpPr>
        <p:spPr>
          <a:xfrm>
            <a:off x="3703320" y="3355848"/>
            <a:ext cx="1773936" cy="813816"/>
          </a:xfrm>
          <a:prstGeom prst="rect">
            <a:avLst/>
          </a:prstGeom>
          <a:solidFill>
            <a:srgbClr val="12233A"/>
          </a:solidFill>
          <a:ln/>
        </p:spPr>
        <p:txBody>
          <a:bodyPr/>
          <a:lstStyle/>
          <a:p>
            <a:endParaRPr lang="en-US"/>
          </a:p>
        </p:txBody>
      </p:sp>
      <p:sp>
        <p:nvSpPr>
          <p:cNvPr id="14" name="Text 12"/>
          <p:cNvSpPr/>
          <p:nvPr/>
        </p:nvSpPr>
        <p:spPr>
          <a:xfrm>
            <a:off x="3703320" y="335584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71,505</a:t>
            </a:r>
            <a:endParaRPr lang="en-US" sz="1300" dirty="0"/>
          </a:p>
        </p:txBody>
      </p:sp>
      <p:sp>
        <p:nvSpPr>
          <p:cNvPr id="15" name="Text 13"/>
          <p:cNvSpPr/>
          <p:nvPr/>
        </p:nvSpPr>
        <p:spPr>
          <a:xfrm>
            <a:off x="187452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neg</a:t>
            </a:r>
            <a:endParaRPr lang="en-US" sz="1000" dirty="0"/>
          </a:p>
        </p:txBody>
      </p:sp>
      <p:sp>
        <p:nvSpPr>
          <p:cNvPr id="16" name="Text 14"/>
          <p:cNvSpPr/>
          <p:nvPr/>
        </p:nvSpPr>
        <p:spPr>
          <a:xfrm>
            <a:off x="370332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pos</a:t>
            </a:r>
            <a:endParaRPr lang="en-US" sz="1000" dirty="0"/>
          </a:p>
        </p:txBody>
      </p:sp>
      <p:sp>
        <p:nvSpPr>
          <p:cNvPr id="17" name="Text 15"/>
          <p:cNvSpPr/>
          <p:nvPr/>
        </p:nvSpPr>
        <p:spPr>
          <a:xfrm>
            <a:off x="1005840" y="248716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neg</a:t>
            </a:r>
            <a:endParaRPr lang="en-US" sz="1000" dirty="0"/>
          </a:p>
        </p:txBody>
      </p:sp>
      <p:sp>
        <p:nvSpPr>
          <p:cNvPr id="18" name="Text 16"/>
          <p:cNvSpPr/>
          <p:nvPr/>
        </p:nvSpPr>
        <p:spPr>
          <a:xfrm>
            <a:off x="1005840" y="335584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pos</a:t>
            </a:r>
            <a:endParaRPr lang="en-US" sz="1000" dirty="0"/>
          </a:p>
        </p:txBody>
      </p:sp>
      <p:sp>
        <p:nvSpPr>
          <p:cNvPr id="19" name="Text 17"/>
          <p:cNvSpPr/>
          <p:nvPr/>
        </p:nvSpPr>
        <p:spPr>
          <a:xfrm>
            <a:off x="914400" y="4407408"/>
            <a:ext cx="4663440" cy="292608"/>
          </a:xfrm>
          <a:prstGeom prst="rect">
            <a:avLst/>
          </a:prstGeom>
          <a:noFill/>
          <a:ln/>
        </p:spPr>
        <p:txBody>
          <a:bodyPr wrap="square" lIns="0" tIns="0" rIns="0" bIns="0" rtlCol="0" anchor="ctr"/>
          <a:lstStyle/>
          <a:p>
            <a:pPr marL="0" indent="0">
              <a:buNone/>
            </a:pPr>
            <a:r>
              <a:rPr lang="en-US" sz="1150" b="1" dirty="0">
                <a:solidFill>
                  <a:srgbClr val="0E8A8F"/>
                </a:solidFill>
                <a:latin typeface="Calibri" pitchFamily="34" charset="0"/>
                <a:ea typeface="Calibri" pitchFamily="34" charset="-122"/>
                <a:cs typeface="Calibri" pitchFamily="34" charset="-120"/>
              </a:rPr>
              <a:t>Recall on active bins: 0.914   ·   missed: 0.086</a:t>
            </a:r>
            <a:endParaRPr lang="en-US" sz="1150" dirty="0"/>
          </a:p>
        </p:txBody>
      </p:sp>
      <p:sp>
        <p:nvSpPr>
          <p:cNvPr id="20" name="Shape 18"/>
          <p:cNvSpPr/>
          <p:nvPr/>
        </p:nvSpPr>
        <p:spPr>
          <a:xfrm>
            <a:off x="6309360" y="1645920"/>
            <a:ext cx="5230368" cy="3246120"/>
          </a:xfrm>
          <a:prstGeom prst="roundRect">
            <a:avLst>
              <a:gd name="adj" fmla="val 2535"/>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a:p>
        </p:txBody>
      </p:sp>
      <p:sp>
        <p:nvSpPr>
          <p:cNvPr id="21" name="Text 19"/>
          <p:cNvSpPr/>
          <p:nvPr/>
        </p:nvSpPr>
        <p:spPr>
          <a:xfrm>
            <a:off x="6583680" y="1810512"/>
            <a:ext cx="3291840" cy="274320"/>
          </a:xfrm>
          <a:prstGeom prst="rect">
            <a:avLst/>
          </a:prstGeom>
          <a:noFill/>
          <a:ln/>
        </p:spPr>
        <p:txBody>
          <a:bodyPr wrap="square" lIns="0" tIns="0" rIns="0" bIns="0"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Run B — 44.1 kHz bidirectional</a:t>
            </a:r>
            <a:endParaRPr lang="en-US" sz="1400" dirty="0"/>
          </a:p>
        </p:txBody>
      </p:sp>
      <p:sp>
        <p:nvSpPr>
          <p:cNvPr id="22" name="Text 20"/>
          <p:cNvSpPr/>
          <p:nvPr/>
        </p:nvSpPr>
        <p:spPr>
          <a:xfrm>
            <a:off x="6583680" y="2084832"/>
            <a:ext cx="4663440" cy="237744"/>
          </a:xfrm>
          <a:prstGeom prst="rect">
            <a:avLst/>
          </a:prstGeom>
          <a:noFill/>
          <a:ln/>
        </p:spPr>
        <p:txBody>
          <a:bodyPr wrap="square" lIns="0" tIns="0" rIns="0" bIns="0" rtlCol="0" anchor="ctr"/>
          <a:lstStyle/>
          <a:p>
            <a:pPr marL="0" indent="0">
              <a:buNone/>
            </a:pPr>
            <a:r>
              <a:rPr lang="en-US" sz="1100" dirty="0">
                <a:solidFill>
                  <a:srgbClr val="62707F"/>
                </a:solidFill>
                <a:latin typeface="Calibri" pitchFamily="34" charset="0"/>
                <a:ea typeface="Calibri" pitchFamily="34" charset="-122"/>
                <a:cs typeface="Calibri" pitchFamily="34" charset="-120"/>
              </a:rPr>
              <a:t>validation, epoch 32</a:t>
            </a:r>
            <a:endParaRPr lang="en-US" sz="1100" dirty="0"/>
          </a:p>
        </p:txBody>
      </p:sp>
      <p:sp>
        <p:nvSpPr>
          <p:cNvPr id="23" name="Shape 21"/>
          <p:cNvSpPr/>
          <p:nvPr/>
        </p:nvSpPr>
        <p:spPr>
          <a:xfrm>
            <a:off x="7543800" y="2487168"/>
            <a:ext cx="1773936" cy="813816"/>
          </a:xfrm>
          <a:prstGeom prst="rect">
            <a:avLst/>
          </a:prstGeom>
          <a:solidFill>
            <a:srgbClr val="12233A"/>
          </a:solidFill>
          <a:ln/>
        </p:spPr>
        <p:txBody>
          <a:bodyPr/>
          <a:lstStyle/>
          <a:p>
            <a:endParaRPr lang="en-US"/>
          </a:p>
        </p:txBody>
      </p:sp>
      <p:sp>
        <p:nvSpPr>
          <p:cNvPr id="24" name="Text 22"/>
          <p:cNvSpPr/>
          <p:nvPr/>
        </p:nvSpPr>
        <p:spPr>
          <a:xfrm>
            <a:off x="7543800" y="248716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447,565,279</a:t>
            </a:r>
            <a:endParaRPr lang="en-US" sz="1300" dirty="0"/>
          </a:p>
        </p:txBody>
      </p:sp>
      <p:sp>
        <p:nvSpPr>
          <p:cNvPr id="25" name="Shape 23"/>
          <p:cNvSpPr/>
          <p:nvPr/>
        </p:nvSpPr>
        <p:spPr>
          <a:xfrm>
            <a:off x="9372600" y="2487168"/>
            <a:ext cx="1773936" cy="813816"/>
          </a:xfrm>
          <a:prstGeom prst="rect">
            <a:avLst/>
          </a:prstGeom>
          <a:solidFill>
            <a:srgbClr val="EEF2F6"/>
          </a:solidFill>
          <a:ln/>
        </p:spPr>
        <p:txBody>
          <a:bodyPr/>
          <a:lstStyle/>
          <a:p>
            <a:endParaRPr lang="en-US"/>
          </a:p>
        </p:txBody>
      </p:sp>
      <p:sp>
        <p:nvSpPr>
          <p:cNvPr id="26" name="Text 24"/>
          <p:cNvSpPr/>
          <p:nvPr/>
        </p:nvSpPr>
        <p:spPr>
          <a:xfrm>
            <a:off x="9372600" y="248716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1,897</a:t>
            </a:r>
            <a:endParaRPr lang="en-US" sz="1300" dirty="0"/>
          </a:p>
        </p:txBody>
      </p:sp>
      <p:sp>
        <p:nvSpPr>
          <p:cNvPr id="27" name="Shape 25"/>
          <p:cNvSpPr/>
          <p:nvPr/>
        </p:nvSpPr>
        <p:spPr>
          <a:xfrm>
            <a:off x="7543800" y="3355848"/>
            <a:ext cx="1773936" cy="813816"/>
          </a:xfrm>
          <a:prstGeom prst="rect">
            <a:avLst/>
          </a:prstGeom>
          <a:solidFill>
            <a:srgbClr val="EEF2F6"/>
          </a:solidFill>
          <a:ln/>
        </p:spPr>
        <p:txBody>
          <a:bodyPr/>
          <a:lstStyle/>
          <a:p>
            <a:endParaRPr lang="en-US"/>
          </a:p>
        </p:txBody>
      </p:sp>
      <p:sp>
        <p:nvSpPr>
          <p:cNvPr id="28" name="Text 26"/>
          <p:cNvSpPr/>
          <p:nvPr/>
        </p:nvSpPr>
        <p:spPr>
          <a:xfrm>
            <a:off x="7543800" y="3355848"/>
            <a:ext cx="1773936" cy="813816"/>
          </a:xfrm>
          <a:prstGeom prst="rect">
            <a:avLst/>
          </a:prstGeom>
          <a:noFill/>
          <a:ln/>
        </p:spPr>
        <p:txBody>
          <a:bodyPr wrap="square" lIns="0" tIns="0" rIns="0" bIns="0" rtlCol="0" anchor="ctr"/>
          <a:lstStyle/>
          <a:p>
            <a:pPr marL="0" indent="0" algn="ctr">
              <a:buNone/>
            </a:pPr>
            <a:r>
              <a:rPr lang="en-US" sz="1300" dirty="0">
                <a:solidFill>
                  <a:srgbClr val="16202C"/>
                </a:solidFill>
                <a:latin typeface="Calibri" pitchFamily="34" charset="0"/>
                <a:ea typeface="Calibri" pitchFamily="34" charset="-122"/>
                <a:cs typeface="Calibri" pitchFamily="34" charset="-120"/>
              </a:rPr>
              <a:t>3,377</a:t>
            </a:r>
            <a:endParaRPr lang="en-US" sz="1300" dirty="0"/>
          </a:p>
        </p:txBody>
      </p:sp>
      <p:sp>
        <p:nvSpPr>
          <p:cNvPr id="29" name="Shape 27"/>
          <p:cNvSpPr/>
          <p:nvPr/>
        </p:nvSpPr>
        <p:spPr>
          <a:xfrm>
            <a:off x="9372600" y="3355848"/>
            <a:ext cx="1773936" cy="813816"/>
          </a:xfrm>
          <a:prstGeom prst="rect">
            <a:avLst/>
          </a:prstGeom>
          <a:solidFill>
            <a:srgbClr val="12233A"/>
          </a:solidFill>
          <a:ln/>
        </p:spPr>
        <p:txBody>
          <a:bodyPr/>
          <a:lstStyle/>
          <a:p>
            <a:endParaRPr lang="en-US"/>
          </a:p>
        </p:txBody>
      </p:sp>
      <p:sp>
        <p:nvSpPr>
          <p:cNvPr id="30" name="Text 28"/>
          <p:cNvSpPr/>
          <p:nvPr/>
        </p:nvSpPr>
        <p:spPr>
          <a:xfrm>
            <a:off x="9372600" y="3355848"/>
            <a:ext cx="1773936" cy="81381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43,872</a:t>
            </a:r>
            <a:endParaRPr lang="en-US" sz="1300" dirty="0"/>
          </a:p>
        </p:txBody>
      </p:sp>
      <p:sp>
        <p:nvSpPr>
          <p:cNvPr id="31" name="Text 29"/>
          <p:cNvSpPr/>
          <p:nvPr/>
        </p:nvSpPr>
        <p:spPr>
          <a:xfrm>
            <a:off x="754380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neg</a:t>
            </a:r>
            <a:endParaRPr lang="en-US" sz="1000" dirty="0"/>
          </a:p>
        </p:txBody>
      </p:sp>
      <p:sp>
        <p:nvSpPr>
          <p:cNvPr id="32" name="Text 30"/>
          <p:cNvSpPr/>
          <p:nvPr/>
        </p:nvSpPr>
        <p:spPr>
          <a:xfrm>
            <a:off x="9372600" y="2212848"/>
            <a:ext cx="1773936" cy="237744"/>
          </a:xfrm>
          <a:prstGeom prst="rect">
            <a:avLst/>
          </a:prstGeom>
          <a:noFill/>
          <a:ln/>
        </p:spPr>
        <p:txBody>
          <a:bodyPr wrap="square" lIns="0" tIns="0" rIns="0" bIns="0" rtlCol="0" anchor="ctr"/>
          <a:lstStyle/>
          <a:p>
            <a:pPr marL="0" indent="0" algn="ctr">
              <a:buNone/>
            </a:pPr>
            <a:r>
              <a:rPr lang="en-US" sz="1000" dirty="0">
                <a:solidFill>
                  <a:srgbClr val="62707F"/>
                </a:solidFill>
                <a:latin typeface="Calibri" pitchFamily="34" charset="0"/>
                <a:ea typeface="Calibri" pitchFamily="34" charset="-122"/>
                <a:cs typeface="Calibri" pitchFamily="34" charset="-120"/>
              </a:rPr>
              <a:t>Pred pos</a:t>
            </a:r>
            <a:endParaRPr lang="en-US" sz="1000" dirty="0"/>
          </a:p>
        </p:txBody>
      </p:sp>
      <p:sp>
        <p:nvSpPr>
          <p:cNvPr id="33" name="Text 31"/>
          <p:cNvSpPr/>
          <p:nvPr/>
        </p:nvSpPr>
        <p:spPr>
          <a:xfrm>
            <a:off x="6675120" y="248716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neg</a:t>
            </a:r>
            <a:endParaRPr lang="en-US" sz="1000" dirty="0"/>
          </a:p>
        </p:txBody>
      </p:sp>
      <p:sp>
        <p:nvSpPr>
          <p:cNvPr id="34" name="Text 32"/>
          <p:cNvSpPr/>
          <p:nvPr/>
        </p:nvSpPr>
        <p:spPr>
          <a:xfrm>
            <a:off x="6675120" y="3355848"/>
            <a:ext cx="777240" cy="813816"/>
          </a:xfrm>
          <a:prstGeom prst="rect">
            <a:avLst/>
          </a:prstGeom>
          <a:noFill/>
          <a:ln/>
        </p:spPr>
        <p:txBody>
          <a:bodyPr wrap="square" lIns="0" tIns="0" rIns="0" bIns="0" rtlCol="0" anchor="ctr"/>
          <a:lstStyle/>
          <a:p>
            <a:pPr marL="0" indent="0" algn="r">
              <a:buNone/>
            </a:pPr>
            <a:r>
              <a:rPr lang="en-US" sz="1000" dirty="0">
                <a:solidFill>
                  <a:srgbClr val="62707F"/>
                </a:solidFill>
                <a:latin typeface="Calibri" pitchFamily="34" charset="0"/>
                <a:ea typeface="Calibri" pitchFamily="34" charset="-122"/>
                <a:cs typeface="Calibri" pitchFamily="34" charset="-120"/>
              </a:rPr>
              <a:t>Actual</a:t>
            </a:r>
            <a:endParaRPr lang="en-US" sz="1000" dirty="0"/>
          </a:p>
          <a:p>
            <a:pPr marL="0" indent="0" algn="r">
              <a:buNone/>
            </a:pPr>
            <a:r>
              <a:rPr lang="en-US" sz="1000" dirty="0">
                <a:solidFill>
                  <a:srgbClr val="62707F"/>
                </a:solidFill>
                <a:latin typeface="Calibri" pitchFamily="34" charset="0"/>
                <a:ea typeface="Calibri" pitchFamily="34" charset="-122"/>
                <a:cs typeface="Calibri" pitchFamily="34" charset="-120"/>
              </a:rPr>
              <a:t>pos</a:t>
            </a:r>
            <a:endParaRPr lang="en-US" sz="1000" dirty="0"/>
          </a:p>
        </p:txBody>
      </p:sp>
      <p:sp>
        <p:nvSpPr>
          <p:cNvPr id="35" name="Text 33"/>
          <p:cNvSpPr/>
          <p:nvPr/>
        </p:nvSpPr>
        <p:spPr>
          <a:xfrm>
            <a:off x="6583680" y="4407408"/>
            <a:ext cx="4663440" cy="292608"/>
          </a:xfrm>
          <a:prstGeom prst="rect">
            <a:avLst/>
          </a:prstGeom>
          <a:noFill/>
          <a:ln/>
        </p:spPr>
        <p:txBody>
          <a:bodyPr wrap="square" lIns="0" tIns="0" rIns="0" bIns="0" rtlCol="0" anchor="ctr"/>
          <a:lstStyle/>
          <a:p>
            <a:pPr marL="0" indent="0">
              <a:buNone/>
            </a:pPr>
            <a:r>
              <a:rPr lang="en-US" sz="1150" b="1" dirty="0">
                <a:solidFill>
                  <a:srgbClr val="0E8A8F"/>
                </a:solidFill>
                <a:latin typeface="Calibri" pitchFamily="34" charset="0"/>
                <a:ea typeface="Calibri" pitchFamily="34" charset="-122"/>
                <a:cs typeface="Calibri" pitchFamily="34" charset="-120"/>
              </a:rPr>
              <a:t>Recall on active bins: 0.929   ·   missed: 0.071</a:t>
            </a:r>
            <a:endParaRPr lang="en-US" sz="1150" dirty="0"/>
          </a:p>
        </p:txBody>
      </p:sp>
      <p:sp>
        <p:nvSpPr>
          <p:cNvPr id="36" name="Shape 34"/>
          <p:cNvSpPr/>
          <p:nvPr/>
        </p:nvSpPr>
        <p:spPr>
          <a:xfrm>
            <a:off x="640080" y="5120640"/>
            <a:ext cx="10899648" cy="914400"/>
          </a:xfrm>
          <a:prstGeom prst="roundRect">
            <a:avLst>
              <a:gd name="adj" fmla="val 9000"/>
            </a:avLst>
          </a:prstGeom>
          <a:solidFill>
            <a:srgbClr val="FBEEE1"/>
          </a:solidFill>
          <a:ln/>
          <a:effectLst>
            <a:outerShdw blurRad="101600" dist="12700" dir="5400000" algn="bl" rotWithShape="0">
              <a:srgbClr val="9AA7B4">
                <a:alpha val="18000"/>
              </a:srgbClr>
            </a:outerShdw>
          </a:effectLst>
        </p:spPr>
        <p:txBody>
          <a:bodyPr/>
          <a:lstStyle/>
          <a:p>
            <a:endParaRPr lang="en-US"/>
          </a:p>
        </p:txBody>
      </p:sp>
      <p:sp>
        <p:nvSpPr>
          <p:cNvPr id="37" name="Text 35"/>
          <p:cNvSpPr/>
          <p:nvPr/>
        </p:nvSpPr>
        <p:spPr>
          <a:xfrm>
            <a:off x="914400" y="5120640"/>
            <a:ext cx="10332720" cy="914400"/>
          </a:xfrm>
          <a:prstGeom prst="rect">
            <a:avLst/>
          </a:prstGeom>
          <a:noFill/>
          <a:ln/>
        </p:spPr>
        <p:txBody>
          <a:bodyPr wrap="square" lIns="0" tIns="0" rIns="0" bIns="0" rtlCol="0" anchor="ctr"/>
          <a:lstStyle/>
          <a:p>
            <a:pPr marL="0" indent="0">
              <a:buNone/>
            </a:pPr>
            <a:r>
              <a:rPr lang="en-US" sz="1450" dirty="0">
                <a:solidFill>
                  <a:srgbClr val="12233A"/>
                </a:solidFill>
                <a:latin typeface="Calibri" pitchFamily="34" charset="0"/>
                <a:ea typeface="Calibri" pitchFamily="34" charset="-122"/>
                <a:cs typeface="Calibri" pitchFamily="34" charset="-120"/>
              </a:rPr>
              <a:t>Which frequency bins were correctly identified as noise and removed (gain &lt; 0.5)? And which were identified correctly as speech and kept (gain &gt;= 0.5)?</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347472"/>
            <a:ext cx="10881360" cy="256032"/>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COMPARING THE TWO RUNS</a:t>
            </a:r>
            <a:endParaRPr lang="en-US" sz="1150" dirty="0"/>
          </a:p>
        </p:txBody>
      </p:sp>
      <p:sp>
        <p:nvSpPr>
          <p:cNvPr id="3" name="Text 1"/>
          <p:cNvSpPr/>
          <p:nvPr/>
        </p:nvSpPr>
        <p:spPr>
          <a:xfrm>
            <a:off x="640080" y="621792"/>
            <a:ext cx="10881360" cy="658368"/>
          </a:xfrm>
          <a:prstGeom prst="rect">
            <a:avLst/>
          </a:prstGeom>
          <a:noFill/>
          <a:ln/>
        </p:spPr>
        <p:txBody>
          <a:bodyPr wrap="square" lIns="0" tIns="0" rIns="0" bIns="0" rtlCol="0" anchor="t"/>
          <a:lstStyle/>
          <a:p>
            <a:pPr marL="0" indent="0">
              <a:buNone/>
            </a:pPr>
            <a:r>
              <a:rPr lang="en-US" sz="3000" b="1" dirty="0">
                <a:solidFill>
                  <a:srgbClr val="12233A"/>
                </a:solidFill>
                <a:latin typeface="Cambria" pitchFamily="34" charset="0"/>
                <a:ea typeface="Cambria" pitchFamily="34" charset="-122"/>
                <a:cs typeface="Cambria" pitchFamily="34" charset="-120"/>
              </a:rPr>
              <a:t>Real time or best quality</a:t>
            </a:r>
            <a:endParaRPr lang="en-US" sz="3000" dirty="0"/>
          </a:p>
        </p:txBody>
      </p:sp>
      <p:sp>
        <p:nvSpPr>
          <p:cNvPr id="4" name="Shape 2"/>
          <p:cNvSpPr/>
          <p:nvPr/>
        </p:nvSpPr>
        <p:spPr>
          <a:xfrm>
            <a:off x="640080" y="1645920"/>
            <a:ext cx="5349240" cy="3977640"/>
          </a:xfrm>
          <a:prstGeom prst="roundRect">
            <a:avLst>
              <a:gd name="adj" fmla="val 2069"/>
            </a:avLst>
          </a:prstGeom>
          <a:solidFill>
            <a:srgbClr val="FFFFFF"/>
          </a:solidFill>
          <a:ln w="12700">
            <a:solidFill>
              <a:srgbClr val="DFE5EB"/>
            </a:solidFill>
            <a:prstDash val="solid"/>
          </a:ln>
          <a:effectLst>
            <a:outerShdw blurRad="101600" dist="12700" dir="5400000" algn="bl" rotWithShape="0">
              <a:srgbClr val="9AA7B4">
                <a:alpha val="18000"/>
              </a:srgbClr>
            </a:outerShdw>
          </a:effectLst>
        </p:spPr>
        <p:txBody>
          <a:bodyPr/>
          <a:lstStyle/>
          <a:p>
            <a:endParaRPr lang="en-US" dirty="0"/>
          </a:p>
        </p:txBody>
      </p:sp>
      <p:sp>
        <p:nvSpPr>
          <p:cNvPr id="5" name="Shape 3"/>
          <p:cNvSpPr/>
          <p:nvPr/>
        </p:nvSpPr>
        <p:spPr>
          <a:xfrm>
            <a:off x="6190488" y="1645920"/>
            <a:ext cx="5349240" cy="3977640"/>
          </a:xfrm>
          <a:prstGeom prst="roundRect">
            <a:avLst>
              <a:gd name="adj" fmla="val 2069"/>
            </a:avLst>
          </a:prstGeom>
          <a:solidFill>
            <a:srgbClr val="12233A"/>
          </a:solidFill>
          <a:ln/>
          <a:effectLst>
            <a:outerShdw blurRad="101600" dist="12700" dir="5400000" algn="bl" rotWithShape="0">
              <a:srgbClr val="9AA7B4">
                <a:alpha val="18000"/>
              </a:srgbClr>
            </a:outerShdw>
          </a:effectLst>
        </p:spPr>
        <p:txBody>
          <a:bodyPr/>
          <a:lstStyle/>
          <a:p>
            <a:endParaRPr lang="en-US"/>
          </a:p>
        </p:txBody>
      </p:sp>
      <p:sp>
        <p:nvSpPr>
          <p:cNvPr id="6" name="Text 4"/>
          <p:cNvSpPr/>
          <p:nvPr/>
        </p:nvSpPr>
        <p:spPr>
          <a:xfrm>
            <a:off x="914400" y="1828800"/>
            <a:ext cx="4846320" cy="329184"/>
          </a:xfrm>
          <a:prstGeom prst="rect">
            <a:avLst/>
          </a:prstGeom>
          <a:noFill/>
          <a:ln/>
        </p:spPr>
        <p:txBody>
          <a:bodyPr wrap="square" lIns="0" tIns="0" rIns="0" bIns="0" rtlCol="0" anchor="ctr"/>
          <a:lstStyle/>
          <a:p>
            <a:pPr marL="0" indent="0">
              <a:buNone/>
            </a:pPr>
            <a:r>
              <a:rPr lang="en-US" sz="1800" b="1" dirty="0">
                <a:solidFill>
                  <a:srgbClr val="12233A"/>
                </a:solidFill>
                <a:latin typeface="Cambria" pitchFamily="34" charset="0"/>
                <a:ea typeface="Cambria" pitchFamily="34" charset="-122"/>
                <a:cs typeface="Cambria" pitchFamily="34" charset="-120"/>
              </a:rPr>
              <a:t>Run A · Unidirectional</a:t>
            </a:r>
            <a:endParaRPr lang="en-US" sz="1800" dirty="0"/>
          </a:p>
        </p:txBody>
      </p:sp>
      <p:sp>
        <p:nvSpPr>
          <p:cNvPr id="7" name="Text 5"/>
          <p:cNvSpPr/>
          <p:nvPr/>
        </p:nvSpPr>
        <p:spPr>
          <a:xfrm>
            <a:off x="914400" y="2176272"/>
            <a:ext cx="4846320" cy="274320"/>
          </a:xfrm>
          <a:prstGeom prst="rect">
            <a:avLst/>
          </a:prstGeom>
          <a:noFill/>
          <a:ln/>
        </p:spPr>
        <p:txBody>
          <a:bodyPr wrap="square" lIns="0" tIns="0" rIns="0" bIns="0" rtlCol="0" anchor="ctr"/>
          <a:lstStyle/>
          <a:p>
            <a:pPr marL="0" indent="0">
              <a:buNone/>
            </a:pPr>
            <a:r>
              <a:rPr lang="en-US" sz="1150" i="1" dirty="0">
                <a:solidFill>
                  <a:srgbClr val="0E8A8F"/>
                </a:solidFill>
                <a:latin typeface="Calibri" pitchFamily="34" charset="0"/>
                <a:ea typeface="Calibri" pitchFamily="34" charset="-122"/>
                <a:cs typeface="Calibri" pitchFamily="34" charset="-120"/>
              </a:rPr>
              <a:t>Past frames only. (Runs live)</a:t>
            </a:r>
            <a:endParaRPr lang="en-US" sz="1150" dirty="0"/>
          </a:p>
        </p:txBody>
      </p:sp>
      <p:sp>
        <p:nvSpPr>
          <p:cNvPr id="8" name="Text 6"/>
          <p:cNvSpPr/>
          <p:nvPr/>
        </p:nvSpPr>
        <p:spPr>
          <a:xfrm>
            <a:off x="6464808" y="1828800"/>
            <a:ext cx="4846320" cy="329184"/>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Run B · Bidirectional</a:t>
            </a:r>
            <a:endParaRPr lang="en-US" sz="1800" dirty="0"/>
          </a:p>
        </p:txBody>
      </p:sp>
      <p:sp>
        <p:nvSpPr>
          <p:cNvPr id="9" name="Text 7"/>
          <p:cNvSpPr/>
          <p:nvPr/>
        </p:nvSpPr>
        <p:spPr>
          <a:xfrm>
            <a:off x="6464808" y="2176272"/>
            <a:ext cx="4846320" cy="274320"/>
          </a:xfrm>
          <a:prstGeom prst="rect">
            <a:avLst/>
          </a:prstGeom>
          <a:noFill/>
          <a:ln/>
        </p:spPr>
        <p:txBody>
          <a:bodyPr wrap="square" lIns="0" tIns="0" rIns="0" bIns="0" rtlCol="0" anchor="ctr"/>
          <a:lstStyle/>
          <a:p>
            <a:pPr marL="0" indent="0">
              <a:buNone/>
            </a:pPr>
            <a:r>
              <a:rPr lang="en-US" sz="1150" i="1" dirty="0">
                <a:solidFill>
                  <a:srgbClr val="E08A3C"/>
                </a:solidFill>
                <a:latin typeface="Calibri" pitchFamily="34" charset="0"/>
                <a:ea typeface="Calibri" pitchFamily="34" charset="-122"/>
                <a:cs typeface="Calibri" pitchFamily="34" charset="-120"/>
              </a:rPr>
              <a:t>Needs the whole file first.</a:t>
            </a:r>
            <a:endParaRPr lang="en-US" sz="1150" dirty="0"/>
          </a:p>
        </p:txBody>
      </p:sp>
      <p:sp>
        <p:nvSpPr>
          <p:cNvPr id="10" name="Text 8"/>
          <p:cNvSpPr/>
          <p:nvPr/>
        </p:nvSpPr>
        <p:spPr>
          <a:xfrm>
            <a:off x="914400" y="2606040"/>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Sample rate</a:t>
            </a:r>
            <a:endParaRPr lang="en-US" sz="1150" dirty="0"/>
          </a:p>
        </p:txBody>
      </p:sp>
      <p:sp>
        <p:nvSpPr>
          <p:cNvPr id="11" name="Text 9"/>
          <p:cNvSpPr/>
          <p:nvPr/>
        </p:nvSpPr>
        <p:spPr>
          <a:xfrm>
            <a:off x="3108960" y="2606040"/>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16 kHz</a:t>
            </a:r>
            <a:endParaRPr lang="en-US" sz="1250" dirty="0"/>
          </a:p>
        </p:txBody>
      </p:sp>
      <p:sp>
        <p:nvSpPr>
          <p:cNvPr id="12" name="Text 10"/>
          <p:cNvSpPr/>
          <p:nvPr/>
        </p:nvSpPr>
        <p:spPr>
          <a:xfrm>
            <a:off x="6464808" y="2606040"/>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Sample rate</a:t>
            </a:r>
            <a:endParaRPr lang="en-US" sz="1150" dirty="0"/>
          </a:p>
        </p:txBody>
      </p:sp>
      <p:sp>
        <p:nvSpPr>
          <p:cNvPr id="13" name="Text 11"/>
          <p:cNvSpPr/>
          <p:nvPr/>
        </p:nvSpPr>
        <p:spPr>
          <a:xfrm>
            <a:off x="8659368" y="2606040"/>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44.1 kHz</a:t>
            </a:r>
            <a:endParaRPr lang="en-US" sz="1250" dirty="0"/>
          </a:p>
        </p:txBody>
      </p:sp>
      <p:sp>
        <p:nvSpPr>
          <p:cNvPr id="14" name="Shape 12"/>
          <p:cNvSpPr/>
          <p:nvPr/>
        </p:nvSpPr>
        <p:spPr>
          <a:xfrm>
            <a:off x="914400" y="3054096"/>
            <a:ext cx="4892040" cy="0"/>
          </a:xfrm>
          <a:prstGeom prst="line">
            <a:avLst/>
          </a:prstGeom>
          <a:noFill/>
          <a:ln w="12700">
            <a:solidFill>
              <a:srgbClr val="DFE5EB"/>
            </a:solidFill>
            <a:prstDash val="solid"/>
          </a:ln>
        </p:spPr>
        <p:txBody>
          <a:bodyPr/>
          <a:lstStyle/>
          <a:p>
            <a:endParaRPr lang="en-US"/>
          </a:p>
        </p:txBody>
      </p:sp>
      <p:sp>
        <p:nvSpPr>
          <p:cNvPr id="15" name="Shape 13"/>
          <p:cNvSpPr/>
          <p:nvPr/>
        </p:nvSpPr>
        <p:spPr>
          <a:xfrm>
            <a:off x="6464808" y="3054096"/>
            <a:ext cx="4892040" cy="0"/>
          </a:xfrm>
          <a:prstGeom prst="line">
            <a:avLst/>
          </a:prstGeom>
          <a:noFill/>
          <a:ln w="12700">
            <a:solidFill>
              <a:srgbClr val="1C3557"/>
            </a:solidFill>
            <a:prstDash val="solid"/>
          </a:ln>
        </p:spPr>
        <p:txBody>
          <a:bodyPr/>
          <a:lstStyle/>
          <a:p>
            <a:endParaRPr lang="en-US"/>
          </a:p>
        </p:txBody>
      </p:sp>
      <p:sp>
        <p:nvSpPr>
          <p:cNvPr id="16" name="Text 14"/>
          <p:cNvSpPr/>
          <p:nvPr/>
        </p:nvSpPr>
        <p:spPr>
          <a:xfrm>
            <a:off x="914400" y="3090672"/>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LSTM direction</a:t>
            </a:r>
            <a:endParaRPr lang="en-US" sz="1150" dirty="0"/>
          </a:p>
        </p:txBody>
      </p:sp>
      <p:sp>
        <p:nvSpPr>
          <p:cNvPr id="17" name="Text 15"/>
          <p:cNvSpPr/>
          <p:nvPr/>
        </p:nvSpPr>
        <p:spPr>
          <a:xfrm>
            <a:off x="3108960" y="3090672"/>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Unidirectional (causal)</a:t>
            </a:r>
            <a:endParaRPr lang="en-US" sz="1250" dirty="0"/>
          </a:p>
        </p:txBody>
      </p:sp>
      <p:sp>
        <p:nvSpPr>
          <p:cNvPr id="18" name="Text 16"/>
          <p:cNvSpPr/>
          <p:nvPr/>
        </p:nvSpPr>
        <p:spPr>
          <a:xfrm>
            <a:off x="6464808" y="3090672"/>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LSTM direction</a:t>
            </a:r>
            <a:endParaRPr lang="en-US" sz="1150" dirty="0"/>
          </a:p>
        </p:txBody>
      </p:sp>
      <p:sp>
        <p:nvSpPr>
          <p:cNvPr id="19" name="Text 17"/>
          <p:cNvSpPr/>
          <p:nvPr/>
        </p:nvSpPr>
        <p:spPr>
          <a:xfrm>
            <a:off x="8659368" y="3090672"/>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Bidirectional</a:t>
            </a:r>
            <a:endParaRPr lang="en-US" sz="1250" dirty="0"/>
          </a:p>
        </p:txBody>
      </p:sp>
      <p:sp>
        <p:nvSpPr>
          <p:cNvPr id="20" name="Shape 18"/>
          <p:cNvSpPr/>
          <p:nvPr/>
        </p:nvSpPr>
        <p:spPr>
          <a:xfrm>
            <a:off x="914400" y="3538728"/>
            <a:ext cx="4892040" cy="0"/>
          </a:xfrm>
          <a:prstGeom prst="line">
            <a:avLst/>
          </a:prstGeom>
          <a:noFill/>
          <a:ln w="12700">
            <a:solidFill>
              <a:srgbClr val="DFE5EB"/>
            </a:solidFill>
            <a:prstDash val="solid"/>
          </a:ln>
        </p:spPr>
        <p:txBody>
          <a:bodyPr/>
          <a:lstStyle/>
          <a:p>
            <a:endParaRPr lang="en-US"/>
          </a:p>
        </p:txBody>
      </p:sp>
      <p:sp>
        <p:nvSpPr>
          <p:cNvPr id="21" name="Shape 19"/>
          <p:cNvSpPr/>
          <p:nvPr/>
        </p:nvSpPr>
        <p:spPr>
          <a:xfrm>
            <a:off x="6464808" y="3538728"/>
            <a:ext cx="4892040" cy="0"/>
          </a:xfrm>
          <a:prstGeom prst="line">
            <a:avLst/>
          </a:prstGeom>
          <a:noFill/>
          <a:ln w="12700">
            <a:solidFill>
              <a:srgbClr val="1C3557"/>
            </a:solidFill>
            <a:prstDash val="solid"/>
          </a:ln>
        </p:spPr>
        <p:txBody>
          <a:bodyPr/>
          <a:lstStyle/>
          <a:p>
            <a:endParaRPr lang="en-US"/>
          </a:p>
        </p:txBody>
      </p:sp>
      <p:sp>
        <p:nvSpPr>
          <p:cNvPr id="22" name="Text 20"/>
          <p:cNvSpPr/>
          <p:nvPr/>
        </p:nvSpPr>
        <p:spPr>
          <a:xfrm>
            <a:off x="914400" y="3575304"/>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Frame size</a:t>
            </a:r>
            <a:endParaRPr lang="en-US" sz="1150" dirty="0"/>
          </a:p>
        </p:txBody>
      </p:sp>
      <p:sp>
        <p:nvSpPr>
          <p:cNvPr id="23" name="Text 21"/>
          <p:cNvSpPr/>
          <p:nvPr/>
        </p:nvSpPr>
        <p:spPr>
          <a:xfrm>
            <a:off x="3108960" y="3575304"/>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512 samples</a:t>
            </a:r>
            <a:endParaRPr lang="en-US" sz="1250" dirty="0"/>
          </a:p>
        </p:txBody>
      </p:sp>
      <p:sp>
        <p:nvSpPr>
          <p:cNvPr id="24" name="Text 22"/>
          <p:cNvSpPr/>
          <p:nvPr/>
        </p:nvSpPr>
        <p:spPr>
          <a:xfrm>
            <a:off x="6464808" y="3575304"/>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Frame size</a:t>
            </a:r>
            <a:endParaRPr lang="en-US" sz="1150" dirty="0"/>
          </a:p>
        </p:txBody>
      </p:sp>
      <p:sp>
        <p:nvSpPr>
          <p:cNvPr id="25" name="Text 23"/>
          <p:cNvSpPr/>
          <p:nvPr/>
        </p:nvSpPr>
        <p:spPr>
          <a:xfrm>
            <a:off x="8659368" y="3575304"/>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2048 samples</a:t>
            </a:r>
            <a:endParaRPr lang="en-US" sz="1250" dirty="0"/>
          </a:p>
        </p:txBody>
      </p:sp>
      <p:sp>
        <p:nvSpPr>
          <p:cNvPr id="26" name="Shape 24"/>
          <p:cNvSpPr/>
          <p:nvPr/>
        </p:nvSpPr>
        <p:spPr>
          <a:xfrm>
            <a:off x="914400" y="4023360"/>
            <a:ext cx="4892040" cy="0"/>
          </a:xfrm>
          <a:prstGeom prst="line">
            <a:avLst/>
          </a:prstGeom>
          <a:noFill/>
          <a:ln w="12700">
            <a:solidFill>
              <a:srgbClr val="DFE5EB"/>
            </a:solidFill>
            <a:prstDash val="solid"/>
          </a:ln>
        </p:spPr>
        <p:txBody>
          <a:bodyPr/>
          <a:lstStyle/>
          <a:p>
            <a:endParaRPr lang="en-US"/>
          </a:p>
        </p:txBody>
      </p:sp>
      <p:sp>
        <p:nvSpPr>
          <p:cNvPr id="27" name="Shape 25"/>
          <p:cNvSpPr/>
          <p:nvPr/>
        </p:nvSpPr>
        <p:spPr>
          <a:xfrm>
            <a:off x="6464808" y="4023360"/>
            <a:ext cx="4892040" cy="0"/>
          </a:xfrm>
          <a:prstGeom prst="line">
            <a:avLst/>
          </a:prstGeom>
          <a:noFill/>
          <a:ln w="12700">
            <a:solidFill>
              <a:srgbClr val="1C3557"/>
            </a:solidFill>
            <a:prstDash val="solid"/>
          </a:ln>
        </p:spPr>
        <p:txBody>
          <a:bodyPr/>
          <a:lstStyle/>
          <a:p>
            <a:endParaRPr lang="en-US"/>
          </a:p>
        </p:txBody>
      </p:sp>
      <p:sp>
        <p:nvSpPr>
          <p:cNvPr id="28" name="Text 26"/>
          <p:cNvSpPr/>
          <p:nvPr/>
        </p:nvSpPr>
        <p:spPr>
          <a:xfrm>
            <a:off x="914400" y="4059936"/>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Epochs / batch size</a:t>
            </a:r>
            <a:endParaRPr lang="en-US" sz="1150" dirty="0"/>
          </a:p>
        </p:txBody>
      </p:sp>
      <p:sp>
        <p:nvSpPr>
          <p:cNvPr id="29" name="Text 27"/>
          <p:cNvSpPr/>
          <p:nvPr/>
        </p:nvSpPr>
        <p:spPr>
          <a:xfrm>
            <a:off x="3108960" y="4059936"/>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25 / 4</a:t>
            </a:r>
            <a:endParaRPr lang="en-US" sz="1250" dirty="0"/>
          </a:p>
        </p:txBody>
      </p:sp>
      <p:sp>
        <p:nvSpPr>
          <p:cNvPr id="30" name="Text 28"/>
          <p:cNvSpPr/>
          <p:nvPr/>
        </p:nvSpPr>
        <p:spPr>
          <a:xfrm>
            <a:off x="6464808" y="4059936"/>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Epochs / batch size</a:t>
            </a:r>
            <a:endParaRPr lang="en-US" sz="1150" dirty="0"/>
          </a:p>
        </p:txBody>
      </p:sp>
      <p:sp>
        <p:nvSpPr>
          <p:cNvPr id="31" name="Text 29"/>
          <p:cNvSpPr/>
          <p:nvPr/>
        </p:nvSpPr>
        <p:spPr>
          <a:xfrm>
            <a:off x="8659368" y="4059936"/>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32 / 8</a:t>
            </a:r>
            <a:endParaRPr lang="en-US" sz="1250" dirty="0"/>
          </a:p>
        </p:txBody>
      </p:sp>
      <p:sp>
        <p:nvSpPr>
          <p:cNvPr id="32" name="Shape 30"/>
          <p:cNvSpPr/>
          <p:nvPr/>
        </p:nvSpPr>
        <p:spPr>
          <a:xfrm>
            <a:off x="914400" y="4507992"/>
            <a:ext cx="4892040" cy="0"/>
          </a:xfrm>
          <a:prstGeom prst="line">
            <a:avLst/>
          </a:prstGeom>
          <a:noFill/>
          <a:ln w="12700">
            <a:solidFill>
              <a:srgbClr val="DFE5EB"/>
            </a:solidFill>
            <a:prstDash val="solid"/>
          </a:ln>
        </p:spPr>
        <p:txBody>
          <a:bodyPr/>
          <a:lstStyle/>
          <a:p>
            <a:endParaRPr lang="en-US"/>
          </a:p>
        </p:txBody>
      </p:sp>
      <p:sp>
        <p:nvSpPr>
          <p:cNvPr id="33" name="Shape 31"/>
          <p:cNvSpPr/>
          <p:nvPr/>
        </p:nvSpPr>
        <p:spPr>
          <a:xfrm>
            <a:off x="6464808" y="4507992"/>
            <a:ext cx="4892040" cy="0"/>
          </a:xfrm>
          <a:prstGeom prst="line">
            <a:avLst/>
          </a:prstGeom>
          <a:noFill/>
          <a:ln w="12700">
            <a:solidFill>
              <a:srgbClr val="1C3557"/>
            </a:solidFill>
            <a:prstDash val="solid"/>
          </a:ln>
        </p:spPr>
        <p:txBody>
          <a:bodyPr/>
          <a:lstStyle/>
          <a:p>
            <a:endParaRPr lang="en-US"/>
          </a:p>
        </p:txBody>
      </p:sp>
      <p:sp>
        <p:nvSpPr>
          <p:cNvPr id="34" name="Text 32"/>
          <p:cNvSpPr/>
          <p:nvPr/>
        </p:nvSpPr>
        <p:spPr>
          <a:xfrm>
            <a:off x="914400" y="4544568"/>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Positive-class recall</a:t>
            </a:r>
            <a:endParaRPr lang="en-US" sz="1150" dirty="0"/>
          </a:p>
        </p:txBody>
      </p:sp>
      <p:sp>
        <p:nvSpPr>
          <p:cNvPr id="35" name="Text 33"/>
          <p:cNvSpPr/>
          <p:nvPr/>
        </p:nvSpPr>
        <p:spPr>
          <a:xfrm>
            <a:off x="3108960" y="4544568"/>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0.914</a:t>
            </a:r>
            <a:endParaRPr lang="en-US" sz="1250" dirty="0"/>
          </a:p>
        </p:txBody>
      </p:sp>
      <p:sp>
        <p:nvSpPr>
          <p:cNvPr id="36" name="Text 34"/>
          <p:cNvSpPr/>
          <p:nvPr/>
        </p:nvSpPr>
        <p:spPr>
          <a:xfrm>
            <a:off x="6464808" y="4544568"/>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Positive-class recall</a:t>
            </a:r>
            <a:endParaRPr lang="en-US" sz="1150" dirty="0"/>
          </a:p>
        </p:txBody>
      </p:sp>
      <p:sp>
        <p:nvSpPr>
          <p:cNvPr id="37" name="Text 35"/>
          <p:cNvSpPr/>
          <p:nvPr/>
        </p:nvSpPr>
        <p:spPr>
          <a:xfrm>
            <a:off x="8659368" y="4544568"/>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0.929</a:t>
            </a:r>
            <a:endParaRPr lang="en-US" sz="1250" dirty="0"/>
          </a:p>
        </p:txBody>
      </p:sp>
      <p:sp>
        <p:nvSpPr>
          <p:cNvPr id="38" name="Shape 36"/>
          <p:cNvSpPr/>
          <p:nvPr/>
        </p:nvSpPr>
        <p:spPr>
          <a:xfrm>
            <a:off x="914400" y="4992624"/>
            <a:ext cx="4892040" cy="0"/>
          </a:xfrm>
          <a:prstGeom prst="line">
            <a:avLst/>
          </a:prstGeom>
          <a:noFill/>
          <a:ln w="12700">
            <a:solidFill>
              <a:srgbClr val="DFE5EB"/>
            </a:solidFill>
            <a:prstDash val="solid"/>
          </a:ln>
        </p:spPr>
        <p:txBody>
          <a:bodyPr/>
          <a:lstStyle/>
          <a:p>
            <a:endParaRPr lang="en-US"/>
          </a:p>
        </p:txBody>
      </p:sp>
      <p:sp>
        <p:nvSpPr>
          <p:cNvPr id="39" name="Shape 37"/>
          <p:cNvSpPr/>
          <p:nvPr/>
        </p:nvSpPr>
        <p:spPr>
          <a:xfrm>
            <a:off x="6464808" y="4992624"/>
            <a:ext cx="4892040" cy="0"/>
          </a:xfrm>
          <a:prstGeom prst="line">
            <a:avLst/>
          </a:prstGeom>
          <a:noFill/>
          <a:ln w="12700">
            <a:solidFill>
              <a:srgbClr val="1C3557"/>
            </a:solidFill>
            <a:prstDash val="solid"/>
          </a:ln>
        </p:spPr>
        <p:txBody>
          <a:bodyPr/>
          <a:lstStyle/>
          <a:p>
            <a:endParaRPr lang="en-US"/>
          </a:p>
        </p:txBody>
      </p:sp>
      <p:sp>
        <p:nvSpPr>
          <p:cNvPr id="40" name="Text 38"/>
          <p:cNvSpPr/>
          <p:nvPr/>
        </p:nvSpPr>
        <p:spPr>
          <a:xfrm>
            <a:off x="914400" y="5029200"/>
            <a:ext cx="2148840" cy="402336"/>
          </a:xfrm>
          <a:prstGeom prst="rect">
            <a:avLst/>
          </a:prstGeom>
          <a:noFill/>
          <a:ln/>
        </p:spPr>
        <p:txBody>
          <a:bodyPr wrap="square" lIns="0" tIns="0" rIns="0" bIns="0" rtlCol="0" anchor="ctr"/>
          <a:lstStyle/>
          <a:p>
            <a:pPr marL="0" indent="0">
              <a:buNone/>
            </a:pPr>
            <a:r>
              <a:rPr lang="en-US" sz="1150" dirty="0">
                <a:solidFill>
                  <a:srgbClr val="62707F"/>
                </a:solidFill>
                <a:latin typeface="Calibri" pitchFamily="34" charset="0"/>
                <a:ea typeface="Calibri" pitchFamily="34" charset="-122"/>
                <a:cs typeface="Calibri" pitchFamily="34" charset="-120"/>
              </a:rPr>
              <a:t>Best use</a:t>
            </a:r>
            <a:endParaRPr lang="en-US" sz="1150" dirty="0"/>
          </a:p>
        </p:txBody>
      </p:sp>
      <p:sp>
        <p:nvSpPr>
          <p:cNvPr id="41" name="Text 39"/>
          <p:cNvSpPr/>
          <p:nvPr/>
        </p:nvSpPr>
        <p:spPr>
          <a:xfrm>
            <a:off x="3108960" y="5029200"/>
            <a:ext cx="2697480" cy="402336"/>
          </a:xfrm>
          <a:prstGeom prst="rect">
            <a:avLst/>
          </a:prstGeom>
          <a:noFill/>
          <a:ln/>
        </p:spPr>
        <p:txBody>
          <a:bodyPr wrap="square" lIns="0" tIns="0" rIns="0" bIns="0" rtlCol="0" anchor="ctr"/>
          <a:lstStyle/>
          <a:p>
            <a:pPr marL="0" indent="0">
              <a:buNone/>
            </a:pPr>
            <a:r>
              <a:rPr lang="en-US" sz="1250" b="1" dirty="0">
                <a:solidFill>
                  <a:srgbClr val="16202C"/>
                </a:solidFill>
                <a:latin typeface="Calibri" pitchFamily="34" charset="0"/>
                <a:ea typeface="Calibri" pitchFamily="34" charset="-122"/>
                <a:cs typeface="Calibri" pitchFamily="34" charset="-120"/>
              </a:rPr>
              <a:t>Live calls, low latency</a:t>
            </a:r>
            <a:endParaRPr lang="en-US" sz="1250" dirty="0"/>
          </a:p>
        </p:txBody>
      </p:sp>
      <p:sp>
        <p:nvSpPr>
          <p:cNvPr id="42" name="Text 40"/>
          <p:cNvSpPr/>
          <p:nvPr/>
        </p:nvSpPr>
        <p:spPr>
          <a:xfrm>
            <a:off x="6464808" y="5029200"/>
            <a:ext cx="2148840" cy="402336"/>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Best use</a:t>
            </a:r>
            <a:endParaRPr lang="en-US" sz="1150" dirty="0"/>
          </a:p>
        </p:txBody>
      </p:sp>
      <p:sp>
        <p:nvSpPr>
          <p:cNvPr id="43" name="Text 41"/>
          <p:cNvSpPr/>
          <p:nvPr/>
        </p:nvSpPr>
        <p:spPr>
          <a:xfrm>
            <a:off x="8659368" y="5029200"/>
            <a:ext cx="2697480" cy="402336"/>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Offline restoration</a:t>
            </a:r>
            <a:endParaRPr lang="en-US" sz="1250" dirty="0"/>
          </a:p>
        </p:txBody>
      </p:sp>
      <p:sp>
        <p:nvSpPr>
          <p:cNvPr id="44" name="Shape 42"/>
          <p:cNvSpPr/>
          <p:nvPr/>
        </p:nvSpPr>
        <p:spPr>
          <a:xfrm>
            <a:off x="914400" y="5477256"/>
            <a:ext cx="4892040" cy="0"/>
          </a:xfrm>
          <a:prstGeom prst="line">
            <a:avLst/>
          </a:prstGeom>
          <a:noFill/>
          <a:ln w="12700">
            <a:solidFill>
              <a:srgbClr val="DFE5EB"/>
            </a:solidFill>
            <a:prstDash val="solid"/>
          </a:ln>
        </p:spPr>
        <p:txBody>
          <a:bodyPr/>
          <a:lstStyle/>
          <a:p>
            <a:endParaRPr lang="en-US"/>
          </a:p>
        </p:txBody>
      </p:sp>
      <p:sp>
        <p:nvSpPr>
          <p:cNvPr id="45" name="Shape 43"/>
          <p:cNvSpPr/>
          <p:nvPr/>
        </p:nvSpPr>
        <p:spPr>
          <a:xfrm>
            <a:off x="6464808" y="5477256"/>
            <a:ext cx="4892040" cy="0"/>
          </a:xfrm>
          <a:prstGeom prst="line">
            <a:avLst/>
          </a:prstGeom>
          <a:noFill/>
          <a:ln w="12700">
            <a:solidFill>
              <a:srgbClr val="1C3557"/>
            </a:solidFill>
            <a:prstDash val="solid"/>
          </a:ln>
        </p:spPr>
        <p:txBody>
          <a:bodyPr/>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2233A"/>
        </a:solidFill>
        <a:effectLst/>
      </p:bgPr>
    </p:bg>
    <p:spTree>
      <p:nvGrpSpPr>
        <p:cNvPr id="1" name=""/>
        <p:cNvGrpSpPr/>
        <p:nvPr/>
      </p:nvGrpSpPr>
      <p:grpSpPr>
        <a:xfrm>
          <a:off x="0" y="0"/>
          <a:ext cx="0" cy="0"/>
          <a:chOff x="0" y="0"/>
          <a:chExt cx="0" cy="0"/>
        </a:xfrm>
      </p:grpSpPr>
      <p:sp>
        <p:nvSpPr>
          <p:cNvPr id="2" name="Shape 0"/>
          <p:cNvSpPr/>
          <p:nvPr/>
        </p:nvSpPr>
        <p:spPr>
          <a:xfrm>
            <a:off x="0" y="6821424"/>
            <a:ext cx="82358" cy="36576"/>
          </a:xfrm>
          <a:prstGeom prst="roundRect">
            <a:avLst>
              <a:gd name="adj" fmla="val 50000"/>
            </a:avLst>
          </a:prstGeom>
          <a:solidFill>
            <a:srgbClr val="0E8A8F">
              <a:alpha val="55000"/>
            </a:srgbClr>
          </a:solidFill>
          <a:ln/>
        </p:spPr>
        <p:txBody>
          <a:bodyPr/>
          <a:lstStyle/>
          <a:p>
            <a:endParaRPr lang="en-US"/>
          </a:p>
        </p:txBody>
      </p:sp>
      <p:sp>
        <p:nvSpPr>
          <p:cNvPr id="3" name="Shape 1"/>
          <p:cNvSpPr/>
          <p:nvPr/>
        </p:nvSpPr>
        <p:spPr>
          <a:xfrm>
            <a:off x="164716" y="6784952"/>
            <a:ext cx="82358" cy="73048"/>
          </a:xfrm>
          <a:prstGeom prst="roundRect">
            <a:avLst>
              <a:gd name="adj" fmla="val 25036"/>
            </a:avLst>
          </a:prstGeom>
          <a:solidFill>
            <a:srgbClr val="0E8A8F">
              <a:alpha val="55000"/>
            </a:srgbClr>
          </a:solidFill>
          <a:ln/>
        </p:spPr>
        <p:txBody>
          <a:bodyPr/>
          <a:lstStyle/>
          <a:p>
            <a:endParaRPr lang="en-US"/>
          </a:p>
        </p:txBody>
      </p:sp>
      <p:sp>
        <p:nvSpPr>
          <p:cNvPr id="4" name="Shape 2"/>
          <p:cNvSpPr/>
          <p:nvPr/>
        </p:nvSpPr>
        <p:spPr>
          <a:xfrm>
            <a:off x="329431" y="6650436"/>
            <a:ext cx="82358" cy="207564"/>
          </a:xfrm>
          <a:prstGeom prst="roundRect">
            <a:avLst>
              <a:gd name="adj" fmla="val 22205"/>
            </a:avLst>
          </a:prstGeom>
          <a:solidFill>
            <a:srgbClr val="0E8A8F">
              <a:alpha val="55000"/>
            </a:srgbClr>
          </a:solidFill>
          <a:ln/>
        </p:spPr>
        <p:txBody>
          <a:bodyPr/>
          <a:lstStyle/>
          <a:p>
            <a:endParaRPr lang="en-US"/>
          </a:p>
        </p:txBody>
      </p:sp>
      <p:sp>
        <p:nvSpPr>
          <p:cNvPr id="5" name="Shape 3"/>
          <p:cNvSpPr/>
          <p:nvPr/>
        </p:nvSpPr>
        <p:spPr>
          <a:xfrm>
            <a:off x="494147" y="6573706"/>
            <a:ext cx="82358" cy="284294"/>
          </a:xfrm>
          <a:prstGeom prst="roundRect">
            <a:avLst>
              <a:gd name="adj" fmla="val 22205"/>
            </a:avLst>
          </a:prstGeom>
          <a:solidFill>
            <a:srgbClr val="0E8A8F">
              <a:alpha val="55000"/>
            </a:srgbClr>
          </a:solidFill>
          <a:ln/>
        </p:spPr>
        <p:txBody>
          <a:bodyPr/>
          <a:lstStyle/>
          <a:p>
            <a:endParaRPr lang="en-US"/>
          </a:p>
        </p:txBody>
      </p:sp>
      <p:sp>
        <p:nvSpPr>
          <p:cNvPr id="6" name="Shape 4"/>
          <p:cNvSpPr/>
          <p:nvPr/>
        </p:nvSpPr>
        <p:spPr>
          <a:xfrm>
            <a:off x="658862" y="6480016"/>
            <a:ext cx="82358" cy="377984"/>
          </a:xfrm>
          <a:prstGeom prst="roundRect">
            <a:avLst>
              <a:gd name="adj" fmla="val 22205"/>
            </a:avLst>
          </a:prstGeom>
          <a:solidFill>
            <a:srgbClr val="0E8A8F">
              <a:alpha val="55000"/>
            </a:srgbClr>
          </a:solidFill>
          <a:ln/>
        </p:spPr>
        <p:txBody>
          <a:bodyPr/>
          <a:lstStyle/>
          <a:p>
            <a:endParaRPr lang="en-US"/>
          </a:p>
        </p:txBody>
      </p:sp>
      <p:sp>
        <p:nvSpPr>
          <p:cNvPr id="7" name="Shape 5"/>
          <p:cNvSpPr/>
          <p:nvPr/>
        </p:nvSpPr>
        <p:spPr>
          <a:xfrm>
            <a:off x="823578" y="6579444"/>
            <a:ext cx="82358" cy="278556"/>
          </a:xfrm>
          <a:prstGeom prst="roundRect">
            <a:avLst>
              <a:gd name="adj" fmla="val 22205"/>
            </a:avLst>
          </a:prstGeom>
          <a:solidFill>
            <a:srgbClr val="0E8A8F">
              <a:alpha val="55000"/>
            </a:srgbClr>
          </a:solidFill>
          <a:ln/>
        </p:spPr>
        <p:txBody>
          <a:bodyPr/>
          <a:lstStyle/>
          <a:p>
            <a:endParaRPr lang="en-US"/>
          </a:p>
        </p:txBody>
      </p:sp>
      <p:sp>
        <p:nvSpPr>
          <p:cNvPr id="8" name="Shape 6"/>
          <p:cNvSpPr/>
          <p:nvPr/>
        </p:nvSpPr>
        <p:spPr>
          <a:xfrm>
            <a:off x="988293" y="6509298"/>
            <a:ext cx="82358" cy="348702"/>
          </a:xfrm>
          <a:prstGeom prst="roundRect">
            <a:avLst>
              <a:gd name="adj" fmla="val 22205"/>
            </a:avLst>
          </a:prstGeom>
          <a:solidFill>
            <a:srgbClr val="0E8A8F">
              <a:alpha val="55000"/>
            </a:srgbClr>
          </a:solidFill>
          <a:ln/>
        </p:spPr>
        <p:txBody>
          <a:bodyPr/>
          <a:lstStyle/>
          <a:p>
            <a:endParaRPr lang="en-US"/>
          </a:p>
        </p:txBody>
      </p:sp>
      <p:sp>
        <p:nvSpPr>
          <p:cNvPr id="9" name="Shape 7"/>
          <p:cNvSpPr/>
          <p:nvPr/>
        </p:nvSpPr>
        <p:spPr>
          <a:xfrm>
            <a:off x="1153009" y="6347741"/>
            <a:ext cx="82358" cy="510259"/>
          </a:xfrm>
          <a:prstGeom prst="roundRect">
            <a:avLst>
              <a:gd name="adj" fmla="val 22205"/>
            </a:avLst>
          </a:prstGeom>
          <a:solidFill>
            <a:srgbClr val="0E8A8F">
              <a:alpha val="55000"/>
            </a:srgbClr>
          </a:solidFill>
          <a:ln/>
        </p:spPr>
        <p:txBody>
          <a:bodyPr/>
          <a:lstStyle/>
          <a:p>
            <a:endParaRPr lang="en-US"/>
          </a:p>
        </p:txBody>
      </p:sp>
      <p:sp>
        <p:nvSpPr>
          <p:cNvPr id="10" name="Shape 8"/>
          <p:cNvSpPr/>
          <p:nvPr/>
        </p:nvSpPr>
        <p:spPr>
          <a:xfrm>
            <a:off x="1317725" y="6473922"/>
            <a:ext cx="82358" cy="384078"/>
          </a:xfrm>
          <a:prstGeom prst="roundRect">
            <a:avLst>
              <a:gd name="adj" fmla="val 22205"/>
            </a:avLst>
          </a:prstGeom>
          <a:solidFill>
            <a:srgbClr val="0E8A8F">
              <a:alpha val="55000"/>
            </a:srgbClr>
          </a:solidFill>
          <a:ln/>
        </p:spPr>
        <p:txBody>
          <a:bodyPr/>
          <a:lstStyle/>
          <a:p>
            <a:endParaRPr lang="en-US"/>
          </a:p>
        </p:txBody>
      </p:sp>
      <p:sp>
        <p:nvSpPr>
          <p:cNvPr id="11" name="Shape 9"/>
          <p:cNvSpPr/>
          <p:nvPr/>
        </p:nvSpPr>
        <p:spPr>
          <a:xfrm>
            <a:off x="1482440" y="6489393"/>
            <a:ext cx="82358" cy="368607"/>
          </a:xfrm>
          <a:prstGeom prst="roundRect">
            <a:avLst>
              <a:gd name="adj" fmla="val 22205"/>
            </a:avLst>
          </a:prstGeom>
          <a:solidFill>
            <a:srgbClr val="0E8A8F">
              <a:alpha val="55000"/>
            </a:srgbClr>
          </a:solidFill>
          <a:ln/>
        </p:spPr>
        <p:txBody>
          <a:bodyPr/>
          <a:lstStyle/>
          <a:p>
            <a:endParaRPr lang="en-US"/>
          </a:p>
        </p:txBody>
      </p:sp>
      <p:sp>
        <p:nvSpPr>
          <p:cNvPr id="12" name="Shape 10"/>
          <p:cNvSpPr/>
          <p:nvPr/>
        </p:nvSpPr>
        <p:spPr>
          <a:xfrm>
            <a:off x="1647156" y="6536147"/>
            <a:ext cx="82358" cy="321853"/>
          </a:xfrm>
          <a:prstGeom prst="roundRect">
            <a:avLst>
              <a:gd name="adj" fmla="val 22205"/>
            </a:avLst>
          </a:prstGeom>
          <a:solidFill>
            <a:srgbClr val="0E8A8F">
              <a:alpha val="55000"/>
            </a:srgbClr>
          </a:solidFill>
          <a:ln/>
        </p:spPr>
        <p:txBody>
          <a:bodyPr/>
          <a:lstStyle/>
          <a:p>
            <a:endParaRPr lang="en-US"/>
          </a:p>
        </p:txBody>
      </p:sp>
      <p:sp>
        <p:nvSpPr>
          <p:cNvPr id="13" name="Shape 11"/>
          <p:cNvSpPr/>
          <p:nvPr/>
        </p:nvSpPr>
        <p:spPr>
          <a:xfrm>
            <a:off x="1811871" y="6293135"/>
            <a:ext cx="82358" cy="564865"/>
          </a:xfrm>
          <a:prstGeom prst="roundRect">
            <a:avLst>
              <a:gd name="adj" fmla="val 22205"/>
            </a:avLst>
          </a:prstGeom>
          <a:solidFill>
            <a:srgbClr val="0E8A8F">
              <a:alpha val="55000"/>
            </a:srgbClr>
          </a:solidFill>
          <a:ln/>
        </p:spPr>
        <p:txBody>
          <a:bodyPr/>
          <a:lstStyle/>
          <a:p>
            <a:endParaRPr lang="en-US"/>
          </a:p>
        </p:txBody>
      </p:sp>
      <p:sp>
        <p:nvSpPr>
          <p:cNvPr id="14" name="Shape 12"/>
          <p:cNvSpPr/>
          <p:nvPr/>
        </p:nvSpPr>
        <p:spPr>
          <a:xfrm>
            <a:off x="1976587" y="6369729"/>
            <a:ext cx="82358" cy="488271"/>
          </a:xfrm>
          <a:prstGeom prst="roundRect">
            <a:avLst>
              <a:gd name="adj" fmla="val 22205"/>
            </a:avLst>
          </a:prstGeom>
          <a:solidFill>
            <a:srgbClr val="0E8A8F">
              <a:alpha val="55000"/>
            </a:srgbClr>
          </a:solidFill>
          <a:ln/>
        </p:spPr>
        <p:txBody>
          <a:bodyPr/>
          <a:lstStyle/>
          <a:p>
            <a:endParaRPr lang="en-US"/>
          </a:p>
        </p:txBody>
      </p:sp>
      <p:sp>
        <p:nvSpPr>
          <p:cNvPr id="15" name="Shape 13"/>
          <p:cNvSpPr/>
          <p:nvPr/>
        </p:nvSpPr>
        <p:spPr>
          <a:xfrm>
            <a:off x="2141302" y="6254787"/>
            <a:ext cx="82358" cy="603213"/>
          </a:xfrm>
          <a:prstGeom prst="roundRect">
            <a:avLst>
              <a:gd name="adj" fmla="val 22205"/>
            </a:avLst>
          </a:prstGeom>
          <a:solidFill>
            <a:srgbClr val="0E8A8F">
              <a:alpha val="55000"/>
            </a:srgbClr>
          </a:solidFill>
          <a:ln/>
        </p:spPr>
        <p:txBody>
          <a:bodyPr/>
          <a:lstStyle/>
          <a:p>
            <a:endParaRPr lang="en-US"/>
          </a:p>
        </p:txBody>
      </p:sp>
      <p:sp>
        <p:nvSpPr>
          <p:cNvPr id="16" name="Shape 14"/>
          <p:cNvSpPr/>
          <p:nvPr/>
        </p:nvSpPr>
        <p:spPr>
          <a:xfrm>
            <a:off x="2306018" y="6190279"/>
            <a:ext cx="82358" cy="667721"/>
          </a:xfrm>
          <a:prstGeom prst="roundRect">
            <a:avLst>
              <a:gd name="adj" fmla="val 22205"/>
            </a:avLst>
          </a:prstGeom>
          <a:solidFill>
            <a:srgbClr val="0E8A8F">
              <a:alpha val="55000"/>
            </a:srgbClr>
          </a:solidFill>
          <a:ln/>
        </p:spPr>
        <p:txBody>
          <a:bodyPr/>
          <a:lstStyle/>
          <a:p>
            <a:endParaRPr lang="en-US"/>
          </a:p>
        </p:txBody>
      </p:sp>
      <p:sp>
        <p:nvSpPr>
          <p:cNvPr id="17" name="Shape 15"/>
          <p:cNvSpPr/>
          <p:nvPr/>
        </p:nvSpPr>
        <p:spPr>
          <a:xfrm>
            <a:off x="2470734" y="6398871"/>
            <a:ext cx="82358" cy="459129"/>
          </a:xfrm>
          <a:prstGeom prst="roundRect">
            <a:avLst>
              <a:gd name="adj" fmla="val 22205"/>
            </a:avLst>
          </a:prstGeom>
          <a:solidFill>
            <a:srgbClr val="0E8A8F">
              <a:alpha val="55000"/>
            </a:srgbClr>
          </a:solidFill>
          <a:ln/>
        </p:spPr>
        <p:txBody>
          <a:bodyPr/>
          <a:lstStyle/>
          <a:p>
            <a:endParaRPr lang="en-US"/>
          </a:p>
        </p:txBody>
      </p:sp>
      <p:sp>
        <p:nvSpPr>
          <p:cNvPr id="18" name="Shape 16"/>
          <p:cNvSpPr/>
          <p:nvPr/>
        </p:nvSpPr>
        <p:spPr>
          <a:xfrm>
            <a:off x="2635449" y="6194969"/>
            <a:ext cx="82358" cy="663031"/>
          </a:xfrm>
          <a:prstGeom prst="roundRect">
            <a:avLst>
              <a:gd name="adj" fmla="val 22205"/>
            </a:avLst>
          </a:prstGeom>
          <a:solidFill>
            <a:srgbClr val="0E8A8F">
              <a:alpha val="55000"/>
            </a:srgbClr>
          </a:solidFill>
          <a:ln/>
        </p:spPr>
        <p:txBody>
          <a:bodyPr/>
          <a:lstStyle/>
          <a:p>
            <a:endParaRPr lang="en-US"/>
          </a:p>
        </p:txBody>
      </p:sp>
      <p:sp>
        <p:nvSpPr>
          <p:cNvPr id="19" name="Shape 17"/>
          <p:cNvSpPr/>
          <p:nvPr/>
        </p:nvSpPr>
        <p:spPr>
          <a:xfrm>
            <a:off x="2800165" y="6191536"/>
            <a:ext cx="82358" cy="666464"/>
          </a:xfrm>
          <a:prstGeom prst="roundRect">
            <a:avLst>
              <a:gd name="adj" fmla="val 22205"/>
            </a:avLst>
          </a:prstGeom>
          <a:solidFill>
            <a:srgbClr val="0E8A8F">
              <a:alpha val="55000"/>
            </a:srgbClr>
          </a:solidFill>
          <a:ln/>
        </p:spPr>
        <p:txBody>
          <a:bodyPr/>
          <a:lstStyle/>
          <a:p>
            <a:endParaRPr lang="en-US"/>
          </a:p>
        </p:txBody>
      </p:sp>
      <p:sp>
        <p:nvSpPr>
          <p:cNvPr id="20" name="Shape 18"/>
          <p:cNvSpPr/>
          <p:nvPr/>
        </p:nvSpPr>
        <p:spPr>
          <a:xfrm>
            <a:off x="2964880" y="6299151"/>
            <a:ext cx="82358" cy="558849"/>
          </a:xfrm>
          <a:prstGeom prst="roundRect">
            <a:avLst>
              <a:gd name="adj" fmla="val 22205"/>
            </a:avLst>
          </a:prstGeom>
          <a:solidFill>
            <a:srgbClr val="0E8A8F">
              <a:alpha val="55000"/>
            </a:srgbClr>
          </a:solidFill>
          <a:ln/>
        </p:spPr>
        <p:txBody>
          <a:bodyPr/>
          <a:lstStyle/>
          <a:p>
            <a:endParaRPr lang="en-US"/>
          </a:p>
        </p:txBody>
      </p:sp>
      <p:sp>
        <p:nvSpPr>
          <p:cNvPr id="21" name="Shape 19"/>
          <p:cNvSpPr/>
          <p:nvPr/>
        </p:nvSpPr>
        <p:spPr>
          <a:xfrm>
            <a:off x="3129596" y="6521057"/>
            <a:ext cx="82358" cy="336943"/>
          </a:xfrm>
          <a:prstGeom prst="roundRect">
            <a:avLst>
              <a:gd name="adj" fmla="val 22205"/>
            </a:avLst>
          </a:prstGeom>
          <a:solidFill>
            <a:srgbClr val="0E8A8F">
              <a:alpha val="55000"/>
            </a:srgbClr>
          </a:solidFill>
          <a:ln/>
        </p:spPr>
        <p:txBody>
          <a:bodyPr/>
          <a:lstStyle/>
          <a:p>
            <a:endParaRPr lang="en-US"/>
          </a:p>
        </p:txBody>
      </p:sp>
      <p:sp>
        <p:nvSpPr>
          <p:cNvPr id="22" name="Shape 20"/>
          <p:cNvSpPr/>
          <p:nvPr/>
        </p:nvSpPr>
        <p:spPr>
          <a:xfrm>
            <a:off x="3294311" y="6234868"/>
            <a:ext cx="82358" cy="623132"/>
          </a:xfrm>
          <a:prstGeom prst="roundRect">
            <a:avLst>
              <a:gd name="adj" fmla="val 22205"/>
            </a:avLst>
          </a:prstGeom>
          <a:solidFill>
            <a:srgbClr val="0E8A8F">
              <a:alpha val="55000"/>
            </a:srgbClr>
          </a:solidFill>
          <a:ln/>
        </p:spPr>
        <p:txBody>
          <a:bodyPr/>
          <a:lstStyle/>
          <a:p>
            <a:endParaRPr lang="en-US"/>
          </a:p>
        </p:txBody>
      </p:sp>
      <p:sp>
        <p:nvSpPr>
          <p:cNvPr id="23" name="Shape 21"/>
          <p:cNvSpPr/>
          <p:nvPr/>
        </p:nvSpPr>
        <p:spPr>
          <a:xfrm>
            <a:off x="3459027" y="6633631"/>
            <a:ext cx="82358" cy="224369"/>
          </a:xfrm>
          <a:prstGeom prst="roundRect">
            <a:avLst>
              <a:gd name="adj" fmla="val 22205"/>
            </a:avLst>
          </a:prstGeom>
          <a:solidFill>
            <a:srgbClr val="0E8A8F">
              <a:alpha val="55000"/>
            </a:srgbClr>
          </a:solidFill>
          <a:ln/>
        </p:spPr>
        <p:txBody>
          <a:bodyPr/>
          <a:lstStyle/>
          <a:p>
            <a:endParaRPr lang="en-US"/>
          </a:p>
        </p:txBody>
      </p:sp>
      <p:sp>
        <p:nvSpPr>
          <p:cNvPr id="24" name="Shape 22"/>
          <p:cNvSpPr/>
          <p:nvPr/>
        </p:nvSpPr>
        <p:spPr>
          <a:xfrm>
            <a:off x="3623742" y="6603609"/>
            <a:ext cx="82358" cy="254391"/>
          </a:xfrm>
          <a:prstGeom prst="roundRect">
            <a:avLst>
              <a:gd name="adj" fmla="val 22205"/>
            </a:avLst>
          </a:prstGeom>
          <a:solidFill>
            <a:srgbClr val="0E8A8F">
              <a:alpha val="55000"/>
            </a:srgbClr>
          </a:solidFill>
          <a:ln/>
        </p:spPr>
        <p:txBody>
          <a:bodyPr/>
          <a:lstStyle/>
          <a:p>
            <a:endParaRPr lang="en-US"/>
          </a:p>
        </p:txBody>
      </p:sp>
      <p:sp>
        <p:nvSpPr>
          <p:cNvPr id="25" name="Shape 23"/>
          <p:cNvSpPr/>
          <p:nvPr/>
        </p:nvSpPr>
        <p:spPr>
          <a:xfrm>
            <a:off x="3788458" y="6476465"/>
            <a:ext cx="82358" cy="381535"/>
          </a:xfrm>
          <a:prstGeom prst="roundRect">
            <a:avLst>
              <a:gd name="adj" fmla="val 22205"/>
            </a:avLst>
          </a:prstGeom>
          <a:solidFill>
            <a:srgbClr val="0E8A8F">
              <a:alpha val="55000"/>
            </a:srgbClr>
          </a:solidFill>
          <a:ln/>
        </p:spPr>
        <p:txBody>
          <a:bodyPr/>
          <a:lstStyle/>
          <a:p>
            <a:endParaRPr lang="en-US"/>
          </a:p>
        </p:txBody>
      </p:sp>
      <p:sp>
        <p:nvSpPr>
          <p:cNvPr id="26" name="Shape 24"/>
          <p:cNvSpPr/>
          <p:nvPr/>
        </p:nvSpPr>
        <p:spPr>
          <a:xfrm>
            <a:off x="3953174" y="5959859"/>
            <a:ext cx="82358" cy="898141"/>
          </a:xfrm>
          <a:prstGeom prst="roundRect">
            <a:avLst>
              <a:gd name="adj" fmla="val 22205"/>
            </a:avLst>
          </a:prstGeom>
          <a:solidFill>
            <a:srgbClr val="0E8A8F">
              <a:alpha val="55000"/>
            </a:srgbClr>
          </a:solidFill>
          <a:ln/>
        </p:spPr>
        <p:txBody>
          <a:bodyPr/>
          <a:lstStyle/>
          <a:p>
            <a:endParaRPr lang="en-US"/>
          </a:p>
        </p:txBody>
      </p:sp>
      <p:sp>
        <p:nvSpPr>
          <p:cNvPr id="27" name="Shape 25"/>
          <p:cNvSpPr/>
          <p:nvPr/>
        </p:nvSpPr>
        <p:spPr>
          <a:xfrm>
            <a:off x="4117889" y="6473912"/>
            <a:ext cx="82358" cy="384088"/>
          </a:xfrm>
          <a:prstGeom prst="roundRect">
            <a:avLst>
              <a:gd name="adj" fmla="val 22205"/>
            </a:avLst>
          </a:prstGeom>
          <a:solidFill>
            <a:srgbClr val="0E8A8F">
              <a:alpha val="55000"/>
            </a:srgbClr>
          </a:solidFill>
          <a:ln/>
        </p:spPr>
        <p:txBody>
          <a:bodyPr/>
          <a:lstStyle/>
          <a:p>
            <a:endParaRPr lang="en-US"/>
          </a:p>
        </p:txBody>
      </p:sp>
      <p:sp>
        <p:nvSpPr>
          <p:cNvPr id="28" name="Shape 26"/>
          <p:cNvSpPr/>
          <p:nvPr/>
        </p:nvSpPr>
        <p:spPr>
          <a:xfrm>
            <a:off x="4282605" y="6214956"/>
            <a:ext cx="82358" cy="643044"/>
          </a:xfrm>
          <a:prstGeom prst="roundRect">
            <a:avLst>
              <a:gd name="adj" fmla="val 22205"/>
            </a:avLst>
          </a:prstGeom>
          <a:solidFill>
            <a:srgbClr val="0E8A8F">
              <a:alpha val="55000"/>
            </a:srgbClr>
          </a:solidFill>
          <a:ln/>
        </p:spPr>
        <p:txBody>
          <a:bodyPr/>
          <a:lstStyle/>
          <a:p>
            <a:endParaRPr lang="en-US"/>
          </a:p>
        </p:txBody>
      </p:sp>
      <p:sp>
        <p:nvSpPr>
          <p:cNvPr id="29" name="Shape 27"/>
          <p:cNvSpPr/>
          <p:nvPr/>
        </p:nvSpPr>
        <p:spPr>
          <a:xfrm>
            <a:off x="4447320" y="6411165"/>
            <a:ext cx="82358" cy="446835"/>
          </a:xfrm>
          <a:prstGeom prst="roundRect">
            <a:avLst>
              <a:gd name="adj" fmla="val 22205"/>
            </a:avLst>
          </a:prstGeom>
          <a:solidFill>
            <a:srgbClr val="0E8A8F">
              <a:alpha val="55000"/>
            </a:srgbClr>
          </a:solidFill>
          <a:ln/>
        </p:spPr>
        <p:txBody>
          <a:bodyPr/>
          <a:lstStyle/>
          <a:p>
            <a:endParaRPr lang="en-US"/>
          </a:p>
        </p:txBody>
      </p:sp>
      <p:sp>
        <p:nvSpPr>
          <p:cNvPr id="30" name="Shape 28"/>
          <p:cNvSpPr/>
          <p:nvPr/>
        </p:nvSpPr>
        <p:spPr>
          <a:xfrm>
            <a:off x="4612036" y="6145609"/>
            <a:ext cx="82358" cy="712391"/>
          </a:xfrm>
          <a:prstGeom prst="roundRect">
            <a:avLst>
              <a:gd name="adj" fmla="val 22205"/>
            </a:avLst>
          </a:prstGeom>
          <a:solidFill>
            <a:srgbClr val="0E8A8F">
              <a:alpha val="55000"/>
            </a:srgbClr>
          </a:solidFill>
          <a:ln/>
        </p:spPr>
        <p:txBody>
          <a:bodyPr/>
          <a:lstStyle/>
          <a:p>
            <a:endParaRPr lang="en-US"/>
          </a:p>
        </p:txBody>
      </p:sp>
      <p:sp>
        <p:nvSpPr>
          <p:cNvPr id="31" name="Shape 29"/>
          <p:cNvSpPr/>
          <p:nvPr/>
        </p:nvSpPr>
        <p:spPr>
          <a:xfrm>
            <a:off x="4776751" y="6270013"/>
            <a:ext cx="82358" cy="587987"/>
          </a:xfrm>
          <a:prstGeom prst="roundRect">
            <a:avLst>
              <a:gd name="adj" fmla="val 22205"/>
            </a:avLst>
          </a:prstGeom>
          <a:solidFill>
            <a:srgbClr val="0E8A8F">
              <a:alpha val="55000"/>
            </a:srgbClr>
          </a:solidFill>
          <a:ln/>
        </p:spPr>
        <p:txBody>
          <a:bodyPr/>
          <a:lstStyle/>
          <a:p>
            <a:endParaRPr lang="en-US"/>
          </a:p>
        </p:txBody>
      </p:sp>
      <p:sp>
        <p:nvSpPr>
          <p:cNvPr id="32" name="Shape 30"/>
          <p:cNvSpPr/>
          <p:nvPr/>
        </p:nvSpPr>
        <p:spPr>
          <a:xfrm>
            <a:off x="4941467" y="5961496"/>
            <a:ext cx="82358" cy="896504"/>
          </a:xfrm>
          <a:prstGeom prst="roundRect">
            <a:avLst>
              <a:gd name="adj" fmla="val 22205"/>
            </a:avLst>
          </a:prstGeom>
          <a:solidFill>
            <a:srgbClr val="0E8A8F">
              <a:alpha val="55000"/>
            </a:srgbClr>
          </a:solidFill>
          <a:ln/>
        </p:spPr>
        <p:txBody>
          <a:bodyPr/>
          <a:lstStyle/>
          <a:p>
            <a:endParaRPr lang="en-US"/>
          </a:p>
        </p:txBody>
      </p:sp>
      <p:sp>
        <p:nvSpPr>
          <p:cNvPr id="33" name="Shape 31"/>
          <p:cNvSpPr/>
          <p:nvPr/>
        </p:nvSpPr>
        <p:spPr>
          <a:xfrm>
            <a:off x="5106183" y="5893820"/>
            <a:ext cx="82358" cy="964180"/>
          </a:xfrm>
          <a:prstGeom prst="roundRect">
            <a:avLst>
              <a:gd name="adj" fmla="val 22205"/>
            </a:avLst>
          </a:prstGeom>
          <a:solidFill>
            <a:srgbClr val="0E8A8F">
              <a:alpha val="55000"/>
            </a:srgbClr>
          </a:solidFill>
          <a:ln/>
        </p:spPr>
        <p:txBody>
          <a:bodyPr/>
          <a:lstStyle/>
          <a:p>
            <a:endParaRPr lang="en-US"/>
          </a:p>
        </p:txBody>
      </p:sp>
      <p:sp>
        <p:nvSpPr>
          <p:cNvPr id="34" name="Shape 32"/>
          <p:cNvSpPr/>
          <p:nvPr/>
        </p:nvSpPr>
        <p:spPr>
          <a:xfrm>
            <a:off x="5270898" y="6068719"/>
            <a:ext cx="82358" cy="789281"/>
          </a:xfrm>
          <a:prstGeom prst="roundRect">
            <a:avLst>
              <a:gd name="adj" fmla="val 22205"/>
            </a:avLst>
          </a:prstGeom>
          <a:solidFill>
            <a:srgbClr val="0E8A8F">
              <a:alpha val="55000"/>
            </a:srgbClr>
          </a:solidFill>
          <a:ln/>
        </p:spPr>
        <p:txBody>
          <a:bodyPr/>
          <a:lstStyle/>
          <a:p>
            <a:endParaRPr lang="en-US"/>
          </a:p>
        </p:txBody>
      </p:sp>
      <p:sp>
        <p:nvSpPr>
          <p:cNvPr id="35" name="Shape 33"/>
          <p:cNvSpPr/>
          <p:nvPr/>
        </p:nvSpPr>
        <p:spPr>
          <a:xfrm>
            <a:off x="5435614" y="6080035"/>
            <a:ext cx="82358" cy="777965"/>
          </a:xfrm>
          <a:prstGeom prst="roundRect">
            <a:avLst>
              <a:gd name="adj" fmla="val 22205"/>
            </a:avLst>
          </a:prstGeom>
          <a:solidFill>
            <a:srgbClr val="0E8A8F">
              <a:alpha val="55000"/>
            </a:srgbClr>
          </a:solidFill>
          <a:ln/>
        </p:spPr>
        <p:txBody>
          <a:bodyPr/>
          <a:lstStyle/>
          <a:p>
            <a:endParaRPr lang="en-US"/>
          </a:p>
        </p:txBody>
      </p:sp>
      <p:sp>
        <p:nvSpPr>
          <p:cNvPr id="36" name="Shape 34"/>
          <p:cNvSpPr/>
          <p:nvPr/>
        </p:nvSpPr>
        <p:spPr>
          <a:xfrm>
            <a:off x="5600329" y="6417481"/>
            <a:ext cx="82358" cy="440519"/>
          </a:xfrm>
          <a:prstGeom prst="roundRect">
            <a:avLst>
              <a:gd name="adj" fmla="val 22205"/>
            </a:avLst>
          </a:prstGeom>
          <a:solidFill>
            <a:srgbClr val="0E8A8F">
              <a:alpha val="55000"/>
            </a:srgbClr>
          </a:solidFill>
          <a:ln/>
        </p:spPr>
        <p:txBody>
          <a:bodyPr/>
          <a:lstStyle/>
          <a:p>
            <a:endParaRPr lang="en-US"/>
          </a:p>
        </p:txBody>
      </p:sp>
      <p:sp>
        <p:nvSpPr>
          <p:cNvPr id="37" name="Shape 35"/>
          <p:cNvSpPr/>
          <p:nvPr/>
        </p:nvSpPr>
        <p:spPr>
          <a:xfrm>
            <a:off x="5765045" y="6282344"/>
            <a:ext cx="82358" cy="575656"/>
          </a:xfrm>
          <a:prstGeom prst="roundRect">
            <a:avLst>
              <a:gd name="adj" fmla="val 22205"/>
            </a:avLst>
          </a:prstGeom>
          <a:solidFill>
            <a:srgbClr val="0E8A8F">
              <a:alpha val="55000"/>
            </a:srgbClr>
          </a:solidFill>
          <a:ln/>
        </p:spPr>
        <p:txBody>
          <a:bodyPr/>
          <a:lstStyle/>
          <a:p>
            <a:endParaRPr lang="en-US"/>
          </a:p>
        </p:txBody>
      </p:sp>
      <p:sp>
        <p:nvSpPr>
          <p:cNvPr id="38" name="Shape 36"/>
          <p:cNvSpPr/>
          <p:nvPr/>
        </p:nvSpPr>
        <p:spPr>
          <a:xfrm>
            <a:off x="5929760" y="5938785"/>
            <a:ext cx="82358" cy="919215"/>
          </a:xfrm>
          <a:prstGeom prst="roundRect">
            <a:avLst>
              <a:gd name="adj" fmla="val 22205"/>
            </a:avLst>
          </a:prstGeom>
          <a:solidFill>
            <a:srgbClr val="0E8A8F">
              <a:alpha val="55000"/>
            </a:srgbClr>
          </a:solidFill>
          <a:ln/>
        </p:spPr>
        <p:txBody>
          <a:bodyPr/>
          <a:lstStyle/>
          <a:p>
            <a:endParaRPr lang="en-US"/>
          </a:p>
        </p:txBody>
      </p:sp>
      <p:sp>
        <p:nvSpPr>
          <p:cNvPr id="39" name="Shape 37"/>
          <p:cNvSpPr/>
          <p:nvPr/>
        </p:nvSpPr>
        <p:spPr>
          <a:xfrm>
            <a:off x="6094476" y="6204265"/>
            <a:ext cx="82358" cy="653735"/>
          </a:xfrm>
          <a:prstGeom prst="roundRect">
            <a:avLst>
              <a:gd name="adj" fmla="val 22205"/>
            </a:avLst>
          </a:prstGeom>
          <a:solidFill>
            <a:srgbClr val="0E8A8F">
              <a:alpha val="55000"/>
            </a:srgbClr>
          </a:solidFill>
          <a:ln/>
        </p:spPr>
        <p:txBody>
          <a:bodyPr/>
          <a:lstStyle/>
          <a:p>
            <a:endParaRPr lang="en-US"/>
          </a:p>
        </p:txBody>
      </p:sp>
      <p:sp>
        <p:nvSpPr>
          <p:cNvPr id="40" name="Shape 38"/>
          <p:cNvSpPr/>
          <p:nvPr/>
        </p:nvSpPr>
        <p:spPr>
          <a:xfrm>
            <a:off x="6259192" y="6383510"/>
            <a:ext cx="82358" cy="474490"/>
          </a:xfrm>
          <a:prstGeom prst="roundRect">
            <a:avLst>
              <a:gd name="adj" fmla="val 22205"/>
            </a:avLst>
          </a:prstGeom>
          <a:solidFill>
            <a:srgbClr val="0E8A8F">
              <a:alpha val="55000"/>
            </a:srgbClr>
          </a:solidFill>
          <a:ln/>
        </p:spPr>
        <p:txBody>
          <a:bodyPr/>
          <a:lstStyle/>
          <a:p>
            <a:endParaRPr lang="en-US"/>
          </a:p>
        </p:txBody>
      </p:sp>
      <p:sp>
        <p:nvSpPr>
          <p:cNvPr id="41" name="Shape 39"/>
          <p:cNvSpPr/>
          <p:nvPr/>
        </p:nvSpPr>
        <p:spPr>
          <a:xfrm>
            <a:off x="6423907" y="6245246"/>
            <a:ext cx="82358" cy="612754"/>
          </a:xfrm>
          <a:prstGeom prst="roundRect">
            <a:avLst>
              <a:gd name="adj" fmla="val 22205"/>
            </a:avLst>
          </a:prstGeom>
          <a:solidFill>
            <a:srgbClr val="0E8A8F">
              <a:alpha val="55000"/>
            </a:srgbClr>
          </a:solidFill>
          <a:ln/>
        </p:spPr>
        <p:txBody>
          <a:bodyPr/>
          <a:lstStyle/>
          <a:p>
            <a:endParaRPr lang="en-US"/>
          </a:p>
        </p:txBody>
      </p:sp>
      <p:sp>
        <p:nvSpPr>
          <p:cNvPr id="42" name="Shape 40"/>
          <p:cNvSpPr/>
          <p:nvPr/>
        </p:nvSpPr>
        <p:spPr>
          <a:xfrm>
            <a:off x="6588623" y="5895930"/>
            <a:ext cx="82358" cy="962070"/>
          </a:xfrm>
          <a:prstGeom prst="roundRect">
            <a:avLst>
              <a:gd name="adj" fmla="val 22205"/>
            </a:avLst>
          </a:prstGeom>
          <a:solidFill>
            <a:srgbClr val="0E8A8F">
              <a:alpha val="55000"/>
            </a:srgbClr>
          </a:solidFill>
          <a:ln/>
        </p:spPr>
        <p:txBody>
          <a:bodyPr/>
          <a:lstStyle/>
          <a:p>
            <a:endParaRPr lang="en-US"/>
          </a:p>
        </p:txBody>
      </p:sp>
      <p:sp>
        <p:nvSpPr>
          <p:cNvPr id="43" name="Shape 41"/>
          <p:cNvSpPr/>
          <p:nvPr/>
        </p:nvSpPr>
        <p:spPr>
          <a:xfrm>
            <a:off x="6753338" y="5942142"/>
            <a:ext cx="82358" cy="915858"/>
          </a:xfrm>
          <a:prstGeom prst="roundRect">
            <a:avLst>
              <a:gd name="adj" fmla="val 22205"/>
            </a:avLst>
          </a:prstGeom>
          <a:solidFill>
            <a:srgbClr val="0E8A8F">
              <a:alpha val="55000"/>
            </a:srgbClr>
          </a:solidFill>
          <a:ln/>
        </p:spPr>
        <p:txBody>
          <a:bodyPr/>
          <a:lstStyle/>
          <a:p>
            <a:endParaRPr lang="en-US"/>
          </a:p>
        </p:txBody>
      </p:sp>
      <p:sp>
        <p:nvSpPr>
          <p:cNvPr id="44" name="Shape 42"/>
          <p:cNvSpPr/>
          <p:nvPr/>
        </p:nvSpPr>
        <p:spPr>
          <a:xfrm>
            <a:off x="6918054" y="5890425"/>
            <a:ext cx="82358" cy="967575"/>
          </a:xfrm>
          <a:prstGeom prst="roundRect">
            <a:avLst>
              <a:gd name="adj" fmla="val 22205"/>
            </a:avLst>
          </a:prstGeom>
          <a:solidFill>
            <a:srgbClr val="0E8A8F">
              <a:alpha val="55000"/>
            </a:srgbClr>
          </a:solidFill>
          <a:ln/>
        </p:spPr>
        <p:txBody>
          <a:bodyPr/>
          <a:lstStyle/>
          <a:p>
            <a:endParaRPr lang="en-US"/>
          </a:p>
        </p:txBody>
      </p:sp>
      <p:sp>
        <p:nvSpPr>
          <p:cNvPr id="45" name="Shape 43"/>
          <p:cNvSpPr/>
          <p:nvPr/>
        </p:nvSpPr>
        <p:spPr>
          <a:xfrm>
            <a:off x="7082769" y="6017827"/>
            <a:ext cx="82358" cy="840173"/>
          </a:xfrm>
          <a:prstGeom prst="roundRect">
            <a:avLst>
              <a:gd name="adj" fmla="val 22205"/>
            </a:avLst>
          </a:prstGeom>
          <a:solidFill>
            <a:srgbClr val="0E8A8F">
              <a:alpha val="55000"/>
            </a:srgbClr>
          </a:solidFill>
          <a:ln/>
        </p:spPr>
        <p:txBody>
          <a:bodyPr/>
          <a:lstStyle/>
          <a:p>
            <a:endParaRPr lang="en-US"/>
          </a:p>
        </p:txBody>
      </p:sp>
      <p:sp>
        <p:nvSpPr>
          <p:cNvPr id="46" name="Shape 44"/>
          <p:cNvSpPr/>
          <p:nvPr/>
        </p:nvSpPr>
        <p:spPr>
          <a:xfrm>
            <a:off x="7247485" y="6047457"/>
            <a:ext cx="82358" cy="810543"/>
          </a:xfrm>
          <a:prstGeom prst="roundRect">
            <a:avLst>
              <a:gd name="adj" fmla="val 22205"/>
            </a:avLst>
          </a:prstGeom>
          <a:solidFill>
            <a:srgbClr val="0E8A8F">
              <a:alpha val="55000"/>
            </a:srgbClr>
          </a:solidFill>
          <a:ln/>
        </p:spPr>
        <p:txBody>
          <a:bodyPr/>
          <a:lstStyle/>
          <a:p>
            <a:endParaRPr lang="en-US"/>
          </a:p>
        </p:txBody>
      </p:sp>
      <p:sp>
        <p:nvSpPr>
          <p:cNvPr id="47" name="Shape 45"/>
          <p:cNvSpPr/>
          <p:nvPr/>
        </p:nvSpPr>
        <p:spPr>
          <a:xfrm>
            <a:off x="7412201" y="5946554"/>
            <a:ext cx="82358" cy="911446"/>
          </a:xfrm>
          <a:prstGeom prst="roundRect">
            <a:avLst>
              <a:gd name="adj" fmla="val 22205"/>
            </a:avLst>
          </a:prstGeom>
          <a:solidFill>
            <a:srgbClr val="0E8A8F">
              <a:alpha val="55000"/>
            </a:srgbClr>
          </a:solidFill>
          <a:ln/>
        </p:spPr>
        <p:txBody>
          <a:bodyPr/>
          <a:lstStyle/>
          <a:p>
            <a:endParaRPr lang="en-US"/>
          </a:p>
        </p:txBody>
      </p:sp>
      <p:sp>
        <p:nvSpPr>
          <p:cNvPr id="48" name="Shape 46"/>
          <p:cNvSpPr/>
          <p:nvPr/>
        </p:nvSpPr>
        <p:spPr>
          <a:xfrm>
            <a:off x="7576916" y="6452048"/>
            <a:ext cx="82358" cy="405952"/>
          </a:xfrm>
          <a:prstGeom prst="roundRect">
            <a:avLst>
              <a:gd name="adj" fmla="val 22205"/>
            </a:avLst>
          </a:prstGeom>
          <a:solidFill>
            <a:srgbClr val="0E8A8F">
              <a:alpha val="55000"/>
            </a:srgbClr>
          </a:solidFill>
          <a:ln/>
        </p:spPr>
        <p:txBody>
          <a:bodyPr/>
          <a:lstStyle/>
          <a:p>
            <a:endParaRPr lang="en-US"/>
          </a:p>
        </p:txBody>
      </p:sp>
      <p:sp>
        <p:nvSpPr>
          <p:cNvPr id="49" name="Shape 47"/>
          <p:cNvSpPr/>
          <p:nvPr/>
        </p:nvSpPr>
        <p:spPr>
          <a:xfrm>
            <a:off x="7741632" y="6069826"/>
            <a:ext cx="82358" cy="788174"/>
          </a:xfrm>
          <a:prstGeom prst="roundRect">
            <a:avLst>
              <a:gd name="adj" fmla="val 22205"/>
            </a:avLst>
          </a:prstGeom>
          <a:solidFill>
            <a:srgbClr val="0E8A8F">
              <a:alpha val="55000"/>
            </a:srgbClr>
          </a:solidFill>
          <a:ln/>
        </p:spPr>
        <p:txBody>
          <a:bodyPr/>
          <a:lstStyle/>
          <a:p>
            <a:endParaRPr lang="en-US"/>
          </a:p>
        </p:txBody>
      </p:sp>
      <p:sp>
        <p:nvSpPr>
          <p:cNvPr id="50" name="Shape 48"/>
          <p:cNvSpPr/>
          <p:nvPr/>
        </p:nvSpPr>
        <p:spPr>
          <a:xfrm>
            <a:off x="7906347" y="6535085"/>
            <a:ext cx="82358" cy="322915"/>
          </a:xfrm>
          <a:prstGeom prst="roundRect">
            <a:avLst>
              <a:gd name="adj" fmla="val 22205"/>
            </a:avLst>
          </a:prstGeom>
          <a:solidFill>
            <a:srgbClr val="0E8A8F">
              <a:alpha val="55000"/>
            </a:srgbClr>
          </a:solidFill>
          <a:ln/>
        </p:spPr>
        <p:txBody>
          <a:bodyPr/>
          <a:lstStyle/>
          <a:p>
            <a:endParaRPr lang="en-US"/>
          </a:p>
        </p:txBody>
      </p:sp>
      <p:sp>
        <p:nvSpPr>
          <p:cNvPr id="51" name="Shape 49"/>
          <p:cNvSpPr/>
          <p:nvPr/>
        </p:nvSpPr>
        <p:spPr>
          <a:xfrm>
            <a:off x="8071063" y="6096602"/>
            <a:ext cx="82358" cy="761398"/>
          </a:xfrm>
          <a:prstGeom prst="roundRect">
            <a:avLst>
              <a:gd name="adj" fmla="val 22205"/>
            </a:avLst>
          </a:prstGeom>
          <a:solidFill>
            <a:srgbClr val="0E8A8F">
              <a:alpha val="55000"/>
            </a:srgbClr>
          </a:solidFill>
          <a:ln/>
        </p:spPr>
        <p:txBody>
          <a:bodyPr/>
          <a:lstStyle/>
          <a:p>
            <a:endParaRPr lang="en-US"/>
          </a:p>
        </p:txBody>
      </p:sp>
      <p:sp>
        <p:nvSpPr>
          <p:cNvPr id="52" name="Shape 50"/>
          <p:cNvSpPr/>
          <p:nvPr/>
        </p:nvSpPr>
        <p:spPr>
          <a:xfrm>
            <a:off x="8235778" y="6438354"/>
            <a:ext cx="82358" cy="419646"/>
          </a:xfrm>
          <a:prstGeom prst="roundRect">
            <a:avLst>
              <a:gd name="adj" fmla="val 22205"/>
            </a:avLst>
          </a:prstGeom>
          <a:solidFill>
            <a:srgbClr val="0E8A8F">
              <a:alpha val="55000"/>
            </a:srgbClr>
          </a:solidFill>
          <a:ln/>
        </p:spPr>
        <p:txBody>
          <a:bodyPr/>
          <a:lstStyle/>
          <a:p>
            <a:endParaRPr lang="en-US"/>
          </a:p>
        </p:txBody>
      </p:sp>
      <p:sp>
        <p:nvSpPr>
          <p:cNvPr id="53" name="Shape 51"/>
          <p:cNvSpPr/>
          <p:nvPr/>
        </p:nvSpPr>
        <p:spPr>
          <a:xfrm>
            <a:off x="8400494" y="6275464"/>
            <a:ext cx="82358" cy="582536"/>
          </a:xfrm>
          <a:prstGeom prst="roundRect">
            <a:avLst>
              <a:gd name="adj" fmla="val 22205"/>
            </a:avLst>
          </a:prstGeom>
          <a:solidFill>
            <a:srgbClr val="0E8A8F">
              <a:alpha val="55000"/>
            </a:srgbClr>
          </a:solidFill>
          <a:ln/>
        </p:spPr>
        <p:txBody>
          <a:bodyPr/>
          <a:lstStyle/>
          <a:p>
            <a:endParaRPr lang="en-US"/>
          </a:p>
        </p:txBody>
      </p:sp>
      <p:sp>
        <p:nvSpPr>
          <p:cNvPr id="54" name="Shape 52"/>
          <p:cNvSpPr/>
          <p:nvPr/>
        </p:nvSpPr>
        <p:spPr>
          <a:xfrm>
            <a:off x="8565210" y="6461698"/>
            <a:ext cx="82358" cy="396302"/>
          </a:xfrm>
          <a:prstGeom prst="roundRect">
            <a:avLst>
              <a:gd name="adj" fmla="val 22205"/>
            </a:avLst>
          </a:prstGeom>
          <a:solidFill>
            <a:srgbClr val="0E8A8F">
              <a:alpha val="55000"/>
            </a:srgbClr>
          </a:solidFill>
          <a:ln/>
        </p:spPr>
        <p:txBody>
          <a:bodyPr/>
          <a:lstStyle/>
          <a:p>
            <a:endParaRPr lang="en-US"/>
          </a:p>
        </p:txBody>
      </p:sp>
      <p:sp>
        <p:nvSpPr>
          <p:cNvPr id="55" name="Shape 53"/>
          <p:cNvSpPr/>
          <p:nvPr/>
        </p:nvSpPr>
        <p:spPr>
          <a:xfrm>
            <a:off x="8729925" y="6158191"/>
            <a:ext cx="82358" cy="699809"/>
          </a:xfrm>
          <a:prstGeom prst="roundRect">
            <a:avLst>
              <a:gd name="adj" fmla="val 22205"/>
            </a:avLst>
          </a:prstGeom>
          <a:solidFill>
            <a:srgbClr val="0E8A8F">
              <a:alpha val="55000"/>
            </a:srgbClr>
          </a:solidFill>
          <a:ln/>
        </p:spPr>
        <p:txBody>
          <a:bodyPr/>
          <a:lstStyle/>
          <a:p>
            <a:endParaRPr lang="en-US"/>
          </a:p>
        </p:txBody>
      </p:sp>
      <p:sp>
        <p:nvSpPr>
          <p:cNvPr id="56" name="Shape 54"/>
          <p:cNvSpPr/>
          <p:nvPr/>
        </p:nvSpPr>
        <p:spPr>
          <a:xfrm>
            <a:off x="8894641" y="6634749"/>
            <a:ext cx="82358" cy="223251"/>
          </a:xfrm>
          <a:prstGeom prst="roundRect">
            <a:avLst>
              <a:gd name="adj" fmla="val 22205"/>
            </a:avLst>
          </a:prstGeom>
          <a:solidFill>
            <a:srgbClr val="0E8A8F">
              <a:alpha val="55000"/>
            </a:srgbClr>
          </a:solidFill>
          <a:ln/>
        </p:spPr>
        <p:txBody>
          <a:bodyPr/>
          <a:lstStyle/>
          <a:p>
            <a:endParaRPr lang="en-US"/>
          </a:p>
        </p:txBody>
      </p:sp>
      <p:sp>
        <p:nvSpPr>
          <p:cNvPr id="57" name="Shape 55"/>
          <p:cNvSpPr/>
          <p:nvPr/>
        </p:nvSpPr>
        <p:spPr>
          <a:xfrm>
            <a:off x="9059356" y="6567601"/>
            <a:ext cx="82358" cy="290399"/>
          </a:xfrm>
          <a:prstGeom prst="roundRect">
            <a:avLst>
              <a:gd name="adj" fmla="val 22205"/>
            </a:avLst>
          </a:prstGeom>
          <a:solidFill>
            <a:srgbClr val="0E8A8F">
              <a:alpha val="55000"/>
            </a:srgbClr>
          </a:solidFill>
          <a:ln/>
        </p:spPr>
        <p:txBody>
          <a:bodyPr/>
          <a:lstStyle/>
          <a:p>
            <a:endParaRPr lang="en-US"/>
          </a:p>
        </p:txBody>
      </p:sp>
      <p:sp>
        <p:nvSpPr>
          <p:cNvPr id="58" name="Shape 56"/>
          <p:cNvSpPr/>
          <p:nvPr/>
        </p:nvSpPr>
        <p:spPr>
          <a:xfrm>
            <a:off x="9224072" y="6345723"/>
            <a:ext cx="82358" cy="512277"/>
          </a:xfrm>
          <a:prstGeom prst="roundRect">
            <a:avLst>
              <a:gd name="adj" fmla="val 22205"/>
            </a:avLst>
          </a:prstGeom>
          <a:solidFill>
            <a:srgbClr val="0E8A8F">
              <a:alpha val="55000"/>
            </a:srgbClr>
          </a:solidFill>
          <a:ln/>
        </p:spPr>
        <p:txBody>
          <a:bodyPr/>
          <a:lstStyle/>
          <a:p>
            <a:endParaRPr lang="en-US"/>
          </a:p>
        </p:txBody>
      </p:sp>
      <p:sp>
        <p:nvSpPr>
          <p:cNvPr id="59" name="Shape 57"/>
          <p:cNvSpPr/>
          <p:nvPr/>
        </p:nvSpPr>
        <p:spPr>
          <a:xfrm>
            <a:off x="9388787" y="6587690"/>
            <a:ext cx="82358" cy="270310"/>
          </a:xfrm>
          <a:prstGeom prst="roundRect">
            <a:avLst>
              <a:gd name="adj" fmla="val 22205"/>
            </a:avLst>
          </a:prstGeom>
          <a:solidFill>
            <a:srgbClr val="0E8A8F">
              <a:alpha val="55000"/>
            </a:srgbClr>
          </a:solidFill>
          <a:ln/>
        </p:spPr>
        <p:txBody>
          <a:bodyPr/>
          <a:lstStyle/>
          <a:p>
            <a:endParaRPr lang="en-US"/>
          </a:p>
        </p:txBody>
      </p:sp>
      <p:sp>
        <p:nvSpPr>
          <p:cNvPr id="60" name="Shape 58"/>
          <p:cNvSpPr/>
          <p:nvPr/>
        </p:nvSpPr>
        <p:spPr>
          <a:xfrm>
            <a:off x="9553503" y="6110237"/>
            <a:ext cx="82358" cy="747763"/>
          </a:xfrm>
          <a:prstGeom prst="roundRect">
            <a:avLst>
              <a:gd name="adj" fmla="val 22205"/>
            </a:avLst>
          </a:prstGeom>
          <a:solidFill>
            <a:srgbClr val="0E8A8F">
              <a:alpha val="55000"/>
            </a:srgbClr>
          </a:solidFill>
          <a:ln/>
        </p:spPr>
        <p:txBody>
          <a:bodyPr/>
          <a:lstStyle/>
          <a:p>
            <a:endParaRPr lang="en-US"/>
          </a:p>
        </p:txBody>
      </p:sp>
      <p:sp>
        <p:nvSpPr>
          <p:cNvPr id="61" name="Shape 59"/>
          <p:cNvSpPr/>
          <p:nvPr/>
        </p:nvSpPr>
        <p:spPr>
          <a:xfrm>
            <a:off x="9718218" y="6172636"/>
            <a:ext cx="82358" cy="685364"/>
          </a:xfrm>
          <a:prstGeom prst="roundRect">
            <a:avLst>
              <a:gd name="adj" fmla="val 22205"/>
            </a:avLst>
          </a:prstGeom>
          <a:solidFill>
            <a:srgbClr val="0E8A8F">
              <a:alpha val="55000"/>
            </a:srgbClr>
          </a:solidFill>
          <a:ln/>
        </p:spPr>
        <p:txBody>
          <a:bodyPr/>
          <a:lstStyle/>
          <a:p>
            <a:endParaRPr lang="en-US"/>
          </a:p>
        </p:txBody>
      </p:sp>
      <p:sp>
        <p:nvSpPr>
          <p:cNvPr id="62" name="Shape 60"/>
          <p:cNvSpPr/>
          <p:nvPr/>
        </p:nvSpPr>
        <p:spPr>
          <a:xfrm>
            <a:off x="9882934" y="6371938"/>
            <a:ext cx="82358" cy="486062"/>
          </a:xfrm>
          <a:prstGeom prst="roundRect">
            <a:avLst>
              <a:gd name="adj" fmla="val 22205"/>
            </a:avLst>
          </a:prstGeom>
          <a:solidFill>
            <a:srgbClr val="0E8A8F">
              <a:alpha val="55000"/>
            </a:srgbClr>
          </a:solidFill>
          <a:ln/>
        </p:spPr>
        <p:txBody>
          <a:bodyPr/>
          <a:lstStyle/>
          <a:p>
            <a:endParaRPr lang="en-US"/>
          </a:p>
        </p:txBody>
      </p:sp>
      <p:sp>
        <p:nvSpPr>
          <p:cNvPr id="63" name="Shape 61"/>
          <p:cNvSpPr/>
          <p:nvPr/>
        </p:nvSpPr>
        <p:spPr>
          <a:xfrm>
            <a:off x="10047650" y="6305405"/>
            <a:ext cx="82358" cy="552595"/>
          </a:xfrm>
          <a:prstGeom prst="roundRect">
            <a:avLst>
              <a:gd name="adj" fmla="val 22205"/>
            </a:avLst>
          </a:prstGeom>
          <a:solidFill>
            <a:srgbClr val="0E8A8F">
              <a:alpha val="55000"/>
            </a:srgbClr>
          </a:solidFill>
          <a:ln/>
        </p:spPr>
        <p:txBody>
          <a:bodyPr/>
          <a:lstStyle/>
          <a:p>
            <a:endParaRPr lang="en-US"/>
          </a:p>
        </p:txBody>
      </p:sp>
      <p:sp>
        <p:nvSpPr>
          <p:cNvPr id="64" name="Shape 62"/>
          <p:cNvSpPr/>
          <p:nvPr/>
        </p:nvSpPr>
        <p:spPr>
          <a:xfrm>
            <a:off x="10212365" y="6215360"/>
            <a:ext cx="82358" cy="642640"/>
          </a:xfrm>
          <a:prstGeom prst="roundRect">
            <a:avLst>
              <a:gd name="adj" fmla="val 22205"/>
            </a:avLst>
          </a:prstGeom>
          <a:solidFill>
            <a:srgbClr val="0E8A8F">
              <a:alpha val="55000"/>
            </a:srgbClr>
          </a:solidFill>
          <a:ln/>
        </p:spPr>
        <p:txBody>
          <a:bodyPr/>
          <a:lstStyle/>
          <a:p>
            <a:endParaRPr lang="en-US"/>
          </a:p>
        </p:txBody>
      </p:sp>
      <p:sp>
        <p:nvSpPr>
          <p:cNvPr id="65" name="Shape 63"/>
          <p:cNvSpPr/>
          <p:nvPr/>
        </p:nvSpPr>
        <p:spPr>
          <a:xfrm>
            <a:off x="10377081" y="6390413"/>
            <a:ext cx="82358" cy="467587"/>
          </a:xfrm>
          <a:prstGeom prst="roundRect">
            <a:avLst>
              <a:gd name="adj" fmla="val 22205"/>
            </a:avLst>
          </a:prstGeom>
          <a:solidFill>
            <a:srgbClr val="0E8A8F">
              <a:alpha val="55000"/>
            </a:srgbClr>
          </a:solidFill>
          <a:ln/>
        </p:spPr>
        <p:txBody>
          <a:bodyPr/>
          <a:lstStyle/>
          <a:p>
            <a:endParaRPr lang="en-US"/>
          </a:p>
        </p:txBody>
      </p:sp>
      <p:sp>
        <p:nvSpPr>
          <p:cNvPr id="66" name="Shape 64"/>
          <p:cNvSpPr/>
          <p:nvPr/>
        </p:nvSpPr>
        <p:spPr>
          <a:xfrm>
            <a:off x="10541796" y="6622902"/>
            <a:ext cx="82358" cy="235098"/>
          </a:xfrm>
          <a:prstGeom prst="roundRect">
            <a:avLst>
              <a:gd name="adj" fmla="val 22205"/>
            </a:avLst>
          </a:prstGeom>
          <a:solidFill>
            <a:srgbClr val="0E8A8F">
              <a:alpha val="55000"/>
            </a:srgbClr>
          </a:solidFill>
          <a:ln/>
        </p:spPr>
        <p:txBody>
          <a:bodyPr/>
          <a:lstStyle/>
          <a:p>
            <a:endParaRPr lang="en-US"/>
          </a:p>
        </p:txBody>
      </p:sp>
      <p:sp>
        <p:nvSpPr>
          <p:cNvPr id="67" name="Shape 65"/>
          <p:cNvSpPr/>
          <p:nvPr/>
        </p:nvSpPr>
        <p:spPr>
          <a:xfrm>
            <a:off x="10706512" y="6664738"/>
            <a:ext cx="82358" cy="193262"/>
          </a:xfrm>
          <a:prstGeom prst="roundRect">
            <a:avLst>
              <a:gd name="adj" fmla="val 22205"/>
            </a:avLst>
          </a:prstGeom>
          <a:solidFill>
            <a:srgbClr val="0E8A8F">
              <a:alpha val="55000"/>
            </a:srgbClr>
          </a:solidFill>
          <a:ln/>
        </p:spPr>
        <p:txBody>
          <a:bodyPr/>
          <a:lstStyle/>
          <a:p>
            <a:endParaRPr lang="en-US"/>
          </a:p>
        </p:txBody>
      </p:sp>
      <p:sp>
        <p:nvSpPr>
          <p:cNvPr id="68" name="Shape 66"/>
          <p:cNvSpPr/>
          <p:nvPr/>
        </p:nvSpPr>
        <p:spPr>
          <a:xfrm>
            <a:off x="10871227" y="6552832"/>
            <a:ext cx="82358" cy="305168"/>
          </a:xfrm>
          <a:prstGeom prst="roundRect">
            <a:avLst>
              <a:gd name="adj" fmla="val 22205"/>
            </a:avLst>
          </a:prstGeom>
          <a:solidFill>
            <a:srgbClr val="0E8A8F">
              <a:alpha val="55000"/>
            </a:srgbClr>
          </a:solidFill>
          <a:ln/>
        </p:spPr>
        <p:txBody>
          <a:bodyPr/>
          <a:lstStyle/>
          <a:p>
            <a:endParaRPr lang="en-US"/>
          </a:p>
        </p:txBody>
      </p:sp>
      <p:sp>
        <p:nvSpPr>
          <p:cNvPr id="69" name="Shape 67"/>
          <p:cNvSpPr/>
          <p:nvPr/>
        </p:nvSpPr>
        <p:spPr>
          <a:xfrm>
            <a:off x="11035943" y="6412220"/>
            <a:ext cx="82358" cy="445780"/>
          </a:xfrm>
          <a:prstGeom prst="roundRect">
            <a:avLst>
              <a:gd name="adj" fmla="val 22205"/>
            </a:avLst>
          </a:prstGeom>
          <a:solidFill>
            <a:srgbClr val="0E8A8F">
              <a:alpha val="55000"/>
            </a:srgbClr>
          </a:solidFill>
          <a:ln/>
        </p:spPr>
        <p:txBody>
          <a:bodyPr/>
          <a:lstStyle/>
          <a:p>
            <a:endParaRPr lang="en-US"/>
          </a:p>
        </p:txBody>
      </p:sp>
      <p:sp>
        <p:nvSpPr>
          <p:cNvPr id="70" name="Shape 68"/>
          <p:cNvSpPr/>
          <p:nvPr/>
        </p:nvSpPr>
        <p:spPr>
          <a:xfrm>
            <a:off x="11200659" y="6749701"/>
            <a:ext cx="82358" cy="108299"/>
          </a:xfrm>
          <a:prstGeom prst="roundRect">
            <a:avLst>
              <a:gd name="adj" fmla="val 22205"/>
            </a:avLst>
          </a:prstGeom>
          <a:solidFill>
            <a:srgbClr val="0E8A8F">
              <a:alpha val="55000"/>
            </a:srgbClr>
          </a:solidFill>
          <a:ln/>
        </p:spPr>
        <p:txBody>
          <a:bodyPr/>
          <a:lstStyle/>
          <a:p>
            <a:endParaRPr lang="en-US"/>
          </a:p>
        </p:txBody>
      </p:sp>
      <p:sp>
        <p:nvSpPr>
          <p:cNvPr id="71" name="Shape 69"/>
          <p:cNvSpPr/>
          <p:nvPr/>
        </p:nvSpPr>
        <p:spPr>
          <a:xfrm>
            <a:off x="11365374" y="6553304"/>
            <a:ext cx="82358" cy="304696"/>
          </a:xfrm>
          <a:prstGeom prst="roundRect">
            <a:avLst>
              <a:gd name="adj" fmla="val 22205"/>
            </a:avLst>
          </a:prstGeom>
          <a:solidFill>
            <a:srgbClr val="0E8A8F">
              <a:alpha val="55000"/>
            </a:srgbClr>
          </a:solidFill>
          <a:ln/>
        </p:spPr>
        <p:txBody>
          <a:bodyPr/>
          <a:lstStyle/>
          <a:p>
            <a:endParaRPr lang="en-US"/>
          </a:p>
        </p:txBody>
      </p:sp>
      <p:sp>
        <p:nvSpPr>
          <p:cNvPr id="72" name="Shape 70"/>
          <p:cNvSpPr/>
          <p:nvPr/>
        </p:nvSpPr>
        <p:spPr>
          <a:xfrm>
            <a:off x="11530090" y="6679385"/>
            <a:ext cx="82358" cy="178615"/>
          </a:xfrm>
          <a:prstGeom prst="roundRect">
            <a:avLst>
              <a:gd name="adj" fmla="val 22205"/>
            </a:avLst>
          </a:prstGeom>
          <a:solidFill>
            <a:srgbClr val="0E8A8F">
              <a:alpha val="55000"/>
            </a:srgbClr>
          </a:solidFill>
          <a:ln/>
        </p:spPr>
        <p:txBody>
          <a:bodyPr/>
          <a:lstStyle/>
          <a:p>
            <a:endParaRPr lang="en-US"/>
          </a:p>
        </p:txBody>
      </p:sp>
      <p:sp>
        <p:nvSpPr>
          <p:cNvPr id="73" name="Shape 71"/>
          <p:cNvSpPr/>
          <p:nvPr/>
        </p:nvSpPr>
        <p:spPr>
          <a:xfrm>
            <a:off x="11694805" y="6745111"/>
            <a:ext cx="82358" cy="112889"/>
          </a:xfrm>
          <a:prstGeom prst="roundRect">
            <a:avLst>
              <a:gd name="adj" fmla="val 22205"/>
            </a:avLst>
          </a:prstGeom>
          <a:solidFill>
            <a:srgbClr val="0E8A8F">
              <a:alpha val="55000"/>
            </a:srgbClr>
          </a:solidFill>
          <a:ln/>
        </p:spPr>
        <p:txBody>
          <a:bodyPr/>
          <a:lstStyle/>
          <a:p>
            <a:endParaRPr lang="en-US"/>
          </a:p>
        </p:txBody>
      </p:sp>
      <p:sp>
        <p:nvSpPr>
          <p:cNvPr id="74" name="Shape 72"/>
          <p:cNvSpPr/>
          <p:nvPr/>
        </p:nvSpPr>
        <p:spPr>
          <a:xfrm>
            <a:off x="11859521" y="6747813"/>
            <a:ext cx="82358" cy="110187"/>
          </a:xfrm>
          <a:prstGeom prst="roundRect">
            <a:avLst>
              <a:gd name="adj" fmla="val 22205"/>
            </a:avLst>
          </a:prstGeom>
          <a:solidFill>
            <a:srgbClr val="0E8A8F">
              <a:alpha val="55000"/>
            </a:srgbClr>
          </a:solidFill>
          <a:ln/>
        </p:spPr>
        <p:txBody>
          <a:bodyPr/>
          <a:lstStyle/>
          <a:p>
            <a:endParaRPr lang="en-US"/>
          </a:p>
        </p:txBody>
      </p:sp>
      <p:sp>
        <p:nvSpPr>
          <p:cNvPr id="75" name="Shape 73"/>
          <p:cNvSpPr/>
          <p:nvPr/>
        </p:nvSpPr>
        <p:spPr>
          <a:xfrm>
            <a:off x="12024236" y="6821424"/>
            <a:ext cx="82358" cy="36576"/>
          </a:xfrm>
          <a:prstGeom prst="roundRect">
            <a:avLst>
              <a:gd name="adj" fmla="val 50000"/>
            </a:avLst>
          </a:prstGeom>
          <a:solidFill>
            <a:srgbClr val="0E8A8F">
              <a:alpha val="55000"/>
            </a:srgbClr>
          </a:solidFill>
          <a:ln/>
        </p:spPr>
        <p:txBody>
          <a:bodyPr/>
          <a:lstStyle/>
          <a:p>
            <a:endParaRPr lang="en-US"/>
          </a:p>
        </p:txBody>
      </p:sp>
      <p:sp>
        <p:nvSpPr>
          <p:cNvPr id="76" name="Text 74"/>
          <p:cNvSpPr/>
          <p:nvPr/>
        </p:nvSpPr>
        <p:spPr>
          <a:xfrm>
            <a:off x="777240" y="548640"/>
            <a:ext cx="5486400" cy="274320"/>
          </a:xfrm>
          <a:prstGeom prst="rect">
            <a:avLst/>
          </a:prstGeom>
          <a:noFill/>
          <a:ln/>
        </p:spPr>
        <p:txBody>
          <a:bodyPr wrap="square" lIns="0" tIns="0" rIns="0" bIns="0" rtlCol="0" anchor="ctr"/>
          <a:lstStyle/>
          <a:p>
            <a:pPr marL="0" indent="0">
              <a:buNone/>
            </a:pPr>
            <a:r>
              <a:rPr lang="en-US" sz="1150" b="1" kern="0" spc="160" dirty="0">
                <a:solidFill>
                  <a:srgbClr val="0E8A8F"/>
                </a:solidFill>
                <a:latin typeface="Calibri" pitchFamily="34" charset="0"/>
                <a:ea typeface="Calibri" pitchFamily="34" charset="-122"/>
                <a:cs typeface="Calibri" pitchFamily="34" charset="-120"/>
              </a:rPr>
              <a:t>TAKEAWAYS</a:t>
            </a:r>
            <a:endParaRPr lang="en-US" sz="1150" dirty="0"/>
          </a:p>
        </p:txBody>
      </p:sp>
      <p:sp>
        <p:nvSpPr>
          <p:cNvPr id="77" name="Text 75"/>
          <p:cNvSpPr/>
          <p:nvPr/>
        </p:nvSpPr>
        <p:spPr>
          <a:xfrm>
            <a:off x="777240" y="896112"/>
            <a:ext cx="6583680" cy="1188720"/>
          </a:xfrm>
          <a:prstGeom prst="rect">
            <a:avLst/>
          </a:prstGeom>
          <a:noFill/>
          <a:ln/>
        </p:spPr>
        <p:txBody>
          <a:bodyPr wrap="square" lIns="0" tIns="0" rIns="0" bIns="0" rtlCol="0" anchor="ctr"/>
          <a:lstStyle/>
          <a:p>
            <a:pPr marL="0" indent="0">
              <a:lnSpc>
                <a:spcPct val="110000"/>
              </a:lnSpc>
              <a:buNone/>
            </a:pPr>
            <a:r>
              <a:rPr lang="en-US" sz="2900" b="1" dirty="0">
                <a:solidFill>
                  <a:srgbClr val="FFFFFF"/>
                </a:solidFill>
                <a:latin typeface="Cambria" pitchFamily="34" charset="0"/>
                <a:ea typeface="Cambria" pitchFamily="34" charset="-122"/>
                <a:cs typeface="Cambria" pitchFamily="34" charset="-120"/>
              </a:rPr>
              <a:t>The model cleans noisy speech recordings</a:t>
            </a:r>
            <a:endParaRPr lang="en-US" sz="2900" dirty="0"/>
          </a:p>
        </p:txBody>
      </p:sp>
      <p:sp>
        <p:nvSpPr>
          <p:cNvPr id="78" name="Shape 76"/>
          <p:cNvSpPr/>
          <p:nvPr/>
        </p:nvSpPr>
        <p:spPr>
          <a:xfrm>
            <a:off x="777240" y="2331720"/>
            <a:ext cx="384048" cy="384048"/>
          </a:xfrm>
          <a:prstGeom prst="ellipse">
            <a:avLst/>
          </a:prstGeom>
          <a:solidFill>
            <a:srgbClr val="0E8A8F"/>
          </a:solidFill>
          <a:ln/>
        </p:spPr>
        <p:txBody>
          <a:bodyPr/>
          <a:lstStyle/>
          <a:p>
            <a:endParaRPr lang="en-US"/>
          </a:p>
        </p:txBody>
      </p:sp>
      <p:sp>
        <p:nvSpPr>
          <p:cNvPr id="79" name="Text 77"/>
          <p:cNvSpPr/>
          <p:nvPr/>
        </p:nvSpPr>
        <p:spPr>
          <a:xfrm>
            <a:off x="777240" y="23317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0" name="Text 78"/>
          <p:cNvSpPr/>
          <p:nvPr/>
        </p:nvSpPr>
        <p:spPr>
          <a:xfrm>
            <a:off x="1325880" y="2276856"/>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Time context makes the mask smoother and artifact free.</a:t>
            </a:r>
          </a:p>
          <a:p>
            <a:pPr marL="0" indent="0">
              <a:buNone/>
            </a:pPr>
            <a:r>
              <a:rPr lang="en-US" sz="1500" dirty="0">
                <a:solidFill>
                  <a:srgbClr val="C9D9E8"/>
                </a:solidFill>
                <a:latin typeface="Calibri" pitchFamily="34" charset="0"/>
                <a:cs typeface="Calibri" pitchFamily="34" charset="-120"/>
              </a:rPr>
              <a:t>Bidirectional context helps increase the quality of output and reduce loss further.</a:t>
            </a:r>
            <a:endParaRPr lang="en-US" sz="1500" dirty="0"/>
          </a:p>
        </p:txBody>
      </p:sp>
      <p:sp>
        <p:nvSpPr>
          <p:cNvPr id="81" name="Shape 79"/>
          <p:cNvSpPr/>
          <p:nvPr/>
        </p:nvSpPr>
        <p:spPr>
          <a:xfrm>
            <a:off x="777240" y="3291840"/>
            <a:ext cx="384048" cy="384048"/>
          </a:xfrm>
          <a:prstGeom prst="ellipse">
            <a:avLst/>
          </a:prstGeom>
          <a:solidFill>
            <a:srgbClr val="0E8A8F"/>
          </a:solidFill>
          <a:ln/>
        </p:spPr>
        <p:txBody>
          <a:bodyPr/>
          <a:lstStyle/>
          <a:p>
            <a:endParaRPr lang="en-US"/>
          </a:p>
        </p:txBody>
      </p:sp>
      <p:sp>
        <p:nvSpPr>
          <p:cNvPr id="82" name="Text 80"/>
          <p:cNvSpPr/>
          <p:nvPr/>
        </p:nvSpPr>
        <p:spPr>
          <a:xfrm>
            <a:off x="777240" y="32918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3" name="Text 81"/>
          <p:cNvSpPr/>
          <p:nvPr/>
        </p:nvSpPr>
        <p:spPr>
          <a:xfrm>
            <a:off x="1325880" y="3351664"/>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A speaker-level split keeps the validation accurate to real performance.</a:t>
            </a:r>
            <a:endParaRPr lang="en-US" sz="1500" dirty="0"/>
          </a:p>
        </p:txBody>
      </p:sp>
      <p:sp>
        <p:nvSpPr>
          <p:cNvPr id="84" name="Shape 82"/>
          <p:cNvSpPr/>
          <p:nvPr/>
        </p:nvSpPr>
        <p:spPr>
          <a:xfrm>
            <a:off x="777240" y="4251960"/>
            <a:ext cx="384048" cy="384048"/>
          </a:xfrm>
          <a:prstGeom prst="ellipse">
            <a:avLst/>
          </a:prstGeom>
          <a:solidFill>
            <a:srgbClr val="0E8A8F"/>
          </a:solidFill>
          <a:ln/>
        </p:spPr>
        <p:txBody>
          <a:bodyPr/>
          <a:lstStyle/>
          <a:p>
            <a:endParaRPr lang="en-US"/>
          </a:p>
        </p:txBody>
      </p:sp>
      <p:sp>
        <p:nvSpPr>
          <p:cNvPr id="85" name="Text 83"/>
          <p:cNvSpPr/>
          <p:nvPr/>
        </p:nvSpPr>
        <p:spPr>
          <a:xfrm>
            <a:off x="777240" y="42519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86" name="Text 84"/>
          <p:cNvSpPr/>
          <p:nvPr/>
        </p:nvSpPr>
        <p:spPr>
          <a:xfrm>
            <a:off x="1325880" y="4343360"/>
            <a:ext cx="6035040" cy="868680"/>
          </a:xfrm>
          <a:prstGeom prst="rect">
            <a:avLst/>
          </a:prstGeom>
          <a:noFill/>
          <a:ln/>
        </p:spPr>
        <p:txBody>
          <a:bodyPr wrap="square" lIns="0" tIns="0" rIns="0" bIns="0" rtlCol="0" anchor="t"/>
          <a:lstStyle/>
          <a:p>
            <a:pPr marL="0" indent="0">
              <a:buNone/>
            </a:pPr>
            <a:r>
              <a:rPr lang="en-US" sz="1500" dirty="0">
                <a:solidFill>
                  <a:srgbClr val="C9D9E8"/>
                </a:solidFill>
                <a:latin typeface="Calibri" pitchFamily="34" charset="0"/>
                <a:ea typeface="Calibri" pitchFamily="34" charset="-122"/>
                <a:cs typeface="Calibri" pitchFamily="34" charset="-120"/>
              </a:rPr>
              <a:t>The full pipeline (encoding) matters as much as the network.</a:t>
            </a:r>
            <a:endParaRPr lang="en-US" sz="1500" dirty="0"/>
          </a:p>
        </p:txBody>
      </p:sp>
      <p:sp>
        <p:nvSpPr>
          <p:cNvPr id="87" name="Shape 85"/>
          <p:cNvSpPr/>
          <p:nvPr/>
        </p:nvSpPr>
        <p:spPr>
          <a:xfrm>
            <a:off x="7772400" y="896112"/>
            <a:ext cx="3767328" cy="4297680"/>
          </a:xfrm>
          <a:prstGeom prst="roundRect">
            <a:avLst>
              <a:gd name="adj" fmla="val 2184"/>
            </a:avLst>
          </a:prstGeom>
          <a:solidFill>
            <a:srgbClr val="1C3557"/>
          </a:solidFill>
          <a:ln/>
        </p:spPr>
        <p:txBody>
          <a:bodyPr/>
          <a:lstStyle/>
          <a:p>
            <a:endParaRPr lang="en-US"/>
          </a:p>
        </p:txBody>
      </p:sp>
      <p:sp>
        <p:nvSpPr>
          <p:cNvPr id="88" name="Text 86"/>
          <p:cNvSpPr/>
          <p:nvPr/>
        </p:nvSpPr>
        <p:spPr>
          <a:xfrm>
            <a:off x="8046720" y="1097280"/>
            <a:ext cx="3291840" cy="329184"/>
          </a:xfrm>
          <a:prstGeom prst="rect">
            <a:avLst/>
          </a:prstGeom>
          <a:noFill/>
          <a:ln/>
        </p:spPr>
        <p:txBody>
          <a:bodyPr wrap="square" lIns="0" tIns="0" rIns="0" bIns="0"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Future work</a:t>
            </a:r>
            <a:endParaRPr lang="en-US" sz="1900" dirty="0"/>
          </a:p>
        </p:txBody>
      </p:sp>
      <p:sp>
        <p:nvSpPr>
          <p:cNvPr id="89" name="Text 87"/>
          <p:cNvSpPr/>
          <p:nvPr/>
        </p:nvSpPr>
        <p:spPr>
          <a:xfrm>
            <a:off x="8046720" y="1536192"/>
            <a:ext cx="3291840" cy="347472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Complex masks and complex STFT encoding</a:t>
            </a:r>
            <a:endParaRPr lang="en-US" sz="1200" dirty="0"/>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Complex-valued RNNs on </a:t>
            </a:r>
            <a:r>
              <a:rPr lang="en-US" sz="1200" dirty="0" err="1">
                <a:solidFill>
                  <a:srgbClr val="C9D9E8"/>
                </a:solidFill>
                <a:latin typeface="Calibri" pitchFamily="34" charset="0"/>
                <a:ea typeface="Calibri" pitchFamily="34" charset="-122"/>
                <a:cs typeface="Calibri" pitchFamily="34" charset="-120"/>
              </a:rPr>
              <a:t>cSTFT</a:t>
            </a:r>
            <a:r>
              <a:rPr lang="en-US" sz="1200" dirty="0">
                <a:solidFill>
                  <a:srgbClr val="C9D9E8"/>
                </a:solidFill>
                <a:latin typeface="Calibri" pitchFamily="34" charset="0"/>
                <a:ea typeface="Calibri" pitchFamily="34" charset="-122"/>
                <a:cs typeface="Calibri" pitchFamily="34" charset="-120"/>
              </a:rPr>
              <a:t> data</a:t>
            </a:r>
            <a:endParaRPr lang="en-US" sz="1200" dirty="0"/>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Validate using speech quality perception metrics instead of validation loss?</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Do any other STFT parameters improve the model?</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More epochs by using more data, to make overfitting happen later?</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Bigger hyperparameter matrix</a:t>
            </a:r>
          </a:p>
          <a:p>
            <a:pPr marL="342900" indent="-342900">
              <a:spcAft>
                <a:spcPts val="1000"/>
              </a:spcAft>
              <a:buSzPct val="100000"/>
              <a:buChar char="•"/>
            </a:pPr>
            <a:r>
              <a:rPr lang="en-US" sz="1200" dirty="0">
                <a:solidFill>
                  <a:srgbClr val="C9D9E8"/>
                </a:solidFill>
                <a:latin typeface="Calibri" pitchFamily="34" charset="0"/>
                <a:ea typeface="Calibri" pitchFamily="34" charset="-122"/>
                <a:cs typeface="Calibri" pitchFamily="34" charset="-120"/>
              </a:rPr>
              <a:t>Does the denoising help with things like automated speech </a:t>
            </a:r>
            <a:r>
              <a:rPr lang="en-US" sz="1200" dirty="0" err="1">
                <a:solidFill>
                  <a:srgbClr val="C9D9E8"/>
                </a:solidFill>
                <a:latin typeface="Calibri" pitchFamily="34" charset="0"/>
                <a:ea typeface="Calibri" pitchFamily="34" charset="-122"/>
                <a:cs typeface="Calibri" pitchFamily="34" charset="-120"/>
              </a:rPr>
              <a:t>recognization</a:t>
            </a:r>
            <a:r>
              <a:rPr lang="en-US" sz="1200" dirty="0">
                <a:solidFill>
                  <a:srgbClr val="C9D9E8"/>
                </a:solidFill>
                <a:latin typeface="Calibri" pitchFamily="34" charset="0"/>
                <a:ea typeface="Calibri" pitchFamily="34" charset="-122"/>
                <a:cs typeface="Calibri" pitchFamily="34" charset="-120"/>
              </a:rPr>
              <a:t> models? Do those models need different denoising parameters?</a:t>
            </a:r>
          </a:p>
          <a:p>
            <a:pPr marL="342900" indent="-342900">
              <a:spcAft>
                <a:spcPts val="1000"/>
              </a:spcAft>
              <a:buSzPct val="100000"/>
              <a:buChar char="•"/>
            </a:pPr>
            <a:endParaRPr lang="en-US" sz="1200" dirty="0">
              <a:solidFill>
                <a:srgbClr val="C9D9E8"/>
              </a:solidFill>
              <a:latin typeface="Calibri" pitchFamily="34" charset="0"/>
              <a:ea typeface="Calibri" pitchFamily="34" charset="-122"/>
              <a:cs typeface="Calibri" pitchFamily="34" charset="-120"/>
            </a:endParaRPr>
          </a:p>
        </p:txBody>
      </p:sp>
      <p:sp>
        <p:nvSpPr>
          <p:cNvPr id="90" name="Text 88"/>
          <p:cNvSpPr/>
          <p:nvPr/>
        </p:nvSpPr>
        <p:spPr>
          <a:xfrm>
            <a:off x="777240" y="5349240"/>
            <a:ext cx="7315200" cy="320040"/>
          </a:xfrm>
          <a:prstGeom prst="rect">
            <a:avLst/>
          </a:prstGeom>
          <a:noFill/>
          <a:ln/>
        </p:spPr>
        <p:txBody>
          <a:bodyPr wrap="square" lIns="0" tIns="0" rIns="0" bIns="0" rtlCol="0" anchor="ctr"/>
          <a:lstStyle/>
          <a:p>
            <a:pPr marL="0" indent="0">
              <a:buNone/>
            </a:pPr>
            <a:r>
              <a:rPr lang="en-US" sz="1150" dirty="0">
                <a:solidFill>
                  <a:srgbClr val="8FA3B8"/>
                </a:solidFill>
                <a:latin typeface="Calibri" pitchFamily="34" charset="0"/>
                <a:ea typeface="Calibri" pitchFamily="34" charset="-122"/>
                <a:cs typeface="Calibri" pitchFamily="34" charset="-120"/>
              </a:rPr>
              <a:t>Skylar Denno  ·  EECE 5644  ·  github.com/skylar-slideshows/ML_denoise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2233A"/>
        </a:solidFill>
        <a:effectLst/>
      </p:bgPr>
    </p:bg>
    <p:spTree>
      <p:nvGrpSpPr>
        <p:cNvPr id="1" name="">
          <a:extLst>
            <a:ext uri="{FF2B5EF4-FFF2-40B4-BE49-F238E27FC236}">
              <a16:creationId xmlns:a16="http://schemas.microsoft.com/office/drawing/2014/main" id="{07C7AF79-A876-3323-7588-C0F9CCD8CEC6}"/>
            </a:ext>
          </a:extLst>
        </p:cNvPr>
        <p:cNvGrpSpPr/>
        <p:nvPr/>
      </p:nvGrpSpPr>
      <p:grpSpPr>
        <a:xfrm>
          <a:off x="0" y="0"/>
          <a:ext cx="0" cy="0"/>
          <a:chOff x="0" y="0"/>
          <a:chExt cx="0" cy="0"/>
        </a:xfrm>
      </p:grpSpPr>
      <p:sp>
        <p:nvSpPr>
          <p:cNvPr id="91" name="Shape 0">
            <a:extLst>
              <a:ext uri="{FF2B5EF4-FFF2-40B4-BE49-F238E27FC236}">
                <a16:creationId xmlns:a16="http://schemas.microsoft.com/office/drawing/2014/main" id="{88AFCDCA-C643-0681-2D09-A186DBF911E2}"/>
              </a:ext>
            </a:extLst>
          </p:cNvPr>
          <p:cNvSpPr/>
          <p:nvPr/>
        </p:nvSpPr>
        <p:spPr>
          <a:xfrm>
            <a:off x="0" y="6821424"/>
            <a:ext cx="82358" cy="36576"/>
          </a:xfrm>
          <a:prstGeom prst="roundRect">
            <a:avLst>
              <a:gd name="adj" fmla="val 50000"/>
            </a:avLst>
          </a:prstGeom>
          <a:solidFill>
            <a:srgbClr val="0E8A8F">
              <a:alpha val="55000"/>
            </a:srgbClr>
          </a:solidFill>
          <a:ln/>
        </p:spPr>
        <p:txBody>
          <a:bodyPr/>
          <a:lstStyle/>
          <a:p>
            <a:endParaRPr lang="en-US"/>
          </a:p>
        </p:txBody>
      </p:sp>
      <p:sp>
        <p:nvSpPr>
          <p:cNvPr id="92" name="Shape 1">
            <a:extLst>
              <a:ext uri="{FF2B5EF4-FFF2-40B4-BE49-F238E27FC236}">
                <a16:creationId xmlns:a16="http://schemas.microsoft.com/office/drawing/2014/main" id="{3B2F2598-A065-0495-A11B-D3AFABA2ACCB}"/>
              </a:ext>
            </a:extLst>
          </p:cNvPr>
          <p:cNvSpPr/>
          <p:nvPr/>
        </p:nvSpPr>
        <p:spPr>
          <a:xfrm>
            <a:off x="164716" y="6784952"/>
            <a:ext cx="82358" cy="73048"/>
          </a:xfrm>
          <a:prstGeom prst="roundRect">
            <a:avLst>
              <a:gd name="adj" fmla="val 25036"/>
            </a:avLst>
          </a:prstGeom>
          <a:solidFill>
            <a:srgbClr val="0E8A8F">
              <a:alpha val="55000"/>
            </a:srgbClr>
          </a:solidFill>
          <a:ln/>
        </p:spPr>
        <p:txBody>
          <a:bodyPr/>
          <a:lstStyle/>
          <a:p>
            <a:endParaRPr lang="en-US"/>
          </a:p>
        </p:txBody>
      </p:sp>
      <p:sp>
        <p:nvSpPr>
          <p:cNvPr id="93" name="Shape 2">
            <a:extLst>
              <a:ext uri="{FF2B5EF4-FFF2-40B4-BE49-F238E27FC236}">
                <a16:creationId xmlns:a16="http://schemas.microsoft.com/office/drawing/2014/main" id="{06DD3F60-FBF4-B1AD-A4B4-AEF446B81F59}"/>
              </a:ext>
            </a:extLst>
          </p:cNvPr>
          <p:cNvSpPr/>
          <p:nvPr/>
        </p:nvSpPr>
        <p:spPr>
          <a:xfrm>
            <a:off x="329431" y="6650436"/>
            <a:ext cx="82358" cy="207564"/>
          </a:xfrm>
          <a:prstGeom prst="roundRect">
            <a:avLst>
              <a:gd name="adj" fmla="val 22205"/>
            </a:avLst>
          </a:prstGeom>
          <a:solidFill>
            <a:srgbClr val="0E8A8F">
              <a:alpha val="55000"/>
            </a:srgbClr>
          </a:solidFill>
          <a:ln/>
        </p:spPr>
        <p:txBody>
          <a:bodyPr/>
          <a:lstStyle/>
          <a:p>
            <a:endParaRPr lang="en-US"/>
          </a:p>
        </p:txBody>
      </p:sp>
      <p:sp>
        <p:nvSpPr>
          <p:cNvPr id="94" name="Shape 3">
            <a:extLst>
              <a:ext uri="{FF2B5EF4-FFF2-40B4-BE49-F238E27FC236}">
                <a16:creationId xmlns:a16="http://schemas.microsoft.com/office/drawing/2014/main" id="{B1DFAC39-B1AD-6F9F-7519-9B3E5A06C856}"/>
              </a:ext>
            </a:extLst>
          </p:cNvPr>
          <p:cNvSpPr/>
          <p:nvPr/>
        </p:nvSpPr>
        <p:spPr>
          <a:xfrm>
            <a:off x="494147" y="6573706"/>
            <a:ext cx="82358" cy="284294"/>
          </a:xfrm>
          <a:prstGeom prst="roundRect">
            <a:avLst>
              <a:gd name="adj" fmla="val 22205"/>
            </a:avLst>
          </a:prstGeom>
          <a:solidFill>
            <a:srgbClr val="0E8A8F">
              <a:alpha val="55000"/>
            </a:srgbClr>
          </a:solidFill>
          <a:ln/>
        </p:spPr>
        <p:txBody>
          <a:bodyPr/>
          <a:lstStyle/>
          <a:p>
            <a:endParaRPr lang="en-US"/>
          </a:p>
        </p:txBody>
      </p:sp>
      <p:sp>
        <p:nvSpPr>
          <p:cNvPr id="95" name="Shape 4">
            <a:extLst>
              <a:ext uri="{FF2B5EF4-FFF2-40B4-BE49-F238E27FC236}">
                <a16:creationId xmlns:a16="http://schemas.microsoft.com/office/drawing/2014/main" id="{75AC236B-C5C5-6E75-5898-DE52F9E8A1DA}"/>
              </a:ext>
            </a:extLst>
          </p:cNvPr>
          <p:cNvSpPr/>
          <p:nvPr/>
        </p:nvSpPr>
        <p:spPr>
          <a:xfrm>
            <a:off x="658862" y="6480016"/>
            <a:ext cx="82358" cy="377984"/>
          </a:xfrm>
          <a:prstGeom prst="roundRect">
            <a:avLst>
              <a:gd name="adj" fmla="val 22205"/>
            </a:avLst>
          </a:prstGeom>
          <a:solidFill>
            <a:srgbClr val="0E8A8F">
              <a:alpha val="55000"/>
            </a:srgbClr>
          </a:solidFill>
          <a:ln/>
        </p:spPr>
        <p:txBody>
          <a:bodyPr/>
          <a:lstStyle/>
          <a:p>
            <a:endParaRPr lang="en-US"/>
          </a:p>
        </p:txBody>
      </p:sp>
      <p:sp>
        <p:nvSpPr>
          <p:cNvPr id="96" name="Shape 5">
            <a:extLst>
              <a:ext uri="{FF2B5EF4-FFF2-40B4-BE49-F238E27FC236}">
                <a16:creationId xmlns:a16="http://schemas.microsoft.com/office/drawing/2014/main" id="{D689A255-2263-0CC6-063F-37228BABF1A6}"/>
              </a:ext>
            </a:extLst>
          </p:cNvPr>
          <p:cNvSpPr/>
          <p:nvPr/>
        </p:nvSpPr>
        <p:spPr>
          <a:xfrm>
            <a:off x="823578" y="6579444"/>
            <a:ext cx="82358" cy="278556"/>
          </a:xfrm>
          <a:prstGeom prst="roundRect">
            <a:avLst>
              <a:gd name="adj" fmla="val 22205"/>
            </a:avLst>
          </a:prstGeom>
          <a:solidFill>
            <a:srgbClr val="0E8A8F">
              <a:alpha val="55000"/>
            </a:srgbClr>
          </a:solidFill>
          <a:ln/>
        </p:spPr>
        <p:txBody>
          <a:bodyPr/>
          <a:lstStyle/>
          <a:p>
            <a:endParaRPr lang="en-US"/>
          </a:p>
        </p:txBody>
      </p:sp>
      <p:sp>
        <p:nvSpPr>
          <p:cNvPr id="97" name="Shape 6">
            <a:extLst>
              <a:ext uri="{FF2B5EF4-FFF2-40B4-BE49-F238E27FC236}">
                <a16:creationId xmlns:a16="http://schemas.microsoft.com/office/drawing/2014/main" id="{C9E70CCF-9E24-2C49-28E2-1B821CFA23F0}"/>
              </a:ext>
            </a:extLst>
          </p:cNvPr>
          <p:cNvSpPr/>
          <p:nvPr/>
        </p:nvSpPr>
        <p:spPr>
          <a:xfrm>
            <a:off x="988293" y="6509298"/>
            <a:ext cx="82358" cy="348702"/>
          </a:xfrm>
          <a:prstGeom prst="roundRect">
            <a:avLst>
              <a:gd name="adj" fmla="val 22205"/>
            </a:avLst>
          </a:prstGeom>
          <a:solidFill>
            <a:srgbClr val="0E8A8F">
              <a:alpha val="55000"/>
            </a:srgbClr>
          </a:solidFill>
          <a:ln/>
        </p:spPr>
        <p:txBody>
          <a:bodyPr/>
          <a:lstStyle/>
          <a:p>
            <a:endParaRPr lang="en-US"/>
          </a:p>
        </p:txBody>
      </p:sp>
      <p:sp>
        <p:nvSpPr>
          <p:cNvPr id="98" name="Shape 7">
            <a:extLst>
              <a:ext uri="{FF2B5EF4-FFF2-40B4-BE49-F238E27FC236}">
                <a16:creationId xmlns:a16="http://schemas.microsoft.com/office/drawing/2014/main" id="{6E93CAFA-6FF8-2D52-9225-A5C123313DDF}"/>
              </a:ext>
            </a:extLst>
          </p:cNvPr>
          <p:cNvSpPr/>
          <p:nvPr/>
        </p:nvSpPr>
        <p:spPr>
          <a:xfrm>
            <a:off x="1153009" y="6347741"/>
            <a:ext cx="82358" cy="510259"/>
          </a:xfrm>
          <a:prstGeom prst="roundRect">
            <a:avLst>
              <a:gd name="adj" fmla="val 22205"/>
            </a:avLst>
          </a:prstGeom>
          <a:solidFill>
            <a:srgbClr val="0E8A8F">
              <a:alpha val="55000"/>
            </a:srgbClr>
          </a:solidFill>
          <a:ln/>
        </p:spPr>
        <p:txBody>
          <a:bodyPr/>
          <a:lstStyle/>
          <a:p>
            <a:endParaRPr lang="en-US"/>
          </a:p>
        </p:txBody>
      </p:sp>
      <p:sp>
        <p:nvSpPr>
          <p:cNvPr id="99" name="Shape 8">
            <a:extLst>
              <a:ext uri="{FF2B5EF4-FFF2-40B4-BE49-F238E27FC236}">
                <a16:creationId xmlns:a16="http://schemas.microsoft.com/office/drawing/2014/main" id="{19AC481A-639E-7F25-BD3F-6E89832F5AB6}"/>
              </a:ext>
            </a:extLst>
          </p:cNvPr>
          <p:cNvSpPr/>
          <p:nvPr/>
        </p:nvSpPr>
        <p:spPr>
          <a:xfrm>
            <a:off x="1317725" y="6473922"/>
            <a:ext cx="82358" cy="384078"/>
          </a:xfrm>
          <a:prstGeom prst="roundRect">
            <a:avLst>
              <a:gd name="adj" fmla="val 22205"/>
            </a:avLst>
          </a:prstGeom>
          <a:solidFill>
            <a:srgbClr val="0E8A8F">
              <a:alpha val="55000"/>
            </a:srgbClr>
          </a:solidFill>
          <a:ln/>
        </p:spPr>
        <p:txBody>
          <a:bodyPr/>
          <a:lstStyle/>
          <a:p>
            <a:endParaRPr lang="en-US"/>
          </a:p>
        </p:txBody>
      </p:sp>
      <p:sp>
        <p:nvSpPr>
          <p:cNvPr id="100" name="Shape 9">
            <a:extLst>
              <a:ext uri="{FF2B5EF4-FFF2-40B4-BE49-F238E27FC236}">
                <a16:creationId xmlns:a16="http://schemas.microsoft.com/office/drawing/2014/main" id="{DEDDE3C7-291B-C046-712C-BA67BA78F332}"/>
              </a:ext>
            </a:extLst>
          </p:cNvPr>
          <p:cNvSpPr/>
          <p:nvPr/>
        </p:nvSpPr>
        <p:spPr>
          <a:xfrm>
            <a:off x="1482440" y="6489393"/>
            <a:ext cx="82358" cy="368607"/>
          </a:xfrm>
          <a:prstGeom prst="roundRect">
            <a:avLst>
              <a:gd name="adj" fmla="val 22205"/>
            </a:avLst>
          </a:prstGeom>
          <a:solidFill>
            <a:srgbClr val="0E8A8F">
              <a:alpha val="55000"/>
            </a:srgbClr>
          </a:solidFill>
          <a:ln/>
        </p:spPr>
        <p:txBody>
          <a:bodyPr/>
          <a:lstStyle/>
          <a:p>
            <a:endParaRPr lang="en-US"/>
          </a:p>
        </p:txBody>
      </p:sp>
      <p:sp>
        <p:nvSpPr>
          <p:cNvPr id="101" name="Shape 10">
            <a:extLst>
              <a:ext uri="{FF2B5EF4-FFF2-40B4-BE49-F238E27FC236}">
                <a16:creationId xmlns:a16="http://schemas.microsoft.com/office/drawing/2014/main" id="{F2D42722-DC57-FF8B-75CD-4B79F8068F26}"/>
              </a:ext>
            </a:extLst>
          </p:cNvPr>
          <p:cNvSpPr/>
          <p:nvPr/>
        </p:nvSpPr>
        <p:spPr>
          <a:xfrm>
            <a:off x="1647156" y="6536147"/>
            <a:ext cx="82358" cy="321853"/>
          </a:xfrm>
          <a:prstGeom prst="roundRect">
            <a:avLst>
              <a:gd name="adj" fmla="val 22205"/>
            </a:avLst>
          </a:prstGeom>
          <a:solidFill>
            <a:srgbClr val="0E8A8F">
              <a:alpha val="55000"/>
            </a:srgbClr>
          </a:solidFill>
          <a:ln/>
        </p:spPr>
        <p:txBody>
          <a:bodyPr/>
          <a:lstStyle/>
          <a:p>
            <a:endParaRPr lang="en-US"/>
          </a:p>
        </p:txBody>
      </p:sp>
      <p:sp>
        <p:nvSpPr>
          <p:cNvPr id="102" name="Shape 11">
            <a:extLst>
              <a:ext uri="{FF2B5EF4-FFF2-40B4-BE49-F238E27FC236}">
                <a16:creationId xmlns:a16="http://schemas.microsoft.com/office/drawing/2014/main" id="{082D7F4E-FCCB-AC8D-07C1-AA969EC9A70B}"/>
              </a:ext>
            </a:extLst>
          </p:cNvPr>
          <p:cNvSpPr/>
          <p:nvPr/>
        </p:nvSpPr>
        <p:spPr>
          <a:xfrm>
            <a:off x="1811871" y="6293135"/>
            <a:ext cx="82358" cy="564865"/>
          </a:xfrm>
          <a:prstGeom prst="roundRect">
            <a:avLst>
              <a:gd name="adj" fmla="val 22205"/>
            </a:avLst>
          </a:prstGeom>
          <a:solidFill>
            <a:srgbClr val="0E8A8F">
              <a:alpha val="55000"/>
            </a:srgbClr>
          </a:solidFill>
          <a:ln/>
        </p:spPr>
        <p:txBody>
          <a:bodyPr/>
          <a:lstStyle/>
          <a:p>
            <a:endParaRPr lang="en-US"/>
          </a:p>
        </p:txBody>
      </p:sp>
      <p:sp>
        <p:nvSpPr>
          <p:cNvPr id="103" name="Shape 12">
            <a:extLst>
              <a:ext uri="{FF2B5EF4-FFF2-40B4-BE49-F238E27FC236}">
                <a16:creationId xmlns:a16="http://schemas.microsoft.com/office/drawing/2014/main" id="{1CD6D0D2-3D6D-EDF7-D701-5159ECB3629A}"/>
              </a:ext>
            </a:extLst>
          </p:cNvPr>
          <p:cNvSpPr/>
          <p:nvPr/>
        </p:nvSpPr>
        <p:spPr>
          <a:xfrm>
            <a:off x="1976587" y="6369729"/>
            <a:ext cx="82358" cy="488271"/>
          </a:xfrm>
          <a:prstGeom prst="roundRect">
            <a:avLst>
              <a:gd name="adj" fmla="val 22205"/>
            </a:avLst>
          </a:prstGeom>
          <a:solidFill>
            <a:srgbClr val="0E8A8F">
              <a:alpha val="55000"/>
            </a:srgbClr>
          </a:solidFill>
          <a:ln/>
        </p:spPr>
        <p:txBody>
          <a:bodyPr/>
          <a:lstStyle/>
          <a:p>
            <a:endParaRPr lang="en-US"/>
          </a:p>
        </p:txBody>
      </p:sp>
      <p:sp>
        <p:nvSpPr>
          <p:cNvPr id="104" name="Shape 13">
            <a:extLst>
              <a:ext uri="{FF2B5EF4-FFF2-40B4-BE49-F238E27FC236}">
                <a16:creationId xmlns:a16="http://schemas.microsoft.com/office/drawing/2014/main" id="{C143416F-F9DF-82B4-F30A-39271B2BA3F6}"/>
              </a:ext>
            </a:extLst>
          </p:cNvPr>
          <p:cNvSpPr/>
          <p:nvPr/>
        </p:nvSpPr>
        <p:spPr>
          <a:xfrm>
            <a:off x="2141302" y="6254787"/>
            <a:ext cx="82358" cy="603213"/>
          </a:xfrm>
          <a:prstGeom prst="roundRect">
            <a:avLst>
              <a:gd name="adj" fmla="val 22205"/>
            </a:avLst>
          </a:prstGeom>
          <a:solidFill>
            <a:srgbClr val="0E8A8F">
              <a:alpha val="55000"/>
            </a:srgbClr>
          </a:solidFill>
          <a:ln/>
        </p:spPr>
        <p:txBody>
          <a:bodyPr/>
          <a:lstStyle/>
          <a:p>
            <a:endParaRPr lang="en-US"/>
          </a:p>
        </p:txBody>
      </p:sp>
      <p:sp>
        <p:nvSpPr>
          <p:cNvPr id="105" name="Shape 14">
            <a:extLst>
              <a:ext uri="{FF2B5EF4-FFF2-40B4-BE49-F238E27FC236}">
                <a16:creationId xmlns:a16="http://schemas.microsoft.com/office/drawing/2014/main" id="{C2EDE6F9-B4BD-D2A2-D671-8B6BD3D28F7D}"/>
              </a:ext>
            </a:extLst>
          </p:cNvPr>
          <p:cNvSpPr/>
          <p:nvPr/>
        </p:nvSpPr>
        <p:spPr>
          <a:xfrm>
            <a:off x="2306018" y="6190279"/>
            <a:ext cx="82358" cy="667721"/>
          </a:xfrm>
          <a:prstGeom prst="roundRect">
            <a:avLst>
              <a:gd name="adj" fmla="val 22205"/>
            </a:avLst>
          </a:prstGeom>
          <a:solidFill>
            <a:srgbClr val="0E8A8F">
              <a:alpha val="55000"/>
            </a:srgbClr>
          </a:solidFill>
          <a:ln/>
        </p:spPr>
        <p:txBody>
          <a:bodyPr/>
          <a:lstStyle/>
          <a:p>
            <a:endParaRPr lang="en-US"/>
          </a:p>
        </p:txBody>
      </p:sp>
      <p:sp>
        <p:nvSpPr>
          <p:cNvPr id="106" name="Shape 15">
            <a:extLst>
              <a:ext uri="{FF2B5EF4-FFF2-40B4-BE49-F238E27FC236}">
                <a16:creationId xmlns:a16="http://schemas.microsoft.com/office/drawing/2014/main" id="{F6110140-73B5-8C37-22DB-AF128E5599C4}"/>
              </a:ext>
            </a:extLst>
          </p:cNvPr>
          <p:cNvSpPr/>
          <p:nvPr/>
        </p:nvSpPr>
        <p:spPr>
          <a:xfrm>
            <a:off x="2470734" y="6398871"/>
            <a:ext cx="82358" cy="459129"/>
          </a:xfrm>
          <a:prstGeom prst="roundRect">
            <a:avLst>
              <a:gd name="adj" fmla="val 22205"/>
            </a:avLst>
          </a:prstGeom>
          <a:solidFill>
            <a:srgbClr val="0E8A8F">
              <a:alpha val="55000"/>
            </a:srgbClr>
          </a:solidFill>
          <a:ln/>
        </p:spPr>
        <p:txBody>
          <a:bodyPr/>
          <a:lstStyle/>
          <a:p>
            <a:endParaRPr lang="en-US"/>
          </a:p>
        </p:txBody>
      </p:sp>
      <p:sp>
        <p:nvSpPr>
          <p:cNvPr id="107" name="Shape 16">
            <a:extLst>
              <a:ext uri="{FF2B5EF4-FFF2-40B4-BE49-F238E27FC236}">
                <a16:creationId xmlns:a16="http://schemas.microsoft.com/office/drawing/2014/main" id="{3A433862-D72E-CC9C-FD69-9AE4EFD41448}"/>
              </a:ext>
            </a:extLst>
          </p:cNvPr>
          <p:cNvSpPr/>
          <p:nvPr/>
        </p:nvSpPr>
        <p:spPr>
          <a:xfrm>
            <a:off x="2635449" y="6194969"/>
            <a:ext cx="82358" cy="663031"/>
          </a:xfrm>
          <a:prstGeom prst="roundRect">
            <a:avLst>
              <a:gd name="adj" fmla="val 22205"/>
            </a:avLst>
          </a:prstGeom>
          <a:solidFill>
            <a:srgbClr val="0E8A8F">
              <a:alpha val="55000"/>
            </a:srgbClr>
          </a:solidFill>
          <a:ln/>
        </p:spPr>
        <p:txBody>
          <a:bodyPr/>
          <a:lstStyle/>
          <a:p>
            <a:endParaRPr lang="en-US"/>
          </a:p>
        </p:txBody>
      </p:sp>
      <p:sp>
        <p:nvSpPr>
          <p:cNvPr id="108" name="Shape 17">
            <a:extLst>
              <a:ext uri="{FF2B5EF4-FFF2-40B4-BE49-F238E27FC236}">
                <a16:creationId xmlns:a16="http://schemas.microsoft.com/office/drawing/2014/main" id="{F38E5136-4319-231A-8B7D-BF86B07C0853}"/>
              </a:ext>
            </a:extLst>
          </p:cNvPr>
          <p:cNvSpPr/>
          <p:nvPr/>
        </p:nvSpPr>
        <p:spPr>
          <a:xfrm>
            <a:off x="2800165" y="6191536"/>
            <a:ext cx="82358" cy="666464"/>
          </a:xfrm>
          <a:prstGeom prst="roundRect">
            <a:avLst>
              <a:gd name="adj" fmla="val 22205"/>
            </a:avLst>
          </a:prstGeom>
          <a:solidFill>
            <a:srgbClr val="0E8A8F">
              <a:alpha val="55000"/>
            </a:srgbClr>
          </a:solidFill>
          <a:ln/>
        </p:spPr>
        <p:txBody>
          <a:bodyPr/>
          <a:lstStyle/>
          <a:p>
            <a:endParaRPr lang="en-US"/>
          </a:p>
        </p:txBody>
      </p:sp>
      <p:sp>
        <p:nvSpPr>
          <p:cNvPr id="109" name="Shape 18">
            <a:extLst>
              <a:ext uri="{FF2B5EF4-FFF2-40B4-BE49-F238E27FC236}">
                <a16:creationId xmlns:a16="http://schemas.microsoft.com/office/drawing/2014/main" id="{9C110331-8142-3261-17DB-18398D3CBE4B}"/>
              </a:ext>
            </a:extLst>
          </p:cNvPr>
          <p:cNvSpPr/>
          <p:nvPr/>
        </p:nvSpPr>
        <p:spPr>
          <a:xfrm>
            <a:off x="2964880" y="6299151"/>
            <a:ext cx="82358" cy="558849"/>
          </a:xfrm>
          <a:prstGeom prst="roundRect">
            <a:avLst>
              <a:gd name="adj" fmla="val 22205"/>
            </a:avLst>
          </a:prstGeom>
          <a:solidFill>
            <a:srgbClr val="0E8A8F">
              <a:alpha val="55000"/>
            </a:srgbClr>
          </a:solidFill>
          <a:ln/>
        </p:spPr>
        <p:txBody>
          <a:bodyPr/>
          <a:lstStyle/>
          <a:p>
            <a:endParaRPr lang="en-US"/>
          </a:p>
        </p:txBody>
      </p:sp>
      <p:sp>
        <p:nvSpPr>
          <p:cNvPr id="110" name="Shape 19">
            <a:extLst>
              <a:ext uri="{FF2B5EF4-FFF2-40B4-BE49-F238E27FC236}">
                <a16:creationId xmlns:a16="http://schemas.microsoft.com/office/drawing/2014/main" id="{E9C06A17-1EBA-E9AF-639C-8B22EDA532F4}"/>
              </a:ext>
            </a:extLst>
          </p:cNvPr>
          <p:cNvSpPr/>
          <p:nvPr/>
        </p:nvSpPr>
        <p:spPr>
          <a:xfrm>
            <a:off x="3129596" y="6521057"/>
            <a:ext cx="82358" cy="336943"/>
          </a:xfrm>
          <a:prstGeom prst="roundRect">
            <a:avLst>
              <a:gd name="adj" fmla="val 22205"/>
            </a:avLst>
          </a:prstGeom>
          <a:solidFill>
            <a:srgbClr val="0E8A8F">
              <a:alpha val="55000"/>
            </a:srgbClr>
          </a:solidFill>
          <a:ln/>
        </p:spPr>
        <p:txBody>
          <a:bodyPr/>
          <a:lstStyle/>
          <a:p>
            <a:endParaRPr lang="en-US"/>
          </a:p>
        </p:txBody>
      </p:sp>
      <p:sp>
        <p:nvSpPr>
          <p:cNvPr id="111" name="Shape 20">
            <a:extLst>
              <a:ext uri="{FF2B5EF4-FFF2-40B4-BE49-F238E27FC236}">
                <a16:creationId xmlns:a16="http://schemas.microsoft.com/office/drawing/2014/main" id="{02438AB3-564A-E794-CDEA-0C265BF261A3}"/>
              </a:ext>
            </a:extLst>
          </p:cNvPr>
          <p:cNvSpPr/>
          <p:nvPr/>
        </p:nvSpPr>
        <p:spPr>
          <a:xfrm>
            <a:off x="3294311" y="6234868"/>
            <a:ext cx="82358" cy="623132"/>
          </a:xfrm>
          <a:prstGeom prst="roundRect">
            <a:avLst>
              <a:gd name="adj" fmla="val 22205"/>
            </a:avLst>
          </a:prstGeom>
          <a:solidFill>
            <a:srgbClr val="0E8A8F">
              <a:alpha val="55000"/>
            </a:srgbClr>
          </a:solidFill>
          <a:ln/>
        </p:spPr>
        <p:txBody>
          <a:bodyPr/>
          <a:lstStyle/>
          <a:p>
            <a:endParaRPr lang="en-US"/>
          </a:p>
        </p:txBody>
      </p:sp>
      <p:sp>
        <p:nvSpPr>
          <p:cNvPr id="112" name="Shape 21">
            <a:extLst>
              <a:ext uri="{FF2B5EF4-FFF2-40B4-BE49-F238E27FC236}">
                <a16:creationId xmlns:a16="http://schemas.microsoft.com/office/drawing/2014/main" id="{85E320BF-2F3B-F4A6-4AB0-A178FB99FAE6}"/>
              </a:ext>
            </a:extLst>
          </p:cNvPr>
          <p:cNvSpPr/>
          <p:nvPr/>
        </p:nvSpPr>
        <p:spPr>
          <a:xfrm>
            <a:off x="3459027" y="6633631"/>
            <a:ext cx="82358" cy="224369"/>
          </a:xfrm>
          <a:prstGeom prst="roundRect">
            <a:avLst>
              <a:gd name="adj" fmla="val 22205"/>
            </a:avLst>
          </a:prstGeom>
          <a:solidFill>
            <a:srgbClr val="0E8A8F">
              <a:alpha val="55000"/>
            </a:srgbClr>
          </a:solidFill>
          <a:ln/>
        </p:spPr>
        <p:txBody>
          <a:bodyPr/>
          <a:lstStyle/>
          <a:p>
            <a:endParaRPr lang="en-US"/>
          </a:p>
        </p:txBody>
      </p:sp>
      <p:sp>
        <p:nvSpPr>
          <p:cNvPr id="113" name="Shape 22">
            <a:extLst>
              <a:ext uri="{FF2B5EF4-FFF2-40B4-BE49-F238E27FC236}">
                <a16:creationId xmlns:a16="http://schemas.microsoft.com/office/drawing/2014/main" id="{0F8B97C7-0E5D-938E-F172-BA2EF71C3507}"/>
              </a:ext>
            </a:extLst>
          </p:cNvPr>
          <p:cNvSpPr/>
          <p:nvPr/>
        </p:nvSpPr>
        <p:spPr>
          <a:xfrm>
            <a:off x="3623742" y="6603609"/>
            <a:ext cx="82358" cy="254391"/>
          </a:xfrm>
          <a:prstGeom prst="roundRect">
            <a:avLst>
              <a:gd name="adj" fmla="val 22205"/>
            </a:avLst>
          </a:prstGeom>
          <a:solidFill>
            <a:srgbClr val="0E8A8F">
              <a:alpha val="55000"/>
            </a:srgbClr>
          </a:solidFill>
          <a:ln/>
        </p:spPr>
        <p:txBody>
          <a:bodyPr/>
          <a:lstStyle/>
          <a:p>
            <a:endParaRPr lang="en-US"/>
          </a:p>
        </p:txBody>
      </p:sp>
      <p:sp>
        <p:nvSpPr>
          <p:cNvPr id="114" name="Shape 23">
            <a:extLst>
              <a:ext uri="{FF2B5EF4-FFF2-40B4-BE49-F238E27FC236}">
                <a16:creationId xmlns:a16="http://schemas.microsoft.com/office/drawing/2014/main" id="{2E530965-E484-0A34-A6C2-1DD623ED4B36}"/>
              </a:ext>
            </a:extLst>
          </p:cNvPr>
          <p:cNvSpPr/>
          <p:nvPr/>
        </p:nvSpPr>
        <p:spPr>
          <a:xfrm>
            <a:off x="3788458" y="6476465"/>
            <a:ext cx="82358" cy="381535"/>
          </a:xfrm>
          <a:prstGeom prst="roundRect">
            <a:avLst>
              <a:gd name="adj" fmla="val 22205"/>
            </a:avLst>
          </a:prstGeom>
          <a:solidFill>
            <a:srgbClr val="0E8A8F">
              <a:alpha val="55000"/>
            </a:srgbClr>
          </a:solidFill>
          <a:ln/>
        </p:spPr>
        <p:txBody>
          <a:bodyPr/>
          <a:lstStyle/>
          <a:p>
            <a:endParaRPr lang="en-US"/>
          </a:p>
        </p:txBody>
      </p:sp>
      <p:sp>
        <p:nvSpPr>
          <p:cNvPr id="115" name="Shape 24">
            <a:extLst>
              <a:ext uri="{FF2B5EF4-FFF2-40B4-BE49-F238E27FC236}">
                <a16:creationId xmlns:a16="http://schemas.microsoft.com/office/drawing/2014/main" id="{D9B048A0-9318-A3F4-EBDB-3D25D1C9541E}"/>
              </a:ext>
            </a:extLst>
          </p:cNvPr>
          <p:cNvSpPr/>
          <p:nvPr/>
        </p:nvSpPr>
        <p:spPr>
          <a:xfrm>
            <a:off x="3953174" y="5959859"/>
            <a:ext cx="82358" cy="898141"/>
          </a:xfrm>
          <a:prstGeom prst="roundRect">
            <a:avLst>
              <a:gd name="adj" fmla="val 22205"/>
            </a:avLst>
          </a:prstGeom>
          <a:solidFill>
            <a:srgbClr val="0E8A8F">
              <a:alpha val="55000"/>
            </a:srgbClr>
          </a:solidFill>
          <a:ln/>
        </p:spPr>
        <p:txBody>
          <a:bodyPr/>
          <a:lstStyle/>
          <a:p>
            <a:endParaRPr lang="en-US"/>
          </a:p>
        </p:txBody>
      </p:sp>
      <p:sp>
        <p:nvSpPr>
          <p:cNvPr id="116" name="Shape 25">
            <a:extLst>
              <a:ext uri="{FF2B5EF4-FFF2-40B4-BE49-F238E27FC236}">
                <a16:creationId xmlns:a16="http://schemas.microsoft.com/office/drawing/2014/main" id="{DF9422DC-9E5D-D8F5-7BFC-D160629B999A}"/>
              </a:ext>
            </a:extLst>
          </p:cNvPr>
          <p:cNvSpPr/>
          <p:nvPr/>
        </p:nvSpPr>
        <p:spPr>
          <a:xfrm>
            <a:off x="4117889" y="6473912"/>
            <a:ext cx="82358" cy="384088"/>
          </a:xfrm>
          <a:prstGeom prst="roundRect">
            <a:avLst>
              <a:gd name="adj" fmla="val 22205"/>
            </a:avLst>
          </a:prstGeom>
          <a:solidFill>
            <a:srgbClr val="0E8A8F">
              <a:alpha val="55000"/>
            </a:srgbClr>
          </a:solidFill>
          <a:ln/>
        </p:spPr>
        <p:txBody>
          <a:bodyPr/>
          <a:lstStyle/>
          <a:p>
            <a:endParaRPr lang="en-US"/>
          </a:p>
        </p:txBody>
      </p:sp>
      <p:sp>
        <p:nvSpPr>
          <p:cNvPr id="117" name="Shape 26">
            <a:extLst>
              <a:ext uri="{FF2B5EF4-FFF2-40B4-BE49-F238E27FC236}">
                <a16:creationId xmlns:a16="http://schemas.microsoft.com/office/drawing/2014/main" id="{537C0D58-CA5E-B900-4C8D-A4FFEABA2700}"/>
              </a:ext>
            </a:extLst>
          </p:cNvPr>
          <p:cNvSpPr/>
          <p:nvPr/>
        </p:nvSpPr>
        <p:spPr>
          <a:xfrm>
            <a:off x="4282605" y="6214956"/>
            <a:ext cx="82358" cy="643044"/>
          </a:xfrm>
          <a:prstGeom prst="roundRect">
            <a:avLst>
              <a:gd name="adj" fmla="val 22205"/>
            </a:avLst>
          </a:prstGeom>
          <a:solidFill>
            <a:srgbClr val="0E8A8F">
              <a:alpha val="55000"/>
            </a:srgbClr>
          </a:solidFill>
          <a:ln/>
        </p:spPr>
        <p:txBody>
          <a:bodyPr/>
          <a:lstStyle/>
          <a:p>
            <a:endParaRPr lang="en-US"/>
          </a:p>
        </p:txBody>
      </p:sp>
      <p:sp>
        <p:nvSpPr>
          <p:cNvPr id="118" name="Shape 27">
            <a:extLst>
              <a:ext uri="{FF2B5EF4-FFF2-40B4-BE49-F238E27FC236}">
                <a16:creationId xmlns:a16="http://schemas.microsoft.com/office/drawing/2014/main" id="{73C6C9B6-0718-270B-1CE6-AA32B32726E4}"/>
              </a:ext>
            </a:extLst>
          </p:cNvPr>
          <p:cNvSpPr/>
          <p:nvPr/>
        </p:nvSpPr>
        <p:spPr>
          <a:xfrm>
            <a:off x="4447320" y="6411165"/>
            <a:ext cx="82358" cy="446835"/>
          </a:xfrm>
          <a:prstGeom prst="roundRect">
            <a:avLst>
              <a:gd name="adj" fmla="val 22205"/>
            </a:avLst>
          </a:prstGeom>
          <a:solidFill>
            <a:srgbClr val="0E8A8F">
              <a:alpha val="55000"/>
            </a:srgbClr>
          </a:solidFill>
          <a:ln/>
        </p:spPr>
        <p:txBody>
          <a:bodyPr/>
          <a:lstStyle/>
          <a:p>
            <a:endParaRPr lang="en-US"/>
          </a:p>
        </p:txBody>
      </p:sp>
      <p:sp>
        <p:nvSpPr>
          <p:cNvPr id="119" name="Shape 28">
            <a:extLst>
              <a:ext uri="{FF2B5EF4-FFF2-40B4-BE49-F238E27FC236}">
                <a16:creationId xmlns:a16="http://schemas.microsoft.com/office/drawing/2014/main" id="{EC96B9EA-59FA-EF23-6F90-E193541C9455}"/>
              </a:ext>
            </a:extLst>
          </p:cNvPr>
          <p:cNvSpPr/>
          <p:nvPr/>
        </p:nvSpPr>
        <p:spPr>
          <a:xfrm>
            <a:off x="4612036" y="6145609"/>
            <a:ext cx="82358" cy="712391"/>
          </a:xfrm>
          <a:prstGeom prst="roundRect">
            <a:avLst>
              <a:gd name="adj" fmla="val 22205"/>
            </a:avLst>
          </a:prstGeom>
          <a:solidFill>
            <a:srgbClr val="0E8A8F">
              <a:alpha val="55000"/>
            </a:srgbClr>
          </a:solidFill>
          <a:ln/>
        </p:spPr>
        <p:txBody>
          <a:bodyPr/>
          <a:lstStyle/>
          <a:p>
            <a:endParaRPr lang="en-US"/>
          </a:p>
        </p:txBody>
      </p:sp>
      <p:sp>
        <p:nvSpPr>
          <p:cNvPr id="120" name="Shape 29">
            <a:extLst>
              <a:ext uri="{FF2B5EF4-FFF2-40B4-BE49-F238E27FC236}">
                <a16:creationId xmlns:a16="http://schemas.microsoft.com/office/drawing/2014/main" id="{E3827136-59FF-4EEA-46D1-22460F876E17}"/>
              </a:ext>
            </a:extLst>
          </p:cNvPr>
          <p:cNvSpPr/>
          <p:nvPr/>
        </p:nvSpPr>
        <p:spPr>
          <a:xfrm>
            <a:off x="4776751" y="6270013"/>
            <a:ext cx="82358" cy="587987"/>
          </a:xfrm>
          <a:prstGeom prst="roundRect">
            <a:avLst>
              <a:gd name="adj" fmla="val 22205"/>
            </a:avLst>
          </a:prstGeom>
          <a:solidFill>
            <a:srgbClr val="0E8A8F">
              <a:alpha val="55000"/>
            </a:srgbClr>
          </a:solidFill>
          <a:ln/>
        </p:spPr>
        <p:txBody>
          <a:bodyPr/>
          <a:lstStyle/>
          <a:p>
            <a:endParaRPr lang="en-US"/>
          </a:p>
        </p:txBody>
      </p:sp>
      <p:sp>
        <p:nvSpPr>
          <p:cNvPr id="121" name="Shape 30">
            <a:extLst>
              <a:ext uri="{FF2B5EF4-FFF2-40B4-BE49-F238E27FC236}">
                <a16:creationId xmlns:a16="http://schemas.microsoft.com/office/drawing/2014/main" id="{021B56CD-302A-5F52-FAE6-2E74F08313CB}"/>
              </a:ext>
            </a:extLst>
          </p:cNvPr>
          <p:cNvSpPr/>
          <p:nvPr/>
        </p:nvSpPr>
        <p:spPr>
          <a:xfrm>
            <a:off x="4941467" y="5961496"/>
            <a:ext cx="82358" cy="896504"/>
          </a:xfrm>
          <a:prstGeom prst="roundRect">
            <a:avLst>
              <a:gd name="adj" fmla="val 22205"/>
            </a:avLst>
          </a:prstGeom>
          <a:solidFill>
            <a:srgbClr val="0E8A8F">
              <a:alpha val="55000"/>
            </a:srgbClr>
          </a:solidFill>
          <a:ln/>
        </p:spPr>
        <p:txBody>
          <a:bodyPr/>
          <a:lstStyle/>
          <a:p>
            <a:endParaRPr lang="en-US"/>
          </a:p>
        </p:txBody>
      </p:sp>
      <p:sp>
        <p:nvSpPr>
          <p:cNvPr id="122" name="Shape 31">
            <a:extLst>
              <a:ext uri="{FF2B5EF4-FFF2-40B4-BE49-F238E27FC236}">
                <a16:creationId xmlns:a16="http://schemas.microsoft.com/office/drawing/2014/main" id="{E1ABE813-2B13-898E-CA49-617CA9A39AD0}"/>
              </a:ext>
            </a:extLst>
          </p:cNvPr>
          <p:cNvSpPr/>
          <p:nvPr/>
        </p:nvSpPr>
        <p:spPr>
          <a:xfrm>
            <a:off x="5106183" y="5893820"/>
            <a:ext cx="82358" cy="964180"/>
          </a:xfrm>
          <a:prstGeom prst="roundRect">
            <a:avLst>
              <a:gd name="adj" fmla="val 22205"/>
            </a:avLst>
          </a:prstGeom>
          <a:solidFill>
            <a:srgbClr val="0E8A8F">
              <a:alpha val="55000"/>
            </a:srgbClr>
          </a:solidFill>
          <a:ln/>
        </p:spPr>
        <p:txBody>
          <a:bodyPr/>
          <a:lstStyle/>
          <a:p>
            <a:endParaRPr lang="en-US"/>
          </a:p>
        </p:txBody>
      </p:sp>
      <p:sp>
        <p:nvSpPr>
          <p:cNvPr id="123" name="Shape 32">
            <a:extLst>
              <a:ext uri="{FF2B5EF4-FFF2-40B4-BE49-F238E27FC236}">
                <a16:creationId xmlns:a16="http://schemas.microsoft.com/office/drawing/2014/main" id="{C5616AE1-93A3-75A4-CA6E-863A5809CDCC}"/>
              </a:ext>
            </a:extLst>
          </p:cNvPr>
          <p:cNvSpPr/>
          <p:nvPr/>
        </p:nvSpPr>
        <p:spPr>
          <a:xfrm>
            <a:off x="5270898" y="6068719"/>
            <a:ext cx="82358" cy="789281"/>
          </a:xfrm>
          <a:prstGeom prst="roundRect">
            <a:avLst>
              <a:gd name="adj" fmla="val 22205"/>
            </a:avLst>
          </a:prstGeom>
          <a:solidFill>
            <a:srgbClr val="0E8A8F">
              <a:alpha val="55000"/>
            </a:srgbClr>
          </a:solidFill>
          <a:ln/>
        </p:spPr>
        <p:txBody>
          <a:bodyPr/>
          <a:lstStyle/>
          <a:p>
            <a:endParaRPr lang="en-US"/>
          </a:p>
        </p:txBody>
      </p:sp>
      <p:sp>
        <p:nvSpPr>
          <p:cNvPr id="124" name="Shape 33">
            <a:extLst>
              <a:ext uri="{FF2B5EF4-FFF2-40B4-BE49-F238E27FC236}">
                <a16:creationId xmlns:a16="http://schemas.microsoft.com/office/drawing/2014/main" id="{D591530E-A1D6-7FFB-13AB-28B61E3857EB}"/>
              </a:ext>
            </a:extLst>
          </p:cNvPr>
          <p:cNvSpPr/>
          <p:nvPr/>
        </p:nvSpPr>
        <p:spPr>
          <a:xfrm>
            <a:off x="5435614" y="6080035"/>
            <a:ext cx="82358" cy="777965"/>
          </a:xfrm>
          <a:prstGeom prst="roundRect">
            <a:avLst>
              <a:gd name="adj" fmla="val 22205"/>
            </a:avLst>
          </a:prstGeom>
          <a:solidFill>
            <a:srgbClr val="0E8A8F">
              <a:alpha val="55000"/>
            </a:srgbClr>
          </a:solidFill>
          <a:ln/>
        </p:spPr>
        <p:txBody>
          <a:bodyPr/>
          <a:lstStyle/>
          <a:p>
            <a:endParaRPr lang="en-US"/>
          </a:p>
        </p:txBody>
      </p:sp>
      <p:sp>
        <p:nvSpPr>
          <p:cNvPr id="125" name="Shape 34">
            <a:extLst>
              <a:ext uri="{FF2B5EF4-FFF2-40B4-BE49-F238E27FC236}">
                <a16:creationId xmlns:a16="http://schemas.microsoft.com/office/drawing/2014/main" id="{073D368D-3725-CC9E-B49E-A93C3F170DA3}"/>
              </a:ext>
            </a:extLst>
          </p:cNvPr>
          <p:cNvSpPr/>
          <p:nvPr/>
        </p:nvSpPr>
        <p:spPr>
          <a:xfrm>
            <a:off x="5600329" y="6417481"/>
            <a:ext cx="82358" cy="440519"/>
          </a:xfrm>
          <a:prstGeom prst="roundRect">
            <a:avLst>
              <a:gd name="adj" fmla="val 22205"/>
            </a:avLst>
          </a:prstGeom>
          <a:solidFill>
            <a:srgbClr val="0E8A8F">
              <a:alpha val="55000"/>
            </a:srgbClr>
          </a:solidFill>
          <a:ln/>
        </p:spPr>
        <p:txBody>
          <a:bodyPr/>
          <a:lstStyle/>
          <a:p>
            <a:endParaRPr lang="en-US"/>
          </a:p>
        </p:txBody>
      </p:sp>
      <p:sp>
        <p:nvSpPr>
          <p:cNvPr id="126" name="Shape 35">
            <a:extLst>
              <a:ext uri="{FF2B5EF4-FFF2-40B4-BE49-F238E27FC236}">
                <a16:creationId xmlns:a16="http://schemas.microsoft.com/office/drawing/2014/main" id="{04C8FA04-AECA-D8C3-776E-25A06CC8CD06}"/>
              </a:ext>
            </a:extLst>
          </p:cNvPr>
          <p:cNvSpPr/>
          <p:nvPr/>
        </p:nvSpPr>
        <p:spPr>
          <a:xfrm>
            <a:off x="5765045" y="6282344"/>
            <a:ext cx="82358" cy="575656"/>
          </a:xfrm>
          <a:prstGeom prst="roundRect">
            <a:avLst>
              <a:gd name="adj" fmla="val 22205"/>
            </a:avLst>
          </a:prstGeom>
          <a:solidFill>
            <a:srgbClr val="0E8A8F">
              <a:alpha val="55000"/>
            </a:srgbClr>
          </a:solidFill>
          <a:ln/>
        </p:spPr>
        <p:txBody>
          <a:bodyPr/>
          <a:lstStyle/>
          <a:p>
            <a:endParaRPr lang="en-US"/>
          </a:p>
        </p:txBody>
      </p:sp>
      <p:sp>
        <p:nvSpPr>
          <p:cNvPr id="127" name="Shape 36">
            <a:extLst>
              <a:ext uri="{FF2B5EF4-FFF2-40B4-BE49-F238E27FC236}">
                <a16:creationId xmlns:a16="http://schemas.microsoft.com/office/drawing/2014/main" id="{C4C72302-A96C-AF7E-5603-665EAFF3F8B9}"/>
              </a:ext>
            </a:extLst>
          </p:cNvPr>
          <p:cNvSpPr/>
          <p:nvPr/>
        </p:nvSpPr>
        <p:spPr>
          <a:xfrm>
            <a:off x="5929760" y="5938785"/>
            <a:ext cx="82358" cy="919215"/>
          </a:xfrm>
          <a:prstGeom prst="roundRect">
            <a:avLst>
              <a:gd name="adj" fmla="val 22205"/>
            </a:avLst>
          </a:prstGeom>
          <a:solidFill>
            <a:srgbClr val="0E8A8F">
              <a:alpha val="55000"/>
            </a:srgbClr>
          </a:solidFill>
          <a:ln/>
        </p:spPr>
        <p:txBody>
          <a:bodyPr/>
          <a:lstStyle/>
          <a:p>
            <a:endParaRPr lang="en-US"/>
          </a:p>
        </p:txBody>
      </p:sp>
      <p:sp>
        <p:nvSpPr>
          <p:cNvPr id="128" name="Shape 37">
            <a:extLst>
              <a:ext uri="{FF2B5EF4-FFF2-40B4-BE49-F238E27FC236}">
                <a16:creationId xmlns:a16="http://schemas.microsoft.com/office/drawing/2014/main" id="{14AFCB63-7B9C-8496-D4B6-863187549089}"/>
              </a:ext>
            </a:extLst>
          </p:cNvPr>
          <p:cNvSpPr/>
          <p:nvPr/>
        </p:nvSpPr>
        <p:spPr>
          <a:xfrm>
            <a:off x="6094476" y="6204265"/>
            <a:ext cx="82358" cy="653735"/>
          </a:xfrm>
          <a:prstGeom prst="roundRect">
            <a:avLst>
              <a:gd name="adj" fmla="val 22205"/>
            </a:avLst>
          </a:prstGeom>
          <a:solidFill>
            <a:srgbClr val="0E8A8F">
              <a:alpha val="55000"/>
            </a:srgbClr>
          </a:solidFill>
          <a:ln/>
        </p:spPr>
        <p:txBody>
          <a:bodyPr/>
          <a:lstStyle/>
          <a:p>
            <a:endParaRPr lang="en-US"/>
          </a:p>
        </p:txBody>
      </p:sp>
      <p:sp>
        <p:nvSpPr>
          <p:cNvPr id="129" name="Shape 38">
            <a:extLst>
              <a:ext uri="{FF2B5EF4-FFF2-40B4-BE49-F238E27FC236}">
                <a16:creationId xmlns:a16="http://schemas.microsoft.com/office/drawing/2014/main" id="{75A02437-3426-143B-B50A-81653586CBA7}"/>
              </a:ext>
            </a:extLst>
          </p:cNvPr>
          <p:cNvSpPr/>
          <p:nvPr/>
        </p:nvSpPr>
        <p:spPr>
          <a:xfrm>
            <a:off x="6259192" y="6383510"/>
            <a:ext cx="82358" cy="474490"/>
          </a:xfrm>
          <a:prstGeom prst="roundRect">
            <a:avLst>
              <a:gd name="adj" fmla="val 22205"/>
            </a:avLst>
          </a:prstGeom>
          <a:solidFill>
            <a:srgbClr val="0E8A8F">
              <a:alpha val="55000"/>
            </a:srgbClr>
          </a:solidFill>
          <a:ln/>
        </p:spPr>
        <p:txBody>
          <a:bodyPr/>
          <a:lstStyle/>
          <a:p>
            <a:endParaRPr lang="en-US"/>
          </a:p>
        </p:txBody>
      </p:sp>
      <p:sp>
        <p:nvSpPr>
          <p:cNvPr id="130" name="Shape 39">
            <a:extLst>
              <a:ext uri="{FF2B5EF4-FFF2-40B4-BE49-F238E27FC236}">
                <a16:creationId xmlns:a16="http://schemas.microsoft.com/office/drawing/2014/main" id="{81A1B741-2888-0686-C032-7F18F4F30E91}"/>
              </a:ext>
            </a:extLst>
          </p:cNvPr>
          <p:cNvSpPr/>
          <p:nvPr/>
        </p:nvSpPr>
        <p:spPr>
          <a:xfrm>
            <a:off x="6423907" y="6245246"/>
            <a:ext cx="82358" cy="612754"/>
          </a:xfrm>
          <a:prstGeom prst="roundRect">
            <a:avLst>
              <a:gd name="adj" fmla="val 22205"/>
            </a:avLst>
          </a:prstGeom>
          <a:solidFill>
            <a:srgbClr val="0E8A8F">
              <a:alpha val="55000"/>
            </a:srgbClr>
          </a:solidFill>
          <a:ln/>
        </p:spPr>
        <p:txBody>
          <a:bodyPr/>
          <a:lstStyle/>
          <a:p>
            <a:endParaRPr lang="en-US"/>
          </a:p>
        </p:txBody>
      </p:sp>
      <p:sp>
        <p:nvSpPr>
          <p:cNvPr id="131" name="Shape 40">
            <a:extLst>
              <a:ext uri="{FF2B5EF4-FFF2-40B4-BE49-F238E27FC236}">
                <a16:creationId xmlns:a16="http://schemas.microsoft.com/office/drawing/2014/main" id="{C617C194-FB2D-84AB-DFFB-06859D043E05}"/>
              </a:ext>
            </a:extLst>
          </p:cNvPr>
          <p:cNvSpPr/>
          <p:nvPr/>
        </p:nvSpPr>
        <p:spPr>
          <a:xfrm>
            <a:off x="6588623" y="5895930"/>
            <a:ext cx="82358" cy="962070"/>
          </a:xfrm>
          <a:prstGeom prst="roundRect">
            <a:avLst>
              <a:gd name="adj" fmla="val 22205"/>
            </a:avLst>
          </a:prstGeom>
          <a:solidFill>
            <a:srgbClr val="0E8A8F">
              <a:alpha val="55000"/>
            </a:srgbClr>
          </a:solidFill>
          <a:ln/>
        </p:spPr>
        <p:txBody>
          <a:bodyPr/>
          <a:lstStyle/>
          <a:p>
            <a:endParaRPr lang="en-US"/>
          </a:p>
        </p:txBody>
      </p:sp>
      <p:sp>
        <p:nvSpPr>
          <p:cNvPr id="132" name="Shape 41">
            <a:extLst>
              <a:ext uri="{FF2B5EF4-FFF2-40B4-BE49-F238E27FC236}">
                <a16:creationId xmlns:a16="http://schemas.microsoft.com/office/drawing/2014/main" id="{FCAD25A0-920A-7BCF-EF69-8E0B74EB240D}"/>
              </a:ext>
            </a:extLst>
          </p:cNvPr>
          <p:cNvSpPr/>
          <p:nvPr/>
        </p:nvSpPr>
        <p:spPr>
          <a:xfrm>
            <a:off x="6753338" y="5942142"/>
            <a:ext cx="82358" cy="915858"/>
          </a:xfrm>
          <a:prstGeom prst="roundRect">
            <a:avLst>
              <a:gd name="adj" fmla="val 22205"/>
            </a:avLst>
          </a:prstGeom>
          <a:solidFill>
            <a:srgbClr val="0E8A8F">
              <a:alpha val="55000"/>
            </a:srgbClr>
          </a:solidFill>
          <a:ln/>
        </p:spPr>
        <p:txBody>
          <a:bodyPr/>
          <a:lstStyle/>
          <a:p>
            <a:endParaRPr lang="en-US"/>
          </a:p>
        </p:txBody>
      </p:sp>
      <p:sp>
        <p:nvSpPr>
          <p:cNvPr id="133" name="Shape 42">
            <a:extLst>
              <a:ext uri="{FF2B5EF4-FFF2-40B4-BE49-F238E27FC236}">
                <a16:creationId xmlns:a16="http://schemas.microsoft.com/office/drawing/2014/main" id="{30E9E705-A824-13FB-E85F-F83A216AC0A0}"/>
              </a:ext>
            </a:extLst>
          </p:cNvPr>
          <p:cNvSpPr/>
          <p:nvPr/>
        </p:nvSpPr>
        <p:spPr>
          <a:xfrm>
            <a:off x="6918054" y="5890425"/>
            <a:ext cx="82358" cy="967575"/>
          </a:xfrm>
          <a:prstGeom prst="roundRect">
            <a:avLst>
              <a:gd name="adj" fmla="val 22205"/>
            </a:avLst>
          </a:prstGeom>
          <a:solidFill>
            <a:srgbClr val="0E8A8F">
              <a:alpha val="55000"/>
            </a:srgbClr>
          </a:solidFill>
          <a:ln/>
        </p:spPr>
        <p:txBody>
          <a:bodyPr/>
          <a:lstStyle/>
          <a:p>
            <a:endParaRPr lang="en-US"/>
          </a:p>
        </p:txBody>
      </p:sp>
      <p:sp>
        <p:nvSpPr>
          <p:cNvPr id="134" name="Shape 43">
            <a:extLst>
              <a:ext uri="{FF2B5EF4-FFF2-40B4-BE49-F238E27FC236}">
                <a16:creationId xmlns:a16="http://schemas.microsoft.com/office/drawing/2014/main" id="{AAEA44B7-B249-6A43-7D35-32667B0AC989}"/>
              </a:ext>
            </a:extLst>
          </p:cNvPr>
          <p:cNvSpPr/>
          <p:nvPr/>
        </p:nvSpPr>
        <p:spPr>
          <a:xfrm>
            <a:off x="7082769" y="6017827"/>
            <a:ext cx="82358" cy="840173"/>
          </a:xfrm>
          <a:prstGeom prst="roundRect">
            <a:avLst>
              <a:gd name="adj" fmla="val 22205"/>
            </a:avLst>
          </a:prstGeom>
          <a:solidFill>
            <a:srgbClr val="0E8A8F">
              <a:alpha val="55000"/>
            </a:srgbClr>
          </a:solidFill>
          <a:ln/>
        </p:spPr>
        <p:txBody>
          <a:bodyPr/>
          <a:lstStyle/>
          <a:p>
            <a:endParaRPr lang="en-US"/>
          </a:p>
        </p:txBody>
      </p:sp>
      <p:sp>
        <p:nvSpPr>
          <p:cNvPr id="135" name="Shape 44">
            <a:extLst>
              <a:ext uri="{FF2B5EF4-FFF2-40B4-BE49-F238E27FC236}">
                <a16:creationId xmlns:a16="http://schemas.microsoft.com/office/drawing/2014/main" id="{6B24B7BB-4978-A593-E5D2-0E7B127E016B}"/>
              </a:ext>
            </a:extLst>
          </p:cNvPr>
          <p:cNvSpPr/>
          <p:nvPr/>
        </p:nvSpPr>
        <p:spPr>
          <a:xfrm>
            <a:off x="7247485" y="6047457"/>
            <a:ext cx="82358" cy="810543"/>
          </a:xfrm>
          <a:prstGeom prst="roundRect">
            <a:avLst>
              <a:gd name="adj" fmla="val 22205"/>
            </a:avLst>
          </a:prstGeom>
          <a:solidFill>
            <a:srgbClr val="0E8A8F">
              <a:alpha val="55000"/>
            </a:srgbClr>
          </a:solidFill>
          <a:ln/>
        </p:spPr>
        <p:txBody>
          <a:bodyPr/>
          <a:lstStyle/>
          <a:p>
            <a:endParaRPr lang="en-US"/>
          </a:p>
        </p:txBody>
      </p:sp>
      <p:sp>
        <p:nvSpPr>
          <p:cNvPr id="136" name="Shape 45">
            <a:extLst>
              <a:ext uri="{FF2B5EF4-FFF2-40B4-BE49-F238E27FC236}">
                <a16:creationId xmlns:a16="http://schemas.microsoft.com/office/drawing/2014/main" id="{DAE8FD54-8EE9-2B90-08F6-530FA2A1EF2A}"/>
              </a:ext>
            </a:extLst>
          </p:cNvPr>
          <p:cNvSpPr/>
          <p:nvPr/>
        </p:nvSpPr>
        <p:spPr>
          <a:xfrm>
            <a:off x="7412201" y="5946554"/>
            <a:ext cx="82358" cy="911446"/>
          </a:xfrm>
          <a:prstGeom prst="roundRect">
            <a:avLst>
              <a:gd name="adj" fmla="val 22205"/>
            </a:avLst>
          </a:prstGeom>
          <a:solidFill>
            <a:srgbClr val="0E8A8F">
              <a:alpha val="55000"/>
            </a:srgbClr>
          </a:solidFill>
          <a:ln/>
        </p:spPr>
        <p:txBody>
          <a:bodyPr/>
          <a:lstStyle/>
          <a:p>
            <a:endParaRPr lang="en-US"/>
          </a:p>
        </p:txBody>
      </p:sp>
      <p:sp>
        <p:nvSpPr>
          <p:cNvPr id="137" name="Shape 46">
            <a:extLst>
              <a:ext uri="{FF2B5EF4-FFF2-40B4-BE49-F238E27FC236}">
                <a16:creationId xmlns:a16="http://schemas.microsoft.com/office/drawing/2014/main" id="{AC6AEB31-91ED-4C64-F440-6FB433E4CDB5}"/>
              </a:ext>
            </a:extLst>
          </p:cNvPr>
          <p:cNvSpPr/>
          <p:nvPr/>
        </p:nvSpPr>
        <p:spPr>
          <a:xfrm>
            <a:off x="7576916" y="6452048"/>
            <a:ext cx="82358" cy="405952"/>
          </a:xfrm>
          <a:prstGeom prst="roundRect">
            <a:avLst>
              <a:gd name="adj" fmla="val 22205"/>
            </a:avLst>
          </a:prstGeom>
          <a:solidFill>
            <a:srgbClr val="0E8A8F">
              <a:alpha val="55000"/>
            </a:srgbClr>
          </a:solidFill>
          <a:ln/>
        </p:spPr>
        <p:txBody>
          <a:bodyPr/>
          <a:lstStyle/>
          <a:p>
            <a:endParaRPr lang="en-US"/>
          </a:p>
        </p:txBody>
      </p:sp>
      <p:sp>
        <p:nvSpPr>
          <p:cNvPr id="138" name="Shape 47">
            <a:extLst>
              <a:ext uri="{FF2B5EF4-FFF2-40B4-BE49-F238E27FC236}">
                <a16:creationId xmlns:a16="http://schemas.microsoft.com/office/drawing/2014/main" id="{9E7F804E-4E2E-F422-595B-194731D4CBF9}"/>
              </a:ext>
            </a:extLst>
          </p:cNvPr>
          <p:cNvSpPr/>
          <p:nvPr/>
        </p:nvSpPr>
        <p:spPr>
          <a:xfrm>
            <a:off x="7741632" y="6069826"/>
            <a:ext cx="82358" cy="788174"/>
          </a:xfrm>
          <a:prstGeom prst="roundRect">
            <a:avLst>
              <a:gd name="adj" fmla="val 22205"/>
            </a:avLst>
          </a:prstGeom>
          <a:solidFill>
            <a:srgbClr val="0E8A8F">
              <a:alpha val="55000"/>
            </a:srgbClr>
          </a:solidFill>
          <a:ln/>
        </p:spPr>
        <p:txBody>
          <a:bodyPr/>
          <a:lstStyle/>
          <a:p>
            <a:endParaRPr lang="en-US"/>
          </a:p>
        </p:txBody>
      </p:sp>
      <p:sp>
        <p:nvSpPr>
          <p:cNvPr id="139" name="Shape 48">
            <a:extLst>
              <a:ext uri="{FF2B5EF4-FFF2-40B4-BE49-F238E27FC236}">
                <a16:creationId xmlns:a16="http://schemas.microsoft.com/office/drawing/2014/main" id="{6717439F-D2B3-2790-ACA7-5F077BD4BE88}"/>
              </a:ext>
            </a:extLst>
          </p:cNvPr>
          <p:cNvSpPr/>
          <p:nvPr/>
        </p:nvSpPr>
        <p:spPr>
          <a:xfrm>
            <a:off x="7906347" y="6535085"/>
            <a:ext cx="82358" cy="322915"/>
          </a:xfrm>
          <a:prstGeom prst="roundRect">
            <a:avLst>
              <a:gd name="adj" fmla="val 22205"/>
            </a:avLst>
          </a:prstGeom>
          <a:solidFill>
            <a:srgbClr val="0E8A8F">
              <a:alpha val="55000"/>
            </a:srgbClr>
          </a:solidFill>
          <a:ln/>
        </p:spPr>
        <p:txBody>
          <a:bodyPr/>
          <a:lstStyle/>
          <a:p>
            <a:endParaRPr lang="en-US"/>
          </a:p>
        </p:txBody>
      </p:sp>
      <p:sp>
        <p:nvSpPr>
          <p:cNvPr id="140" name="Shape 49">
            <a:extLst>
              <a:ext uri="{FF2B5EF4-FFF2-40B4-BE49-F238E27FC236}">
                <a16:creationId xmlns:a16="http://schemas.microsoft.com/office/drawing/2014/main" id="{DF33CFEB-14FC-1276-6F6E-34215A90E304}"/>
              </a:ext>
            </a:extLst>
          </p:cNvPr>
          <p:cNvSpPr/>
          <p:nvPr/>
        </p:nvSpPr>
        <p:spPr>
          <a:xfrm>
            <a:off x="8071063" y="6096602"/>
            <a:ext cx="82358" cy="761398"/>
          </a:xfrm>
          <a:prstGeom prst="roundRect">
            <a:avLst>
              <a:gd name="adj" fmla="val 22205"/>
            </a:avLst>
          </a:prstGeom>
          <a:solidFill>
            <a:srgbClr val="0E8A8F">
              <a:alpha val="55000"/>
            </a:srgbClr>
          </a:solidFill>
          <a:ln/>
        </p:spPr>
        <p:txBody>
          <a:bodyPr/>
          <a:lstStyle/>
          <a:p>
            <a:endParaRPr lang="en-US"/>
          </a:p>
        </p:txBody>
      </p:sp>
      <p:sp>
        <p:nvSpPr>
          <p:cNvPr id="141" name="Shape 50">
            <a:extLst>
              <a:ext uri="{FF2B5EF4-FFF2-40B4-BE49-F238E27FC236}">
                <a16:creationId xmlns:a16="http://schemas.microsoft.com/office/drawing/2014/main" id="{FFAF39F5-BBB3-C062-078D-27E25E806062}"/>
              </a:ext>
            </a:extLst>
          </p:cNvPr>
          <p:cNvSpPr/>
          <p:nvPr/>
        </p:nvSpPr>
        <p:spPr>
          <a:xfrm>
            <a:off x="8235778" y="6438354"/>
            <a:ext cx="82358" cy="419646"/>
          </a:xfrm>
          <a:prstGeom prst="roundRect">
            <a:avLst>
              <a:gd name="adj" fmla="val 22205"/>
            </a:avLst>
          </a:prstGeom>
          <a:solidFill>
            <a:srgbClr val="0E8A8F">
              <a:alpha val="55000"/>
            </a:srgbClr>
          </a:solidFill>
          <a:ln/>
        </p:spPr>
        <p:txBody>
          <a:bodyPr/>
          <a:lstStyle/>
          <a:p>
            <a:endParaRPr lang="en-US"/>
          </a:p>
        </p:txBody>
      </p:sp>
      <p:sp>
        <p:nvSpPr>
          <p:cNvPr id="142" name="Shape 51">
            <a:extLst>
              <a:ext uri="{FF2B5EF4-FFF2-40B4-BE49-F238E27FC236}">
                <a16:creationId xmlns:a16="http://schemas.microsoft.com/office/drawing/2014/main" id="{645225FF-B345-0911-8918-87DAC2EE41D0}"/>
              </a:ext>
            </a:extLst>
          </p:cNvPr>
          <p:cNvSpPr/>
          <p:nvPr/>
        </p:nvSpPr>
        <p:spPr>
          <a:xfrm>
            <a:off x="8400494" y="6275464"/>
            <a:ext cx="82358" cy="582536"/>
          </a:xfrm>
          <a:prstGeom prst="roundRect">
            <a:avLst>
              <a:gd name="adj" fmla="val 22205"/>
            </a:avLst>
          </a:prstGeom>
          <a:solidFill>
            <a:srgbClr val="0E8A8F">
              <a:alpha val="55000"/>
            </a:srgbClr>
          </a:solidFill>
          <a:ln/>
        </p:spPr>
        <p:txBody>
          <a:bodyPr/>
          <a:lstStyle/>
          <a:p>
            <a:endParaRPr lang="en-US"/>
          </a:p>
        </p:txBody>
      </p:sp>
      <p:sp>
        <p:nvSpPr>
          <p:cNvPr id="143" name="Shape 52">
            <a:extLst>
              <a:ext uri="{FF2B5EF4-FFF2-40B4-BE49-F238E27FC236}">
                <a16:creationId xmlns:a16="http://schemas.microsoft.com/office/drawing/2014/main" id="{18DAFF21-3DAB-B663-7D4C-972306245DB9}"/>
              </a:ext>
            </a:extLst>
          </p:cNvPr>
          <p:cNvSpPr/>
          <p:nvPr/>
        </p:nvSpPr>
        <p:spPr>
          <a:xfrm>
            <a:off x="8565210" y="6461698"/>
            <a:ext cx="82358" cy="396302"/>
          </a:xfrm>
          <a:prstGeom prst="roundRect">
            <a:avLst>
              <a:gd name="adj" fmla="val 22205"/>
            </a:avLst>
          </a:prstGeom>
          <a:solidFill>
            <a:srgbClr val="0E8A8F">
              <a:alpha val="55000"/>
            </a:srgbClr>
          </a:solidFill>
          <a:ln/>
        </p:spPr>
        <p:txBody>
          <a:bodyPr/>
          <a:lstStyle/>
          <a:p>
            <a:endParaRPr lang="en-US"/>
          </a:p>
        </p:txBody>
      </p:sp>
      <p:sp>
        <p:nvSpPr>
          <p:cNvPr id="144" name="Shape 53">
            <a:extLst>
              <a:ext uri="{FF2B5EF4-FFF2-40B4-BE49-F238E27FC236}">
                <a16:creationId xmlns:a16="http://schemas.microsoft.com/office/drawing/2014/main" id="{3D6CEA45-AE19-198A-119D-871A279CD3B7}"/>
              </a:ext>
            </a:extLst>
          </p:cNvPr>
          <p:cNvSpPr/>
          <p:nvPr/>
        </p:nvSpPr>
        <p:spPr>
          <a:xfrm>
            <a:off x="8729925" y="6158191"/>
            <a:ext cx="82358" cy="699809"/>
          </a:xfrm>
          <a:prstGeom prst="roundRect">
            <a:avLst>
              <a:gd name="adj" fmla="val 22205"/>
            </a:avLst>
          </a:prstGeom>
          <a:solidFill>
            <a:srgbClr val="0E8A8F">
              <a:alpha val="55000"/>
            </a:srgbClr>
          </a:solidFill>
          <a:ln/>
        </p:spPr>
        <p:txBody>
          <a:bodyPr/>
          <a:lstStyle/>
          <a:p>
            <a:endParaRPr lang="en-US"/>
          </a:p>
        </p:txBody>
      </p:sp>
      <p:sp>
        <p:nvSpPr>
          <p:cNvPr id="145" name="Shape 54">
            <a:extLst>
              <a:ext uri="{FF2B5EF4-FFF2-40B4-BE49-F238E27FC236}">
                <a16:creationId xmlns:a16="http://schemas.microsoft.com/office/drawing/2014/main" id="{0A6C0FF5-5D1E-6E50-2B30-E20B618EE612}"/>
              </a:ext>
            </a:extLst>
          </p:cNvPr>
          <p:cNvSpPr/>
          <p:nvPr/>
        </p:nvSpPr>
        <p:spPr>
          <a:xfrm>
            <a:off x="8894641" y="6634749"/>
            <a:ext cx="82358" cy="223251"/>
          </a:xfrm>
          <a:prstGeom prst="roundRect">
            <a:avLst>
              <a:gd name="adj" fmla="val 22205"/>
            </a:avLst>
          </a:prstGeom>
          <a:solidFill>
            <a:srgbClr val="0E8A8F">
              <a:alpha val="55000"/>
            </a:srgbClr>
          </a:solidFill>
          <a:ln/>
        </p:spPr>
        <p:txBody>
          <a:bodyPr/>
          <a:lstStyle/>
          <a:p>
            <a:endParaRPr lang="en-US"/>
          </a:p>
        </p:txBody>
      </p:sp>
      <p:sp>
        <p:nvSpPr>
          <p:cNvPr id="146" name="Shape 55">
            <a:extLst>
              <a:ext uri="{FF2B5EF4-FFF2-40B4-BE49-F238E27FC236}">
                <a16:creationId xmlns:a16="http://schemas.microsoft.com/office/drawing/2014/main" id="{D93331EB-DA14-264C-6BCF-AC118AB2C643}"/>
              </a:ext>
            </a:extLst>
          </p:cNvPr>
          <p:cNvSpPr/>
          <p:nvPr/>
        </p:nvSpPr>
        <p:spPr>
          <a:xfrm>
            <a:off x="9059356" y="6567601"/>
            <a:ext cx="82358" cy="290399"/>
          </a:xfrm>
          <a:prstGeom prst="roundRect">
            <a:avLst>
              <a:gd name="adj" fmla="val 22205"/>
            </a:avLst>
          </a:prstGeom>
          <a:solidFill>
            <a:srgbClr val="0E8A8F">
              <a:alpha val="55000"/>
            </a:srgbClr>
          </a:solidFill>
          <a:ln/>
        </p:spPr>
        <p:txBody>
          <a:bodyPr/>
          <a:lstStyle/>
          <a:p>
            <a:endParaRPr lang="en-US"/>
          </a:p>
        </p:txBody>
      </p:sp>
      <p:sp>
        <p:nvSpPr>
          <p:cNvPr id="147" name="Shape 56">
            <a:extLst>
              <a:ext uri="{FF2B5EF4-FFF2-40B4-BE49-F238E27FC236}">
                <a16:creationId xmlns:a16="http://schemas.microsoft.com/office/drawing/2014/main" id="{D797CF93-A6EC-44DF-BF14-CA7AD5B65587}"/>
              </a:ext>
            </a:extLst>
          </p:cNvPr>
          <p:cNvSpPr/>
          <p:nvPr/>
        </p:nvSpPr>
        <p:spPr>
          <a:xfrm>
            <a:off x="9224072" y="6345723"/>
            <a:ext cx="82358" cy="512277"/>
          </a:xfrm>
          <a:prstGeom prst="roundRect">
            <a:avLst>
              <a:gd name="adj" fmla="val 22205"/>
            </a:avLst>
          </a:prstGeom>
          <a:solidFill>
            <a:srgbClr val="0E8A8F">
              <a:alpha val="55000"/>
            </a:srgbClr>
          </a:solidFill>
          <a:ln/>
        </p:spPr>
        <p:txBody>
          <a:bodyPr/>
          <a:lstStyle/>
          <a:p>
            <a:endParaRPr lang="en-US"/>
          </a:p>
        </p:txBody>
      </p:sp>
      <p:sp>
        <p:nvSpPr>
          <p:cNvPr id="148" name="Shape 57">
            <a:extLst>
              <a:ext uri="{FF2B5EF4-FFF2-40B4-BE49-F238E27FC236}">
                <a16:creationId xmlns:a16="http://schemas.microsoft.com/office/drawing/2014/main" id="{B016ECE2-D01C-7FCC-B0B8-E4E8C445C82E}"/>
              </a:ext>
            </a:extLst>
          </p:cNvPr>
          <p:cNvSpPr/>
          <p:nvPr/>
        </p:nvSpPr>
        <p:spPr>
          <a:xfrm>
            <a:off x="9388787" y="6587690"/>
            <a:ext cx="82358" cy="270310"/>
          </a:xfrm>
          <a:prstGeom prst="roundRect">
            <a:avLst>
              <a:gd name="adj" fmla="val 22205"/>
            </a:avLst>
          </a:prstGeom>
          <a:solidFill>
            <a:srgbClr val="0E8A8F">
              <a:alpha val="55000"/>
            </a:srgbClr>
          </a:solidFill>
          <a:ln/>
        </p:spPr>
        <p:txBody>
          <a:bodyPr/>
          <a:lstStyle/>
          <a:p>
            <a:endParaRPr lang="en-US"/>
          </a:p>
        </p:txBody>
      </p:sp>
      <p:sp>
        <p:nvSpPr>
          <p:cNvPr id="149" name="Shape 58">
            <a:extLst>
              <a:ext uri="{FF2B5EF4-FFF2-40B4-BE49-F238E27FC236}">
                <a16:creationId xmlns:a16="http://schemas.microsoft.com/office/drawing/2014/main" id="{14C7E667-53D7-B078-131A-DF1F6B15FA42}"/>
              </a:ext>
            </a:extLst>
          </p:cNvPr>
          <p:cNvSpPr/>
          <p:nvPr/>
        </p:nvSpPr>
        <p:spPr>
          <a:xfrm>
            <a:off x="9553503" y="6110237"/>
            <a:ext cx="82358" cy="747763"/>
          </a:xfrm>
          <a:prstGeom prst="roundRect">
            <a:avLst>
              <a:gd name="adj" fmla="val 22205"/>
            </a:avLst>
          </a:prstGeom>
          <a:solidFill>
            <a:srgbClr val="0E8A8F">
              <a:alpha val="55000"/>
            </a:srgbClr>
          </a:solidFill>
          <a:ln/>
        </p:spPr>
        <p:txBody>
          <a:bodyPr/>
          <a:lstStyle/>
          <a:p>
            <a:endParaRPr lang="en-US"/>
          </a:p>
        </p:txBody>
      </p:sp>
      <p:sp>
        <p:nvSpPr>
          <p:cNvPr id="150" name="Shape 59">
            <a:extLst>
              <a:ext uri="{FF2B5EF4-FFF2-40B4-BE49-F238E27FC236}">
                <a16:creationId xmlns:a16="http://schemas.microsoft.com/office/drawing/2014/main" id="{1BA145B2-2C5C-4AD1-1987-685AF4FA61ED}"/>
              </a:ext>
            </a:extLst>
          </p:cNvPr>
          <p:cNvSpPr/>
          <p:nvPr/>
        </p:nvSpPr>
        <p:spPr>
          <a:xfrm>
            <a:off x="9718218" y="6172636"/>
            <a:ext cx="82358" cy="685364"/>
          </a:xfrm>
          <a:prstGeom prst="roundRect">
            <a:avLst>
              <a:gd name="adj" fmla="val 22205"/>
            </a:avLst>
          </a:prstGeom>
          <a:solidFill>
            <a:srgbClr val="0E8A8F">
              <a:alpha val="55000"/>
            </a:srgbClr>
          </a:solidFill>
          <a:ln/>
        </p:spPr>
        <p:txBody>
          <a:bodyPr/>
          <a:lstStyle/>
          <a:p>
            <a:endParaRPr lang="en-US"/>
          </a:p>
        </p:txBody>
      </p:sp>
      <p:sp>
        <p:nvSpPr>
          <p:cNvPr id="151" name="Shape 60">
            <a:extLst>
              <a:ext uri="{FF2B5EF4-FFF2-40B4-BE49-F238E27FC236}">
                <a16:creationId xmlns:a16="http://schemas.microsoft.com/office/drawing/2014/main" id="{E8076703-F45C-5B70-1B3F-72D1A6AB324B}"/>
              </a:ext>
            </a:extLst>
          </p:cNvPr>
          <p:cNvSpPr/>
          <p:nvPr/>
        </p:nvSpPr>
        <p:spPr>
          <a:xfrm>
            <a:off x="9882934" y="6371938"/>
            <a:ext cx="82358" cy="486062"/>
          </a:xfrm>
          <a:prstGeom prst="roundRect">
            <a:avLst>
              <a:gd name="adj" fmla="val 22205"/>
            </a:avLst>
          </a:prstGeom>
          <a:solidFill>
            <a:srgbClr val="0E8A8F">
              <a:alpha val="55000"/>
            </a:srgbClr>
          </a:solidFill>
          <a:ln/>
        </p:spPr>
        <p:txBody>
          <a:bodyPr/>
          <a:lstStyle/>
          <a:p>
            <a:endParaRPr lang="en-US"/>
          </a:p>
        </p:txBody>
      </p:sp>
      <p:sp>
        <p:nvSpPr>
          <p:cNvPr id="152" name="Shape 61">
            <a:extLst>
              <a:ext uri="{FF2B5EF4-FFF2-40B4-BE49-F238E27FC236}">
                <a16:creationId xmlns:a16="http://schemas.microsoft.com/office/drawing/2014/main" id="{8D2A3F19-2353-0FB5-9705-27B8DFDF8E3D}"/>
              </a:ext>
            </a:extLst>
          </p:cNvPr>
          <p:cNvSpPr/>
          <p:nvPr/>
        </p:nvSpPr>
        <p:spPr>
          <a:xfrm>
            <a:off x="10047650" y="6305405"/>
            <a:ext cx="82358" cy="552595"/>
          </a:xfrm>
          <a:prstGeom prst="roundRect">
            <a:avLst>
              <a:gd name="adj" fmla="val 22205"/>
            </a:avLst>
          </a:prstGeom>
          <a:solidFill>
            <a:srgbClr val="0E8A8F">
              <a:alpha val="55000"/>
            </a:srgbClr>
          </a:solidFill>
          <a:ln/>
        </p:spPr>
        <p:txBody>
          <a:bodyPr/>
          <a:lstStyle/>
          <a:p>
            <a:endParaRPr lang="en-US"/>
          </a:p>
        </p:txBody>
      </p:sp>
      <p:sp>
        <p:nvSpPr>
          <p:cNvPr id="153" name="Shape 62">
            <a:extLst>
              <a:ext uri="{FF2B5EF4-FFF2-40B4-BE49-F238E27FC236}">
                <a16:creationId xmlns:a16="http://schemas.microsoft.com/office/drawing/2014/main" id="{CB4BF271-FEB7-0A8A-50B5-A26818BF1EB9}"/>
              </a:ext>
            </a:extLst>
          </p:cNvPr>
          <p:cNvSpPr/>
          <p:nvPr/>
        </p:nvSpPr>
        <p:spPr>
          <a:xfrm>
            <a:off x="10212365" y="6215360"/>
            <a:ext cx="82358" cy="642640"/>
          </a:xfrm>
          <a:prstGeom prst="roundRect">
            <a:avLst>
              <a:gd name="adj" fmla="val 22205"/>
            </a:avLst>
          </a:prstGeom>
          <a:solidFill>
            <a:srgbClr val="0E8A8F">
              <a:alpha val="55000"/>
            </a:srgbClr>
          </a:solidFill>
          <a:ln/>
        </p:spPr>
        <p:txBody>
          <a:bodyPr/>
          <a:lstStyle/>
          <a:p>
            <a:endParaRPr lang="en-US"/>
          </a:p>
        </p:txBody>
      </p:sp>
      <p:sp>
        <p:nvSpPr>
          <p:cNvPr id="154" name="Shape 63">
            <a:extLst>
              <a:ext uri="{FF2B5EF4-FFF2-40B4-BE49-F238E27FC236}">
                <a16:creationId xmlns:a16="http://schemas.microsoft.com/office/drawing/2014/main" id="{ECE2D025-0CF2-D5AD-F44C-612D0AAE175A}"/>
              </a:ext>
            </a:extLst>
          </p:cNvPr>
          <p:cNvSpPr/>
          <p:nvPr/>
        </p:nvSpPr>
        <p:spPr>
          <a:xfrm>
            <a:off x="10377081" y="6390413"/>
            <a:ext cx="82358" cy="467587"/>
          </a:xfrm>
          <a:prstGeom prst="roundRect">
            <a:avLst>
              <a:gd name="adj" fmla="val 22205"/>
            </a:avLst>
          </a:prstGeom>
          <a:solidFill>
            <a:srgbClr val="0E8A8F">
              <a:alpha val="55000"/>
            </a:srgbClr>
          </a:solidFill>
          <a:ln/>
        </p:spPr>
        <p:txBody>
          <a:bodyPr/>
          <a:lstStyle/>
          <a:p>
            <a:endParaRPr lang="en-US"/>
          </a:p>
        </p:txBody>
      </p:sp>
      <p:sp>
        <p:nvSpPr>
          <p:cNvPr id="155" name="Shape 64">
            <a:extLst>
              <a:ext uri="{FF2B5EF4-FFF2-40B4-BE49-F238E27FC236}">
                <a16:creationId xmlns:a16="http://schemas.microsoft.com/office/drawing/2014/main" id="{1D688F3C-816E-613F-72F8-89A64AA55770}"/>
              </a:ext>
            </a:extLst>
          </p:cNvPr>
          <p:cNvSpPr/>
          <p:nvPr/>
        </p:nvSpPr>
        <p:spPr>
          <a:xfrm>
            <a:off x="10541796" y="6622902"/>
            <a:ext cx="82358" cy="235098"/>
          </a:xfrm>
          <a:prstGeom prst="roundRect">
            <a:avLst>
              <a:gd name="adj" fmla="val 22205"/>
            </a:avLst>
          </a:prstGeom>
          <a:solidFill>
            <a:srgbClr val="0E8A8F">
              <a:alpha val="55000"/>
            </a:srgbClr>
          </a:solidFill>
          <a:ln/>
        </p:spPr>
        <p:txBody>
          <a:bodyPr/>
          <a:lstStyle/>
          <a:p>
            <a:endParaRPr lang="en-US"/>
          </a:p>
        </p:txBody>
      </p:sp>
      <p:sp>
        <p:nvSpPr>
          <p:cNvPr id="156" name="Shape 65">
            <a:extLst>
              <a:ext uri="{FF2B5EF4-FFF2-40B4-BE49-F238E27FC236}">
                <a16:creationId xmlns:a16="http://schemas.microsoft.com/office/drawing/2014/main" id="{892A9BF8-10EA-4EBD-5294-B41082301B6B}"/>
              </a:ext>
            </a:extLst>
          </p:cNvPr>
          <p:cNvSpPr/>
          <p:nvPr/>
        </p:nvSpPr>
        <p:spPr>
          <a:xfrm>
            <a:off x="10706512" y="6664738"/>
            <a:ext cx="82358" cy="193262"/>
          </a:xfrm>
          <a:prstGeom prst="roundRect">
            <a:avLst>
              <a:gd name="adj" fmla="val 22205"/>
            </a:avLst>
          </a:prstGeom>
          <a:solidFill>
            <a:srgbClr val="0E8A8F">
              <a:alpha val="55000"/>
            </a:srgbClr>
          </a:solidFill>
          <a:ln/>
        </p:spPr>
        <p:txBody>
          <a:bodyPr/>
          <a:lstStyle/>
          <a:p>
            <a:endParaRPr lang="en-US"/>
          </a:p>
        </p:txBody>
      </p:sp>
      <p:sp>
        <p:nvSpPr>
          <p:cNvPr id="157" name="Shape 66">
            <a:extLst>
              <a:ext uri="{FF2B5EF4-FFF2-40B4-BE49-F238E27FC236}">
                <a16:creationId xmlns:a16="http://schemas.microsoft.com/office/drawing/2014/main" id="{64FD7D69-2005-F96A-B067-E0636D440B0E}"/>
              </a:ext>
            </a:extLst>
          </p:cNvPr>
          <p:cNvSpPr/>
          <p:nvPr/>
        </p:nvSpPr>
        <p:spPr>
          <a:xfrm>
            <a:off x="10871227" y="6552832"/>
            <a:ext cx="82358" cy="305168"/>
          </a:xfrm>
          <a:prstGeom prst="roundRect">
            <a:avLst>
              <a:gd name="adj" fmla="val 22205"/>
            </a:avLst>
          </a:prstGeom>
          <a:solidFill>
            <a:srgbClr val="0E8A8F">
              <a:alpha val="55000"/>
            </a:srgbClr>
          </a:solidFill>
          <a:ln/>
        </p:spPr>
        <p:txBody>
          <a:bodyPr/>
          <a:lstStyle/>
          <a:p>
            <a:endParaRPr lang="en-US"/>
          </a:p>
        </p:txBody>
      </p:sp>
      <p:sp>
        <p:nvSpPr>
          <p:cNvPr id="158" name="Shape 67">
            <a:extLst>
              <a:ext uri="{FF2B5EF4-FFF2-40B4-BE49-F238E27FC236}">
                <a16:creationId xmlns:a16="http://schemas.microsoft.com/office/drawing/2014/main" id="{03002584-2C6F-9E2B-7B6A-583F7675ED15}"/>
              </a:ext>
            </a:extLst>
          </p:cNvPr>
          <p:cNvSpPr/>
          <p:nvPr/>
        </p:nvSpPr>
        <p:spPr>
          <a:xfrm>
            <a:off x="11035943" y="6412220"/>
            <a:ext cx="82358" cy="445780"/>
          </a:xfrm>
          <a:prstGeom prst="roundRect">
            <a:avLst>
              <a:gd name="adj" fmla="val 22205"/>
            </a:avLst>
          </a:prstGeom>
          <a:solidFill>
            <a:srgbClr val="0E8A8F">
              <a:alpha val="55000"/>
            </a:srgbClr>
          </a:solidFill>
          <a:ln/>
        </p:spPr>
        <p:txBody>
          <a:bodyPr/>
          <a:lstStyle/>
          <a:p>
            <a:endParaRPr lang="en-US"/>
          </a:p>
        </p:txBody>
      </p:sp>
      <p:sp>
        <p:nvSpPr>
          <p:cNvPr id="159" name="Shape 68">
            <a:extLst>
              <a:ext uri="{FF2B5EF4-FFF2-40B4-BE49-F238E27FC236}">
                <a16:creationId xmlns:a16="http://schemas.microsoft.com/office/drawing/2014/main" id="{3418FF1B-03B8-B496-E009-E7126BA9349D}"/>
              </a:ext>
            </a:extLst>
          </p:cNvPr>
          <p:cNvSpPr/>
          <p:nvPr/>
        </p:nvSpPr>
        <p:spPr>
          <a:xfrm>
            <a:off x="11200659" y="6749701"/>
            <a:ext cx="82358" cy="108299"/>
          </a:xfrm>
          <a:prstGeom prst="roundRect">
            <a:avLst>
              <a:gd name="adj" fmla="val 22205"/>
            </a:avLst>
          </a:prstGeom>
          <a:solidFill>
            <a:srgbClr val="0E8A8F">
              <a:alpha val="55000"/>
            </a:srgbClr>
          </a:solidFill>
          <a:ln/>
        </p:spPr>
        <p:txBody>
          <a:bodyPr/>
          <a:lstStyle/>
          <a:p>
            <a:endParaRPr lang="en-US"/>
          </a:p>
        </p:txBody>
      </p:sp>
      <p:sp>
        <p:nvSpPr>
          <p:cNvPr id="160" name="Shape 69">
            <a:extLst>
              <a:ext uri="{FF2B5EF4-FFF2-40B4-BE49-F238E27FC236}">
                <a16:creationId xmlns:a16="http://schemas.microsoft.com/office/drawing/2014/main" id="{1FC66D32-CEE3-91DE-9F63-110BEED15378}"/>
              </a:ext>
            </a:extLst>
          </p:cNvPr>
          <p:cNvSpPr/>
          <p:nvPr/>
        </p:nvSpPr>
        <p:spPr>
          <a:xfrm>
            <a:off x="11365374" y="6553304"/>
            <a:ext cx="82358" cy="304696"/>
          </a:xfrm>
          <a:prstGeom prst="roundRect">
            <a:avLst>
              <a:gd name="adj" fmla="val 22205"/>
            </a:avLst>
          </a:prstGeom>
          <a:solidFill>
            <a:srgbClr val="0E8A8F">
              <a:alpha val="55000"/>
            </a:srgbClr>
          </a:solidFill>
          <a:ln/>
        </p:spPr>
        <p:txBody>
          <a:bodyPr/>
          <a:lstStyle/>
          <a:p>
            <a:endParaRPr lang="en-US"/>
          </a:p>
        </p:txBody>
      </p:sp>
      <p:sp>
        <p:nvSpPr>
          <p:cNvPr id="161" name="Shape 70">
            <a:extLst>
              <a:ext uri="{FF2B5EF4-FFF2-40B4-BE49-F238E27FC236}">
                <a16:creationId xmlns:a16="http://schemas.microsoft.com/office/drawing/2014/main" id="{2DF0AA85-091A-9607-D9F2-70CE5568DE04}"/>
              </a:ext>
            </a:extLst>
          </p:cNvPr>
          <p:cNvSpPr/>
          <p:nvPr/>
        </p:nvSpPr>
        <p:spPr>
          <a:xfrm>
            <a:off x="11530090" y="6679385"/>
            <a:ext cx="82358" cy="178615"/>
          </a:xfrm>
          <a:prstGeom prst="roundRect">
            <a:avLst>
              <a:gd name="adj" fmla="val 22205"/>
            </a:avLst>
          </a:prstGeom>
          <a:solidFill>
            <a:srgbClr val="0E8A8F">
              <a:alpha val="55000"/>
            </a:srgbClr>
          </a:solidFill>
          <a:ln/>
        </p:spPr>
        <p:txBody>
          <a:bodyPr/>
          <a:lstStyle/>
          <a:p>
            <a:endParaRPr lang="en-US"/>
          </a:p>
        </p:txBody>
      </p:sp>
      <p:sp>
        <p:nvSpPr>
          <p:cNvPr id="162" name="Shape 71">
            <a:extLst>
              <a:ext uri="{FF2B5EF4-FFF2-40B4-BE49-F238E27FC236}">
                <a16:creationId xmlns:a16="http://schemas.microsoft.com/office/drawing/2014/main" id="{3D676648-AB70-CC8A-2422-B07E1A66DEE5}"/>
              </a:ext>
            </a:extLst>
          </p:cNvPr>
          <p:cNvSpPr/>
          <p:nvPr/>
        </p:nvSpPr>
        <p:spPr>
          <a:xfrm>
            <a:off x="11694805" y="6745111"/>
            <a:ext cx="82358" cy="112889"/>
          </a:xfrm>
          <a:prstGeom prst="roundRect">
            <a:avLst>
              <a:gd name="adj" fmla="val 22205"/>
            </a:avLst>
          </a:prstGeom>
          <a:solidFill>
            <a:srgbClr val="0E8A8F">
              <a:alpha val="55000"/>
            </a:srgbClr>
          </a:solidFill>
          <a:ln/>
        </p:spPr>
        <p:txBody>
          <a:bodyPr/>
          <a:lstStyle/>
          <a:p>
            <a:endParaRPr lang="en-US"/>
          </a:p>
        </p:txBody>
      </p:sp>
      <p:sp>
        <p:nvSpPr>
          <p:cNvPr id="163" name="Shape 72">
            <a:extLst>
              <a:ext uri="{FF2B5EF4-FFF2-40B4-BE49-F238E27FC236}">
                <a16:creationId xmlns:a16="http://schemas.microsoft.com/office/drawing/2014/main" id="{C576E1EE-72DE-3B9F-66A7-7259D07AD086}"/>
              </a:ext>
            </a:extLst>
          </p:cNvPr>
          <p:cNvSpPr/>
          <p:nvPr/>
        </p:nvSpPr>
        <p:spPr>
          <a:xfrm>
            <a:off x="11859521" y="6747813"/>
            <a:ext cx="82358" cy="110187"/>
          </a:xfrm>
          <a:prstGeom prst="roundRect">
            <a:avLst>
              <a:gd name="adj" fmla="val 22205"/>
            </a:avLst>
          </a:prstGeom>
          <a:solidFill>
            <a:srgbClr val="0E8A8F">
              <a:alpha val="55000"/>
            </a:srgbClr>
          </a:solidFill>
          <a:ln/>
        </p:spPr>
        <p:txBody>
          <a:bodyPr/>
          <a:lstStyle/>
          <a:p>
            <a:endParaRPr lang="en-US"/>
          </a:p>
        </p:txBody>
      </p:sp>
      <p:sp>
        <p:nvSpPr>
          <p:cNvPr id="164" name="Shape 73">
            <a:extLst>
              <a:ext uri="{FF2B5EF4-FFF2-40B4-BE49-F238E27FC236}">
                <a16:creationId xmlns:a16="http://schemas.microsoft.com/office/drawing/2014/main" id="{5474FD35-64E5-4894-0040-816B8BFAED5F}"/>
              </a:ext>
            </a:extLst>
          </p:cNvPr>
          <p:cNvSpPr/>
          <p:nvPr/>
        </p:nvSpPr>
        <p:spPr>
          <a:xfrm>
            <a:off x="12024236" y="6821424"/>
            <a:ext cx="82358" cy="36576"/>
          </a:xfrm>
          <a:prstGeom prst="roundRect">
            <a:avLst>
              <a:gd name="adj" fmla="val 50000"/>
            </a:avLst>
          </a:prstGeom>
          <a:solidFill>
            <a:srgbClr val="0E8A8F">
              <a:alpha val="55000"/>
            </a:srgbClr>
          </a:solidFill>
          <a:ln/>
        </p:spPr>
        <p:txBody>
          <a:bodyPr/>
          <a:lstStyle/>
          <a:p>
            <a:endParaRPr lang="en-US"/>
          </a:p>
        </p:txBody>
      </p:sp>
      <p:sp>
        <p:nvSpPr>
          <p:cNvPr id="165" name="Text 88">
            <a:extLst>
              <a:ext uri="{FF2B5EF4-FFF2-40B4-BE49-F238E27FC236}">
                <a16:creationId xmlns:a16="http://schemas.microsoft.com/office/drawing/2014/main" id="{A1287555-FAFB-AF2D-C07C-9BA05D3E2F21}"/>
              </a:ext>
            </a:extLst>
          </p:cNvPr>
          <p:cNvSpPr/>
          <p:nvPr/>
        </p:nvSpPr>
        <p:spPr>
          <a:xfrm>
            <a:off x="2436876" y="4606929"/>
            <a:ext cx="7315200" cy="320040"/>
          </a:xfrm>
          <a:prstGeom prst="rect">
            <a:avLst/>
          </a:prstGeom>
          <a:noFill/>
          <a:ln/>
        </p:spPr>
        <p:txBody>
          <a:bodyPr wrap="square" lIns="0" tIns="0" rIns="0" bIns="0" rtlCol="0" anchor="ctr"/>
          <a:lstStyle/>
          <a:p>
            <a:pPr marL="0" indent="0" algn="ctr">
              <a:buNone/>
            </a:pPr>
            <a:r>
              <a:rPr lang="en-US" dirty="0">
                <a:solidFill>
                  <a:srgbClr val="8FA3B8"/>
                </a:solidFill>
                <a:latin typeface="Calibri" pitchFamily="34" charset="0"/>
                <a:ea typeface="Calibri" pitchFamily="34" charset="-122"/>
                <a:cs typeface="Calibri" pitchFamily="34" charset="-120"/>
              </a:rPr>
              <a:t>Skylar Denno       </a:t>
            </a:r>
            <a:r>
              <a:rPr lang="en-US" dirty="0" err="1">
                <a:solidFill>
                  <a:srgbClr val="8FA3B8"/>
                </a:solidFill>
                <a:latin typeface="Calibri" pitchFamily="34" charset="0"/>
                <a:ea typeface="Calibri" pitchFamily="34" charset="-122"/>
                <a:cs typeface="Calibri" pitchFamily="34" charset="-120"/>
              </a:rPr>
              <a:t>github.com</a:t>
            </a:r>
            <a:r>
              <a:rPr lang="en-US" dirty="0">
                <a:solidFill>
                  <a:srgbClr val="8FA3B8"/>
                </a:solidFill>
                <a:latin typeface="Calibri" pitchFamily="34" charset="0"/>
                <a:ea typeface="Calibri" pitchFamily="34" charset="-122"/>
                <a:cs typeface="Calibri" pitchFamily="34" charset="-120"/>
              </a:rPr>
              <a:t>/skylar-slideshows/ML_denoise</a:t>
            </a:r>
            <a:endParaRPr lang="en-US" dirty="0"/>
          </a:p>
        </p:txBody>
      </p:sp>
      <p:sp>
        <p:nvSpPr>
          <p:cNvPr id="166" name="Text 75">
            <a:extLst>
              <a:ext uri="{FF2B5EF4-FFF2-40B4-BE49-F238E27FC236}">
                <a16:creationId xmlns:a16="http://schemas.microsoft.com/office/drawing/2014/main" id="{F6503CC3-220B-08E5-DD07-321EB8F7A568}"/>
              </a:ext>
            </a:extLst>
          </p:cNvPr>
          <p:cNvSpPr/>
          <p:nvPr/>
        </p:nvSpPr>
        <p:spPr>
          <a:xfrm>
            <a:off x="2805107" y="2457069"/>
            <a:ext cx="6583680" cy="1188720"/>
          </a:xfrm>
          <a:prstGeom prst="rect">
            <a:avLst/>
          </a:prstGeom>
          <a:noFill/>
          <a:ln/>
        </p:spPr>
        <p:txBody>
          <a:bodyPr wrap="square" lIns="0" tIns="0" rIns="0" bIns="0" rtlCol="0" anchor="ctr"/>
          <a:lstStyle/>
          <a:p>
            <a:pPr marL="0" indent="0" algn="ctr">
              <a:lnSpc>
                <a:spcPct val="110000"/>
              </a:lnSpc>
              <a:buNone/>
            </a:pPr>
            <a:r>
              <a:rPr lang="en-US" sz="2900" b="1" dirty="0">
                <a:solidFill>
                  <a:srgbClr val="FFFFFF"/>
                </a:solidFill>
                <a:latin typeface="Cambria" pitchFamily="34" charset="0"/>
                <a:ea typeface="Cambria" pitchFamily="34" charset="-122"/>
                <a:cs typeface="Cambria" pitchFamily="34" charset="-120"/>
              </a:rPr>
              <a:t>DEMO TIME!</a:t>
            </a:r>
            <a:endParaRPr lang="en-US" sz="2900" dirty="0"/>
          </a:p>
        </p:txBody>
      </p:sp>
    </p:spTree>
    <p:extLst>
      <p:ext uri="{BB962C8B-B14F-4D97-AF65-F5344CB8AC3E}">
        <p14:creationId xmlns:p14="http://schemas.microsoft.com/office/powerpoint/2010/main" val="18086045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TotalTime>
  <Words>2574</Words>
  <Application>Microsoft Macintosh PowerPoint</Application>
  <PresentationFormat>Widescreen</PresentationFormat>
  <Paragraphs>325</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Cambria</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 Noise Reduction Using LSTM Neural Networks</dc:title>
  <dc:subject>PptxGenJS Presentation</dc:subject>
  <dc:creator>Skylar Denno</dc:creator>
  <cp:lastModifiedBy>Skylar Denno</cp:lastModifiedBy>
  <cp:revision>19</cp:revision>
  <dcterms:created xsi:type="dcterms:W3CDTF">2026-08-03T03:43:11Z</dcterms:created>
  <dcterms:modified xsi:type="dcterms:W3CDTF">2026-08-05T15:24:24Z</dcterms:modified>
</cp:coreProperties>
</file>