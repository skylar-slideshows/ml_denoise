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73" r:id="rId4"/>
    <p:sldId id="260" r:id="rId5"/>
    <p:sldId id="258" r:id="rId6"/>
    <p:sldId id="259" r:id="rId7"/>
    <p:sldId id="262" r:id="rId8"/>
    <p:sldId id="263" r:id="rId9"/>
    <p:sldId id="264" r:id="rId10"/>
    <p:sldId id="265" r:id="rId11"/>
    <p:sldId id="266" r:id="rId12"/>
    <p:sldId id="267" r:id="rId13"/>
    <p:sldId id="268" r:id="rId14"/>
    <p:sldId id="269" r:id="rId15"/>
    <p:sldId id="270"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123" d="100"/>
          <a:sy n="123" d="100"/>
        </p:scale>
        <p:origin x="3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3A"/>
                </a:solidFill>
                <a:latin typeface="Calibri"/>
              </a:defRPr>
            </a:pPr>
            <a:r>
              <a:rPr lang="en-US" sz="1300" b="0" i="0" u="none" strike="noStrike">
                <a:solidFill>
                  <a:srgbClr val="12233A"/>
                </a:solidFill>
                <a:latin typeface="Calibri"/>
              </a:rPr>
              <a:t>Masked MSE loss  (×10⁻⁴)</a:t>
            </a:r>
          </a:p>
        </c:rich>
      </c:tx>
      <c:overlay val="0"/>
    </c:title>
    <c:autoTitleDeleted val="0"/>
    <c:plotArea>
      <c:layout/>
      <c:lineChart>
        <c:grouping val="standard"/>
        <c:varyColors val="0"/>
        <c:ser>
          <c:idx val="0"/>
          <c:order val="0"/>
          <c:tx>
            <c:strRef>
              <c:f>Sheet1!$B$1</c:f>
              <c:strCache>
                <c:ptCount val="1"/>
                <c:pt idx="0">
                  <c:v>Train</c:v>
                </c:pt>
              </c:strCache>
            </c:strRef>
          </c:tx>
          <c:spPr>
            <a:ln w="31750" cap="flat">
              <a:solidFill>
                <a:srgbClr val="12233A"/>
              </a:solidFill>
              <a:prstDash val="solid"/>
              <a:round/>
            </a:ln>
            <a:effectLst/>
          </c:spPr>
          <c:marker>
            <c:symbol val="circle"/>
            <c:size val="5"/>
            <c:spPr>
              <a:solidFill>
                <a:srgbClr val="12233A"/>
              </a:solidFill>
              <a:ln w="9525" cap="flat">
                <a:solidFill>
                  <a:srgbClr val="12233A"/>
                </a:solidFill>
                <a:prstDash val="solid"/>
                <a:round/>
              </a:ln>
              <a:effectLst/>
            </c:spPr>
          </c:marker>
          <c:cat>
            <c:strRef>
              <c:f>Sheet1!$A$2:$A$26</c:f>
              <c:strCach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strCache>
            </c:strRef>
          </c:cat>
          <c:val>
            <c:numRef>
              <c:f>Sheet1!$B$2:$B$26</c:f>
              <c:numCache>
                <c:formatCode>General</c:formatCode>
                <c:ptCount val="25"/>
                <c:pt idx="0">
                  <c:v>15.5</c:v>
                </c:pt>
                <c:pt idx="1">
                  <c:v>8.1999999999999993</c:v>
                </c:pt>
                <c:pt idx="2">
                  <c:v>7</c:v>
                </c:pt>
                <c:pt idx="3">
                  <c:v>6.2</c:v>
                </c:pt>
                <c:pt idx="4">
                  <c:v>5.5</c:v>
                </c:pt>
                <c:pt idx="5">
                  <c:v>5.2</c:v>
                </c:pt>
                <c:pt idx="6">
                  <c:v>4.9000000000000004</c:v>
                </c:pt>
                <c:pt idx="7">
                  <c:v>4.5999999999999996</c:v>
                </c:pt>
                <c:pt idx="8">
                  <c:v>4.3499999999999996</c:v>
                </c:pt>
                <c:pt idx="9">
                  <c:v>4.1500000000000004</c:v>
                </c:pt>
                <c:pt idx="10">
                  <c:v>4</c:v>
                </c:pt>
                <c:pt idx="11">
                  <c:v>3.85</c:v>
                </c:pt>
                <c:pt idx="12">
                  <c:v>3.7</c:v>
                </c:pt>
                <c:pt idx="13">
                  <c:v>3.6</c:v>
                </c:pt>
                <c:pt idx="14">
                  <c:v>3.5</c:v>
                </c:pt>
                <c:pt idx="15">
                  <c:v>3.42</c:v>
                </c:pt>
                <c:pt idx="16">
                  <c:v>3.35</c:v>
                </c:pt>
                <c:pt idx="17">
                  <c:v>3.25</c:v>
                </c:pt>
                <c:pt idx="18">
                  <c:v>3.15</c:v>
                </c:pt>
                <c:pt idx="19">
                  <c:v>3.08</c:v>
                </c:pt>
                <c:pt idx="20">
                  <c:v>3</c:v>
                </c:pt>
                <c:pt idx="21">
                  <c:v>2.95</c:v>
                </c:pt>
                <c:pt idx="22">
                  <c:v>2.9</c:v>
                </c:pt>
                <c:pt idx="23">
                  <c:v>2.85</c:v>
                </c:pt>
                <c:pt idx="24">
                  <c:v>2.8</c:v>
                </c:pt>
              </c:numCache>
            </c:numRef>
          </c:val>
          <c:smooth val="0"/>
          <c:extLst>
            <c:ext xmlns:c16="http://schemas.microsoft.com/office/drawing/2014/chart" uri="{C3380CC4-5D6E-409C-BE32-E72D297353CC}">
              <c16:uniqueId val="{00000000-9C0A-9947-BE41-0B9FD40632D8}"/>
            </c:ext>
          </c:extLst>
        </c:ser>
        <c:ser>
          <c:idx val="1"/>
          <c:order val="1"/>
          <c:tx>
            <c:strRef>
              <c:f>Sheet1!$C$1</c:f>
              <c:strCache>
                <c:ptCount val="1"/>
                <c:pt idx="0">
                  <c:v>Validation</c:v>
                </c:pt>
              </c:strCache>
            </c:strRef>
          </c:tx>
          <c:spPr>
            <a:ln w="31750" cap="flat">
              <a:solidFill>
                <a:srgbClr val="E08A3C"/>
              </a:solidFill>
              <a:prstDash val="solid"/>
              <a:round/>
            </a:ln>
            <a:effectLst/>
          </c:spPr>
          <c:marker>
            <c:symbol val="circle"/>
            <c:size val="5"/>
            <c:spPr>
              <a:solidFill>
                <a:srgbClr val="E08A3C"/>
              </a:solidFill>
              <a:ln w="9525" cap="flat">
                <a:solidFill>
                  <a:srgbClr val="E08A3C"/>
                </a:solidFill>
                <a:prstDash val="solid"/>
                <a:round/>
              </a:ln>
              <a:effectLst/>
            </c:spPr>
          </c:marker>
          <c:cat>
            <c:strRef>
              <c:f>Sheet1!$A$2:$A$26</c:f>
              <c:strCach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strCache>
            </c:strRef>
          </c:cat>
          <c:val>
            <c:numRef>
              <c:f>Sheet1!$C$2:$C$26</c:f>
              <c:numCache>
                <c:formatCode>General</c:formatCode>
                <c:ptCount val="25"/>
                <c:pt idx="0">
                  <c:v>7.5</c:v>
                </c:pt>
                <c:pt idx="1">
                  <c:v>6.2</c:v>
                </c:pt>
                <c:pt idx="2">
                  <c:v>6</c:v>
                </c:pt>
                <c:pt idx="3">
                  <c:v>5.4</c:v>
                </c:pt>
                <c:pt idx="4">
                  <c:v>4.9000000000000004</c:v>
                </c:pt>
                <c:pt idx="5">
                  <c:v>4.9000000000000004</c:v>
                </c:pt>
                <c:pt idx="6">
                  <c:v>4.5</c:v>
                </c:pt>
                <c:pt idx="7">
                  <c:v>4.3</c:v>
                </c:pt>
                <c:pt idx="8">
                  <c:v>4.0999999999999996</c:v>
                </c:pt>
                <c:pt idx="9">
                  <c:v>3.85</c:v>
                </c:pt>
                <c:pt idx="10">
                  <c:v>3.9</c:v>
                </c:pt>
                <c:pt idx="11">
                  <c:v>4.0999999999999996</c:v>
                </c:pt>
                <c:pt idx="12">
                  <c:v>3.65</c:v>
                </c:pt>
                <c:pt idx="13">
                  <c:v>3.55</c:v>
                </c:pt>
                <c:pt idx="14">
                  <c:v>3.5</c:v>
                </c:pt>
                <c:pt idx="15">
                  <c:v>3.4</c:v>
                </c:pt>
                <c:pt idx="16">
                  <c:v>3.35</c:v>
                </c:pt>
                <c:pt idx="17">
                  <c:v>3.3</c:v>
                </c:pt>
                <c:pt idx="18">
                  <c:v>3.2</c:v>
                </c:pt>
                <c:pt idx="19">
                  <c:v>3.15</c:v>
                </c:pt>
                <c:pt idx="20">
                  <c:v>3.1</c:v>
                </c:pt>
                <c:pt idx="21">
                  <c:v>3.05</c:v>
                </c:pt>
                <c:pt idx="22">
                  <c:v>3</c:v>
                </c:pt>
                <c:pt idx="23">
                  <c:v>2.97</c:v>
                </c:pt>
                <c:pt idx="24">
                  <c:v>2.98</c:v>
                </c:pt>
              </c:numCache>
            </c:numRef>
          </c:val>
          <c:smooth val="0"/>
          <c:extLst>
            <c:ext xmlns:c16="http://schemas.microsoft.com/office/drawing/2014/chart" uri="{C3380CC4-5D6E-409C-BE32-E72D297353CC}">
              <c16:uniqueId val="{00000001-9C0A-9947-BE41-0B9FD40632D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62707F"/>
                    </a:solidFill>
                    <a:latin typeface="Arial"/>
                  </a:defRPr>
                </a:pPr>
                <a:r>
                  <a:rPr lang="en-US" sz="1100" b="0" i="0" u="none" strike="noStrike">
                    <a:solidFill>
                      <a:srgbClr val="62707F"/>
                    </a:solidFill>
                    <a:latin typeface="Arial"/>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2707F"/>
                </a:solidFill>
                <a:latin typeface="Calibri"/>
              </a:defRPr>
            </a:pPr>
            <a:endParaRPr lang="en-US"/>
          </a:p>
        </c:txPr>
        <c:crossAx val="2094734552"/>
        <c:crosses val="autoZero"/>
        <c:auto val="1"/>
        <c:lblAlgn val="ctr"/>
        <c:lblOffset val="100"/>
        <c:noMultiLvlLbl val="1"/>
      </c:catAx>
      <c:valAx>
        <c:axId val="2094734552"/>
        <c:scaling>
          <c:orientation val="minMax"/>
          <c:max val="16"/>
          <c:min val="2"/>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0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2707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33A"/>
                </a:solidFill>
                <a:latin typeface="Calibri"/>
              </a:defRPr>
            </a:pPr>
            <a:r>
              <a:rPr lang="en-US" sz="1300" b="0" i="0" u="none" strike="noStrike">
                <a:solidFill>
                  <a:srgbClr val="12233A"/>
                </a:solidFill>
                <a:latin typeface="Calibri"/>
              </a:rPr>
              <a:t>R² and thresholded F1 by epoch</a:t>
            </a:r>
          </a:p>
        </c:rich>
      </c:tx>
      <c:overlay val="0"/>
    </c:title>
    <c:autoTitleDeleted val="0"/>
    <c:plotArea>
      <c:layout/>
      <c:lineChart>
        <c:grouping val="standard"/>
        <c:varyColors val="0"/>
        <c:ser>
          <c:idx val="0"/>
          <c:order val="0"/>
          <c:tx>
            <c:strRef>
              <c:f>Sheet1!$B$1</c:f>
              <c:strCache>
                <c:ptCount val="1"/>
                <c:pt idx="0">
                  <c:v>R² train</c:v>
                </c:pt>
              </c:strCache>
            </c:strRef>
          </c:tx>
          <c:spPr>
            <a:ln w="27940" cap="flat">
              <a:solidFill>
                <a:srgbClr val="12233A"/>
              </a:solidFill>
              <a:prstDash val="solid"/>
              <a:round/>
            </a:ln>
            <a:effectLst/>
          </c:spPr>
          <c:marker>
            <c:symbol val="none"/>
          </c:marker>
          <c:cat>
            <c:strRef>
              <c:f>Sheet1!$A$2:$A$26</c:f>
              <c:strCach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strCache>
            </c:strRef>
          </c:cat>
          <c:val>
            <c:numRef>
              <c:f>Sheet1!$B$2:$B$26</c:f>
              <c:numCache>
                <c:formatCode>General</c:formatCode>
                <c:ptCount val="25"/>
                <c:pt idx="0">
                  <c:v>0.86</c:v>
                </c:pt>
                <c:pt idx="1">
                  <c:v>0.91600000000000004</c:v>
                </c:pt>
                <c:pt idx="2">
                  <c:v>0.92800000000000005</c:v>
                </c:pt>
                <c:pt idx="3">
                  <c:v>0.93600000000000005</c:v>
                </c:pt>
                <c:pt idx="4">
                  <c:v>0.94699999999999995</c:v>
                </c:pt>
                <c:pt idx="5">
                  <c:v>0.95099999999999996</c:v>
                </c:pt>
                <c:pt idx="6">
                  <c:v>0.95399999999999996</c:v>
                </c:pt>
                <c:pt idx="7">
                  <c:v>0.95699999999999996</c:v>
                </c:pt>
                <c:pt idx="8">
                  <c:v>0.95899999999999996</c:v>
                </c:pt>
                <c:pt idx="9">
                  <c:v>0.96099999999999997</c:v>
                </c:pt>
                <c:pt idx="10">
                  <c:v>0.96199999999999997</c:v>
                </c:pt>
                <c:pt idx="11">
                  <c:v>0.96299999999999997</c:v>
                </c:pt>
                <c:pt idx="12">
                  <c:v>0.96399999999999997</c:v>
                </c:pt>
                <c:pt idx="13">
                  <c:v>0.96499999999999997</c:v>
                </c:pt>
                <c:pt idx="14">
                  <c:v>0.96599999999999997</c:v>
                </c:pt>
                <c:pt idx="15">
                  <c:v>0.96650000000000003</c:v>
                </c:pt>
                <c:pt idx="16">
                  <c:v>0.96699999999999997</c:v>
                </c:pt>
                <c:pt idx="17">
                  <c:v>0.96750000000000003</c:v>
                </c:pt>
                <c:pt idx="18">
                  <c:v>0.96799999999999997</c:v>
                </c:pt>
                <c:pt idx="19">
                  <c:v>0.96850000000000003</c:v>
                </c:pt>
                <c:pt idx="20">
                  <c:v>0.96899999999999997</c:v>
                </c:pt>
                <c:pt idx="21">
                  <c:v>0.96950000000000003</c:v>
                </c:pt>
                <c:pt idx="22">
                  <c:v>0.97</c:v>
                </c:pt>
                <c:pt idx="23">
                  <c:v>0.97050000000000003</c:v>
                </c:pt>
                <c:pt idx="24">
                  <c:v>0.97099999999999997</c:v>
                </c:pt>
              </c:numCache>
            </c:numRef>
          </c:val>
          <c:smooth val="0"/>
          <c:extLst>
            <c:ext xmlns:c16="http://schemas.microsoft.com/office/drawing/2014/chart" uri="{C3380CC4-5D6E-409C-BE32-E72D297353CC}">
              <c16:uniqueId val="{00000000-3CAC-7444-A7BE-A95ACF15B509}"/>
            </c:ext>
          </c:extLst>
        </c:ser>
        <c:ser>
          <c:idx val="1"/>
          <c:order val="1"/>
          <c:tx>
            <c:strRef>
              <c:f>Sheet1!$C$1</c:f>
              <c:strCache>
                <c:ptCount val="1"/>
                <c:pt idx="0">
                  <c:v>R² validation</c:v>
                </c:pt>
              </c:strCache>
            </c:strRef>
          </c:tx>
          <c:spPr>
            <a:ln w="27940" cap="flat">
              <a:solidFill>
                <a:srgbClr val="E08A3C"/>
              </a:solidFill>
              <a:prstDash val="solid"/>
              <a:round/>
            </a:ln>
            <a:effectLst/>
          </c:spPr>
          <c:marker>
            <c:symbol val="none"/>
          </c:marker>
          <c:cat>
            <c:strRef>
              <c:f>Sheet1!$A$2:$A$26</c:f>
              <c:strCach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strCache>
            </c:strRef>
          </c:cat>
          <c:val>
            <c:numRef>
              <c:f>Sheet1!$C$2:$C$26</c:f>
              <c:numCache>
                <c:formatCode>General</c:formatCode>
                <c:ptCount val="25"/>
                <c:pt idx="0">
                  <c:v>0.91700000000000004</c:v>
                </c:pt>
                <c:pt idx="1">
                  <c:v>0.93100000000000005</c:v>
                </c:pt>
                <c:pt idx="2">
                  <c:v>0.93600000000000005</c:v>
                </c:pt>
                <c:pt idx="3">
                  <c:v>0.94099999999999995</c:v>
                </c:pt>
                <c:pt idx="4">
                  <c:v>0.94599999999999995</c:v>
                </c:pt>
                <c:pt idx="5">
                  <c:v>0.94899999999999995</c:v>
                </c:pt>
                <c:pt idx="6">
                  <c:v>0.95099999999999996</c:v>
                </c:pt>
                <c:pt idx="7">
                  <c:v>0.95299999999999996</c:v>
                </c:pt>
                <c:pt idx="8">
                  <c:v>0.95499999999999996</c:v>
                </c:pt>
                <c:pt idx="9">
                  <c:v>0.95599999999999996</c:v>
                </c:pt>
                <c:pt idx="10">
                  <c:v>0.95650000000000002</c:v>
                </c:pt>
                <c:pt idx="11">
                  <c:v>0.95399999999999996</c:v>
                </c:pt>
                <c:pt idx="12">
                  <c:v>0.95799999999999996</c:v>
                </c:pt>
                <c:pt idx="13">
                  <c:v>0.95850000000000002</c:v>
                </c:pt>
                <c:pt idx="14">
                  <c:v>0.95899999999999996</c:v>
                </c:pt>
                <c:pt idx="15">
                  <c:v>0.96</c:v>
                </c:pt>
                <c:pt idx="16">
                  <c:v>0.96050000000000002</c:v>
                </c:pt>
                <c:pt idx="17">
                  <c:v>0.96099999999999997</c:v>
                </c:pt>
                <c:pt idx="18">
                  <c:v>0.96150000000000002</c:v>
                </c:pt>
                <c:pt idx="19">
                  <c:v>0.96199999999999997</c:v>
                </c:pt>
                <c:pt idx="20">
                  <c:v>0.96250000000000002</c:v>
                </c:pt>
                <c:pt idx="21">
                  <c:v>0.96299999999999997</c:v>
                </c:pt>
                <c:pt idx="22">
                  <c:v>0.96350000000000002</c:v>
                </c:pt>
                <c:pt idx="23">
                  <c:v>0.96399999999999997</c:v>
                </c:pt>
                <c:pt idx="24">
                  <c:v>0.96419999999999995</c:v>
                </c:pt>
              </c:numCache>
            </c:numRef>
          </c:val>
          <c:smooth val="0"/>
          <c:extLst>
            <c:ext xmlns:c16="http://schemas.microsoft.com/office/drawing/2014/chart" uri="{C3380CC4-5D6E-409C-BE32-E72D297353CC}">
              <c16:uniqueId val="{00000001-3CAC-7444-A7BE-A95ACF15B509}"/>
            </c:ext>
          </c:extLst>
        </c:ser>
        <c:ser>
          <c:idx val="2"/>
          <c:order val="2"/>
          <c:tx>
            <c:strRef>
              <c:f>Sheet1!$D$1</c:f>
              <c:strCache>
                <c:ptCount val="1"/>
                <c:pt idx="0">
                  <c:v>F1 train</c:v>
                </c:pt>
              </c:strCache>
            </c:strRef>
          </c:tx>
          <c:spPr>
            <a:ln w="27940" cap="flat">
              <a:solidFill>
                <a:srgbClr val="7FA8C9"/>
              </a:solidFill>
              <a:prstDash val="solid"/>
              <a:round/>
            </a:ln>
            <a:effectLst/>
          </c:spPr>
          <c:marker>
            <c:symbol val="none"/>
          </c:marker>
          <c:cat>
            <c:strRef>
              <c:f>Sheet1!$A$2:$A$26</c:f>
              <c:strCach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strCache>
            </c:strRef>
          </c:cat>
          <c:val>
            <c:numRef>
              <c:f>Sheet1!$D$2:$D$26</c:f>
              <c:numCache>
                <c:formatCode>General</c:formatCode>
                <c:ptCount val="25"/>
                <c:pt idx="0">
                  <c:v>0.79500000000000004</c:v>
                </c:pt>
                <c:pt idx="1">
                  <c:v>0.89700000000000002</c:v>
                </c:pt>
                <c:pt idx="2">
                  <c:v>0.90600000000000003</c:v>
                </c:pt>
                <c:pt idx="3">
                  <c:v>0.91300000000000003</c:v>
                </c:pt>
                <c:pt idx="4">
                  <c:v>0.92100000000000004</c:v>
                </c:pt>
                <c:pt idx="5">
                  <c:v>0.92500000000000004</c:v>
                </c:pt>
                <c:pt idx="6">
                  <c:v>0.92800000000000005</c:v>
                </c:pt>
                <c:pt idx="7">
                  <c:v>0.93</c:v>
                </c:pt>
                <c:pt idx="8">
                  <c:v>0.93200000000000005</c:v>
                </c:pt>
                <c:pt idx="9">
                  <c:v>0.93400000000000005</c:v>
                </c:pt>
                <c:pt idx="10">
                  <c:v>0.9355</c:v>
                </c:pt>
                <c:pt idx="11">
                  <c:v>0.93600000000000005</c:v>
                </c:pt>
                <c:pt idx="12">
                  <c:v>0.93700000000000006</c:v>
                </c:pt>
                <c:pt idx="13">
                  <c:v>0.93799999999999994</c:v>
                </c:pt>
                <c:pt idx="14">
                  <c:v>0.93899999999999995</c:v>
                </c:pt>
                <c:pt idx="15">
                  <c:v>0.9395</c:v>
                </c:pt>
                <c:pt idx="16">
                  <c:v>0.94</c:v>
                </c:pt>
                <c:pt idx="17">
                  <c:v>0.9405</c:v>
                </c:pt>
                <c:pt idx="18">
                  <c:v>0.94099999999999995</c:v>
                </c:pt>
                <c:pt idx="19">
                  <c:v>0.9415</c:v>
                </c:pt>
                <c:pt idx="20">
                  <c:v>0.94199999999999995</c:v>
                </c:pt>
                <c:pt idx="21">
                  <c:v>0.9425</c:v>
                </c:pt>
                <c:pt idx="22">
                  <c:v>0.94299999999999995</c:v>
                </c:pt>
                <c:pt idx="23">
                  <c:v>0.9425</c:v>
                </c:pt>
                <c:pt idx="24">
                  <c:v>0.94299999999999995</c:v>
                </c:pt>
              </c:numCache>
            </c:numRef>
          </c:val>
          <c:smooth val="0"/>
          <c:extLst>
            <c:ext xmlns:c16="http://schemas.microsoft.com/office/drawing/2014/chart" uri="{C3380CC4-5D6E-409C-BE32-E72D297353CC}">
              <c16:uniqueId val="{00000002-3CAC-7444-A7BE-A95ACF15B509}"/>
            </c:ext>
          </c:extLst>
        </c:ser>
        <c:ser>
          <c:idx val="3"/>
          <c:order val="3"/>
          <c:tx>
            <c:strRef>
              <c:f>Sheet1!$E$1</c:f>
              <c:strCache>
                <c:ptCount val="1"/>
                <c:pt idx="0">
                  <c:v>F1 validation</c:v>
                </c:pt>
              </c:strCache>
            </c:strRef>
          </c:tx>
          <c:spPr>
            <a:ln w="27940" cap="flat">
              <a:solidFill>
                <a:srgbClr val="E9C08C"/>
              </a:solidFill>
              <a:prstDash val="solid"/>
              <a:round/>
            </a:ln>
            <a:effectLst/>
          </c:spPr>
          <c:marker>
            <c:symbol val="none"/>
          </c:marker>
          <c:cat>
            <c:strRef>
              <c:f>Sheet1!$A$2:$A$26</c:f>
              <c:strCach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strCache>
            </c:strRef>
          </c:cat>
          <c:val>
            <c:numRef>
              <c:f>Sheet1!$E$2:$E$26</c:f>
              <c:numCache>
                <c:formatCode>General</c:formatCode>
                <c:ptCount val="25"/>
                <c:pt idx="0">
                  <c:v>0.88400000000000001</c:v>
                </c:pt>
                <c:pt idx="1">
                  <c:v>0.89900000000000002</c:v>
                </c:pt>
                <c:pt idx="2">
                  <c:v>0.90700000000000003</c:v>
                </c:pt>
                <c:pt idx="3">
                  <c:v>0.91800000000000004</c:v>
                </c:pt>
                <c:pt idx="4">
                  <c:v>0.92</c:v>
                </c:pt>
                <c:pt idx="5">
                  <c:v>0.92100000000000004</c:v>
                </c:pt>
                <c:pt idx="6">
                  <c:v>0.92149999999999999</c:v>
                </c:pt>
                <c:pt idx="7">
                  <c:v>0.92200000000000004</c:v>
                </c:pt>
                <c:pt idx="8">
                  <c:v>0.92349999999999999</c:v>
                </c:pt>
                <c:pt idx="9">
                  <c:v>0.92400000000000004</c:v>
                </c:pt>
                <c:pt idx="10">
                  <c:v>0.92449999999999999</c:v>
                </c:pt>
                <c:pt idx="11">
                  <c:v>0.92349999999999999</c:v>
                </c:pt>
                <c:pt idx="12">
                  <c:v>0.92800000000000005</c:v>
                </c:pt>
                <c:pt idx="13">
                  <c:v>0.92900000000000005</c:v>
                </c:pt>
                <c:pt idx="14">
                  <c:v>0.92949999999999999</c:v>
                </c:pt>
                <c:pt idx="15">
                  <c:v>0.93</c:v>
                </c:pt>
                <c:pt idx="16">
                  <c:v>0.93049999999999999</c:v>
                </c:pt>
                <c:pt idx="17">
                  <c:v>0.93100000000000005</c:v>
                </c:pt>
                <c:pt idx="18">
                  <c:v>0.93149999999999999</c:v>
                </c:pt>
                <c:pt idx="19">
                  <c:v>0.93200000000000005</c:v>
                </c:pt>
                <c:pt idx="20">
                  <c:v>0.9325</c:v>
                </c:pt>
                <c:pt idx="21">
                  <c:v>0.9325</c:v>
                </c:pt>
                <c:pt idx="22">
                  <c:v>0.93300000000000005</c:v>
                </c:pt>
                <c:pt idx="23">
                  <c:v>0.9325</c:v>
                </c:pt>
                <c:pt idx="24">
                  <c:v>0.93300000000000005</c:v>
                </c:pt>
              </c:numCache>
            </c:numRef>
          </c:val>
          <c:smooth val="0"/>
          <c:extLst>
            <c:ext xmlns:c16="http://schemas.microsoft.com/office/drawing/2014/chart" uri="{C3380CC4-5D6E-409C-BE32-E72D297353CC}">
              <c16:uniqueId val="{00000003-3CAC-7444-A7BE-A95ACF15B509}"/>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62707F"/>
                    </a:solidFill>
                    <a:latin typeface="Arial"/>
                  </a:defRPr>
                </a:pPr>
                <a:r>
                  <a:rPr lang="en-US" sz="1100" b="0" i="0" u="none" strike="noStrike">
                    <a:solidFill>
                      <a:srgbClr val="62707F"/>
                    </a:solidFill>
                    <a:latin typeface="Arial"/>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2707F"/>
                </a:solidFill>
                <a:latin typeface="Calibri"/>
              </a:defRPr>
            </a:pPr>
            <a:endParaRPr lang="en-US"/>
          </a:p>
        </c:txPr>
        <c:crossAx val="2094734552"/>
        <c:crosses val="autoZero"/>
        <c:auto val="1"/>
        <c:lblAlgn val="ctr"/>
        <c:lblOffset val="100"/>
        <c:noMultiLvlLbl val="1"/>
      </c:catAx>
      <c:valAx>
        <c:axId val="2094734552"/>
        <c:scaling>
          <c:orientation val="minMax"/>
          <c:max val="1"/>
          <c:min val="0.78"/>
        </c:scaling>
        <c:delete val="0"/>
        <c:axPos val="l"/>
        <c:majorGridlines>
          <c:spPr>
            <a:ln w="1270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270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62707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78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The goal is simple. Take a noisy recording and give back clean speech. I trained an LSTM on 11,572 paired files from the University of Edinburgh. I also built the pipeline around it. Validation, features, splitting, training, inference. All of it is on GitHub.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an example they know. A phone call with traffic outside. A cafe with other people talking. Classic noise reduction measures the noise in a quiet moment and subtracts it. That works for a steady hum. It fails when the noise is a second voice. A model learns what speech looks like instead. It keeps the speech and drops the rest.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23B78-D274-0C6D-B2D0-5951B225B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F89CF-8AD8-CD72-0084-2ACBA049C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D045C-600A-C350-4776-9DF7B40FB9B4}"/>
              </a:ext>
            </a:extLst>
          </p:cNvPr>
          <p:cNvSpPr>
            <a:spLocks noGrp="1"/>
          </p:cNvSpPr>
          <p:nvPr>
            <p:ph type="body" idx="1"/>
          </p:nvPr>
        </p:nvSpPr>
        <p:spPr/>
        <p:txBody>
          <a:bodyPr/>
          <a:lstStyle/>
          <a:p>
            <a:r>
              <a:rPr lang="en-US" dirty="0"/>
              <a:t>The dataset gives matched pairs. The same filename sits in a clean folder and a noisy folder. That match makes supervised training possible. Each file becomes a 257 by T array. 257 is the number of frequency bins. T is the number of 32 ms frames.</a:t>
            </a:r>
          </a:p>
        </p:txBody>
      </p:sp>
      <p:sp>
        <p:nvSpPr>
          <p:cNvPr id="4" name="Slide Number Placeholder 3">
            <a:extLst>
              <a:ext uri="{FF2B5EF4-FFF2-40B4-BE49-F238E27FC236}">
                <a16:creationId xmlns:a16="http://schemas.microsoft.com/office/drawing/2014/main" id="{0565A3E9-4A4C-8396-4C28-B67E4A72CB0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82514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Edinburgh data is already clean. So I tested the validator, not the data. I broke files on purpose, one fault at a time. The script caught every one. Point at the number on the right. Every real pair passed. The value is reuse on a messier dataset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gives matched pairs. The same filename sits in a clean folder and a noisy folder. That match makes supervised training possible. Each file becomes a 257 by T array. 257 is the number of frequency bins. T is the number of 32 ms frames.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stage is one script and one config file. This matters in practice. I can change a threshold or a hyperparameter and rerun one stage. I never edit the code to do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decision I would defend first. Point at the orange dots. Those four speakers never appear in training. A file split would put the same voice on both sides. The model could then score well because it knows the person. Every number later in this talk is on voices the model never heard.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is a sequence, so the model needs memory. A plain RNN has memory in theory. In practice the gradient shrinks at every step and reaches zero after a few hundred frames. A few seconds of audio is a few hundred frames. The LSTM cell state adds instead of multiplies, so the signal survives.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top row with your hand. Audio in, STFT, log magnitude, LSTM, gain mask, multiply, inverse STFT, audio out. Two points. First, the model only changes magnitude. Second, the sigmoid head solves the easier problem. It only decides how much of each bin to keep.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implementation details are worth a minute. Files have different lengths, so I pad each batch and then pack it. Packing tells the LSTM where the real audio stops. The loss masks the padding as well. Without both steps the model trains on silence. Read the bottom bar for the two runs.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and R squared drive the training. They do not tell you how the audio sounds. That is why the right column exists. PESQ is quality. STOI is intelligibility. SI-SDR is raw fidelity. A model can improve one and hurt another, so report all three. I define these in the report but I do not have final numbers yet. Say that plainly.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matters more than the exact value. Most of the learning happens in five epochs. After that the model makes small corrections. The two lines stay together for all 25 epochs. The validation speakers are new, so this is real generalization.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squared is the number to trust here. It stays above 0.96 on new speakers. F1 comes from putting a threshold on a continuous output, so treat it as a diagnostic. The validation line starts above the train line because dropout is on during training and off during validation.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slide. The counts look perfect because almost every bin is negative. Point at the top left cell. That is 447 million correct negatives. The useful comparison is the bottom row. Run B misses 7.1 percent of active bins. Run A misses 8.6 percent.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result. Run A only looks backward, so it can run on a live call. Run B also looks forward and sounds better. Run B cannot run live at all. The application decides, not the metrics.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two points. The model cleans voices it never heard. The pipeline makes the result repeatable. Then give the honest next step. Estimate phase, not only magnitude.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A"/>
        </a:solidFill>
        <a:effectLst/>
      </p:bgPr>
    </p:bg>
    <p:spTree>
      <p:nvGrpSpPr>
        <p:cNvPr id="1" name=""/>
        <p:cNvGrpSpPr/>
        <p:nvPr/>
      </p:nvGrpSpPr>
      <p:grpSpPr>
        <a:xfrm>
          <a:off x="0" y="0"/>
          <a:ext cx="0" cy="0"/>
          <a:chOff x="0" y="0"/>
          <a:chExt cx="0" cy="0"/>
        </a:xfrm>
      </p:grpSpPr>
      <p:sp>
        <p:nvSpPr>
          <p:cNvPr id="2" name="Shape 0"/>
          <p:cNvSpPr/>
          <p:nvPr/>
        </p:nvSpPr>
        <p:spPr>
          <a:xfrm>
            <a:off x="0" y="6821424"/>
            <a:ext cx="82358" cy="36576"/>
          </a:xfrm>
          <a:prstGeom prst="roundRect">
            <a:avLst>
              <a:gd name="adj" fmla="val 50000"/>
            </a:avLst>
          </a:prstGeom>
          <a:solidFill>
            <a:srgbClr val="0E8A8F">
              <a:alpha val="70000"/>
            </a:srgbClr>
          </a:solidFill>
          <a:ln/>
        </p:spPr>
        <p:txBody>
          <a:bodyPr/>
          <a:lstStyle/>
          <a:p>
            <a:endParaRPr lang="en-US"/>
          </a:p>
        </p:txBody>
      </p:sp>
      <p:sp>
        <p:nvSpPr>
          <p:cNvPr id="3" name="Shape 1"/>
          <p:cNvSpPr/>
          <p:nvPr/>
        </p:nvSpPr>
        <p:spPr>
          <a:xfrm>
            <a:off x="164716" y="6708731"/>
            <a:ext cx="82358" cy="149269"/>
          </a:xfrm>
          <a:prstGeom prst="roundRect">
            <a:avLst>
              <a:gd name="adj" fmla="val 22205"/>
            </a:avLst>
          </a:prstGeom>
          <a:solidFill>
            <a:srgbClr val="0E8A8F">
              <a:alpha val="70000"/>
            </a:srgbClr>
          </a:solidFill>
          <a:ln/>
        </p:spPr>
        <p:txBody>
          <a:bodyPr/>
          <a:lstStyle/>
          <a:p>
            <a:endParaRPr lang="en-US"/>
          </a:p>
        </p:txBody>
      </p:sp>
      <p:sp>
        <p:nvSpPr>
          <p:cNvPr id="4" name="Shape 2"/>
          <p:cNvSpPr/>
          <p:nvPr/>
        </p:nvSpPr>
        <p:spPr>
          <a:xfrm>
            <a:off x="329431" y="6429109"/>
            <a:ext cx="82358" cy="428891"/>
          </a:xfrm>
          <a:prstGeom prst="roundRect">
            <a:avLst>
              <a:gd name="adj" fmla="val 22205"/>
            </a:avLst>
          </a:prstGeom>
          <a:solidFill>
            <a:srgbClr val="0E8A8F">
              <a:alpha val="70000"/>
            </a:srgbClr>
          </a:solidFill>
          <a:ln/>
        </p:spPr>
        <p:txBody>
          <a:bodyPr/>
          <a:lstStyle/>
          <a:p>
            <a:endParaRPr lang="en-US"/>
          </a:p>
        </p:txBody>
      </p:sp>
      <p:sp>
        <p:nvSpPr>
          <p:cNvPr id="5" name="Shape 3"/>
          <p:cNvSpPr/>
          <p:nvPr/>
        </p:nvSpPr>
        <p:spPr>
          <a:xfrm>
            <a:off x="494147" y="6446081"/>
            <a:ext cx="82358" cy="411919"/>
          </a:xfrm>
          <a:prstGeom prst="roundRect">
            <a:avLst>
              <a:gd name="adj" fmla="val 22205"/>
            </a:avLst>
          </a:prstGeom>
          <a:solidFill>
            <a:srgbClr val="0E8A8F">
              <a:alpha val="70000"/>
            </a:srgbClr>
          </a:solidFill>
          <a:ln/>
        </p:spPr>
        <p:txBody>
          <a:bodyPr/>
          <a:lstStyle/>
          <a:p>
            <a:endParaRPr lang="en-US"/>
          </a:p>
        </p:txBody>
      </p:sp>
      <p:sp>
        <p:nvSpPr>
          <p:cNvPr id="6" name="Shape 4"/>
          <p:cNvSpPr/>
          <p:nvPr/>
        </p:nvSpPr>
        <p:spPr>
          <a:xfrm>
            <a:off x="658862" y="6229737"/>
            <a:ext cx="82358" cy="628263"/>
          </a:xfrm>
          <a:prstGeom prst="roundRect">
            <a:avLst>
              <a:gd name="adj" fmla="val 22205"/>
            </a:avLst>
          </a:prstGeom>
          <a:solidFill>
            <a:srgbClr val="0E8A8F">
              <a:alpha val="70000"/>
            </a:srgbClr>
          </a:solidFill>
          <a:ln/>
        </p:spPr>
        <p:txBody>
          <a:bodyPr/>
          <a:lstStyle/>
          <a:p>
            <a:endParaRPr lang="en-US"/>
          </a:p>
        </p:txBody>
      </p:sp>
      <p:sp>
        <p:nvSpPr>
          <p:cNvPr id="7" name="Shape 5"/>
          <p:cNvSpPr/>
          <p:nvPr/>
        </p:nvSpPr>
        <p:spPr>
          <a:xfrm>
            <a:off x="823578" y="6273711"/>
            <a:ext cx="82358" cy="584289"/>
          </a:xfrm>
          <a:prstGeom prst="roundRect">
            <a:avLst>
              <a:gd name="adj" fmla="val 22205"/>
            </a:avLst>
          </a:prstGeom>
          <a:solidFill>
            <a:srgbClr val="0E8A8F">
              <a:alpha val="70000"/>
            </a:srgbClr>
          </a:solidFill>
          <a:ln/>
        </p:spPr>
        <p:txBody>
          <a:bodyPr/>
          <a:lstStyle/>
          <a:p>
            <a:endParaRPr lang="en-US"/>
          </a:p>
        </p:txBody>
      </p:sp>
      <p:sp>
        <p:nvSpPr>
          <p:cNvPr id="8" name="Shape 6"/>
          <p:cNvSpPr/>
          <p:nvPr/>
        </p:nvSpPr>
        <p:spPr>
          <a:xfrm>
            <a:off x="988293" y="6571266"/>
            <a:ext cx="82358" cy="286734"/>
          </a:xfrm>
          <a:prstGeom prst="roundRect">
            <a:avLst>
              <a:gd name="adj" fmla="val 22205"/>
            </a:avLst>
          </a:prstGeom>
          <a:solidFill>
            <a:srgbClr val="0E8A8F">
              <a:alpha val="70000"/>
            </a:srgbClr>
          </a:solidFill>
          <a:ln/>
        </p:spPr>
        <p:txBody>
          <a:bodyPr/>
          <a:lstStyle/>
          <a:p>
            <a:endParaRPr lang="en-US"/>
          </a:p>
        </p:txBody>
      </p:sp>
      <p:sp>
        <p:nvSpPr>
          <p:cNvPr id="9" name="Shape 7"/>
          <p:cNvSpPr/>
          <p:nvPr/>
        </p:nvSpPr>
        <p:spPr>
          <a:xfrm>
            <a:off x="1153009" y="6050535"/>
            <a:ext cx="82358" cy="807465"/>
          </a:xfrm>
          <a:prstGeom prst="roundRect">
            <a:avLst>
              <a:gd name="adj" fmla="val 22205"/>
            </a:avLst>
          </a:prstGeom>
          <a:solidFill>
            <a:srgbClr val="0E8A8F">
              <a:alpha val="70000"/>
            </a:srgbClr>
          </a:solidFill>
          <a:ln/>
        </p:spPr>
        <p:txBody>
          <a:bodyPr/>
          <a:lstStyle/>
          <a:p>
            <a:endParaRPr lang="en-US"/>
          </a:p>
        </p:txBody>
      </p:sp>
      <p:sp>
        <p:nvSpPr>
          <p:cNvPr id="10" name="Shape 8"/>
          <p:cNvSpPr/>
          <p:nvPr/>
        </p:nvSpPr>
        <p:spPr>
          <a:xfrm>
            <a:off x="1317725" y="6569363"/>
            <a:ext cx="82358" cy="288637"/>
          </a:xfrm>
          <a:prstGeom prst="roundRect">
            <a:avLst>
              <a:gd name="adj" fmla="val 22205"/>
            </a:avLst>
          </a:prstGeom>
          <a:solidFill>
            <a:srgbClr val="0E8A8F">
              <a:alpha val="70000"/>
            </a:srgbClr>
          </a:solidFill>
          <a:ln/>
        </p:spPr>
        <p:txBody>
          <a:bodyPr/>
          <a:lstStyle/>
          <a:p>
            <a:endParaRPr lang="en-US"/>
          </a:p>
        </p:txBody>
      </p:sp>
      <p:sp>
        <p:nvSpPr>
          <p:cNvPr id="11" name="Shape 9"/>
          <p:cNvSpPr/>
          <p:nvPr/>
        </p:nvSpPr>
        <p:spPr>
          <a:xfrm>
            <a:off x="1482440" y="6372970"/>
            <a:ext cx="82358" cy="485030"/>
          </a:xfrm>
          <a:prstGeom prst="roundRect">
            <a:avLst>
              <a:gd name="adj" fmla="val 22205"/>
            </a:avLst>
          </a:prstGeom>
          <a:solidFill>
            <a:srgbClr val="0E8A8F">
              <a:alpha val="70000"/>
            </a:srgbClr>
          </a:solidFill>
          <a:ln/>
        </p:spPr>
        <p:txBody>
          <a:bodyPr/>
          <a:lstStyle/>
          <a:p>
            <a:endParaRPr lang="en-US"/>
          </a:p>
        </p:txBody>
      </p:sp>
      <p:sp>
        <p:nvSpPr>
          <p:cNvPr id="12" name="Shape 10"/>
          <p:cNvSpPr/>
          <p:nvPr/>
        </p:nvSpPr>
        <p:spPr>
          <a:xfrm>
            <a:off x="1647156" y="5969604"/>
            <a:ext cx="82358" cy="888396"/>
          </a:xfrm>
          <a:prstGeom prst="roundRect">
            <a:avLst>
              <a:gd name="adj" fmla="val 22205"/>
            </a:avLst>
          </a:prstGeom>
          <a:solidFill>
            <a:srgbClr val="0E8A8F">
              <a:alpha val="70000"/>
            </a:srgbClr>
          </a:solidFill>
          <a:ln/>
        </p:spPr>
        <p:txBody>
          <a:bodyPr/>
          <a:lstStyle/>
          <a:p>
            <a:endParaRPr lang="en-US"/>
          </a:p>
        </p:txBody>
      </p:sp>
      <p:sp>
        <p:nvSpPr>
          <p:cNvPr id="13" name="Shape 11"/>
          <p:cNvSpPr/>
          <p:nvPr/>
        </p:nvSpPr>
        <p:spPr>
          <a:xfrm>
            <a:off x="1811871" y="6019847"/>
            <a:ext cx="82358" cy="838153"/>
          </a:xfrm>
          <a:prstGeom prst="roundRect">
            <a:avLst>
              <a:gd name="adj" fmla="val 22205"/>
            </a:avLst>
          </a:prstGeom>
          <a:solidFill>
            <a:srgbClr val="0E8A8F">
              <a:alpha val="70000"/>
            </a:srgbClr>
          </a:solidFill>
          <a:ln/>
        </p:spPr>
        <p:txBody>
          <a:bodyPr/>
          <a:lstStyle/>
          <a:p>
            <a:endParaRPr lang="en-US"/>
          </a:p>
        </p:txBody>
      </p:sp>
      <p:sp>
        <p:nvSpPr>
          <p:cNvPr id="14" name="Shape 12"/>
          <p:cNvSpPr/>
          <p:nvPr/>
        </p:nvSpPr>
        <p:spPr>
          <a:xfrm>
            <a:off x="1976587" y="6434837"/>
            <a:ext cx="82358" cy="423163"/>
          </a:xfrm>
          <a:prstGeom prst="roundRect">
            <a:avLst>
              <a:gd name="adj" fmla="val 22205"/>
            </a:avLst>
          </a:prstGeom>
          <a:solidFill>
            <a:srgbClr val="0E8A8F">
              <a:alpha val="70000"/>
            </a:srgbClr>
          </a:solidFill>
          <a:ln/>
        </p:spPr>
        <p:txBody>
          <a:bodyPr/>
          <a:lstStyle/>
          <a:p>
            <a:endParaRPr lang="en-US"/>
          </a:p>
        </p:txBody>
      </p:sp>
      <p:sp>
        <p:nvSpPr>
          <p:cNvPr id="15" name="Shape 13"/>
          <p:cNvSpPr/>
          <p:nvPr/>
        </p:nvSpPr>
        <p:spPr>
          <a:xfrm>
            <a:off x="2141302" y="6483714"/>
            <a:ext cx="82358" cy="374286"/>
          </a:xfrm>
          <a:prstGeom prst="roundRect">
            <a:avLst>
              <a:gd name="adj" fmla="val 22205"/>
            </a:avLst>
          </a:prstGeom>
          <a:solidFill>
            <a:srgbClr val="0E8A8F">
              <a:alpha val="70000"/>
            </a:srgbClr>
          </a:solidFill>
          <a:ln/>
        </p:spPr>
        <p:txBody>
          <a:bodyPr/>
          <a:lstStyle/>
          <a:p>
            <a:endParaRPr lang="en-US"/>
          </a:p>
        </p:txBody>
      </p:sp>
      <p:sp>
        <p:nvSpPr>
          <p:cNvPr id="16" name="Shape 14"/>
          <p:cNvSpPr/>
          <p:nvPr/>
        </p:nvSpPr>
        <p:spPr>
          <a:xfrm>
            <a:off x="2306018" y="6328508"/>
            <a:ext cx="82358" cy="529492"/>
          </a:xfrm>
          <a:prstGeom prst="roundRect">
            <a:avLst>
              <a:gd name="adj" fmla="val 22205"/>
            </a:avLst>
          </a:prstGeom>
          <a:solidFill>
            <a:srgbClr val="0E8A8F">
              <a:alpha val="70000"/>
            </a:srgbClr>
          </a:solidFill>
          <a:ln/>
        </p:spPr>
        <p:txBody>
          <a:bodyPr/>
          <a:lstStyle/>
          <a:p>
            <a:endParaRPr lang="en-US"/>
          </a:p>
        </p:txBody>
      </p:sp>
      <p:sp>
        <p:nvSpPr>
          <p:cNvPr id="17" name="Shape 15"/>
          <p:cNvSpPr/>
          <p:nvPr/>
        </p:nvSpPr>
        <p:spPr>
          <a:xfrm>
            <a:off x="2470734" y="6025134"/>
            <a:ext cx="82358" cy="832866"/>
          </a:xfrm>
          <a:prstGeom prst="roundRect">
            <a:avLst>
              <a:gd name="adj" fmla="val 22205"/>
            </a:avLst>
          </a:prstGeom>
          <a:solidFill>
            <a:srgbClr val="0E8A8F">
              <a:alpha val="70000"/>
            </a:srgbClr>
          </a:solidFill>
          <a:ln/>
        </p:spPr>
        <p:txBody>
          <a:bodyPr/>
          <a:lstStyle/>
          <a:p>
            <a:endParaRPr lang="en-US"/>
          </a:p>
        </p:txBody>
      </p:sp>
      <p:sp>
        <p:nvSpPr>
          <p:cNvPr id="18" name="Shape 16"/>
          <p:cNvSpPr/>
          <p:nvPr/>
        </p:nvSpPr>
        <p:spPr>
          <a:xfrm>
            <a:off x="2635449" y="6051370"/>
            <a:ext cx="82358" cy="806630"/>
          </a:xfrm>
          <a:prstGeom prst="roundRect">
            <a:avLst>
              <a:gd name="adj" fmla="val 22205"/>
            </a:avLst>
          </a:prstGeom>
          <a:solidFill>
            <a:srgbClr val="0E8A8F">
              <a:alpha val="70000"/>
            </a:srgbClr>
          </a:solidFill>
          <a:ln/>
        </p:spPr>
        <p:txBody>
          <a:bodyPr/>
          <a:lstStyle/>
          <a:p>
            <a:endParaRPr lang="en-US"/>
          </a:p>
        </p:txBody>
      </p:sp>
      <p:sp>
        <p:nvSpPr>
          <p:cNvPr id="19" name="Shape 17"/>
          <p:cNvSpPr/>
          <p:nvPr/>
        </p:nvSpPr>
        <p:spPr>
          <a:xfrm>
            <a:off x="2800165" y="6331043"/>
            <a:ext cx="82358" cy="526957"/>
          </a:xfrm>
          <a:prstGeom prst="roundRect">
            <a:avLst>
              <a:gd name="adj" fmla="val 22205"/>
            </a:avLst>
          </a:prstGeom>
          <a:solidFill>
            <a:srgbClr val="0E8A8F">
              <a:alpha val="70000"/>
            </a:srgbClr>
          </a:solidFill>
          <a:ln/>
        </p:spPr>
        <p:txBody>
          <a:bodyPr/>
          <a:lstStyle/>
          <a:p>
            <a:endParaRPr lang="en-US"/>
          </a:p>
        </p:txBody>
      </p:sp>
      <p:sp>
        <p:nvSpPr>
          <p:cNvPr id="20" name="Shape 18"/>
          <p:cNvSpPr/>
          <p:nvPr/>
        </p:nvSpPr>
        <p:spPr>
          <a:xfrm>
            <a:off x="2964880" y="6462829"/>
            <a:ext cx="82358" cy="395171"/>
          </a:xfrm>
          <a:prstGeom prst="roundRect">
            <a:avLst>
              <a:gd name="adj" fmla="val 22205"/>
            </a:avLst>
          </a:prstGeom>
          <a:solidFill>
            <a:srgbClr val="0E8A8F">
              <a:alpha val="70000"/>
            </a:srgbClr>
          </a:solidFill>
          <a:ln/>
        </p:spPr>
        <p:txBody>
          <a:bodyPr/>
          <a:lstStyle/>
          <a:p>
            <a:endParaRPr lang="en-US"/>
          </a:p>
        </p:txBody>
      </p:sp>
      <p:sp>
        <p:nvSpPr>
          <p:cNvPr id="21" name="Shape 19"/>
          <p:cNvSpPr/>
          <p:nvPr/>
        </p:nvSpPr>
        <p:spPr>
          <a:xfrm>
            <a:off x="3129596" y="6329938"/>
            <a:ext cx="82358" cy="528062"/>
          </a:xfrm>
          <a:prstGeom prst="roundRect">
            <a:avLst>
              <a:gd name="adj" fmla="val 22205"/>
            </a:avLst>
          </a:prstGeom>
          <a:solidFill>
            <a:srgbClr val="0E8A8F">
              <a:alpha val="70000"/>
            </a:srgbClr>
          </a:solidFill>
          <a:ln/>
        </p:spPr>
        <p:txBody>
          <a:bodyPr/>
          <a:lstStyle/>
          <a:p>
            <a:endParaRPr lang="en-US"/>
          </a:p>
        </p:txBody>
      </p:sp>
      <p:sp>
        <p:nvSpPr>
          <p:cNvPr id="22" name="Shape 20"/>
          <p:cNvSpPr/>
          <p:nvPr/>
        </p:nvSpPr>
        <p:spPr>
          <a:xfrm>
            <a:off x="3294311" y="5761175"/>
            <a:ext cx="82358" cy="1096825"/>
          </a:xfrm>
          <a:prstGeom prst="roundRect">
            <a:avLst>
              <a:gd name="adj" fmla="val 22205"/>
            </a:avLst>
          </a:prstGeom>
          <a:solidFill>
            <a:srgbClr val="0E8A8F">
              <a:alpha val="70000"/>
            </a:srgbClr>
          </a:solidFill>
          <a:ln/>
        </p:spPr>
        <p:txBody>
          <a:bodyPr/>
          <a:lstStyle/>
          <a:p>
            <a:endParaRPr lang="en-US"/>
          </a:p>
        </p:txBody>
      </p:sp>
      <p:sp>
        <p:nvSpPr>
          <p:cNvPr id="23" name="Shape 21"/>
          <p:cNvSpPr/>
          <p:nvPr/>
        </p:nvSpPr>
        <p:spPr>
          <a:xfrm>
            <a:off x="3459027" y="5543385"/>
            <a:ext cx="82358" cy="1314615"/>
          </a:xfrm>
          <a:prstGeom prst="roundRect">
            <a:avLst>
              <a:gd name="adj" fmla="val 22205"/>
            </a:avLst>
          </a:prstGeom>
          <a:solidFill>
            <a:srgbClr val="0E8A8F">
              <a:alpha val="70000"/>
            </a:srgbClr>
          </a:solidFill>
          <a:ln/>
        </p:spPr>
        <p:txBody>
          <a:bodyPr/>
          <a:lstStyle/>
          <a:p>
            <a:endParaRPr lang="en-US"/>
          </a:p>
        </p:txBody>
      </p:sp>
      <p:sp>
        <p:nvSpPr>
          <p:cNvPr id="24" name="Shape 22"/>
          <p:cNvSpPr/>
          <p:nvPr/>
        </p:nvSpPr>
        <p:spPr>
          <a:xfrm>
            <a:off x="3623742" y="6230294"/>
            <a:ext cx="82358" cy="627706"/>
          </a:xfrm>
          <a:prstGeom prst="roundRect">
            <a:avLst>
              <a:gd name="adj" fmla="val 22205"/>
            </a:avLst>
          </a:prstGeom>
          <a:solidFill>
            <a:srgbClr val="0E8A8F">
              <a:alpha val="70000"/>
            </a:srgbClr>
          </a:solidFill>
          <a:ln/>
        </p:spPr>
        <p:txBody>
          <a:bodyPr/>
          <a:lstStyle/>
          <a:p>
            <a:endParaRPr lang="en-US"/>
          </a:p>
        </p:txBody>
      </p:sp>
      <p:sp>
        <p:nvSpPr>
          <p:cNvPr id="25" name="Shape 23"/>
          <p:cNvSpPr/>
          <p:nvPr/>
        </p:nvSpPr>
        <p:spPr>
          <a:xfrm>
            <a:off x="3788458" y="6241903"/>
            <a:ext cx="82358" cy="616097"/>
          </a:xfrm>
          <a:prstGeom prst="roundRect">
            <a:avLst>
              <a:gd name="adj" fmla="val 22205"/>
            </a:avLst>
          </a:prstGeom>
          <a:solidFill>
            <a:srgbClr val="0E8A8F">
              <a:alpha val="70000"/>
            </a:srgbClr>
          </a:solidFill>
          <a:ln/>
        </p:spPr>
        <p:txBody>
          <a:bodyPr/>
          <a:lstStyle/>
          <a:p>
            <a:endParaRPr lang="en-US"/>
          </a:p>
        </p:txBody>
      </p:sp>
      <p:sp>
        <p:nvSpPr>
          <p:cNvPr id="26" name="Shape 24"/>
          <p:cNvSpPr/>
          <p:nvPr/>
        </p:nvSpPr>
        <p:spPr>
          <a:xfrm>
            <a:off x="3953174" y="6328004"/>
            <a:ext cx="82358" cy="529996"/>
          </a:xfrm>
          <a:prstGeom prst="roundRect">
            <a:avLst>
              <a:gd name="adj" fmla="val 22205"/>
            </a:avLst>
          </a:prstGeom>
          <a:solidFill>
            <a:srgbClr val="0E8A8F">
              <a:alpha val="70000"/>
            </a:srgbClr>
          </a:solidFill>
          <a:ln/>
        </p:spPr>
        <p:txBody>
          <a:bodyPr/>
          <a:lstStyle/>
          <a:p>
            <a:endParaRPr lang="en-US"/>
          </a:p>
        </p:txBody>
      </p:sp>
      <p:sp>
        <p:nvSpPr>
          <p:cNvPr id="27" name="Shape 25"/>
          <p:cNvSpPr/>
          <p:nvPr/>
        </p:nvSpPr>
        <p:spPr>
          <a:xfrm>
            <a:off x="4117889" y="5205098"/>
            <a:ext cx="82358" cy="1652902"/>
          </a:xfrm>
          <a:prstGeom prst="roundRect">
            <a:avLst>
              <a:gd name="adj" fmla="val 22205"/>
            </a:avLst>
          </a:prstGeom>
          <a:solidFill>
            <a:srgbClr val="0E8A8F">
              <a:alpha val="70000"/>
            </a:srgbClr>
          </a:solidFill>
          <a:ln/>
        </p:spPr>
        <p:txBody>
          <a:bodyPr/>
          <a:lstStyle/>
          <a:p>
            <a:endParaRPr lang="en-US"/>
          </a:p>
        </p:txBody>
      </p:sp>
      <p:sp>
        <p:nvSpPr>
          <p:cNvPr id="28" name="Shape 26"/>
          <p:cNvSpPr/>
          <p:nvPr/>
        </p:nvSpPr>
        <p:spPr>
          <a:xfrm>
            <a:off x="4282605" y="6346325"/>
            <a:ext cx="82358" cy="511675"/>
          </a:xfrm>
          <a:prstGeom prst="roundRect">
            <a:avLst>
              <a:gd name="adj" fmla="val 22205"/>
            </a:avLst>
          </a:prstGeom>
          <a:solidFill>
            <a:srgbClr val="0E8A8F">
              <a:alpha val="70000"/>
            </a:srgbClr>
          </a:solidFill>
          <a:ln/>
        </p:spPr>
        <p:txBody>
          <a:bodyPr/>
          <a:lstStyle/>
          <a:p>
            <a:endParaRPr lang="en-US"/>
          </a:p>
        </p:txBody>
      </p:sp>
      <p:sp>
        <p:nvSpPr>
          <p:cNvPr id="29" name="Shape 27"/>
          <p:cNvSpPr/>
          <p:nvPr/>
        </p:nvSpPr>
        <p:spPr>
          <a:xfrm>
            <a:off x="4447320" y="5409592"/>
            <a:ext cx="82358" cy="1448408"/>
          </a:xfrm>
          <a:prstGeom prst="roundRect">
            <a:avLst>
              <a:gd name="adj" fmla="val 22205"/>
            </a:avLst>
          </a:prstGeom>
          <a:solidFill>
            <a:srgbClr val="0E8A8F">
              <a:alpha val="70000"/>
            </a:srgbClr>
          </a:solidFill>
          <a:ln/>
        </p:spPr>
        <p:txBody>
          <a:bodyPr/>
          <a:lstStyle/>
          <a:p>
            <a:endParaRPr lang="en-US"/>
          </a:p>
        </p:txBody>
      </p:sp>
      <p:sp>
        <p:nvSpPr>
          <p:cNvPr id="30" name="Shape 28"/>
          <p:cNvSpPr/>
          <p:nvPr/>
        </p:nvSpPr>
        <p:spPr>
          <a:xfrm>
            <a:off x="4612036" y="5930611"/>
            <a:ext cx="82358" cy="927389"/>
          </a:xfrm>
          <a:prstGeom prst="roundRect">
            <a:avLst>
              <a:gd name="adj" fmla="val 22205"/>
            </a:avLst>
          </a:prstGeom>
          <a:solidFill>
            <a:srgbClr val="0E8A8F">
              <a:alpha val="70000"/>
            </a:srgbClr>
          </a:solidFill>
          <a:ln/>
        </p:spPr>
        <p:txBody>
          <a:bodyPr/>
          <a:lstStyle/>
          <a:p>
            <a:endParaRPr lang="en-US"/>
          </a:p>
        </p:txBody>
      </p:sp>
      <p:sp>
        <p:nvSpPr>
          <p:cNvPr id="31" name="Shape 29"/>
          <p:cNvSpPr/>
          <p:nvPr/>
        </p:nvSpPr>
        <p:spPr>
          <a:xfrm>
            <a:off x="4776751" y="5447223"/>
            <a:ext cx="82358" cy="1410777"/>
          </a:xfrm>
          <a:prstGeom prst="roundRect">
            <a:avLst>
              <a:gd name="adj" fmla="val 22205"/>
            </a:avLst>
          </a:prstGeom>
          <a:solidFill>
            <a:srgbClr val="0E8A8F">
              <a:alpha val="70000"/>
            </a:srgbClr>
          </a:solidFill>
          <a:ln/>
        </p:spPr>
        <p:txBody>
          <a:bodyPr/>
          <a:lstStyle/>
          <a:p>
            <a:endParaRPr lang="en-US"/>
          </a:p>
        </p:txBody>
      </p:sp>
      <p:sp>
        <p:nvSpPr>
          <p:cNvPr id="32" name="Shape 30"/>
          <p:cNvSpPr/>
          <p:nvPr/>
        </p:nvSpPr>
        <p:spPr>
          <a:xfrm>
            <a:off x="4941467" y="5325134"/>
            <a:ext cx="82358" cy="1532866"/>
          </a:xfrm>
          <a:prstGeom prst="roundRect">
            <a:avLst>
              <a:gd name="adj" fmla="val 22205"/>
            </a:avLst>
          </a:prstGeom>
          <a:solidFill>
            <a:srgbClr val="0E8A8F">
              <a:alpha val="70000"/>
            </a:srgbClr>
          </a:solidFill>
          <a:ln/>
        </p:spPr>
        <p:txBody>
          <a:bodyPr/>
          <a:lstStyle/>
          <a:p>
            <a:endParaRPr lang="en-US"/>
          </a:p>
        </p:txBody>
      </p:sp>
      <p:sp>
        <p:nvSpPr>
          <p:cNvPr id="33" name="Shape 31"/>
          <p:cNvSpPr/>
          <p:nvPr/>
        </p:nvSpPr>
        <p:spPr>
          <a:xfrm>
            <a:off x="5106183" y="5763703"/>
            <a:ext cx="82358" cy="1094297"/>
          </a:xfrm>
          <a:prstGeom prst="roundRect">
            <a:avLst>
              <a:gd name="adj" fmla="val 22205"/>
            </a:avLst>
          </a:prstGeom>
          <a:solidFill>
            <a:srgbClr val="0E8A8F">
              <a:alpha val="70000"/>
            </a:srgbClr>
          </a:solidFill>
          <a:ln/>
        </p:spPr>
        <p:txBody>
          <a:bodyPr/>
          <a:lstStyle/>
          <a:p>
            <a:endParaRPr lang="en-US"/>
          </a:p>
        </p:txBody>
      </p:sp>
      <p:sp>
        <p:nvSpPr>
          <p:cNvPr id="34" name="Shape 32"/>
          <p:cNvSpPr/>
          <p:nvPr/>
        </p:nvSpPr>
        <p:spPr>
          <a:xfrm>
            <a:off x="5270898" y="6212895"/>
            <a:ext cx="82358" cy="645105"/>
          </a:xfrm>
          <a:prstGeom prst="roundRect">
            <a:avLst>
              <a:gd name="adj" fmla="val 22205"/>
            </a:avLst>
          </a:prstGeom>
          <a:solidFill>
            <a:srgbClr val="0E8A8F">
              <a:alpha val="70000"/>
            </a:srgbClr>
          </a:solidFill>
          <a:ln/>
        </p:spPr>
        <p:txBody>
          <a:bodyPr/>
          <a:lstStyle/>
          <a:p>
            <a:endParaRPr lang="en-US"/>
          </a:p>
        </p:txBody>
      </p:sp>
      <p:sp>
        <p:nvSpPr>
          <p:cNvPr id="35" name="Shape 33"/>
          <p:cNvSpPr/>
          <p:nvPr/>
        </p:nvSpPr>
        <p:spPr>
          <a:xfrm>
            <a:off x="5435614" y="5899173"/>
            <a:ext cx="82358" cy="958827"/>
          </a:xfrm>
          <a:prstGeom prst="roundRect">
            <a:avLst>
              <a:gd name="adj" fmla="val 22205"/>
            </a:avLst>
          </a:prstGeom>
          <a:solidFill>
            <a:srgbClr val="0E8A8F">
              <a:alpha val="70000"/>
            </a:srgbClr>
          </a:solidFill>
          <a:ln/>
        </p:spPr>
        <p:txBody>
          <a:bodyPr/>
          <a:lstStyle/>
          <a:p>
            <a:endParaRPr lang="en-US"/>
          </a:p>
        </p:txBody>
      </p:sp>
      <p:sp>
        <p:nvSpPr>
          <p:cNvPr id="36" name="Shape 34"/>
          <p:cNvSpPr/>
          <p:nvPr/>
        </p:nvSpPr>
        <p:spPr>
          <a:xfrm>
            <a:off x="5600329" y="5489992"/>
            <a:ext cx="82358" cy="1368008"/>
          </a:xfrm>
          <a:prstGeom prst="roundRect">
            <a:avLst>
              <a:gd name="adj" fmla="val 22205"/>
            </a:avLst>
          </a:prstGeom>
          <a:solidFill>
            <a:srgbClr val="0E8A8F">
              <a:alpha val="70000"/>
            </a:srgbClr>
          </a:solidFill>
          <a:ln/>
        </p:spPr>
        <p:txBody>
          <a:bodyPr/>
          <a:lstStyle/>
          <a:p>
            <a:endParaRPr lang="en-US"/>
          </a:p>
        </p:txBody>
      </p:sp>
      <p:sp>
        <p:nvSpPr>
          <p:cNvPr id="37" name="Shape 35"/>
          <p:cNvSpPr/>
          <p:nvPr/>
        </p:nvSpPr>
        <p:spPr>
          <a:xfrm>
            <a:off x="5765045" y="5168298"/>
            <a:ext cx="82358" cy="1689702"/>
          </a:xfrm>
          <a:prstGeom prst="roundRect">
            <a:avLst>
              <a:gd name="adj" fmla="val 22205"/>
            </a:avLst>
          </a:prstGeom>
          <a:solidFill>
            <a:srgbClr val="0E8A8F">
              <a:alpha val="70000"/>
            </a:srgbClr>
          </a:solidFill>
          <a:ln/>
        </p:spPr>
        <p:txBody>
          <a:bodyPr/>
          <a:lstStyle/>
          <a:p>
            <a:endParaRPr lang="en-US"/>
          </a:p>
        </p:txBody>
      </p:sp>
      <p:sp>
        <p:nvSpPr>
          <p:cNvPr id="38" name="Shape 36"/>
          <p:cNvSpPr/>
          <p:nvPr/>
        </p:nvSpPr>
        <p:spPr>
          <a:xfrm>
            <a:off x="5929760" y="6227930"/>
            <a:ext cx="82358" cy="630070"/>
          </a:xfrm>
          <a:prstGeom prst="roundRect">
            <a:avLst>
              <a:gd name="adj" fmla="val 22205"/>
            </a:avLst>
          </a:prstGeom>
          <a:solidFill>
            <a:srgbClr val="0E8A8F">
              <a:alpha val="70000"/>
            </a:srgbClr>
          </a:solidFill>
          <a:ln/>
        </p:spPr>
        <p:txBody>
          <a:bodyPr/>
          <a:lstStyle/>
          <a:p>
            <a:endParaRPr lang="en-US"/>
          </a:p>
        </p:txBody>
      </p:sp>
      <p:sp>
        <p:nvSpPr>
          <p:cNvPr id="39" name="Shape 37"/>
          <p:cNvSpPr/>
          <p:nvPr/>
        </p:nvSpPr>
        <p:spPr>
          <a:xfrm>
            <a:off x="6094476" y="5513007"/>
            <a:ext cx="82358" cy="1344993"/>
          </a:xfrm>
          <a:prstGeom prst="roundRect">
            <a:avLst>
              <a:gd name="adj" fmla="val 22205"/>
            </a:avLst>
          </a:prstGeom>
          <a:solidFill>
            <a:srgbClr val="0E8A8F">
              <a:alpha val="70000"/>
            </a:srgbClr>
          </a:solidFill>
          <a:ln/>
        </p:spPr>
        <p:txBody>
          <a:bodyPr/>
          <a:lstStyle/>
          <a:p>
            <a:endParaRPr lang="en-US"/>
          </a:p>
        </p:txBody>
      </p:sp>
      <p:sp>
        <p:nvSpPr>
          <p:cNvPr id="40" name="Shape 38"/>
          <p:cNvSpPr/>
          <p:nvPr/>
        </p:nvSpPr>
        <p:spPr>
          <a:xfrm>
            <a:off x="6259192" y="5931609"/>
            <a:ext cx="82358" cy="926391"/>
          </a:xfrm>
          <a:prstGeom prst="roundRect">
            <a:avLst>
              <a:gd name="adj" fmla="val 22205"/>
            </a:avLst>
          </a:prstGeom>
          <a:solidFill>
            <a:srgbClr val="0E8A8F">
              <a:alpha val="70000"/>
            </a:srgbClr>
          </a:solidFill>
          <a:ln/>
        </p:spPr>
        <p:txBody>
          <a:bodyPr/>
          <a:lstStyle/>
          <a:p>
            <a:endParaRPr lang="en-US"/>
          </a:p>
        </p:txBody>
      </p:sp>
      <p:sp>
        <p:nvSpPr>
          <p:cNvPr id="41" name="Shape 39"/>
          <p:cNvSpPr/>
          <p:nvPr/>
        </p:nvSpPr>
        <p:spPr>
          <a:xfrm>
            <a:off x="6423907" y="5922333"/>
            <a:ext cx="82358" cy="935667"/>
          </a:xfrm>
          <a:prstGeom prst="roundRect">
            <a:avLst>
              <a:gd name="adj" fmla="val 22205"/>
            </a:avLst>
          </a:prstGeom>
          <a:solidFill>
            <a:srgbClr val="0E8A8F">
              <a:alpha val="70000"/>
            </a:srgbClr>
          </a:solidFill>
          <a:ln/>
        </p:spPr>
        <p:txBody>
          <a:bodyPr/>
          <a:lstStyle/>
          <a:p>
            <a:endParaRPr lang="en-US"/>
          </a:p>
        </p:txBody>
      </p:sp>
      <p:sp>
        <p:nvSpPr>
          <p:cNvPr id="42" name="Shape 40"/>
          <p:cNvSpPr/>
          <p:nvPr/>
        </p:nvSpPr>
        <p:spPr>
          <a:xfrm>
            <a:off x="6588623" y="5526990"/>
            <a:ext cx="82358" cy="1331010"/>
          </a:xfrm>
          <a:prstGeom prst="roundRect">
            <a:avLst>
              <a:gd name="adj" fmla="val 22205"/>
            </a:avLst>
          </a:prstGeom>
          <a:solidFill>
            <a:srgbClr val="0E8A8F">
              <a:alpha val="70000"/>
            </a:srgbClr>
          </a:solidFill>
          <a:ln/>
        </p:spPr>
        <p:txBody>
          <a:bodyPr/>
          <a:lstStyle/>
          <a:p>
            <a:endParaRPr lang="en-US"/>
          </a:p>
        </p:txBody>
      </p:sp>
      <p:sp>
        <p:nvSpPr>
          <p:cNvPr id="43" name="Shape 41"/>
          <p:cNvSpPr/>
          <p:nvPr/>
        </p:nvSpPr>
        <p:spPr>
          <a:xfrm>
            <a:off x="6753338" y="6309477"/>
            <a:ext cx="82358" cy="548523"/>
          </a:xfrm>
          <a:prstGeom prst="roundRect">
            <a:avLst>
              <a:gd name="adj" fmla="val 22205"/>
            </a:avLst>
          </a:prstGeom>
          <a:solidFill>
            <a:srgbClr val="0E8A8F">
              <a:alpha val="70000"/>
            </a:srgbClr>
          </a:solidFill>
          <a:ln/>
        </p:spPr>
        <p:txBody>
          <a:bodyPr/>
          <a:lstStyle/>
          <a:p>
            <a:endParaRPr lang="en-US"/>
          </a:p>
        </p:txBody>
      </p:sp>
      <p:sp>
        <p:nvSpPr>
          <p:cNvPr id="44" name="Shape 42"/>
          <p:cNvSpPr/>
          <p:nvPr/>
        </p:nvSpPr>
        <p:spPr>
          <a:xfrm>
            <a:off x="6918054" y="6347540"/>
            <a:ext cx="82358" cy="510460"/>
          </a:xfrm>
          <a:prstGeom prst="roundRect">
            <a:avLst>
              <a:gd name="adj" fmla="val 22205"/>
            </a:avLst>
          </a:prstGeom>
          <a:solidFill>
            <a:srgbClr val="0E8A8F">
              <a:alpha val="70000"/>
            </a:srgbClr>
          </a:solidFill>
          <a:ln/>
        </p:spPr>
        <p:txBody>
          <a:bodyPr/>
          <a:lstStyle/>
          <a:p>
            <a:endParaRPr lang="en-US"/>
          </a:p>
        </p:txBody>
      </p:sp>
      <p:sp>
        <p:nvSpPr>
          <p:cNvPr id="45" name="Shape 43"/>
          <p:cNvSpPr/>
          <p:nvPr/>
        </p:nvSpPr>
        <p:spPr>
          <a:xfrm>
            <a:off x="7082769" y="6111596"/>
            <a:ext cx="82358" cy="746404"/>
          </a:xfrm>
          <a:prstGeom prst="roundRect">
            <a:avLst>
              <a:gd name="adj" fmla="val 22205"/>
            </a:avLst>
          </a:prstGeom>
          <a:solidFill>
            <a:srgbClr val="0E8A8F">
              <a:alpha val="70000"/>
            </a:srgbClr>
          </a:solidFill>
          <a:ln/>
        </p:spPr>
        <p:txBody>
          <a:bodyPr/>
          <a:lstStyle/>
          <a:p>
            <a:endParaRPr lang="en-US"/>
          </a:p>
        </p:txBody>
      </p:sp>
      <p:sp>
        <p:nvSpPr>
          <p:cNvPr id="46" name="Shape 44"/>
          <p:cNvSpPr/>
          <p:nvPr/>
        </p:nvSpPr>
        <p:spPr>
          <a:xfrm>
            <a:off x="7247485" y="5890383"/>
            <a:ext cx="82358" cy="967617"/>
          </a:xfrm>
          <a:prstGeom prst="roundRect">
            <a:avLst>
              <a:gd name="adj" fmla="val 22205"/>
            </a:avLst>
          </a:prstGeom>
          <a:solidFill>
            <a:srgbClr val="0E8A8F">
              <a:alpha val="70000"/>
            </a:srgbClr>
          </a:solidFill>
          <a:ln/>
        </p:spPr>
        <p:txBody>
          <a:bodyPr/>
          <a:lstStyle/>
          <a:p>
            <a:endParaRPr lang="en-US"/>
          </a:p>
        </p:txBody>
      </p:sp>
      <p:sp>
        <p:nvSpPr>
          <p:cNvPr id="47" name="Shape 45"/>
          <p:cNvSpPr/>
          <p:nvPr/>
        </p:nvSpPr>
        <p:spPr>
          <a:xfrm>
            <a:off x="7412201" y="6040602"/>
            <a:ext cx="82358" cy="817398"/>
          </a:xfrm>
          <a:prstGeom prst="roundRect">
            <a:avLst>
              <a:gd name="adj" fmla="val 22205"/>
            </a:avLst>
          </a:prstGeom>
          <a:solidFill>
            <a:srgbClr val="0E8A8F">
              <a:alpha val="70000"/>
            </a:srgbClr>
          </a:solidFill>
          <a:ln/>
        </p:spPr>
        <p:txBody>
          <a:bodyPr/>
          <a:lstStyle/>
          <a:p>
            <a:endParaRPr lang="en-US"/>
          </a:p>
        </p:txBody>
      </p:sp>
      <p:sp>
        <p:nvSpPr>
          <p:cNvPr id="48" name="Shape 46"/>
          <p:cNvSpPr/>
          <p:nvPr/>
        </p:nvSpPr>
        <p:spPr>
          <a:xfrm>
            <a:off x="7576916" y="5962656"/>
            <a:ext cx="82358" cy="895344"/>
          </a:xfrm>
          <a:prstGeom prst="roundRect">
            <a:avLst>
              <a:gd name="adj" fmla="val 22205"/>
            </a:avLst>
          </a:prstGeom>
          <a:solidFill>
            <a:srgbClr val="0E8A8F">
              <a:alpha val="70000"/>
            </a:srgbClr>
          </a:solidFill>
          <a:ln/>
        </p:spPr>
        <p:txBody>
          <a:bodyPr/>
          <a:lstStyle/>
          <a:p>
            <a:endParaRPr lang="en-US"/>
          </a:p>
        </p:txBody>
      </p:sp>
      <p:sp>
        <p:nvSpPr>
          <p:cNvPr id="49" name="Shape 47"/>
          <p:cNvSpPr/>
          <p:nvPr/>
        </p:nvSpPr>
        <p:spPr>
          <a:xfrm>
            <a:off x="7741632" y="5934579"/>
            <a:ext cx="82358" cy="923421"/>
          </a:xfrm>
          <a:prstGeom prst="roundRect">
            <a:avLst>
              <a:gd name="adj" fmla="val 22205"/>
            </a:avLst>
          </a:prstGeom>
          <a:solidFill>
            <a:srgbClr val="0E8A8F">
              <a:alpha val="70000"/>
            </a:srgbClr>
          </a:solidFill>
          <a:ln/>
        </p:spPr>
        <p:txBody>
          <a:bodyPr/>
          <a:lstStyle/>
          <a:p>
            <a:endParaRPr lang="en-US"/>
          </a:p>
        </p:txBody>
      </p:sp>
      <p:sp>
        <p:nvSpPr>
          <p:cNvPr id="50" name="Shape 48"/>
          <p:cNvSpPr/>
          <p:nvPr/>
        </p:nvSpPr>
        <p:spPr>
          <a:xfrm>
            <a:off x="7906347" y="5681748"/>
            <a:ext cx="82358" cy="1176252"/>
          </a:xfrm>
          <a:prstGeom prst="roundRect">
            <a:avLst>
              <a:gd name="adj" fmla="val 22205"/>
            </a:avLst>
          </a:prstGeom>
          <a:solidFill>
            <a:srgbClr val="0E8A8F">
              <a:alpha val="70000"/>
            </a:srgbClr>
          </a:solidFill>
          <a:ln/>
        </p:spPr>
        <p:txBody>
          <a:bodyPr/>
          <a:lstStyle/>
          <a:p>
            <a:endParaRPr lang="en-US"/>
          </a:p>
        </p:txBody>
      </p:sp>
      <p:sp>
        <p:nvSpPr>
          <p:cNvPr id="51" name="Shape 49"/>
          <p:cNvSpPr/>
          <p:nvPr/>
        </p:nvSpPr>
        <p:spPr>
          <a:xfrm>
            <a:off x="8071063" y="6068590"/>
            <a:ext cx="82358" cy="789410"/>
          </a:xfrm>
          <a:prstGeom prst="roundRect">
            <a:avLst>
              <a:gd name="adj" fmla="val 22205"/>
            </a:avLst>
          </a:prstGeom>
          <a:solidFill>
            <a:srgbClr val="0E8A8F">
              <a:alpha val="70000"/>
            </a:srgbClr>
          </a:solidFill>
          <a:ln/>
        </p:spPr>
        <p:txBody>
          <a:bodyPr/>
          <a:lstStyle/>
          <a:p>
            <a:endParaRPr lang="en-US"/>
          </a:p>
        </p:txBody>
      </p:sp>
      <p:sp>
        <p:nvSpPr>
          <p:cNvPr id="52" name="Shape 50"/>
          <p:cNvSpPr/>
          <p:nvPr/>
        </p:nvSpPr>
        <p:spPr>
          <a:xfrm>
            <a:off x="8235778" y="5828442"/>
            <a:ext cx="82358" cy="1029558"/>
          </a:xfrm>
          <a:prstGeom prst="roundRect">
            <a:avLst>
              <a:gd name="adj" fmla="val 22205"/>
            </a:avLst>
          </a:prstGeom>
          <a:solidFill>
            <a:srgbClr val="0E8A8F">
              <a:alpha val="70000"/>
            </a:srgbClr>
          </a:solidFill>
          <a:ln/>
        </p:spPr>
        <p:txBody>
          <a:bodyPr/>
          <a:lstStyle/>
          <a:p>
            <a:endParaRPr lang="en-US"/>
          </a:p>
        </p:txBody>
      </p:sp>
      <p:sp>
        <p:nvSpPr>
          <p:cNvPr id="53" name="Shape 51"/>
          <p:cNvSpPr/>
          <p:nvPr/>
        </p:nvSpPr>
        <p:spPr>
          <a:xfrm>
            <a:off x="8400494" y="5742367"/>
            <a:ext cx="82358" cy="1115633"/>
          </a:xfrm>
          <a:prstGeom prst="roundRect">
            <a:avLst>
              <a:gd name="adj" fmla="val 22205"/>
            </a:avLst>
          </a:prstGeom>
          <a:solidFill>
            <a:srgbClr val="0E8A8F">
              <a:alpha val="70000"/>
            </a:srgbClr>
          </a:solidFill>
          <a:ln/>
        </p:spPr>
        <p:txBody>
          <a:bodyPr/>
          <a:lstStyle/>
          <a:p>
            <a:endParaRPr lang="en-US"/>
          </a:p>
        </p:txBody>
      </p:sp>
      <p:sp>
        <p:nvSpPr>
          <p:cNvPr id="54" name="Shape 52"/>
          <p:cNvSpPr/>
          <p:nvPr/>
        </p:nvSpPr>
        <p:spPr>
          <a:xfrm>
            <a:off x="8565210" y="5775065"/>
            <a:ext cx="82358" cy="1082935"/>
          </a:xfrm>
          <a:prstGeom prst="roundRect">
            <a:avLst>
              <a:gd name="adj" fmla="val 22205"/>
            </a:avLst>
          </a:prstGeom>
          <a:solidFill>
            <a:srgbClr val="0E8A8F">
              <a:alpha val="70000"/>
            </a:srgbClr>
          </a:solidFill>
          <a:ln/>
        </p:spPr>
        <p:txBody>
          <a:bodyPr/>
          <a:lstStyle/>
          <a:p>
            <a:endParaRPr lang="en-US"/>
          </a:p>
        </p:txBody>
      </p:sp>
      <p:sp>
        <p:nvSpPr>
          <p:cNvPr id="55" name="Shape 53"/>
          <p:cNvSpPr/>
          <p:nvPr/>
        </p:nvSpPr>
        <p:spPr>
          <a:xfrm>
            <a:off x="8729925" y="5486008"/>
            <a:ext cx="82358" cy="1371992"/>
          </a:xfrm>
          <a:prstGeom prst="roundRect">
            <a:avLst>
              <a:gd name="adj" fmla="val 22205"/>
            </a:avLst>
          </a:prstGeom>
          <a:solidFill>
            <a:srgbClr val="0E8A8F">
              <a:alpha val="70000"/>
            </a:srgbClr>
          </a:solidFill>
          <a:ln/>
        </p:spPr>
        <p:txBody>
          <a:bodyPr/>
          <a:lstStyle/>
          <a:p>
            <a:endParaRPr lang="en-US"/>
          </a:p>
        </p:txBody>
      </p:sp>
      <p:sp>
        <p:nvSpPr>
          <p:cNvPr id="56" name="Shape 54"/>
          <p:cNvSpPr/>
          <p:nvPr/>
        </p:nvSpPr>
        <p:spPr>
          <a:xfrm>
            <a:off x="8894641" y="5680776"/>
            <a:ext cx="82358" cy="1177224"/>
          </a:xfrm>
          <a:prstGeom prst="roundRect">
            <a:avLst>
              <a:gd name="adj" fmla="val 22205"/>
            </a:avLst>
          </a:prstGeom>
          <a:solidFill>
            <a:srgbClr val="0E8A8F">
              <a:alpha val="70000"/>
            </a:srgbClr>
          </a:solidFill>
          <a:ln/>
        </p:spPr>
        <p:txBody>
          <a:bodyPr/>
          <a:lstStyle/>
          <a:p>
            <a:endParaRPr lang="en-US"/>
          </a:p>
        </p:txBody>
      </p:sp>
      <p:sp>
        <p:nvSpPr>
          <p:cNvPr id="57" name="Shape 55"/>
          <p:cNvSpPr/>
          <p:nvPr/>
        </p:nvSpPr>
        <p:spPr>
          <a:xfrm>
            <a:off x="9059356" y="6366531"/>
            <a:ext cx="82358" cy="491469"/>
          </a:xfrm>
          <a:prstGeom prst="roundRect">
            <a:avLst>
              <a:gd name="adj" fmla="val 22205"/>
            </a:avLst>
          </a:prstGeom>
          <a:solidFill>
            <a:srgbClr val="0E8A8F">
              <a:alpha val="70000"/>
            </a:srgbClr>
          </a:solidFill>
          <a:ln/>
        </p:spPr>
        <p:txBody>
          <a:bodyPr/>
          <a:lstStyle/>
          <a:p>
            <a:endParaRPr lang="en-US"/>
          </a:p>
        </p:txBody>
      </p:sp>
      <p:sp>
        <p:nvSpPr>
          <p:cNvPr id="58" name="Shape 56"/>
          <p:cNvSpPr/>
          <p:nvPr/>
        </p:nvSpPr>
        <p:spPr>
          <a:xfrm>
            <a:off x="9224072" y="5838215"/>
            <a:ext cx="82358" cy="1019785"/>
          </a:xfrm>
          <a:prstGeom prst="roundRect">
            <a:avLst>
              <a:gd name="adj" fmla="val 22205"/>
            </a:avLst>
          </a:prstGeom>
          <a:solidFill>
            <a:srgbClr val="0E8A8F">
              <a:alpha val="70000"/>
            </a:srgbClr>
          </a:solidFill>
          <a:ln/>
        </p:spPr>
        <p:txBody>
          <a:bodyPr/>
          <a:lstStyle/>
          <a:p>
            <a:endParaRPr lang="en-US"/>
          </a:p>
        </p:txBody>
      </p:sp>
      <p:sp>
        <p:nvSpPr>
          <p:cNvPr id="59" name="Shape 57"/>
          <p:cNvSpPr/>
          <p:nvPr/>
        </p:nvSpPr>
        <p:spPr>
          <a:xfrm>
            <a:off x="9388787" y="5958483"/>
            <a:ext cx="82358" cy="899517"/>
          </a:xfrm>
          <a:prstGeom prst="roundRect">
            <a:avLst>
              <a:gd name="adj" fmla="val 22205"/>
            </a:avLst>
          </a:prstGeom>
          <a:solidFill>
            <a:srgbClr val="0E8A8F">
              <a:alpha val="70000"/>
            </a:srgbClr>
          </a:solidFill>
          <a:ln/>
        </p:spPr>
        <p:txBody>
          <a:bodyPr/>
          <a:lstStyle/>
          <a:p>
            <a:endParaRPr lang="en-US"/>
          </a:p>
        </p:txBody>
      </p:sp>
      <p:sp>
        <p:nvSpPr>
          <p:cNvPr id="60" name="Shape 58"/>
          <p:cNvSpPr/>
          <p:nvPr/>
        </p:nvSpPr>
        <p:spPr>
          <a:xfrm>
            <a:off x="9553503" y="5511187"/>
            <a:ext cx="82358" cy="1346813"/>
          </a:xfrm>
          <a:prstGeom prst="roundRect">
            <a:avLst>
              <a:gd name="adj" fmla="val 22205"/>
            </a:avLst>
          </a:prstGeom>
          <a:solidFill>
            <a:srgbClr val="0E8A8F">
              <a:alpha val="70000"/>
            </a:srgbClr>
          </a:solidFill>
          <a:ln/>
        </p:spPr>
        <p:txBody>
          <a:bodyPr/>
          <a:lstStyle/>
          <a:p>
            <a:endParaRPr lang="en-US"/>
          </a:p>
        </p:txBody>
      </p:sp>
      <p:sp>
        <p:nvSpPr>
          <p:cNvPr id="61" name="Shape 59"/>
          <p:cNvSpPr/>
          <p:nvPr/>
        </p:nvSpPr>
        <p:spPr>
          <a:xfrm>
            <a:off x="9718218" y="6178227"/>
            <a:ext cx="82358" cy="679773"/>
          </a:xfrm>
          <a:prstGeom prst="roundRect">
            <a:avLst>
              <a:gd name="adj" fmla="val 22205"/>
            </a:avLst>
          </a:prstGeom>
          <a:solidFill>
            <a:srgbClr val="0E8A8F">
              <a:alpha val="70000"/>
            </a:srgbClr>
          </a:solidFill>
          <a:ln/>
        </p:spPr>
        <p:txBody>
          <a:bodyPr/>
          <a:lstStyle/>
          <a:p>
            <a:endParaRPr lang="en-US"/>
          </a:p>
        </p:txBody>
      </p:sp>
      <p:sp>
        <p:nvSpPr>
          <p:cNvPr id="62" name="Shape 60"/>
          <p:cNvSpPr/>
          <p:nvPr/>
        </p:nvSpPr>
        <p:spPr>
          <a:xfrm>
            <a:off x="9882934" y="6494016"/>
            <a:ext cx="82358" cy="363984"/>
          </a:xfrm>
          <a:prstGeom prst="roundRect">
            <a:avLst>
              <a:gd name="adj" fmla="val 22205"/>
            </a:avLst>
          </a:prstGeom>
          <a:solidFill>
            <a:srgbClr val="0E8A8F">
              <a:alpha val="70000"/>
            </a:srgbClr>
          </a:solidFill>
          <a:ln/>
        </p:spPr>
        <p:txBody>
          <a:bodyPr/>
          <a:lstStyle/>
          <a:p>
            <a:endParaRPr lang="en-US"/>
          </a:p>
        </p:txBody>
      </p:sp>
      <p:sp>
        <p:nvSpPr>
          <p:cNvPr id="63" name="Shape 61"/>
          <p:cNvSpPr/>
          <p:nvPr/>
        </p:nvSpPr>
        <p:spPr>
          <a:xfrm>
            <a:off x="10047650" y="5744269"/>
            <a:ext cx="82358" cy="1113731"/>
          </a:xfrm>
          <a:prstGeom prst="roundRect">
            <a:avLst>
              <a:gd name="adj" fmla="val 22205"/>
            </a:avLst>
          </a:prstGeom>
          <a:solidFill>
            <a:srgbClr val="0E8A8F">
              <a:alpha val="70000"/>
            </a:srgbClr>
          </a:solidFill>
          <a:ln/>
        </p:spPr>
        <p:txBody>
          <a:bodyPr/>
          <a:lstStyle/>
          <a:p>
            <a:endParaRPr lang="en-US"/>
          </a:p>
        </p:txBody>
      </p:sp>
      <p:sp>
        <p:nvSpPr>
          <p:cNvPr id="64" name="Shape 62"/>
          <p:cNvSpPr/>
          <p:nvPr/>
        </p:nvSpPr>
        <p:spPr>
          <a:xfrm>
            <a:off x="10212365" y="5737687"/>
            <a:ext cx="82358" cy="1120313"/>
          </a:xfrm>
          <a:prstGeom prst="roundRect">
            <a:avLst>
              <a:gd name="adj" fmla="val 22205"/>
            </a:avLst>
          </a:prstGeom>
          <a:solidFill>
            <a:srgbClr val="0E8A8F">
              <a:alpha val="70000"/>
            </a:srgbClr>
          </a:solidFill>
          <a:ln/>
        </p:spPr>
        <p:txBody>
          <a:bodyPr/>
          <a:lstStyle/>
          <a:p>
            <a:endParaRPr lang="en-US"/>
          </a:p>
        </p:txBody>
      </p:sp>
      <p:sp>
        <p:nvSpPr>
          <p:cNvPr id="65" name="Shape 63"/>
          <p:cNvSpPr/>
          <p:nvPr/>
        </p:nvSpPr>
        <p:spPr>
          <a:xfrm>
            <a:off x="10377081" y="5878910"/>
            <a:ext cx="82358" cy="979090"/>
          </a:xfrm>
          <a:prstGeom prst="roundRect">
            <a:avLst>
              <a:gd name="adj" fmla="val 22205"/>
            </a:avLst>
          </a:prstGeom>
          <a:solidFill>
            <a:srgbClr val="0E8A8F">
              <a:alpha val="70000"/>
            </a:srgbClr>
          </a:solidFill>
          <a:ln/>
        </p:spPr>
        <p:txBody>
          <a:bodyPr/>
          <a:lstStyle/>
          <a:p>
            <a:endParaRPr lang="en-US"/>
          </a:p>
        </p:txBody>
      </p:sp>
      <p:sp>
        <p:nvSpPr>
          <p:cNvPr id="66" name="Shape 64"/>
          <p:cNvSpPr/>
          <p:nvPr/>
        </p:nvSpPr>
        <p:spPr>
          <a:xfrm>
            <a:off x="10541796" y="5976128"/>
            <a:ext cx="82358" cy="881872"/>
          </a:xfrm>
          <a:prstGeom prst="roundRect">
            <a:avLst>
              <a:gd name="adj" fmla="val 22205"/>
            </a:avLst>
          </a:prstGeom>
          <a:solidFill>
            <a:srgbClr val="0E8A8F">
              <a:alpha val="70000"/>
            </a:srgbClr>
          </a:solidFill>
          <a:ln/>
        </p:spPr>
        <p:txBody>
          <a:bodyPr/>
          <a:lstStyle/>
          <a:p>
            <a:endParaRPr lang="en-US"/>
          </a:p>
        </p:txBody>
      </p:sp>
      <p:sp>
        <p:nvSpPr>
          <p:cNvPr id="67" name="Shape 65"/>
          <p:cNvSpPr/>
          <p:nvPr/>
        </p:nvSpPr>
        <p:spPr>
          <a:xfrm>
            <a:off x="10706512" y="6361631"/>
            <a:ext cx="82358" cy="496369"/>
          </a:xfrm>
          <a:prstGeom prst="roundRect">
            <a:avLst>
              <a:gd name="adj" fmla="val 22205"/>
            </a:avLst>
          </a:prstGeom>
          <a:solidFill>
            <a:srgbClr val="0E8A8F">
              <a:alpha val="70000"/>
            </a:srgbClr>
          </a:solidFill>
          <a:ln/>
        </p:spPr>
        <p:txBody>
          <a:bodyPr/>
          <a:lstStyle/>
          <a:p>
            <a:endParaRPr lang="en-US"/>
          </a:p>
        </p:txBody>
      </p:sp>
      <p:sp>
        <p:nvSpPr>
          <p:cNvPr id="68" name="Shape 66"/>
          <p:cNvSpPr/>
          <p:nvPr/>
        </p:nvSpPr>
        <p:spPr>
          <a:xfrm>
            <a:off x="10871227" y="6053653"/>
            <a:ext cx="82358" cy="804347"/>
          </a:xfrm>
          <a:prstGeom prst="roundRect">
            <a:avLst>
              <a:gd name="adj" fmla="val 22205"/>
            </a:avLst>
          </a:prstGeom>
          <a:solidFill>
            <a:srgbClr val="0E8A8F">
              <a:alpha val="70000"/>
            </a:srgbClr>
          </a:solidFill>
          <a:ln/>
        </p:spPr>
        <p:txBody>
          <a:bodyPr/>
          <a:lstStyle/>
          <a:p>
            <a:endParaRPr lang="en-US"/>
          </a:p>
        </p:txBody>
      </p:sp>
      <p:sp>
        <p:nvSpPr>
          <p:cNvPr id="69" name="Shape 67"/>
          <p:cNvSpPr/>
          <p:nvPr/>
        </p:nvSpPr>
        <p:spPr>
          <a:xfrm>
            <a:off x="11035943" y="6160369"/>
            <a:ext cx="82358" cy="697631"/>
          </a:xfrm>
          <a:prstGeom prst="roundRect">
            <a:avLst>
              <a:gd name="adj" fmla="val 22205"/>
            </a:avLst>
          </a:prstGeom>
          <a:solidFill>
            <a:srgbClr val="0E8A8F">
              <a:alpha val="70000"/>
            </a:srgbClr>
          </a:solidFill>
          <a:ln/>
        </p:spPr>
        <p:txBody>
          <a:bodyPr/>
          <a:lstStyle/>
          <a:p>
            <a:endParaRPr lang="en-US"/>
          </a:p>
        </p:txBody>
      </p:sp>
      <p:sp>
        <p:nvSpPr>
          <p:cNvPr id="70" name="Shape 68"/>
          <p:cNvSpPr/>
          <p:nvPr/>
        </p:nvSpPr>
        <p:spPr>
          <a:xfrm>
            <a:off x="11200659" y="6200191"/>
            <a:ext cx="82358" cy="657809"/>
          </a:xfrm>
          <a:prstGeom prst="roundRect">
            <a:avLst>
              <a:gd name="adj" fmla="val 22205"/>
            </a:avLst>
          </a:prstGeom>
          <a:solidFill>
            <a:srgbClr val="0E8A8F">
              <a:alpha val="70000"/>
            </a:srgbClr>
          </a:solidFill>
          <a:ln/>
        </p:spPr>
        <p:txBody>
          <a:bodyPr/>
          <a:lstStyle/>
          <a:p>
            <a:endParaRPr lang="en-US"/>
          </a:p>
        </p:txBody>
      </p:sp>
      <p:sp>
        <p:nvSpPr>
          <p:cNvPr id="71" name="Shape 69"/>
          <p:cNvSpPr/>
          <p:nvPr/>
        </p:nvSpPr>
        <p:spPr>
          <a:xfrm>
            <a:off x="11365374" y="6670948"/>
            <a:ext cx="82358" cy="187052"/>
          </a:xfrm>
          <a:prstGeom prst="roundRect">
            <a:avLst>
              <a:gd name="adj" fmla="val 22205"/>
            </a:avLst>
          </a:prstGeom>
          <a:solidFill>
            <a:srgbClr val="0E8A8F">
              <a:alpha val="70000"/>
            </a:srgbClr>
          </a:solidFill>
          <a:ln/>
        </p:spPr>
        <p:txBody>
          <a:bodyPr/>
          <a:lstStyle/>
          <a:p>
            <a:endParaRPr lang="en-US"/>
          </a:p>
        </p:txBody>
      </p:sp>
      <p:sp>
        <p:nvSpPr>
          <p:cNvPr id="72" name="Shape 70"/>
          <p:cNvSpPr/>
          <p:nvPr/>
        </p:nvSpPr>
        <p:spPr>
          <a:xfrm>
            <a:off x="11530090" y="6579022"/>
            <a:ext cx="82358" cy="278978"/>
          </a:xfrm>
          <a:prstGeom prst="roundRect">
            <a:avLst>
              <a:gd name="adj" fmla="val 22205"/>
            </a:avLst>
          </a:prstGeom>
          <a:solidFill>
            <a:srgbClr val="0E8A8F">
              <a:alpha val="70000"/>
            </a:srgbClr>
          </a:solidFill>
          <a:ln/>
        </p:spPr>
        <p:txBody>
          <a:bodyPr/>
          <a:lstStyle/>
          <a:p>
            <a:endParaRPr lang="en-US"/>
          </a:p>
        </p:txBody>
      </p:sp>
      <p:sp>
        <p:nvSpPr>
          <p:cNvPr id="73" name="Shape 71"/>
          <p:cNvSpPr/>
          <p:nvPr/>
        </p:nvSpPr>
        <p:spPr>
          <a:xfrm>
            <a:off x="11694805" y="6564467"/>
            <a:ext cx="82358" cy="293533"/>
          </a:xfrm>
          <a:prstGeom prst="roundRect">
            <a:avLst>
              <a:gd name="adj" fmla="val 22205"/>
            </a:avLst>
          </a:prstGeom>
          <a:solidFill>
            <a:srgbClr val="0E8A8F">
              <a:alpha val="70000"/>
            </a:srgbClr>
          </a:solidFill>
          <a:ln/>
        </p:spPr>
        <p:txBody>
          <a:bodyPr/>
          <a:lstStyle/>
          <a:p>
            <a:endParaRPr lang="en-US"/>
          </a:p>
        </p:txBody>
      </p:sp>
      <p:sp>
        <p:nvSpPr>
          <p:cNvPr id="74" name="Shape 72"/>
          <p:cNvSpPr/>
          <p:nvPr/>
        </p:nvSpPr>
        <p:spPr>
          <a:xfrm>
            <a:off x="11859521" y="6585164"/>
            <a:ext cx="82358" cy="272836"/>
          </a:xfrm>
          <a:prstGeom prst="roundRect">
            <a:avLst>
              <a:gd name="adj" fmla="val 22205"/>
            </a:avLst>
          </a:prstGeom>
          <a:solidFill>
            <a:srgbClr val="0E8A8F">
              <a:alpha val="70000"/>
            </a:srgbClr>
          </a:solidFill>
          <a:ln/>
        </p:spPr>
        <p:txBody>
          <a:bodyPr/>
          <a:lstStyle/>
          <a:p>
            <a:endParaRPr lang="en-US"/>
          </a:p>
        </p:txBody>
      </p:sp>
      <p:sp>
        <p:nvSpPr>
          <p:cNvPr id="75" name="Shape 73"/>
          <p:cNvSpPr/>
          <p:nvPr/>
        </p:nvSpPr>
        <p:spPr>
          <a:xfrm>
            <a:off x="12024236" y="6821424"/>
            <a:ext cx="82358" cy="36576"/>
          </a:xfrm>
          <a:prstGeom prst="roundRect">
            <a:avLst>
              <a:gd name="adj" fmla="val 50000"/>
            </a:avLst>
          </a:prstGeom>
          <a:solidFill>
            <a:srgbClr val="0E8A8F">
              <a:alpha val="70000"/>
            </a:srgbClr>
          </a:solidFill>
          <a:ln/>
        </p:spPr>
        <p:txBody>
          <a:bodyPr/>
          <a:lstStyle/>
          <a:p>
            <a:endParaRPr lang="en-US"/>
          </a:p>
        </p:txBody>
      </p:sp>
      <p:sp>
        <p:nvSpPr>
          <p:cNvPr id="76" name="Shape 74"/>
          <p:cNvSpPr/>
          <p:nvPr/>
        </p:nvSpPr>
        <p:spPr>
          <a:xfrm>
            <a:off x="0" y="6821424"/>
            <a:ext cx="82358" cy="36576"/>
          </a:xfrm>
          <a:prstGeom prst="roundRect">
            <a:avLst>
              <a:gd name="adj" fmla="val 50000"/>
            </a:avLst>
          </a:prstGeom>
          <a:solidFill>
            <a:srgbClr val="E08A3C">
              <a:alpha val="45000"/>
            </a:srgbClr>
          </a:solidFill>
          <a:ln/>
        </p:spPr>
        <p:txBody>
          <a:bodyPr/>
          <a:lstStyle/>
          <a:p>
            <a:endParaRPr lang="en-US"/>
          </a:p>
        </p:txBody>
      </p:sp>
      <p:sp>
        <p:nvSpPr>
          <p:cNvPr id="77" name="Shape 75"/>
          <p:cNvSpPr/>
          <p:nvPr/>
        </p:nvSpPr>
        <p:spPr>
          <a:xfrm>
            <a:off x="164716" y="6753364"/>
            <a:ext cx="82358" cy="104636"/>
          </a:xfrm>
          <a:prstGeom prst="roundRect">
            <a:avLst>
              <a:gd name="adj" fmla="val 22205"/>
            </a:avLst>
          </a:prstGeom>
          <a:solidFill>
            <a:srgbClr val="E08A3C">
              <a:alpha val="45000"/>
            </a:srgbClr>
          </a:solidFill>
          <a:ln/>
        </p:spPr>
        <p:txBody>
          <a:bodyPr/>
          <a:lstStyle/>
          <a:p>
            <a:endParaRPr lang="en-US"/>
          </a:p>
        </p:txBody>
      </p:sp>
      <p:sp>
        <p:nvSpPr>
          <p:cNvPr id="78" name="Shape 76"/>
          <p:cNvSpPr/>
          <p:nvPr/>
        </p:nvSpPr>
        <p:spPr>
          <a:xfrm>
            <a:off x="329431" y="6685645"/>
            <a:ext cx="82358" cy="172355"/>
          </a:xfrm>
          <a:prstGeom prst="roundRect">
            <a:avLst>
              <a:gd name="adj" fmla="val 22205"/>
            </a:avLst>
          </a:prstGeom>
          <a:solidFill>
            <a:srgbClr val="E08A3C">
              <a:alpha val="45000"/>
            </a:srgbClr>
          </a:solidFill>
          <a:ln/>
        </p:spPr>
        <p:txBody>
          <a:bodyPr/>
          <a:lstStyle/>
          <a:p>
            <a:endParaRPr lang="en-US"/>
          </a:p>
        </p:txBody>
      </p:sp>
      <p:sp>
        <p:nvSpPr>
          <p:cNvPr id="79" name="Shape 77"/>
          <p:cNvSpPr/>
          <p:nvPr/>
        </p:nvSpPr>
        <p:spPr>
          <a:xfrm>
            <a:off x="494147" y="6745425"/>
            <a:ext cx="82358" cy="112575"/>
          </a:xfrm>
          <a:prstGeom prst="roundRect">
            <a:avLst>
              <a:gd name="adj" fmla="val 22205"/>
            </a:avLst>
          </a:prstGeom>
          <a:solidFill>
            <a:srgbClr val="E08A3C">
              <a:alpha val="45000"/>
            </a:srgbClr>
          </a:solidFill>
          <a:ln/>
        </p:spPr>
        <p:txBody>
          <a:bodyPr/>
          <a:lstStyle/>
          <a:p>
            <a:endParaRPr lang="en-US"/>
          </a:p>
        </p:txBody>
      </p:sp>
      <p:sp>
        <p:nvSpPr>
          <p:cNvPr id="80" name="Shape 78"/>
          <p:cNvSpPr/>
          <p:nvPr/>
        </p:nvSpPr>
        <p:spPr>
          <a:xfrm>
            <a:off x="658862" y="6581684"/>
            <a:ext cx="82358" cy="276316"/>
          </a:xfrm>
          <a:prstGeom prst="roundRect">
            <a:avLst>
              <a:gd name="adj" fmla="val 22205"/>
            </a:avLst>
          </a:prstGeom>
          <a:solidFill>
            <a:srgbClr val="E08A3C">
              <a:alpha val="45000"/>
            </a:srgbClr>
          </a:solidFill>
          <a:ln/>
        </p:spPr>
        <p:txBody>
          <a:bodyPr/>
          <a:lstStyle/>
          <a:p>
            <a:endParaRPr lang="en-US"/>
          </a:p>
        </p:txBody>
      </p:sp>
      <p:sp>
        <p:nvSpPr>
          <p:cNvPr id="81" name="Shape 79"/>
          <p:cNvSpPr/>
          <p:nvPr/>
        </p:nvSpPr>
        <p:spPr>
          <a:xfrm>
            <a:off x="823578" y="6637008"/>
            <a:ext cx="82358" cy="220992"/>
          </a:xfrm>
          <a:prstGeom prst="roundRect">
            <a:avLst>
              <a:gd name="adj" fmla="val 22205"/>
            </a:avLst>
          </a:prstGeom>
          <a:solidFill>
            <a:srgbClr val="E08A3C">
              <a:alpha val="45000"/>
            </a:srgbClr>
          </a:solidFill>
          <a:ln/>
        </p:spPr>
        <p:txBody>
          <a:bodyPr/>
          <a:lstStyle/>
          <a:p>
            <a:endParaRPr lang="en-US"/>
          </a:p>
        </p:txBody>
      </p:sp>
      <p:sp>
        <p:nvSpPr>
          <p:cNvPr id="82" name="Shape 80"/>
          <p:cNvSpPr/>
          <p:nvPr/>
        </p:nvSpPr>
        <p:spPr>
          <a:xfrm>
            <a:off x="988293" y="6536383"/>
            <a:ext cx="82358" cy="321617"/>
          </a:xfrm>
          <a:prstGeom prst="roundRect">
            <a:avLst>
              <a:gd name="adj" fmla="val 22205"/>
            </a:avLst>
          </a:prstGeom>
          <a:solidFill>
            <a:srgbClr val="E08A3C">
              <a:alpha val="45000"/>
            </a:srgbClr>
          </a:solidFill>
          <a:ln/>
        </p:spPr>
        <p:txBody>
          <a:bodyPr/>
          <a:lstStyle/>
          <a:p>
            <a:endParaRPr lang="en-US"/>
          </a:p>
        </p:txBody>
      </p:sp>
      <p:sp>
        <p:nvSpPr>
          <p:cNvPr id="83" name="Shape 81"/>
          <p:cNvSpPr/>
          <p:nvPr/>
        </p:nvSpPr>
        <p:spPr>
          <a:xfrm>
            <a:off x="1153009" y="6561820"/>
            <a:ext cx="82358" cy="296180"/>
          </a:xfrm>
          <a:prstGeom prst="roundRect">
            <a:avLst>
              <a:gd name="adj" fmla="val 22205"/>
            </a:avLst>
          </a:prstGeom>
          <a:solidFill>
            <a:srgbClr val="E08A3C">
              <a:alpha val="45000"/>
            </a:srgbClr>
          </a:solidFill>
          <a:ln/>
        </p:spPr>
        <p:txBody>
          <a:bodyPr/>
          <a:lstStyle/>
          <a:p>
            <a:endParaRPr lang="en-US"/>
          </a:p>
        </p:txBody>
      </p:sp>
      <p:sp>
        <p:nvSpPr>
          <p:cNvPr id="84" name="Shape 82"/>
          <p:cNvSpPr/>
          <p:nvPr/>
        </p:nvSpPr>
        <p:spPr>
          <a:xfrm>
            <a:off x="1317725" y="6568714"/>
            <a:ext cx="82358" cy="289286"/>
          </a:xfrm>
          <a:prstGeom prst="roundRect">
            <a:avLst>
              <a:gd name="adj" fmla="val 22205"/>
            </a:avLst>
          </a:prstGeom>
          <a:solidFill>
            <a:srgbClr val="E08A3C">
              <a:alpha val="45000"/>
            </a:srgbClr>
          </a:solidFill>
          <a:ln/>
        </p:spPr>
        <p:txBody>
          <a:bodyPr/>
          <a:lstStyle/>
          <a:p>
            <a:endParaRPr lang="en-US"/>
          </a:p>
        </p:txBody>
      </p:sp>
      <p:sp>
        <p:nvSpPr>
          <p:cNvPr id="85" name="Shape 83"/>
          <p:cNvSpPr/>
          <p:nvPr/>
        </p:nvSpPr>
        <p:spPr>
          <a:xfrm>
            <a:off x="1482440" y="6347994"/>
            <a:ext cx="82358" cy="510006"/>
          </a:xfrm>
          <a:prstGeom prst="roundRect">
            <a:avLst>
              <a:gd name="adj" fmla="val 22205"/>
            </a:avLst>
          </a:prstGeom>
          <a:solidFill>
            <a:srgbClr val="E08A3C">
              <a:alpha val="45000"/>
            </a:srgbClr>
          </a:solidFill>
          <a:ln/>
        </p:spPr>
        <p:txBody>
          <a:bodyPr/>
          <a:lstStyle/>
          <a:p>
            <a:endParaRPr lang="en-US"/>
          </a:p>
        </p:txBody>
      </p:sp>
      <p:sp>
        <p:nvSpPr>
          <p:cNvPr id="86" name="Shape 84"/>
          <p:cNvSpPr/>
          <p:nvPr/>
        </p:nvSpPr>
        <p:spPr>
          <a:xfrm>
            <a:off x="1647156" y="6553181"/>
            <a:ext cx="82358" cy="304819"/>
          </a:xfrm>
          <a:prstGeom prst="roundRect">
            <a:avLst>
              <a:gd name="adj" fmla="val 22205"/>
            </a:avLst>
          </a:prstGeom>
          <a:solidFill>
            <a:srgbClr val="E08A3C">
              <a:alpha val="45000"/>
            </a:srgbClr>
          </a:solidFill>
          <a:ln/>
        </p:spPr>
        <p:txBody>
          <a:bodyPr/>
          <a:lstStyle/>
          <a:p>
            <a:endParaRPr lang="en-US"/>
          </a:p>
        </p:txBody>
      </p:sp>
      <p:sp>
        <p:nvSpPr>
          <p:cNvPr id="87" name="Shape 85"/>
          <p:cNvSpPr/>
          <p:nvPr/>
        </p:nvSpPr>
        <p:spPr>
          <a:xfrm>
            <a:off x="1811871" y="6265750"/>
            <a:ext cx="82358" cy="592250"/>
          </a:xfrm>
          <a:prstGeom prst="roundRect">
            <a:avLst>
              <a:gd name="adj" fmla="val 22205"/>
            </a:avLst>
          </a:prstGeom>
          <a:solidFill>
            <a:srgbClr val="E08A3C">
              <a:alpha val="45000"/>
            </a:srgbClr>
          </a:solidFill>
          <a:ln/>
        </p:spPr>
        <p:txBody>
          <a:bodyPr/>
          <a:lstStyle/>
          <a:p>
            <a:endParaRPr lang="en-US"/>
          </a:p>
        </p:txBody>
      </p:sp>
      <p:sp>
        <p:nvSpPr>
          <p:cNvPr id="88" name="Shape 86"/>
          <p:cNvSpPr/>
          <p:nvPr/>
        </p:nvSpPr>
        <p:spPr>
          <a:xfrm>
            <a:off x="1976587" y="6233183"/>
            <a:ext cx="82358" cy="624817"/>
          </a:xfrm>
          <a:prstGeom prst="roundRect">
            <a:avLst>
              <a:gd name="adj" fmla="val 22205"/>
            </a:avLst>
          </a:prstGeom>
          <a:solidFill>
            <a:srgbClr val="E08A3C">
              <a:alpha val="45000"/>
            </a:srgbClr>
          </a:solidFill>
          <a:ln/>
        </p:spPr>
        <p:txBody>
          <a:bodyPr/>
          <a:lstStyle/>
          <a:p>
            <a:endParaRPr lang="en-US"/>
          </a:p>
        </p:txBody>
      </p:sp>
      <p:sp>
        <p:nvSpPr>
          <p:cNvPr id="89" name="Shape 87"/>
          <p:cNvSpPr/>
          <p:nvPr/>
        </p:nvSpPr>
        <p:spPr>
          <a:xfrm>
            <a:off x="2141302" y="6123800"/>
            <a:ext cx="82358" cy="734200"/>
          </a:xfrm>
          <a:prstGeom prst="roundRect">
            <a:avLst>
              <a:gd name="adj" fmla="val 22205"/>
            </a:avLst>
          </a:prstGeom>
          <a:solidFill>
            <a:srgbClr val="E08A3C">
              <a:alpha val="45000"/>
            </a:srgbClr>
          </a:solidFill>
          <a:ln/>
        </p:spPr>
        <p:txBody>
          <a:bodyPr/>
          <a:lstStyle/>
          <a:p>
            <a:endParaRPr lang="en-US"/>
          </a:p>
        </p:txBody>
      </p:sp>
      <p:sp>
        <p:nvSpPr>
          <p:cNvPr id="90" name="Shape 88"/>
          <p:cNvSpPr/>
          <p:nvPr/>
        </p:nvSpPr>
        <p:spPr>
          <a:xfrm>
            <a:off x="2306018" y="6448321"/>
            <a:ext cx="82358" cy="409679"/>
          </a:xfrm>
          <a:prstGeom prst="roundRect">
            <a:avLst>
              <a:gd name="adj" fmla="val 22205"/>
            </a:avLst>
          </a:prstGeom>
          <a:solidFill>
            <a:srgbClr val="E08A3C">
              <a:alpha val="45000"/>
            </a:srgbClr>
          </a:solidFill>
          <a:ln/>
        </p:spPr>
        <p:txBody>
          <a:bodyPr/>
          <a:lstStyle/>
          <a:p>
            <a:endParaRPr lang="en-US"/>
          </a:p>
        </p:txBody>
      </p:sp>
      <p:sp>
        <p:nvSpPr>
          <p:cNvPr id="91" name="Shape 89"/>
          <p:cNvSpPr/>
          <p:nvPr/>
        </p:nvSpPr>
        <p:spPr>
          <a:xfrm>
            <a:off x="2470734" y="6461692"/>
            <a:ext cx="82358" cy="396308"/>
          </a:xfrm>
          <a:prstGeom prst="roundRect">
            <a:avLst>
              <a:gd name="adj" fmla="val 22205"/>
            </a:avLst>
          </a:prstGeom>
          <a:solidFill>
            <a:srgbClr val="E08A3C">
              <a:alpha val="45000"/>
            </a:srgbClr>
          </a:solidFill>
          <a:ln/>
        </p:spPr>
        <p:txBody>
          <a:bodyPr/>
          <a:lstStyle/>
          <a:p>
            <a:endParaRPr lang="en-US"/>
          </a:p>
        </p:txBody>
      </p:sp>
      <p:sp>
        <p:nvSpPr>
          <p:cNvPr id="92" name="Shape 90"/>
          <p:cNvSpPr/>
          <p:nvPr/>
        </p:nvSpPr>
        <p:spPr>
          <a:xfrm>
            <a:off x="2635449" y="6569494"/>
            <a:ext cx="82358" cy="288506"/>
          </a:xfrm>
          <a:prstGeom prst="roundRect">
            <a:avLst>
              <a:gd name="adj" fmla="val 22205"/>
            </a:avLst>
          </a:prstGeom>
          <a:solidFill>
            <a:srgbClr val="E08A3C">
              <a:alpha val="45000"/>
            </a:srgbClr>
          </a:solidFill>
          <a:ln/>
        </p:spPr>
        <p:txBody>
          <a:bodyPr/>
          <a:lstStyle/>
          <a:p>
            <a:endParaRPr lang="en-US"/>
          </a:p>
        </p:txBody>
      </p:sp>
      <p:sp>
        <p:nvSpPr>
          <p:cNvPr id="93" name="Shape 91"/>
          <p:cNvSpPr/>
          <p:nvPr/>
        </p:nvSpPr>
        <p:spPr>
          <a:xfrm>
            <a:off x="2800165" y="6507394"/>
            <a:ext cx="82358" cy="350606"/>
          </a:xfrm>
          <a:prstGeom prst="roundRect">
            <a:avLst>
              <a:gd name="adj" fmla="val 22205"/>
            </a:avLst>
          </a:prstGeom>
          <a:solidFill>
            <a:srgbClr val="E08A3C">
              <a:alpha val="45000"/>
            </a:srgbClr>
          </a:solidFill>
          <a:ln/>
        </p:spPr>
        <p:txBody>
          <a:bodyPr/>
          <a:lstStyle/>
          <a:p>
            <a:endParaRPr lang="en-US"/>
          </a:p>
        </p:txBody>
      </p:sp>
      <p:sp>
        <p:nvSpPr>
          <p:cNvPr id="94" name="Shape 92"/>
          <p:cNvSpPr/>
          <p:nvPr/>
        </p:nvSpPr>
        <p:spPr>
          <a:xfrm>
            <a:off x="2964880" y="6162923"/>
            <a:ext cx="82358" cy="695077"/>
          </a:xfrm>
          <a:prstGeom prst="roundRect">
            <a:avLst>
              <a:gd name="adj" fmla="val 22205"/>
            </a:avLst>
          </a:prstGeom>
          <a:solidFill>
            <a:srgbClr val="E08A3C">
              <a:alpha val="45000"/>
            </a:srgbClr>
          </a:solidFill>
          <a:ln/>
        </p:spPr>
        <p:txBody>
          <a:bodyPr/>
          <a:lstStyle/>
          <a:p>
            <a:endParaRPr lang="en-US"/>
          </a:p>
        </p:txBody>
      </p:sp>
      <p:sp>
        <p:nvSpPr>
          <p:cNvPr id="95" name="Shape 93"/>
          <p:cNvSpPr/>
          <p:nvPr/>
        </p:nvSpPr>
        <p:spPr>
          <a:xfrm>
            <a:off x="3129596" y="6571945"/>
            <a:ext cx="82358" cy="286055"/>
          </a:xfrm>
          <a:prstGeom prst="roundRect">
            <a:avLst>
              <a:gd name="adj" fmla="val 22205"/>
            </a:avLst>
          </a:prstGeom>
          <a:solidFill>
            <a:srgbClr val="E08A3C">
              <a:alpha val="45000"/>
            </a:srgbClr>
          </a:solidFill>
          <a:ln/>
        </p:spPr>
        <p:txBody>
          <a:bodyPr/>
          <a:lstStyle/>
          <a:p>
            <a:endParaRPr lang="en-US"/>
          </a:p>
        </p:txBody>
      </p:sp>
      <p:sp>
        <p:nvSpPr>
          <p:cNvPr id="96" name="Shape 94"/>
          <p:cNvSpPr/>
          <p:nvPr/>
        </p:nvSpPr>
        <p:spPr>
          <a:xfrm>
            <a:off x="3294311" y="6630197"/>
            <a:ext cx="82358" cy="227803"/>
          </a:xfrm>
          <a:prstGeom prst="roundRect">
            <a:avLst>
              <a:gd name="adj" fmla="val 22205"/>
            </a:avLst>
          </a:prstGeom>
          <a:solidFill>
            <a:srgbClr val="E08A3C">
              <a:alpha val="45000"/>
            </a:srgbClr>
          </a:solidFill>
          <a:ln/>
        </p:spPr>
        <p:txBody>
          <a:bodyPr/>
          <a:lstStyle/>
          <a:p>
            <a:endParaRPr lang="en-US"/>
          </a:p>
        </p:txBody>
      </p:sp>
      <p:sp>
        <p:nvSpPr>
          <p:cNvPr id="97" name="Shape 95"/>
          <p:cNvSpPr/>
          <p:nvPr/>
        </p:nvSpPr>
        <p:spPr>
          <a:xfrm>
            <a:off x="3459027" y="6162345"/>
            <a:ext cx="82358" cy="695655"/>
          </a:xfrm>
          <a:prstGeom prst="roundRect">
            <a:avLst>
              <a:gd name="adj" fmla="val 22205"/>
            </a:avLst>
          </a:prstGeom>
          <a:solidFill>
            <a:srgbClr val="E08A3C">
              <a:alpha val="45000"/>
            </a:srgbClr>
          </a:solidFill>
          <a:ln/>
        </p:spPr>
        <p:txBody>
          <a:bodyPr/>
          <a:lstStyle/>
          <a:p>
            <a:endParaRPr lang="en-US"/>
          </a:p>
        </p:txBody>
      </p:sp>
      <p:sp>
        <p:nvSpPr>
          <p:cNvPr id="98" name="Shape 96"/>
          <p:cNvSpPr/>
          <p:nvPr/>
        </p:nvSpPr>
        <p:spPr>
          <a:xfrm>
            <a:off x="3623742" y="6106956"/>
            <a:ext cx="82358" cy="751044"/>
          </a:xfrm>
          <a:prstGeom prst="roundRect">
            <a:avLst>
              <a:gd name="adj" fmla="val 22205"/>
            </a:avLst>
          </a:prstGeom>
          <a:solidFill>
            <a:srgbClr val="E08A3C">
              <a:alpha val="45000"/>
            </a:srgbClr>
          </a:solidFill>
          <a:ln/>
        </p:spPr>
        <p:txBody>
          <a:bodyPr/>
          <a:lstStyle/>
          <a:p>
            <a:endParaRPr lang="en-US"/>
          </a:p>
        </p:txBody>
      </p:sp>
      <p:sp>
        <p:nvSpPr>
          <p:cNvPr id="99" name="Shape 97"/>
          <p:cNvSpPr/>
          <p:nvPr/>
        </p:nvSpPr>
        <p:spPr>
          <a:xfrm>
            <a:off x="3788458" y="6283094"/>
            <a:ext cx="82358" cy="574906"/>
          </a:xfrm>
          <a:prstGeom prst="roundRect">
            <a:avLst>
              <a:gd name="adj" fmla="val 22205"/>
            </a:avLst>
          </a:prstGeom>
          <a:solidFill>
            <a:srgbClr val="E08A3C">
              <a:alpha val="45000"/>
            </a:srgbClr>
          </a:solidFill>
          <a:ln/>
        </p:spPr>
        <p:txBody>
          <a:bodyPr/>
          <a:lstStyle/>
          <a:p>
            <a:endParaRPr lang="en-US"/>
          </a:p>
        </p:txBody>
      </p:sp>
      <p:sp>
        <p:nvSpPr>
          <p:cNvPr id="100" name="Shape 98"/>
          <p:cNvSpPr/>
          <p:nvPr/>
        </p:nvSpPr>
        <p:spPr>
          <a:xfrm>
            <a:off x="3953174" y="6169914"/>
            <a:ext cx="82358" cy="688086"/>
          </a:xfrm>
          <a:prstGeom prst="roundRect">
            <a:avLst>
              <a:gd name="adj" fmla="val 22205"/>
            </a:avLst>
          </a:prstGeom>
          <a:solidFill>
            <a:srgbClr val="E08A3C">
              <a:alpha val="45000"/>
            </a:srgbClr>
          </a:solidFill>
          <a:ln/>
        </p:spPr>
        <p:txBody>
          <a:bodyPr/>
          <a:lstStyle/>
          <a:p>
            <a:endParaRPr lang="en-US"/>
          </a:p>
        </p:txBody>
      </p:sp>
      <p:sp>
        <p:nvSpPr>
          <p:cNvPr id="101" name="Shape 99"/>
          <p:cNvSpPr/>
          <p:nvPr/>
        </p:nvSpPr>
        <p:spPr>
          <a:xfrm>
            <a:off x="4117889" y="6297556"/>
            <a:ext cx="82358" cy="560444"/>
          </a:xfrm>
          <a:prstGeom prst="roundRect">
            <a:avLst>
              <a:gd name="adj" fmla="val 22205"/>
            </a:avLst>
          </a:prstGeom>
          <a:solidFill>
            <a:srgbClr val="E08A3C">
              <a:alpha val="45000"/>
            </a:srgbClr>
          </a:solidFill>
          <a:ln/>
        </p:spPr>
        <p:txBody>
          <a:bodyPr/>
          <a:lstStyle/>
          <a:p>
            <a:endParaRPr lang="en-US"/>
          </a:p>
        </p:txBody>
      </p:sp>
      <p:sp>
        <p:nvSpPr>
          <p:cNvPr id="102" name="Shape 100"/>
          <p:cNvSpPr/>
          <p:nvPr/>
        </p:nvSpPr>
        <p:spPr>
          <a:xfrm>
            <a:off x="4282605" y="6169470"/>
            <a:ext cx="82358" cy="688530"/>
          </a:xfrm>
          <a:prstGeom prst="roundRect">
            <a:avLst>
              <a:gd name="adj" fmla="val 22205"/>
            </a:avLst>
          </a:prstGeom>
          <a:solidFill>
            <a:srgbClr val="E08A3C">
              <a:alpha val="45000"/>
            </a:srgbClr>
          </a:solidFill>
          <a:ln/>
        </p:spPr>
        <p:txBody>
          <a:bodyPr/>
          <a:lstStyle/>
          <a:p>
            <a:endParaRPr lang="en-US"/>
          </a:p>
        </p:txBody>
      </p:sp>
      <p:sp>
        <p:nvSpPr>
          <p:cNvPr id="103" name="Shape 101"/>
          <p:cNvSpPr/>
          <p:nvPr/>
        </p:nvSpPr>
        <p:spPr>
          <a:xfrm>
            <a:off x="4447320" y="6519344"/>
            <a:ext cx="82358" cy="338656"/>
          </a:xfrm>
          <a:prstGeom prst="roundRect">
            <a:avLst>
              <a:gd name="adj" fmla="val 22205"/>
            </a:avLst>
          </a:prstGeom>
          <a:solidFill>
            <a:srgbClr val="E08A3C">
              <a:alpha val="45000"/>
            </a:srgbClr>
          </a:solidFill>
          <a:ln/>
        </p:spPr>
        <p:txBody>
          <a:bodyPr/>
          <a:lstStyle/>
          <a:p>
            <a:endParaRPr lang="en-US"/>
          </a:p>
        </p:txBody>
      </p:sp>
      <p:sp>
        <p:nvSpPr>
          <p:cNvPr id="104" name="Shape 102"/>
          <p:cNvSpPr/>
          <p:nvPr/>
        </p:nvSpPr>
        <p:spPr>
          <a:xfrm>
            <a:off x="4612036" y="5894523"/>
            <a:ext cx="82358" cy="963477"/>
          </a:xfrm>
          <a:prstGeom prst="roundRect">
            <a:avLst>
              <a:gd name="adj" fmla="val 22205"/>
            </a:avLst>
          </a:prstGeom>
          <a:solidFill>
            <a:srgbClr val="E08A3C">
              <a:alpha val="45000"/>
            </a:srgbClr>
          </a:solidFill>
          <a:ln/>
        </p:spPr>
        <p:txBody>
          <a:bodyPr/>
          <a:lstStyle/>
          <a:p>
            <a:endParaRPr lang="en-US"/>
          </a:p>
        </p:txBody>
      </p:sp>
      <p:sp>
        <p:nvSpPr>
          <p:cNvPr id="105" name="Shape 103"/>
          <p:cNvSpPr/>
          <p:nvPr/>
        </p:nvSpPr>
        <p:spPr>
          <a:xfrm>
            <a:off x="4776751" y="6243034"/>
            <a:ext cx="82358" cy="614966"/>
          </a:xfrm>
          <a:prstGeom prst="roundRect">
            <a:avLst>
              <a:gd name="adj" fmla="val 22205"/>
            </a:avLst>
          </a:prstGeom>
          <a:solidFill>
            <a:srgbClr val="E08A3C">
              <a:alpha val="45000"/>
            </a:srgbClr>
          </a:solidFill>
          <a:ln/>
        </p:spPr>
        <p:txBody>
          <a:bodyPr/>
          <a:lstStyle/>
          <a:p>
            <a:endParaRPr lang="en-US"/>
          </a:p>
        </p:txBody>
      </p:sp>
      <p:sp>
        <p:nvSpPr>
          <p:cNvPr id="106" name="Shape 104"/>
          <p:cNvSpPr/>
          <p:nvPr/>
        </p:nvSpPr>
        <p:spPr>
          <a:xfrm>
            <a:off x="4941467" y="6318504"/>
            <a:ext cx="82358" cy="539496"/>
          </a:xfrm>
          <a:prstGeom prst="roundRect">
            <a:avLst>
              <a:gd name="adj" fmla="val 22205"/>
            </a:avLst>
          </a:prstGeom>
          <a:solidFill>
            <a:srgbClr val="E08A3C">
              <a:alpha val="45000"/>
            </a:srgbClr>
          </a:solidFill>
          <a:ln/>
        </p:spPr>
        <p:txBody>
          <a:bodyPr/>
          <a:lstStyle/>
          <a:p>
            <a:endParaRPr lang="en-US"/>
          </a:p>
        </p:txBody>
      </p:sp>
      <p:sp>
        <p:nvSpPr>
          <p:cNvPr id="107" name="Shape 105"/>
          <p:cNvSpPr/>
          <p:nvPr/>
        </p:nvSpPr>
        <p:spPr>
          <a:xfrm>
            <a:off x="5106183" y="6013219"/>
            <a:ext cx="82358" cy="844781"/>
          </a:xfrm>
          <a:prstGeom prst="roundRect">
            <a:avLst>
              <a:gd name="adj" fmla="val 22205"/>
            </a:avLst>
          </a:prstGeom>
          <a:solidFill>
            <a:srgbClr val="E08A3C">
              <a:alpha val="45000"/>
            </a:srgbClr>
          </a:solidFill>
          <a:ln/>
        </p:spPr>
        <p:txBody>
          <a:bodyPr/>
          <a:lstStyle/>
          <a:p>
            <a:endParaRPr lang="en-US"/>
          </a:p>
        </p:txBody>
      </p:sp>
      <p:sp>
        <p:nvSpPr>
          <p:cNvPr id="108" name="Shape 106"/>
          <p:cNvSpPr/>
          <p:nvPr/>
        </p:nvSpPr>
        <p:spPr>
          <a:xfrm>
            <a:off x="5270898" y="6302869"/>
            <a:ext cx="82358" cy="555131"/>
          </a:xfrm>
          <a:prstGeom prst="roundRect">
            <a:avLst>
              <a:gd name="adj" fmla="val 22205"/>
            </a:avLst>
          </a:prstGeom>
          <a:solidFill>
            <a:srgbClr val="E08A3C">
              <a:alpha val="45000"/>
            </a:srgbClr>
          </a:solidFill>
          <a:ln/>
        </p:spPr>
        <p:txBody>
          <a:bodyPr/>
          <a:lstStyle/>
          <a:p>
            <a:endParaRPr lang="en-US"/>
          </a:p>
        </p:txBody>
      </p:sp>
      <p:sp>
        <p:nvSpPr>
          <p:cNvPr id="109" name="Shape 107"/>
          <p:cNvSpPr/>
          <p:nvPr/>
        </p:nvSpPr>
        <p:spPr>
          <a:xfrm>
            <a:off x="5435614" y="5842420"/>
            <a:ext cx="82358" cy="1015580"/>
          </a:xfrm>
          <a:prstGeom prst="roundRect">
            <a:avLst>
              <a:gd name="adj" fmla="val 22205"/>
            </a:avLst>
          </a:prstGeom>
          <a:solidFill>
            <a:srgbClr val="E08A3C">
              <a:alpha val="45000"/>
            </a:srgbClr>
          </a:solidFill>
          <a:ln/>
        </p:spPr>
        <p:txBody>
          <a:bodyPr/>
          <a:lstStyle/>
          <a:p>
            <a:endParaRPr lang="en-US"/>
          </a:p>
        </p:txBody>
      </p:sp>
      <p:sp>
        <p:nvSpPr>
          <p:cNvPr id="110" name="Shape 108"/>
          <p:cNvSpPr/>
          <p:nvPr/>
        </p:nvSpPr>
        <p:spPr>
          <a:xfrm>
            <a:off x="5600329" y="6109531"/>
            <a:ext cx="82358" cy="748469"/>
          </a:xfrm>
          <a:prstGeom prst="roundRect">
            <a:avLst>
              <a:gd name="adj" fmla="val 22205"/>
            </a:avLst>
          </a:prstGeom>
          <a:solidFill>
            <a:srgbClr val="E08A3C">
              <a:alpha val="45000"/>
            </a:srgbClr>
          </a:solidFill>
          <a:ln/>
        </p:spPr>
        <p:txBody>
          <a:bodyPr/>
          <a:lstStyle/>
          <a:p>
            <a:endParaRPr lang="en-US"/>
          </a:p>
        </p:txBody>
      </p:sp>
      <p:sp>
        <p:nvSpPr>
          <p:cNvPr id="111" name="Shape 109"/>
          <p:cNvSpPr/>
          <p:nvPr/>
        </p:nvSpPr>
        <p:spPr>
          <a:xfrm>
            <a:off x="5765045" y="6024700"/>
            <a:ext cx="82358" cy="833300"/>
          </a:xfrm>
          <a:prstGeom prst="roundRect">
            <a:avLst>
              <a:gd name="adj" fmla="val 22205"/>
            </a:avLst>
          </a:prstGeom>
          <a:solidFill>
            <a:srgbClr val="E08A3C">
              <a:alpha val="45000"/>
            </a:srgbClr>
          </a:solidFill>
          <a:ln/>
        </p:spPr>
        <p:txBody>
          <a:bodyPr/>
          <a:lstStyle/>
          <a:p>
            <a:endParaRPr lang="en-US"/>
          </a:p>
        </p:txBody>
      </p:sp>
      <p:sp>
        <p:nvSpPr>
          <p:cNvPr id="112" name="Shape 110"/>
          <p:cNvSpPr/>
          <p:nvPr/>
        </p:nvSpPr>
        <p:spPr>
          <a:xfrm>
            <a:off x="5929760" y="6317485"/>
            <a:ext cx="82358" cy="540515"/>
          </a:xfrm>
          <a:prstGeom prst="roundRect">
            <a:avLst>
              <a:gd name="adj" fmla="val 22205"/>
            </a:avLst>
          </a:prstGeom>
          <a:solidFill>
            <a:srgbClr val="E08A3C">
              <a:alpha val="45000"/>
            </a:srgbClr>
          </a:solidFill>
          <a:ln/>
        </p:spPr>
        <p:txBody>
          <a:bodyPr/>
          <a:lstStyle/>
          <a:p>
            <a:endParaRPr lang="en-US"/>
          </a:p>
        </p:txBody>
      </p:sp>
      <p:sp>
        <p:nvSpPr>
          <p:cNvPr id="113" name="Shape 111"/>
          <p:cNvSpPr/>
          <p:nvPr/>
        </p:nvSpPr>
        <p:spPr>
          <a:xfrm>
            <a:off x="6094476" y="6226312"/>
            <a:ext cx="82358" cy="631688"/>
          </a:xfrm>
          <a:prstGeom prst="roundRect">
            <a:avLst>
              <a:gd name="adj" fmla="val 22205"/>
            </a:avLst>
          </a:prstGeom>
          <a:solidFill>
            <a:srgbClr val="E08A3C">
              <a:alpha val="45000"/>
            </a:srgbClr>
          </a:solidFill>
          <a:ln/>
        </p:spPr>
        <p:txBody>
          <a:bodyPr/>
          <a:lstStyle/>
          <a:p>
            <a:endParaRPr lang="en-US"/>
          </a:p>
        </p:txBody>
      </p:sp>
      <p:sp>
        <p:nvSpPr>
          <p:cNvPr id="114" name="Shape 112"/>
          <p:cNvSpPr/>
          <p:nvPr/>
        </p:nvSpPr>
        <p:spPr>
          <a:xfrm>
            <a:off x="6259192" y="5936409"/>
            <a:ext cx="82358" cy="921591"/>
          </a:xfrm>
          <a:prstGeom prst="roundRect">
            <a:avLst>
              <a:gd name="adj" fmla="val 22205"/>
            </a:avLst>
          </a:prstGeom>
          <a:solidFill>
            <a:srgbClr val="E08A3C">
              <a:alpha val="45000"/>
            </a:srgbClr>
          </a:solidFill>
          <a:ln/>
        </p:spPr>
        <p:txBody>
          <a:bodyPr/>
          <a:lstStyle/>
          <a:p>
            <a:endParaRPr lang="en-US"/>
          </a:p>
        </p:txBody>
      </p:sp>
      <p:sp>
        <p:nvSpPr>
          <p:cNvPr id="115" name="Shape 113"/>
          <p:cNvSpPr/>
          <p:nvPr/>
        </p:nvSpPr>
        <p:spPr>
          <a:xfrm>
            <a:off x="6423907" y="6475111"/>
            <a:ext cx="82358" cy="382889"/>
          </a:xfrm>
          <a:prstGeom prst="roundRect">
            <a:avLst>
              <a:gd name="adj" fmla="val 22205"/>
            </a:avLst>
          </a:prstGeom>
          <a:solidFill>
            <a:srgbClr val="E08A3C">
              <a:alpha val="45000"/>
            </a:srgbClr>
          </a:solidFill>
          <a:ln/>
        </p:spPr>
        <p:txBody>
          <a:bodyPr/>
          <a:lstStyle/>
          <a:p>
            <a:endParaRPr lang="en-US"/>
          </a:p>
        </p:txBody>
      </p:sp>
      <p:sp>
        <p:nvSpPr>
          <p:cNvPr id="116" name="Shape 114"/>
          <p:cNvSpPr/>
          <p:nvPr/>
        </p:nvSpPr>
        <p:spPr>
          <a:xfrm>
            <a:off x="6588623" y="6009658"/>
            <a:ext cx="82358" cy="848342"/>
          </a:xfrm>
          <a:prstGeom prst="roundRect">
            <a:avLst>
              <a:gd name="adj" fmla="val 22205"/>
            </a:avLst>
          </a:prstGeom>
          <a:solidFill>
            <a:srgbClr val="E08A3C">
              <a:alpha val="45000"/>
            </a:srgbClr>
          </a:solidFill>
          <a:ln/>
        </p:spPr>
        <p:txBody>
          <a:bodyPr/>
          <a:lstStyle/>
          <a:p>
            <a:endParaRPr lang="en-US"/>
          </a:p>
        </p:txBody>
      </p:sp>
      <p:sp>
        <p:nvSpPr>
          <p:cNvPr id="117" name="Shape 115"/>
          <p:cNvSpPr/>
          <p:nvPr/>
        </p:nvSpPr>
        <p:spPr>
          <a:xfrm>
            <a:off x="6753338" y="5978771"/>
            <a:ext cx="82358" cy="879229"/>
          </a:xfrm>
          <a:prstGeom prst="roundRect">
            <a:avLst>
              <a:gd name="adj" fmla="val 22205"/>
            </a:avLst>
          </a:prstGeom>
          <a:solidFill>
            <a:srgbClr val="E08A3C">
              <a:alpha val="45000"/>
            </a:srgbClr>
          </a:solidFill>
          <a:ln/>
        </p:spPr>
        <p:txBody>
          <a:bodyPr/>
          <a:lstStyle/>
          <a:p>
            <a:endParaRPr lang="en-US"/>
          </a:p>
        </p:txBody>
      </p:sp>
      <p:sp>
        <p:nvSpPr>
          <p:cNvPr id="118" name="Shape 116"/>
          <p:cNvSpPr/>
          <p:nvPr/>
        </p:nvSpPr>
        <p:spPr>
          <a:xfrm>
            <a:off x="6918054" y="6247015"/>
            <a:ext cx="82358" cy="610985"/>
          </a:xfrm>
          <a:prstGeom prst="roundRect">
            <a:avLst>
              <a:gd name="adj" fmla="val 22205"/>
            </a:avLst>
          </a:prstGeom>
          <a:solidFill>
            <a:srgbClr val="E08A3C">
              <a:alpha val="45000"/>
            </a:srgbClr>
          </a:solidFill>
          <a:ln/>
        </p:spPr>
        <p:txBody>
          <a:bodyPr/>
          <a:lstStyle/>
          <a:p>
            <a:endParaRPr lang="en-US"/>
          </a:p>
        </p:txBody>
      </p:sp>
      <p:sp>
        <p:nvSpPr>
          <p:cNvPr id="119" name="Shape 117"/>
          <p:cNvSpPr/>
          <p:nvPr/>
        </p:nvSpPr>
        <p:spPr>
          <a:xfrm>
            <a:off x="7082769" y="5911092"/>
            <a:ext cx="82358" cy="946908"/>
          </a:xfrm>
          <a:prstGeom prst="roundRect">
            <a:avLst>
              <a:gd name="adj" fmla="val 22205"/>
            </a:avLst>
          </a:prstGeom>
          <a:solidFill>
            <a:srgbClr val="E08A3C">
              <a:alpha val="45000"/>
            </a:srgbClr>
          </a:solidFill>
          <a:ln/>
        </p:spPr>
        <p:txBody>
          <a:bodyPr/>
          <a:lstStyle/>
          <a:p>
            <a:endParaRPr lang="en-US"/>
          </a:p>
        </p:txBody>
      </p:sp>
      <p:sp>
        <p:nvSpPr>
          <p:cNvPr id="120" name="Shape 118"/>
          <p:cNvSpPr/>
          <p:nvPr/>
        </p:nvSpPr>
        <p:spPr>
          <a:xfrm>
            <a:off x="7247485" y="5928201"/>
            <a:ext cx="82358" cy="929799"/>
          </a:xfrm>
          <a:prstGeom prst="roundRect">
            <a:avLst>
              <a:gd name="adj" fmla="val 22205"/>
            </a:avLst>
          </a:prstGeom>
          <a:solidFill>
            <a:srgbClr val="E08A3C">
              <a:alpha val="45000"/>
            </a:srgbClr>
          </a:solidFill>
          <a:ln/>
        </p:spPr>
        <p:txBody>
          <a:bodyPr/>
          <a:lstStyle/>
          <a:p>
            <a:endParaRPr lang="en-US"/>
          </a:p>
        </p:txBody>
      </p:sp>
      <p:sp>
        <p:nvSpPr>
          <p:cNvPr id="121" name="Shape 119"/>
          <p:cNvSpPr/>
          <p:nvPr/>
        </p:nvSpPr>
        <p:spPr>
          <a:xfrm>
            <a:off x="7412201" y="5988875"/>
            <a:ext cx="82358" cy="869125"/>
          </a:xfrm>
          <a:prstGeom prst="roundRect">
            <a:avLst>
              <a:gd name="adj" fmla="val 22205"/>
            </a:avLst>
          </a:prstGeom>
          <a:solidFill>
            <a:srgbClr val="E08A3C">
              <a:alpha val="45000"/>
            </a:srgbClr>
          </a:solidFill>
          <a:ln/>
        </p:spPr>
        <p:txBody>
          <a:bodyPr/>
          <a:lstStyle/>
          <a:p>
            <a:endParaRPr lang="en-US"/>
          </a:p>
        </p:txBody>
      </p:sp>
      <p:sp>
        <p:nvSpPr>
          <p:cNvPr id="122" name="Shape 120"/>
          <p:cNvSpPr/>
          <p:nvPr/>
        </p:nvSpPr>
        <p:spPr>
          <a:xfrm>
            <a:off x="7576916" y="5894547"/>
            <a:ext cx="82358" cy="963453"/>
          </a:xfrm>
          <a:prstGeom prst="roundRect">
            <a:avLst>
              <a:gd name="adj" fmla="val 22205"/>
            </a:avLst>
          </a:prstGeom>
          <a:solidFill>
            <a:srgbClr val="E08A3C">
              <a:alpha val="45000"/>
            </a:srgbClr>
          </a:solidFill>
          <a:ln/>
        </p:spPr>
        <p:txBody>
          <a:bodyPr/>
          <a:lstStyle/>
          <a:p>
            <a:endParaRPr lang="en-US"/>
          </a:p>
        </p:txBody>
      </p:sp>
      <p:sp>
        <p:nvSpPr>
          <p:cNvPr id="123" name="Shape 121"/>
          <p:cNvSpPr/>
          <p:nvPr/>
        </p:nvSpPr>
        <p:spPr>
          <a:xfrm>
            <a:off x="7741632" y="6240311"/>
            <a:ext cx="82358" cy="617689"/>
          </a:xfrm>
          <a:prstGeom prst="roundRect">
            <a:avLst>
              <a:gd name="adj" fmla="val 22205"/>
            </a:avLst>
          </a:prstGeom>
          <a:solidFill>
            <a:srgbClr val="E08A3C">
              <a:alpha val="45000"/>
            </a:srgbClr>
          </a:solidFill>
          <a:ln/>
        </p:spPr>
        <p:txBody>
          <a:bodyPr/>
          <a:lstStyle/>
          <a:p>
            <a:endParaRPr lang="en-US"/>
          </a:p>
        </p:txBody>
      </p:sp>
      <p:sp>
        <p:nvSpPr>
          <p:cNvPr id="124" name="Shape 122"/>
          <p:cNvSpPr/>
          <p:nvPr/>
        </p:nvSpPr>
        <p:spPr>
          <a:xfrm>
            <a:off x="7906347" y="6104037"/>
            <a:ext cx="82358" cy="753963"/>
          </a:xfrm>
          <a:prstGeom prst="roundRect">
            <a:avLst>
              <a:gd name="adj" fmla="val 22205"/>
            </a:avLst>
          </a:prstGeom>
          <a:solidFill>
            <a:srgbClr val="E08A3C">
              <a:alpha val="45000"/>
            </a:srgbClr>
          </a:solidFill>
          <a:ln/>
        </p:spPr>
        <p:txBody>
          <a:bodyPr/>
          <a:lstStyle/>
          <a:p>
            <a:endParaRPr lang="en-US"/>
          </a:p>
        </p:txBody>
      </p:sp>
      <p:sp>
        <p:nvSpPr>
          <p:cNvPr id="125" name="Shape 123"/>
          <p:cNvSpPr/>
          <p:nvPr/>
        </p:nvSpPr>
        <p:spPr>
          <a:xfrm>
            <a:off x="8071063" y="6566826"/>
            <a:ext cx="82358" cy="291174"/>
          </a:xfrm>
          <a:prstGeom prst="roundRect">
            <a:avLst>
              <a:gd name="adj" fmla="val 22205"/>
            </a:avLst>
          </a:prstGeom>
          <a:solidFill>
            <a:srgbClr val="E08A3C">
              <a:alpha val="45000"/>
            </a:srgbClr>
          </a:solidFill>
          <a:ln/>
        </p:spPr>
        <p:txBody>
          <a:bodyPr/>
          <a:lstStyle/>
          <a:p>
            <a:endParaRPr lang="en-US"/>
          </a:p>
        </p:txBody>
      </p:sp>
      <p:sp>
        <p:nvSpPr>
          <p:cNvPr id="126" name="Shape 124"/>
          <p:cNvSpPr/>
          <p:nvPr/>
        </p:nvSpPr>
        <p:spPr>
          <a:xfrm>
            <a:off x="8235778" y="6408613"/>
            <a:ext cx="82358" cy="449387"/>
          </a:xfrm>
          <a:prstGeom prst="roundRect">
            <a:avLst>
              <a:gd name="adj" fmla="val 22205"/>
            </a:avLst>
          </a:prstGeom>
          <a:solidFill>
            <a:srgbClr val="E08A3C">
              <a:alpha val="45000"/>
            </a:srgbClr>
          </a:solidFill>
          <a:ln/>
        </p:spPr>
        <p:txBody>
          <a:bodyPr/>
          <a:lstStyle/>
          <a:p>
            <a:endParaRPr lang="en-US"/>
          </a:p>
        </p:txBody>
      </p:sp>
      <p:sp>
        <p:nvSpPr>
          <p:cNvPr id="127" name="Shape 125"/>
          <p:cNvSpPr/>
          <p:nvPr/>
        </p:nvSpPr>
        <p:spPr>
          <a:xfrm>
            <a:off x="8400494" y="6040081"/>
            <a:ext cx="82358" cy="817919"/>
          </a:xfrm>
          <a:prstGeom prst="roundRect">
            <a:avLst>
              <a:gd name="adj" fmla="val 22205"/>
            </a:avLst>
          </a:prstGeom>
          <a:solidFill>
            <a:srgbClr val="E08A3C">
              <a:alpha val="45000"/>
            </a:srgbClr>
          </a:solidFill>
          <a:ln/>
        </p:spPr>
        <p:txBody>
          <a:bodyPr/>
          <a:lstStyle/>
          <a:p>
            <a:endParaRPr lang="en-US"/>
          </a:p>
        </p:txBody>
      </p:sp>
      <p:sp>
        <p:nvSpPr>
          <p:cNvPr id="128" name="Shape 126"/>
          <p:cNvSpPr/>
          <p:nvPr/>
        </p:nvSpPr>
        <p:spPr>
          <a:xfrm>
            <a:off x="8565210" y="5954432"/>
            <a:ext cx="82358" cy="903568"/>
          </a:xfrm>
          <a:prstGeom prst="roundRect">
            <a:avLst>
              <a:gd name="adj" fmla="val 22205"/>
            </a:avLst>
          </a:prstGeom>
          <a:solidFill>
            <a:srgbClr val="E08A3C">
              <a:alpha val="45000"/>
            </a:srgbClr>
          </a:solidFill>
          <a:ln/>
        </p:spPr>
        <p:txBody>
          <a:bodyPr/>
          <a:lstStyle/>
          <a:p>
            <a:endParaRPr lang="en-US"/>
          </a:p>
        </p:txBody>
      </p:sp>
      <p:sp>
        <p:nvSpPr>
          <p:cNvPr id="129" name="Shape 127"/>
          <p:cNvSpPr/>
          <p:nvPr/>
        </p:nvSpPr>
        <p:spPr>
          <a:xfrm>
            <a:off x="8729925" y="6573931"/>
            <a:ext cx="82358" cy="284069"/>
          </a:xfrm>
          <a:prstGeom prst="roundRect">
            <a:avLst>
              <a:gd name="adj" fmla="val 22205"/>
            </a:avLst>
          </a:prstGeom>
          <a:solidFill>
            <a:srgbClr val="E08A3C">
              <a:alpha val="45000"/>
            </a:srgbClr>
          </a:solidFill>
          <a:ln/>
        </p:spPr>
        <p:txBody>
          <a:bodyPr/>
          <a:lstStyle/>
          <a:p>
            <a:endParaRPr lang="en-US"/>
          </a:p>
        </p:txBody>
      </p:sp>
      <p:sp>
        <p:nvSpPr>
          <p:cNvPr id="130" name="Shape 128"/>
          <p:cNvSpPr/>
          <p:nvPr/>
        </p:nvSpPr>
        <p:spPr>
          <a:xfrm>
            <a:off x="8894641" y="6422512"/>
            <a:ext cx="82358" cy="435488"/>
          </a:xfrm>
          <a:prstGeom prst="roundRect">
            <a:avLst>
              <a:gd name="adj" fmla="val 22205"/>
            </a:avLst>
          </a:prstGeom>
          <a:solidFill>
            <a:srgbClr val="E08A3C">
              <a:alpha val="45000"/>
            </a:srgbClr>
          </a:solidFill>
          <a:ln/>
        </p:spPr>
        <p:txBody>
          <a:bodyPr/>
          <a:lstStyle/>
          <a:p>
            <a:endParaRPr lang="en-US"/>
          </a:p>
        </p:txBody>
      </p:sp>
      <p:sp>
        <p:nvSpPr>
          <p:cNvPr id="131" name="Shape 129"/>
          <p:cNvSpPr/>
          <p:nvPr/>
        </p:nvSpPr>
        <p:spPr>
          <a:xfrm>
            <a:off x="9059356" y="6330774"/>
            <a:ext cx="82358" cy="527226"/>
          </a:xfrm>
          <a:prstGeom prst="roundRect">
            <a:avLst>
              <a:gd name="adj" fmla="val 22205"/>
            </a:avLst>
          </a:prstGeom>
          <a:solidFill>
            <a:srgbClr val="E08A3C">
              <a:alpha val="45000"/>
            </a:srgbClr>
          </a:solidFill>
          <a:ln/>
        </p:spPr>
        <p:txBody>
          <a:bodyPr/>
          <a:lstStyle/>
          <a:p>
            <a:endParaRPr lang="en-US"/>
          </a:p>
        </p:txBody>
      </p:sp>
      <p:sp>
        <p:nvSpPr>
          <p:cNvPr id="132" name="Shape 130"/>
          <p:cNvSpPr/>
          <p:nvPr/>
        </p:nvSpPr>
        <p:spPr>
          <a:xfrm>
            <a:off x="9224072" y="6037003"/>
            <a:ext cx="82358" cy="820997"/>
          </a:xfrm>
          <a:prstGeom prst="roundRect">
            <a:avLst>
              <a:gd name="adj" fmla="val 22205"/>
            </a:avLst>
          </a:prstGeom>
          <a:solidFill>
            <a:srgbClr val="E08A3C">
              <a:alpha val="45000"/>
            </a:srgbClr>
          </a:solidFill>
          <a:ln/>
        </p:spPr>
        <p:txBody>
          <a:bodyPr/>
          <a:lstStyle/>
          <a:p>
            <a:endParaRPr lang="en-US"/>
          </a:p>
        </p:txBody>
      </p:sp>
      <p:sp>
        <p:nvSpPr>
          <p:cNvPr id="133" name="Shape 131"/>
          <p:cNvSpPr/>
          <p:nvPr/>
        </p:nvSpPr>
        <p:spPr>
          <a:xfrm>
            <a:off x="9388787" y="6319687"/>
            <a:ext cx="82358" cy="538313"/>
          </a:xfrm>
          <a:prstGeom prst="roundRect">
            <a:avLst>
              <a:gd name="adj" fmla="val 22205"/>
            </a:avLst>
          </a:prstGeom>
          <a:solidFill>
            <a:srgbClr val="E08A3C">
              <a:alpha val="45000"/>
            </a:srgbClr>
          </a:solidFill>
          <a:ln/>
        </p:spPr>
        <p:txBody>
          <a:bodyPr/>
          <a:lstStyle/>
          <a:p>
            <a:endParaRPr lang="en-US"/>
          </a:p>
        </p:txBody>
      </p:sp>
      <p:sp>
        <p:nvSpPr>
          <p:cNvPr id="134" name="Shape 132"/>
          <p:cNvSpPr/>
          <p:nvPr/>
        </p:nvSpPr>
        <p:spPr>
          <a:xfrm>
            <a:off x="9553503" y="6618912"/>
            <a:ext cx="82358" cy="239088"/>
          </a:xfrm>
          <a:prstGeom prst="roundRect">
            <a:avLst>
              <a:gd name="adj" fmla="val 22205"/>
            </a:avLst>
          </a:prstGeom>
          <a:solidFill>
            <a:srgbClr val="E08A3C">
              <a:alpha val="45000"/>
            </a:srgbClr>
          </a:solidFill>
          <a:ln/>
        </p:spPr>
        <p:txBody>
          <a:bodyPr/>
          <a:lstStyle/>
          <a:p>
            <a:endParaRPr lang="en-US"/>
          </a:p>
        </p:txBody>
      </p:sp>
      <p:sp>
        <p:nvSpPr>
          <p:cNvPr id="135" name="Shape 133"/>
          <p:cNvSpPr/>
          <p:nvPr/>
        </p:nvSpPr>
        <p:spPr>
          <a:xfrm>
            <a:off x="9718218" y="6226898"/>
            <a:ext cx="82358" cy="631102"/>
          </a:xfrm>
          <a:prstGeom prst="roundRect">
            <a:avLst>
              <a:gd name="adj" fmla="val 22205"/>
            </a:avLst>
          </a:prstGeom>
          <a:solidFill>
            <a:srgbClr val="E08A3C">
              <a:alpha val="45000"/>
            </a:srgbClr>
          </a:solidFill>
          <a:ln/>
        </p:spPr>
        <p:txBody>
          <a:bodyPr/>
          <a:lstStyle/>
          <a:p>
            <a:endParaRPr lang="en-US"/>
          </a:p>
        </p:txBody>
      </p:sp>
      <p:sp>
        <p:nvSpPr>
          <p:cNvPr id="136" name="Shape 134"/>
          <p:cNvSpPr/>
          <p:nvPr/>
        </p:nvSpPr>
        <p:spPr>
          <a:xfrm>
            <a:off x="9882934" y="6196639"/>
            <a:ext cx="82358" cy="661361"/>
          </a:xfrm>
          <a:prstGeom prst="roundRect">
            <a:avLst>
              <a:gd name="adj" fmla="val 22205"/>
            </a:avLst>
          </a:prstGeom>
          <a:solidFill>
            <a:srgbClr val="E08A3C">
              <a:alpha val="45000"/>
            </a:srgbClr>
          </a:solidFill>
          <a:ln/>
        </p:spPr>
        <p:txBody>
          <a:bodyPr/>
          <a:lstStyle/>
          <a:p>
            <a:endParaRPr lang="en-US"/>
          </a:p>
        </p:txBody>
      </p:sp>
      <p:sp>
        <p:nvSpPr>
          <p:cNvPr id="137" name="Shape 135"/>
          <p:cNvSpPr/>
          <p:nvPr/>
        </p:nvSpPr>
        <p:spPr>
          <a:xfrm>
            <a:off x="10047650" y="6508437"/>
            <a:ext cx="82358" cy="349563"/>
          </a:xfrm>
          <a:prstGeom prst="roundRect">
            <a:avLst>
              <a:gd name="adj" fmla="val 22205"/>
            </a:avLst>
          </a:prstGeom>
          <a:solidFill>
            <a:srgbClr val="E08A3C">
              <a:alpha val="45000"/>
            </a:srgbClr>
          </a:solidFill>
          <a:ln/>
        </p:spPr>
        <p:txBody>
          <a:bodyPr/>
          <a:lstStyle/>
          <a:p>
            <a:endParaRPr lang="en-US"/>
          </a:p>
        </p:txBody>
      </p:sp>
      <p:sp>
        <p:nvSpPr>
          <p:cNvPr id="138" name="Shape 136"/>
          <p:cNvSpPr/>
          <p:nvPr/>
        </p:nvSpPr>
        <p:spPr>
          <a:xfrm>
            <a:off x="10212365" y="6675071"/>
            <a:ext cx="82358" cy="182929"/>
          </a:xfrm>
          <a:prstGeom prst="roundRect">
            <a:avLst>
              <a:gd name="adj" fmla="val 22205"/>
            </a:avLst>
          </a:prstGeom>
          <a:solidFill>
            <a:srgbClr val="E08A3C">
              <a:alpha val="45000"/>
            </a:srgbClr>
          </a:solidFill>
          <a:ln/>
        </p:spPr>
        <p:txBody>
          <a:bodyPr/>
          <a:lstStyle/>
          <a:p>
            <a:endParaRPr lang="en-US"/>
          </a:p>
        </p:txBody>
      </p:sp>
      <p:sp>
        <p:nvSpPr>
          <p:cNvPr id="139" name="Shape 137"/>
          <p:cNvSpPr/>
          <p:nvPr/>
        </p:nvSpPr>
        <p:spPr>
          <a:xfrm>
            <a:off x="10377081" y="6399880"/>
            <a:ext cx="82358" cy="458120"/>
          </a:xfrm>
          <a:prstGeom prst="roundRect">
            <a:avLst>
              <a:gd name="adj" fmla="val 22205"/>
            </a:avLst>
          </a:prstGeom>
          <a:solidFill>
            <a:srgbClr val="E08A3C">
              <a:alpha val="45000"/>
            </a:srgbClr>
          </a:solidFill>
          <a:ln/>
        </p:spPr>
        <p:txBody>
          <a:bodyPr/>
          <a:lstStyle/>
          <a:p>
            <a:endParaRPr lang="en-US"/>
          </a:p>
        </p:txBody>
      </p:sp>
      <p:sp>
        <p:nvSpPr>
          <p:cNvPr id="140" name="Shape 138"/>
          <p:cNvSpPr/>
          <p:nvPr/>
        </p:nvSpPr>
        <p:spPr>
          <a:xfrm>
            <a:off x="10541796" y="6324416"/>
            <a:ext cx="82358" cy="533584"/>
          </a:xfrm>
          <a:prstGeom prst="roundRect">
            <a:avLst>
              <a:gd name="adj" fmla="val 22205"/>
            </a:avLst>
          </a:prstGeom>
          <a:solidFill>
            <a:srgbClr val="E08A3C">
              <a:alpha val="45000"/>
            </a:srgbClr>
          </a:solidFill>
          <a:ln/>
        </p:spPr>
        <p:txBody>
          <a:bodyPr/>
          <a:lstStyle/>
          <a:p>
            <a:endParaRPr lang="en-US"/>
          </a:p>
        </p:txBody>
      </p:sp>
      <p:sp>
        <p:nvSpPr>
          <p:cNvPr id="141" name="Shape 139"/>
          <p:cNvSpPr/>
          <p:nvPr/>
        </p:nvSpPr>
        <p:spPr>
          <a:xfrm>
            <a:off x="10706512" y="6450682"/>
            <a:ext cx="82358" cy="407318"/>
          </a:xfrm>
          <a:prstGeom prst="roundRect">
            <a:avLst>
              <a:gd name="adj" fmla="val 22205"/>
            </a:avLst>
          </a:prstGeom>
          <a:solidFill>
            <a:srgbClr val="E08A3C">
              <a:alpha val="45000"/>
            </a:srgbClr>
          </a:solidFill>
          <a:ln/>
        </p:spPr>
        <p:txBody>
          <a:bodyPr/>
          <a:lstStyle/>
          <a:p>
            <a:endParaRPr lang="en-US"/>
          </a:p>
        </p:txBody>
      </p:sp>
      <p:sp>
        <p:nvSpPr>
          <p:cNvPr id="142" name="Shape 140"/>
          <p:cNvSpPr/>
          <p:nvPr/>
        </p:nvSpPr>
        <p:spPr>
          <a:xfrm>
            <a:off x="10871227" y="6700443"/>
            <a:ext cx="82358" cy="157557"/>
          </a:xfrm>
          <a:prstGeom prst="roundRect">
            <a:avLst>
              <a:gd name="adj" fmla="val 22205"/>
            </a:avLst>
          </a:prstGeom>
          <a:solidFill>
            <a:srgbClr val="E08A3C">
              <a:alpha val="45000"/>
            </a:srgbClr>
          </a:solidFill>
          <a:ln/>
        </p:spPr>
        <p:txBody>
          <a:bodyPr/>
          <a:lstStyle/>
          <a:p>
            <a:endParaRPr lang="en-US"/>
          </a:p>
        </p:txBody>
      </p:sp>
      <p:sp>
        <p:nvSpPr>
          <p:cNvPr id="143" name="Shape 141"/>
          <p:cNvSpPr/>
          <p:nvPr/>
        </p:nvSpPr>
        <p:spPr>
          <a:xfrm>
            <a:off x="11035943" y="6369910"/>
            <a:ext cx="82358" cy="488090"/>
          </a:xfrm>
          <a:prstGeom prst="roundRect">
            <a:avLst>
              <a:gd name="adj" fmla="val 22205"/>
            </a:avLst>
          </a:prstGeom>
          <a:solidFill>
            <a:srgbClr val="E08A3C">
              <a:alpha val="45000"/>
            </a:srgbClr>
          </a:solidFill>
          <a:ln/>
        </p:spPr>
        <p:txBody>
          <a:bodyPr/>
          <a:lstStyle/>
          <a:p>
            <a:endParaRPr lang="en-US"/>
          </a:p>
        </p:txBody>
      </p:sp>
      <p:sp>
        <p:nvSpPr>
          <p:cNvPr id="144" name="Shape 142"/>
          <p:cNvSpPr/>
          <p:nvPr/>
        </p:nvSpPr>
        <p:spPr>
          <a:xfrm>
            <a:off x="11200659" y="6409348"/>
            <a:ext cx="82358" cy="448652"/>
          </a:xfrm>
          <a:prstGeom prst="roundRect">
            <a:avLst>
              <a:gd name="adj" fmla="val 22205"/>
            </a:avLst>
          </a:prstGeom>
          <a:solidFill>
            <a:srgbClr val="E08A3C">
              <a:alpha val="45000"/>
            </a:srgbClr>
          </a:solidFill>
          <a:ln/>
        </p:spPr>
        <p:txBody>
          <a:bodyPr/>
          <a:lstStyle/>
          <a:p>
            <a:endParaRPr lang="en-US"/>
          </a:p>
        </p:txBody>
      </p:sp>
      <p:sp>
        <p:nvSpPr>
          <p:cNvPr id="145" name="Shape 143"/>
          <p:cNvSpPr/>
          <p:nvPr/>
        </p:nvSpPr>
        <p:spPr>
          <a:xfrm>
            <a:off x="11365374" y="6724582"/>
            <a:ext cx="82358" cy="133418"/>
          </a:xfrm>
          <a:prstGeom prst="roundRect">
            <a:avLst>
              <a:gd name="adj" fmla="val 22205"/>
            </a:avLst>
          </a:prstGeom>
          <a:solidFill>
            <a:srgbClr val="E08A3C">
              <a:alpha val="45000"/>
            </a:srgbClr>
          </a:solidFill>
          <a:ln/>
        </p:spPr>
        <p:txBody>
          <a:bodyPr/>
          <a:lstStyle/>
          <a:p>
            <a:endParaRPr lang="en-US"/>
          </a:p>
        </p:txBody>
      </p:sp>
      <p:sp>
        <p:nvSpPr>
          <p:cNvPr id="146" name="Shape 144"/>
          <p:cNvSpPr/>
          <p:nvPr/>
        </p:nvSpPr>
        <p:spPr>
          <a:xfrm>
            <a:off x="11530090" y="6772354"/>
            <a:ext cx="82358" cy="85646"/>
          </a:xfrm>
          <a:prstGeom prst="roundRect">
            <a:avLst>
              <a:gd name="adj" fmla="val 22205"/>
            </a:avLst>
          </a:prstGeom>
          <a:solidFill>
            <a:srgbClr val="E08A3C">
              <a:alpha val="45000"/>
            </a:srgbClr>
          </a:solidFill>
          <a:ln/>
        </p:spPr>
        <p:txBody>
          <a:bodyPr/>
          <a:lstStyle/>
          <a:p>
            <a:endParaRPr lang="en-US"/>
          </a:p>
        </p:txBody>
      </p:sp>
      <p:sp>
        <p:nvSpPr>
          <p:cNvPr id="147" name="Shape 145"/>
          <p:cNvSpPr/>
          <p:nvPr/>
        </p:nvSpPr>
        <p:spPr>
          <a:xfrm>
            <a:off x="11694805" y="6779570"/>
            <a:ext cx="82358" cy="78430"/>
          </a:xfrm>
          <a:prstGeom prst="roundRect">
            <a:avLst>
              <a:gd name="adj" fmla="val 23318"/>
            </a:avLst>
          </a:prstGeom>
          <a:solidFill>
            <a:srgbClr val="E08A3C">
              <a:alpha val="45000"/>
            </a:srgbClr>
          </a:solidFill>
          <a:ln/>
        </p:spPr>
        <p:txBody>
          <a:bodyPr/>
          <a:lstStyle/>
          <a:p>
            <a:endParaRPr lang="en-US"/>
          </a:p>
        </p:txBody>
      </p:sp>
      <p:sp>
        <p:nvSpPr>
          <p:cNvPr id="148" name="Shape 146"/>
          <p:cNvSpPr/>
          <p:nvPr/>
        </p:nvSpPr>
        <p:spPr>
          <a:xfrm>
            <a:off x="11859521" y="6694505"/>
            <a:ext cx="82358" cy="163495"/>
          </a:xfrm>
          <a:prstGeom prst="roundRect">
            <a:avLst>
              <a:gd name="adj" fmla="val 22205"/>
            </a:avLst>
          </a:prstGeom>
          <a:solidFill>
            <a:srgbClr val="E08A3C">
              <a:alpha val="45000"/>
            </a:srgbClr>
          </a:solidFill>
          <a:ln/>
        </p:spPr>
        <p:txBody>
          <a:bodyPr/>
          <a:lstStyle/>
          <a:p>
            <a:endParaRPr lang="en-US"/>
          </a:p>
        </p:txBody>
      </p:sp>
      <p:sp>
        <p:nvSpPr>
          <p:cNvPr id="149" name="Shape 147"/>
          <p:cNvSpPr/>
          <p:nvPr/>
        </p:nvSpPr>
        <p:spPr>
          <a:xfrm>
            <a:off x="12024236" y="6821424"/>
            <a:ext cx="82358" cy="36576"/>
          </a:xfrm>
          <a:prstGeom prst="roundRect">
            <a:avLst>
              <a:gd name="adj" fmla="val 50000"/>
            </a:avLst>
          </a:prstGeom>
          <a:solidFill>
            <a:srgbClr val="E08A3C">
              <a:alpha val="45000"/>
            </a:srgbClr>
          </a:solidFill>
          <a:ln/>
        </p:spPr>
        <p:txBody>
          <a:bodyPr/>
          <a:lstStyle/>
          <a:p>
            <a:endParaRPr lang="en-US"/>
          </a:p>
        </p:txBody>
      </p:sp>
      <p:sp>
        <p:nvSpPr>
          <p:cNvPr id="150" name="Text 148"/>
          <p:cNvSpPr/>
          <p:nvPr/>
        </p:nvSpPr>
        <p:spPr>
          <a:xfrm>
            <a:off x="777240" y="1234440"/>
            <a:ext cx="10607040" cy="169164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Speech Noise Reduction Using</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Long Short-Term Memory Networks</a:t>
            </a:r>
            <a:endParaRPr lang="en-US" sz="4000" dirty="0"/>
          </a:p>
        </p:txBody>
      </p:sp>
      <p:sp>
        <p:nvSpPr>
          <p:cNvPr id="152" name="Shape 150"/>
          <p:cNvSpPr/>
          <p:nvPr/>
        </p:nvSpPr>
        <p:spPr>
          <a:xfrm>
            <a:off x="777240" y="3703320"/>
            <a:ext cx="4480560" cy="868680"/>
          </a:xfrm>
          <a:prstGeom prst="roundRect">
            <a:avLst>
              <a:gd name="adj" fmla="val 8421"/>
            </a:avLst>
          </a:prstGeom>
          <a:solidFill>
            <a:srgbClr val="1C3557"/>
          </a:solidFill>
          <a:ln/>
        </p:spPr>
        <p:txBody>
          <a:bodyPr/>
          <a:lstStyle/>
          <a:p>
            <a:endParaRPr lang="en-US"/>
          </a:p>
        </p:txBody>
      </p:sp>
      <p:sp>
        <p:nvSpPr>
          <p:cNvPr id="153" name="Text 151"/>
          <p:cNvSpPr/>
          <p:nvPr/>
        </p:nvSpPr>
        <p:spPr>
          <a:xfrm>
            <a:off x="1005840" y="3785616"/>
            <a:ext cx="4114800" cy="71323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Skylar Denno</a:t>
            </a:r>
            <a:endParaRPr lang="en-US" sz="1500" dirty="0"/>
          </a:p>
          <a:p>
            <a:pPr marL="0" indent="0">
              <a:buNone/>
            </a:pPr>
            <a:r>
              <a:rPr lang="en-US" sz="1200" dirty="0">
                <a:solidFill>
                  <a:srgbClr val="C9D9E8"/>
                </a:solidFill>
                <a:latin typeface="Calibri" pitchFamily="34" charset="0"/>
                <a:ea typeface="Calibri" pitchFamily="34" charset="-122"/>
                <a:cs typeface="Calibri" pitchFamily="34" charset="-120"/>
              </a:rPr>
              <a:t>EECE 5644 — Machine Learning  ·  Northeastern University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a:solidFill>
                  <a:srgbClr val="0E8A8F"/>
                </a:solidFill>
                <a:latin typeface="Calibri" pitchFamily="34" charset="0"/>
                <a:ea typeface="Calibri" pitchFamily="34" charset="-122"/>
                <a:cs typeface="Calibri" pitchFamily="34" charset="-120"/>
              </a:rPr>
              <a:t>PROBLEM DESCRIPTION</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a:solidFill>
                  <a:srgbClr val="12233A"/>
                </a:solidFill>
                <a:latin typeface="Cambria" pitchFamily="34" charset="0"/>
              </a:rPr>
              <a:t>Classic filters vs. ML system for denoising</a:t>
            </a:r>
            <a:endParaRPr lang="en-US" sz="3000" dirty="0"/>
          </a:p>
        </p:txBody>
      </p:sp>
      <p:sp>
        <p:nvSpPr>
          <p:cNvPr id="4" name="Text 2"/>
          <p:cNvSpPr/>
          <p:nvPr/>
        </p:nvSpPr>
        <p:spPr>
          <a:xfrm>
            <a:off x="640080" y="1572768"/>
            <a:ext cx="5532120" cy="283464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rgbClr val="16202C"/>
                </a:solidFill>
                <a:latin typeface="Calibri" pitchFamily="34" charset="0"/>
                <a:ea typeface="Calibri" pitchFamily="34" charset="-122"/>
                <a:cs typeface="Calibri" pitchFamily="34" charset="-120"/>
              </a:rPr>
              <a:t>Real </a:t>
            </a:r>
            <a:r>
              <a:rPr lang="en-US" sz="1650">
                <a:solidFill>
                  <a:srgbClr val="16202C"/>
                </a:solidFill>
                <a:latin typeface="Calibri" pitchFamily="34" charset="0"/>
                <a:ea typeface="Calibri" pitchFamily="34" charset="-122"/>
                <a:cs typeface="Calibri" pitchFamily="34" charset="-120"/>
              </a:rPr>
              <a:t>noise is highly dynamic and changes </a:t>
            </a:r>
            <a:r>
              <a:rPr lang="en-US" sz="1650" dirty="0">
                <a:solidFill>
                  <a:srgbClr val="16202C"/>
                </a:solidFill>
                <a:latin typeface="Calibri" pitchFamily="34" charset="0"/>
                <a:ea typeface="Calibri" pitchFamily="34" charset="-122"/>
                <a:cs typeface="Calibri" pitchFamily="34" charset="-120"/>
              </a:rPr>
              <a:t>second </a:t>
            </a:r>
            <a:r>
              <a:rPr lang="en-US" sz="1650">
                <a:solidFill>
                  <a:srgbClr val="16202C"/>
                </a:solidFill>
                <a:latin typeface="Calibri" pitchFamily="34" charset="0"/>
                <a:ea typeface="Calibri" pitchFamily="34" charset="-122"/>
                <a:cs typeface="Calibri" pitchFamily="34" charset="-120"/>
              </a:rPr>
              <a:t>to second</a:t>
            </a:r>
            <a:endParaRPr lang="en-US" sz="1650" dirty="0"/>
          </a:p>
          <a:p>
            <a:pPr marL="342900" indent="-342900">
              <a:spcAft>
                <a:spcPts val="1200"/>
              </a:spcAft>
              <a:buSzPct val="100000"/>
              <a:buChar char="•"/>
            </a:pPr>
            <a:r>
              <a:rPr lang="en-US" sz="1650" dirty="0">
                <a:solidFill>
                  <a:srgbClr val="16202C"/>
                </a:solidFill>
                <a:latin typeface="Calibri" pitchFamily="34" charset="0"/>
                <a:ea typeface="Calibri" pitchFamily="34" charset="-122"/>
                <a:cs typeface="Calibri" pitchFamily="34" charset="-120"/>
              </a:rPr>
              <a:t>Classic </a:t>
            </a:r>
            <a:r>
              <a:rPr lang="en-US" sz="1650">
                <a:solidFill>
                  <a:srgbClr val="16202C"/>
                </a:solidFill>
                <a:latin typeface="Calibri" pitchFamily="34" charset="0"/>
                <a:ea typeface="Calibri" pitchFamily="34" charset="-122"/>
                <a:cs typeface="Calibri" pitchFamily="34" charset="-120"/>
              </a:rPr>
              <a:t>filters are static or change with heavy artifacting</a:t>
            </a:r>
          </a:p>
          <a:p>
            <a:pPr marL="342900" indent="-342900">
              <a:spcAft>
                <a:spcPts val="1200"/>
              </a:spcAft>
              <a:buSzPct val="100000"/>
              <a:buChar char="•"/>
            </a:pPr>
            <a:r>
              <a:rPr lang="en-US" sz="1650">
                <a:solidFill>
                  <a:srgbClr val="16202C"/>
                </a:solidFill>
                <a:latin typeface="Calibri" pitchFamily="34" charset="0"/>
                <a:cs typeface="Calibri" pitchFamily="34" charset="-120"/>
              </a:rPr>
              <a:t>An ML model can use previous pieces of audio to help infer the next piece, which reduces the sudden changes in the spectrum, reducing artifacts</a:t>
            </a:r>
            <a:endParaRPr lang="en-US" sz="1650" dirty="0"/>
          </a:p>
          <a:p>
            <a:pPr marL="342900" indent="-342900">
              <a:spcAft>
                <a:spcPts val="1200"/>
              </a:spcAft>
              <a:buSzPct val="100000"/>
              <a:buChar char="•"/>
            </a:pPr>
            <a:r>
              <a:rPr lang="en-US" sz="1650">
                <a:solidFill>
                  <a:srgbClr val="16202C"/>
                </a:solidFill>
                <a:latin typeface="Calibri" pitchFamily="34" charset="0"/>
                <a:ea typeface="Calibri" pitchFamily="34" charset="-122"/>
                <a:cs typeface="Calibri" pitchFamily="34" charset="-120"/>
              </a:rPr>
              <a:t>A ML </a:t>
            </a:r>
            <a:r>
              <a:rPr lang="en-US" sz="1650" dirty="0">
                <a:solidFill>
                  <a:srgbClr val="16202C"/>
                </a:solidFill>
                <a:latin typeface="Calibri" pitchFamily="34" charset="0"/>
                <a:ea typeface="Calibri" pitchFamily="34" charset="-122"/>
                <a:cs typeface="Calibri" pitchFamily="34" charset="-120"/>
              </a:rPr>
              <a:t>model learns the mapping </a:t>
            </a:r>
            <a:r>
              <a:rPr lang="en-US" sz="1650">
                <a:solidFill>
                  <a:srgbClr val="16202C"/>
                </a:solidFill>
                <a:latin typeface="Calibri" pitchFamily="34" charset="0"/>
                <a:ea typeface="Calibri" pitchFamily="34" charset="-122"/>
                <a:cs typeface="Calibri" pitchFamily="34" charset="-120"/>
              </a:rPr>
              <a:t>from examples (pairs of noisy and non-noisy audio files)</a:t>
            </a:r>
            <a:endParaRPr lang="en-US" sz="1650" dirty="0"/>
          </a:p>
        </p:txBody>
      </p:sp>
      <p:sp>
        <p:nvSpPr>
          <p:cNvPr id="5" name="Shape 3"/>
          <p:cNvSpPr/>
          <p:nvPr/>
        </p:nvSpPr>
        <p:spPr>
          <a:xfrm>
            <a:off x="640080" y="4617720"/>
            <a:ext cx="5532120" cy="960120"/>
          </a:xfrm>
          <a:prstGeom prst="roundRect">
            <a:avLst>
              <a:gd name="adj" fmla="val 8571"/>
            </a:avLst>
          </a:prstGeom>
          <a:solidFill>
            <a:srgbClr val="E3F2F2"/>
          </a:solidFill>
          <a:ln/>
        </p:spPr>
        <p:txBody>
          <a:bodyPr/>
          <a:lstStyle/>
          <a:p>
            <a:endParaRPr lang="en-US"/>
          </a:p>
        </p:txBody>
      </p:sp>
      <p:sp>
        <p:nvSpPr>
          <p:cNvPr id="6" name="Text 4"/>
          <p:cNvSpPr/>
          <p:nvPr/>
        </p:nvSpPr>
        <p:spPr>
          <a:xfrm>
            <a:off x="868680" y="4709160"/>
            <a:ext cx="5074920" cy="777240"/>
          </a:xfrm>
          <a:prstGeom prst="rect">
            <a:avLst/>
          </a:prstGeom>
          <a:noFill/>
          <a:ln/>
        </p:spPr>
        <p:txBody>
          <a:bodyPr wrap="square" lIns="0" tIns="0" rIns="0" bIns="0" rtlCol="0" anchor="ctr"/>
          <a:lstStyle/>
          <a:p>
            <a:pPr marL="0" indent="0">
              <a:buNone/>
            </a:pPr>
            <a:r>
              <a:rPr lang="en-US" sz="1350" b="1" dirty="0">
                <a:solidFill>
                  <a:srgbClr val="12233A"/>
                </a:solidFill>
                <a:latin typeface="Calibri" pitchFamily="34" charset="0"/>
                <a:ea typeface="Calibri" pitchFamily="34" charset="-122"/>
                <a:cs typeface="Calibri" pitchFamily="34" charset="-120"/>
              </a:rPr>
              <a:t>The </a:t>
            </a:r>
            <a:r>
              <a:rPr lang="en-US" sz="1350" b="1">
                <a:solidFill>
                  <a:srgbClr val="12233A"/>
                </a:solidFill>
                <a:latin typeface="Calibri" pitchFamily="34" charset="0"/>
                <a:ea typeface="Calibri" pitchFamily="34" charset="-122"/>
                <a:cs typeface="Calibri" pitchFamily="34" charset="-120"/>
              </a:rPr>
              <a:t>problem of removing noise from audio is frequency and time dependent.</a:t>
            </a:r>
            <a:endParaRPr lang="en-US" sz="1350" dirty="0"/>
          </a:p>
        </p:txBody>
      </p:sp>
      <p:sp>
        <p:nvSpPr>
          <p:cNvPr id="7" name="Shape 5"/>
          <p:cNvSpPr/>
          <p:nvPr/>
        </p:nvSpPr>
        <p:spPr>
          <a:xfrm>
            <a:off x="6537960" y="1572768"/>
            <a:ext cx="4983480" cy="4005072"/>
          </a:xfrm>
          <a:prstGeom prst="roundRect">
            <a:avLst>
              <a:gd name="adj" fmla="val 2055"/>
            </a:avLst>
          </a:prstGeom>
          <a:solidFill>
            <a:srgbClr val="F7F9FB"/>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8" name="Text 6"/>
          <p:cNvSpPr/>
          <p:nvPr/>
        </p:nvSpPr>
        <p:spPr>
          <a:xfrm>
            <a:off x="6858000" y="1783080"/>
            <a:ext cx="4297680" cy="228600"/>
          </a:xfrm>
          <a:prstGeom prst="rect">
            <a:avLst/>
          </a:prstGeom>
          <a:noFill/>
          <a:ln/>
        </p:spPr>
        <p:txBody>
          <a:bodyPr wrap="square" lIns="0" tIns="0" rIns="0" bIns="0" rtlCol="0" anchor="ctr"/>
          <a:lstStyle/>
          <a:p>
            <a:pPr marL="0" indent="0">
              <a:buNone/>
            </a:pPr>
            <a:r>
              <a:rPr lang="en-US" sz="1050" b="1" kern="0" spc="120" dirty="0">
                <a:solidFill>
                  <a:srgbClr val="E08A3C"/>
                </a:solidFill>
                <a:latin typeface="Calibri" pitchFamily="34" charset="0"/>
                <a:ea typeface="Calibri" pitchFamily="34" charset="-122"/>
                <a:cs typeface="Calibri" pitchFamily="34" charset="-120"/>
              </a:rPr>
              <a:t>NOISY INPUT</a:t>
            </a:r>
            <a:endParaRPr lang="en-US" sz="1050" dirty="0"/>
          </a:p>
        </p:txBody>
      </p:sp>
      <p:sp>
        <p:nvSpPr>
          <p:cNvPr id="9" name="Shape 7"/>
          <p:cNvSpPr/>
          <p:nvPr/>
        </p:nvSpPr>
        <p:spPr>
          <a:xfrm>
            <a:off x="6858000" y="2665363"/>
            <a:ext cx="47211" cy="352157"/>
          </a:xfrm>
          <a:prstGeom prst="roundRect">
            <a:avLst>
              <a:gd name="adj" fmla="val 38737"/>
            </a:avLst>
          </a:prstGeom>
          <a:solidFill>
            <a:srgbClr val="E08A3C"/>
          </a:solidFill>
          <a:ln/>
        </p:spPr>
        <p:txBody>
          <a:bodyPr/>
          <a:lstStyle/>
          <a:p>
            <a:endParaRPr lang="en-US"/>
          </a:p>
        </p:txBody>
      </p:sp>
      <p:sp>
        <p:nvSpPr>
          <p:cNvPr id="10" name="Shape 8"/>
          <p:cNvSpPr/>
          <p:nvPr/>
        </p:nvSpPr>
        <p:spPr>
          <a:xfrm>
            <a:off x="6952422" y="2697188"/>
            <a:ext cx="47211" cy="320332"/>
          </a:xfrm>
          <a:prstGeom prst="roundRect">
            <a:avLst>
              <a:gd name="adj" fmla="val 38737"/>
            </a:avLst>
          </a:prstGeom>
          <a:solidFill>
            <a:srgbClr val="E08A3C"/>
          </a:solidFill>
          <a:ln/>
        </p:spPr>
        <p:txBody>
          <a:bodyPr/>
          <a:lstStyle/>
          <a:p>
            <a:endParaRPr lang="en-US"/>
          </a:p>
        </p:txBody>
      </p:sp>
      <p:sp>
        <p:nvSpPr>
          <p:cNvPr id="11" name="Shape 9"/>
          <p:cNvSpPr/>
          <p:nvPr/>
        </p:nvSpPr>
        <p:spPr>
          <a:xfrm>
            <a:off x="7046843" y="2194032"/>
            <a:ext cx="47211" cy="823488"/>
          </a:xfrm>
          <a:prstGeom prst="roundRect">
            <a:avLst>
              <a:gd name="adj" fmla="val 38737"/>
            </a:avLst>
          </a:prstGeom>
          <a:solidFill>
            <a:srgbClr val="E08A3C"/>
          </a:solidFill>
          <a:ln/>
        </p:spPr>
        <p:txBody>
          <a:bodyPr/>
          <a:lstStyle/>
          <a:p>
            <a:endParaRPr lang="en-US"/>
          </a:p>
        </p:txBody>
      </p:sp>
      <p:sp>
        <p:nvSpPr>
          <p:cNvPr id="12" name="Shape 10"/>
          <p:cNvSpPr/>
          <p:nvPr/>
        </p:nvSpPr>
        <p:spPr>
          <a:xfrm>
            <a:off x="7141265" y="2634255"/>
            <a:ext cx="47211" cy="383265"/>
          </a:xfrm>
          <a:prstGeom prst="roundRect">
            <a:avLst>
              <a:gd name="adj" fmla="val 38737"/>
            </a:avLst>
          </a:prstGeom>
          <a:solidFill>
            <a:srgbClr val="E08A3C"/>
          </a:solidFill>
          <a:ln/>
        </p:spPr>
        <p:txBody>
          <a:bodyPr/>
          <a:lstStyle/>
          <a:p>
            <a:endParaRPr lang="en-US"/>
          </a:p>
        </p:txBody>
      </p:sp>
      <p:sp>
        <p:nvSpPr>
          <p:cNvPr id="13" name="Shape 11"/>
          <p:cNvSpPr/>
          <p:nvPr/>
        </p:nvSpPr>
        <p:spPr>
          <a:xfrm>
            <a:off x="7235687" y="2642223"/>
            <a:ext cx="47211" cy="375297"/>
          </a:xfrm>
          <a:prstGeom prst="roundRect">
            <a:avLst>
              <a:gd name="adj" fmla="val 38737"/>
            </a:avLst>
          </a:prstGeom>
          <a:solidFill>
            <a:srgbClr val="E08A3C"/>
          </a:solidFill>
          <a:ln/>
        </p:spPr>
        <p:txBody>
          <a:bodyPr/>
          <a:lstStyle/>
          <a:p>
            <a:endParaRPr lang="en-US"/>
          </a:p>
        </p:txBody>
      </p:sp>
      <p:sp>
        <p:nvSpPr>
          <p:cNvPr id="14" name="Shape 12"/>
          <p:cNvSpPr/>
          <p:nvPr/>
        </p:nvSpPr>
        <p:spPr>
          <a:xfrm>
            <a:off x="7330109" y="2287634"/>
            <a:ext cx="47211" cy="729886"/>
          </a:xfrm>
          <a:prstGeom prst="roundRect">
            <a:avLst>
              <a:gd name="adj" fmla="val 38737"/>
            </a:avLst>
          </a:prstGeom>
          <a:solidFill>
            <a:srgbClr val="E08A3C"/>
          </a:solidFill>
          <a:ln/>
        </p:spPr>
        <p:txBody>
          <a:bodyPr/>
          <a:lstStyle/>
          <a:p>
            <a:endParaRPr lang="en-US"/>
          </a:p>
        </p:txBody>
      </p:sp>
      <p:sp>
        <p:nvSpPr>
          <p:cNvPr id="15" name="Shape 13"/>
          <p:cNvSpPr/>
          <p:nvPr/>
        </p:nvSpPr>
        <p:spPr>
          <a:xfrm>
            <a:off x="7424530" y="2106684"/>
            <a:ext cx="47211" cy="910836"/>
          </a:xfrm>
          <a:prstGeom prst="roundRect">
            <a:avLst>
              <a:gd name="adj" fmla="val 38737"/>
            </a:avLst>
          </a:prstGeom>
          <a:solidFill>
            <a:srgbClr val="E08A3C"/>
          </a:solidFill>
          <a:ln/>
        </p:spPr>
        <p:txBody>
          <a:bodyPr/>
          <a:lstStyle/>
          <a:p>
            <a:endParaRPr lang="en-US"/>
          </a:p>
        </p:txBody>
      </p:sp>
      <p:sp>
        <p:nvSpPr>
          <p:cNvPr id="16" name="Shape 14"/>
          <p:cNvSpPr/>
          <p:nvPr/>
        </p:nvSpPr>
        <p:spPr>
          <a:xfrm>
            <a:off x="7518952" y="2293704"/>
            <a:ext cx="47211" cy="723816"/>
          </a:xfrm>
          <a:prstGeom prst="roundRect">
            <a:avLst>
              <a:gd name="adj" fmla="val 38737"/>
            </a:avLst>
          </a:prstGeom>
          <a:solidFill>
            <a:srgbClr val="E08A3C"/>
          </a:solidFill>
          <a:ln/>
        </p:spPr>
        <p:txBody>
          <a:bodyPr/>
          <a:lstStyle/>
          <a:p>
            <a:endParaRPr lang="en-US"/>
          </a:p>
        </p:txBody>
      </p:sp>
      <p:sp>
        <p:nvSpPr>
          <p:cNvPr id="17" name="Shape 15"/>
          <p:cNvSpPr/>
          <p:nvPr/>
        </p:nvSpPr>
        <p:spPr>
          <a:xfrm>
            <a:off x="7613374" y="2075210"/>
            <a:ext cx="47211" cy="942310"/>
          </a:xfrm>
          <a:prstGeom prst="roundRect">
            <a:avLst>
              <a:gd name="adj" fmla="val 38737"/>
            </a:avLst>
          </a:prstGeom>
          <a:solidFill>
            <a:srgbClr val="E08A3C"/>
          </a:solidFill>
          <a:ln/>
        </p:spPr>
        <p:txBody>
          <a:bodyPr/>
          <a:lstStyle/>
          <a:p>
            <a:endParaRPr lang="en-US"/>
          </a:p>
        </p:txBody>
      </p:sp>
      <p:sp>
        <p:nvSpPr>
          <p:cNvPr id="18" name="Shape 16"/>
          <p:cNvSpPr/>
          <p:nvPr/>
        </p:nvSpPr>
        <p:spPr>
          <a:xfrm>
            <a:off x="7707796" y="2149776"/>
            <a:ext cx="47211" cy="867744"/>
          </a:xfrm>
          <a:prstGeom prst="roundRect">
            <a:avLst>
              <a:gd name="adj" fmla="val 38737"/>
            </a:avLst>
          </a:prstGeom>
          <a:solidFill>
            <a:srgbClr val="E08A3C"/>
          </a:solidFill>
          <a:ln/>
        </p:spPr>
        <p:txBody>
          <a:bodyPr/>
          <a:lstStyle/>
          <a:p>
            <a:endParaRPr lang="en-US"/>
          </a:p>
        </p:txBody>
      </p:sp>
      <p:sp>
        <p:nvSpPr>
          <p:cNvPr id="19" name="Shape 17"/>
          <p:cNvSpPr/>
          <p:nvPr/>
        </p:nvSpPr>
        <p:spPr>
          <a:xfrm>
            <a:off x="7802217" y="2397488"/>
            <a:ext cx="47211" cy="620032"/>
          </a:xfrm>
          <a:prstGeom prst="roundRect">
            <a:avLst>
              <a:gd name="adj" fmla="val 38737"/>
            </a:avLst>
          </a:prstGeom>
          <a:solidFill>
            <a:srgbClr val="E08A3C"/>
          </a:solidFill>
          <a:ln/>
        </p:spPr>
        <p:txBody>
          <a:bodyPr/>
          <a:lstStyle/>
          <a:p>
            <a:endParaRPr lang="en-US"/>
          </a:p>
        </p:txBody>
      </p:sp>
      <p:sp>
        <p:nvSpPr>
          <p:cNvPr id="20" name="Shape 18"/>
          <p:cNvSpPr/>
          <p:nvPr/>
        </p:nvSpPr>
        <p:spPr>
          <a:xfrm>
            <a:off x="7896639" y="2114028"/>
            <a:ext cx="47211" cy="903492"/>
          </a:xfrm>
          <a:prstGeom prst="roundRect">
            <a:avLst>
              <a:gd name="adj" fmla="val 38737"/>
            </a:avLst>
          </a:prstGeom>
          <a:solidFill>
            <a:srgbClr val="E08A3C"/>
          </a:solidFill>
          <a:ln/>
        </p:spPr>
        <p:txBody>
          <a:bodyPr/>
          <a:lstStyle/>
          <a:p>
            <a:endParaRPr lang="en-US"/>
          </a:p>
        </p:txBody>
      </p:sp>
      <p:sp>
        <p:nvSpPr>
          <p:cNvPr id="21" name="Shape 19"/>
          <p:cNvSpPr/>
          <p:nvPr/>
        </p:nvSpPr>
        <p:spPr>
          <a:xfrm>
            <a:off x="7991061" y="2399029"/>
            <a:ext cx="47211" cy="618491"/>
          </a:xfrm>
          <a:prstGeom prst="roundRect">
            <a:avLst>
              <a:gd name="adj" fmla="val 38737"/>
            </a:avLst>
          </a:prstGeom>
          <a:solidFill>
            <a:srgbClr val="E08A3C"/>
          </a:solidFill>
          <a:ln/>
        </p:spPr>
        <p:txBody>
          <a:bodyPr/>
          <a:lstStyle/>
          <a:p>
            <a:endParaRPr lang="en-US"/>
          </a:p>
        </p:txBody>
      </p:sp>
      <p:sp>
        <p:nvSpPr>
          <p:cNvPr id="22" name="Shape 20"/>
          <p:cNvSpPr/>
          <p:nvPr/>
        </p:nvSpPr>
        <p:spPr>
          <a:xfrm>
            <a:off x="8085483" y="2547274"/>
            <a:ext cx="47211" cy="470246"/>
          </a:xfrm>
          <a:prstGeom prst="roundRect">
            <a:avLst>
              <a:gd name="adj" fmla="val 38737"/>
            </a:avLst>
          </a:prstGeom>
          <a:solidFill>
            <a:srgbClr val="E08A3C"/>
          </a:solidFill>
          <a:ln/>
        </p:spPr>
        <p:txBody>
          <a:bodyPr/>
          <a:lstStyle/>
          <a:p>
            <a:endParaRPr lang="en-US"/>
          </a:p>
        </p:txBody>
      </p:sp>
      <p:sp>
        <p:nvSpPr>
          <p:cNvPr id="23" name="Shape 21"/>
          <p:cNvSpPr/>
          <p:nvPr/>
        </p:nvSpPr>
        <p:spPr>
          <a:xfrm>
            <a:off x="8179904" y="2284271"/>
            <a:ext cx="47211" cy="733249"/>
          </a:xfrm>
          <a:prstGeom prst="roundRect">
            <a:avLst>
              <a:gd name="adj" fmla="val 38737"/>
            </a:avLst>
          </a:prstGeom>
          <a:solidFill>
            <a:srgbClr val="E08A3C"/>
          </a:solidFill>
          <a:ln/>
        </p:spPr>
        <p:txBody>
          <a:bodyPr/>
          <a:lstStyle/>
          <a:p>
            <a:endParaRPr lang="en-US"/>
          </a:p>
        </p:txBody>
      </p:sp>
      <p:sp>
        <p:nvSpPr>
          <p:cNvPr id="24" name="Shape 22"/>
          <p:cNvSpPr/>
          <p:nvPr/>
        </p:nvSpPr>
        <p:spPr>
          <a:xfrm>
            <a:off x="8274326" y="2389066"/>
            <a:ext cx="47211" cy="628454"/>
          </a:xfrm>
          <a:prstGeom prst="roundRect">
            <a:avLst>
              <a:gd name="adj" fmla="val 38737"/>
            </a:avLst>
          </a:prstGeom>
          <a:solidFill>
            <a:srgbClr val="E08A3C"/>
          </a:solidFill>
          <a:ln/>
        </p:spPr>
        <p:txBody>
          <a:bodyPr/>
          <a:lstStyle/>
          <a:p>
            <a:endParaRPr lang="en-US"/>
          </a:p>
        </p:txBody>
      </p:sp>
      <p:sp>
        <p:nvSpPr>
          <p:cNvPr id="25" name="Shape 23"/>
          <p:cNvSpPr/>
          <p:nvPr/>
        </p:nvSpPr>
        <p:spPr>
          <a:xfrm>
            <a:off x="8368748" y="2441590"/>
            <a:ext cx="47211" cy="575930"/>
          </a:xfrm>
          <a:prstGeom prst="roundRect">
            <a:avLst>
              <a:gd name="adj" fmla="val 38737"/>
            </a:avLst>
          </a:prstGeom>
          <a:solidFill>
            <a:srgbClr val="E08A3C"/>
          </a:solidFill>
          <a:ln/>
        </p:spPr>
        <p:txBody>
          <a:bodyPr/>
          <a:lstStyle/>
          <a:p>
            <a:endParaRPr lang="en-US"/>
          </a:p>
        </p:txBody>
      </p:sp>
      <p:sp>
        <p:nvSpPr>
          <p:cNvPr id="26" name="Shape 24"/>
          <p:cNvSpPr/>
          <p:nvPr/>
        </p:nvSpPr>
        <p:spPr>
          <a:xfrm>
            <a:off x="8463170" y="2749297"/>
            <a:ext cx="47211" cy="268223"/>
          </a:xfrm>
          <a:prstGeom prst="roundRect">
            <a:avLst>
              <a:gd name="adj" fmla="val 38737"/>
            </a:avLst>
          </a:prstGeom>
          <a:solidFill>
            <a:srgbClr val="E08A3C"/>
          </a:solidFill>
          <a:ln/>
        </p:spPr>
        <p:txBody>
          <a:bodyPr/>
          <a:lstStyle/>
          <a:p>
            <a:endParaRPr lang="en-US"/>
          </a:p>
        </p:txBody>
      </p:sp>
      <p:sp>
        <p:nvSpPr>
          <p:cNvPr id="27" name="Shape 25"/>
          <p:cNvSpPr/>
          <p:nvPr/>
        </p:nvSpPr>
        <p:spPr>
          <a:xfrm>
            <a:off x="8557591" y="2129292"/>
            <a:ext cx="47211" cy="888228"/>
          </a:xfrm>
          <a:prstGeom prst="roundRect">
            <a:avLst>
              <a:gd name="adj" fmla="val 38737"/>
            </a:avLst>
          </a:prstGeom>
          <a:solidFill>
            <a:srgbClr val="E08A3C"/>
          </a:solidFill>
          <a:ln/>
        </p:spPr>
        <p:txBody>
          <a:bodyPr/>
          <a:lstStyle/>
          <a:p>
            <a:endParaRPr lang="en-US"/>
          </a:p>
        </p:txBody>
      </p:sp>
      <p:sp>
        <p:nvSpPr>
          <p:cNvPr id="28" name="Shape 26"/>
          <p:cNvSpPr/>
          <p:nvPr/>
        </p:nvSpPr>
        <p:spPr>
          <a:xfrm>
            <a:off x="8652013" y="2101387"/>
            <a:ext cx="47211" cy="916133"/>
          </a:xfrm>
          <a:prstGeom prst="roundRect">
            <a:avLst>
              <a:gd name="adj" fmla="val 38737"/>
            </a:avLst>
          </a:prstGeom>
          <a:solidFill>
            <a:srgbClr val="E08A3C"/>
          </a:solidFill>
          <a:ln/>
        </p:spPr>
        <p:txBody>
          <a:bodyPr/>
          <a:lstStyle/>
          <a:p>
            <a:endParaRPr lang="en-US"/>
          </a:p>
        </p:txBody>
      </p:sp>
      <p:sp>
        <p:nvSpPr>
          <p:cNvPr id="29" name="Shape 27"/>
          <p:cNvSpPr/>
          <p:nvPr/>
        </p:nvSpPr>
        <p:spPr>
          <a:xfrm>
            <a:off x="8746435" y="2332352"/>
            <a:ext cx="47211" cy="685168"/>
          </a:xfrm>
          <a:prstGeom prst="roundRect">
            <a:avLst>
              <a:gd name="adj" fmla="val 38737"/>
            </a:avLst>
          </a:prstGeom>
          <a:solidFill>
            <a:srgbClr val="E08A3C"/>
          </a:solidFill>
          <a:ln/>
        </p:spPr>
        <p:txBody>
          <a:bodyPr/>
          <a:lstStyle/>
          <a:p>
            <a:endParaRPr lang="en-US"/>
          </a:p>
        </p:txBody>
      </p:sp>
      <p:sp>
        <p:nvSpPr>
          <p:cNvPr id="30" name="Shape 28"/>
          <p:cNvSpPr/>
          <p:nvPr/>
        </p:nvSpPr>
        <p:spPr>
          <a:xfrm>
            <a:off x="8840857" y="2217305"/>
            <a:ext cx="47211" cy="800215"/>
          </a:xfrm>
          <a:prstGeom prst="roundRect">
            <a:avLst>
              <a:gd name="adj" fmla="val 38737"/>
            </a:avLst>
          </a:prstGeom>
          <a:solidFill>
            <a:srgbClr val="E08A3C"/>
          </a:solidFill>
          <a:ln/>
        </p:spPr>
        <p:txBody>
          <a:bodyPr/>
          <a:lstStyle/>
          <a:p>
            <a:endParaRPr lang="en-US"/>
          </a:p>
        </p:txBody>
      </p:sp>
      <p:sp>
        <p:nvSpPr>
          <p:cNvPr id="31" name="Shape 29"/>
          <p:cNvSpPr/>
          <p:nvPr/>
        </p:nvSpPr>
        <p:spPr>
          <a:xfrm>
            <a:off x="8935278" y="2329564"/>
            <a:ext cx="47211" cy="687956"/>
          </a:xfrm>
          <a:prstGeom prst="roundRect">
            <a:avLst>
              <a:gd name="adj" fmla="val 38737"/>
            </a:avLst>
          </a:prstGeom>
          <a:solidFill>
            <a:srgbClr val="E08A3C"/>
          </a:solidFill>
          <a:ln/>
        </p:spPr>
        <p:txBody>
          <a:bodyPr/>
          <a:lstStyle/>
          <a:p>
            <a:endParaRPr lang="en-US"/>
          </a:p>
        </p:txBody>
      </p:sp>
      <p:sp>
        <p:nvSpPr>
          <p:cNvPr id="32" name="Shape 30"/>
          <p:cNvSpPr/>
          <p:nvPr/>
        </p:nvSpPr>
        <p:spPr>
          <a:xfrm>
            <a:off x="9029700" y="2221171"/>
            <a:ext cx="47211" cy="796349"/>
          </a:xfrm>
          <a:prstGeom prst="roundRect">
            <a:avLst>
              <a:gd name="adj" fmla="val 38737"/>
            </a:avLst>
          </a:prstGeom>
          <a:solidFill>
            <a:srgbClr val="E08A3C"/>
          </a:solidFill>
          <a:ln/>
        </p:spPr>
        <p:txBody>
          <a:bodyPr/>
          <a:lstStyle/>
          <a:p>
            <a:endParaRPr lang="en-US"/>
          </a:p>
        </p:txBody>
      </p:sp>
      <p:sp>
        <p:nvSpPr>
          <p:cNvPr id="33" name="Shape 31"/>
          <p:cNvSpPr/>
          <p:nvPr/>
        </p:nvSpPr>
        <p:spPr>
          <a:xfrm>
            <a:off x="9124122" y="2187065"/>
            <a:ext cx="47211" cy="830455"/>
          </a:xfrm>
          <a:prstGeom prst="roundRect">
            <a:avLst>
              <a:gd name="adj" fmla="val 38737"/>
            </a:avLst>
          </a:prstGeom>
          <a:solidFill>
            <a:srgbClr val="E08A3C"/>
          </a:solidFill>
          <a:ln/>
        </p:spPr>
        <p:txBody>
          <a:bodyPr/>
          <a:lstStyle/>
          <a:p>
            <a:endParaRPr lang="en-US"/>
          </a:p>
        </p:txBody>
      </p:sp>
      <p:sp>
        <p:nvSpPr>
          <p:cNvPr id="34" name="Shape 32"/>
          <p:cNvSpPr/>
          <p:nvPr/>
        </p:nvSpPr>
        <p:spPr>
          <a:xfrm>
            <a:off x="9218543" y="2548746"/>
            <a:ext cx="47211" cy="468774"/>
          </a:xfrm>
          <a:prstGeom prst="roundRect">
            <a:avLst>
              <a:gd name="adj" fmla="val 38737"/>
            </a:avLst>
          </a:prstGeom>
          <a:solidFill>
            <a:srgbClr val="E08A3C"/>
          </a:solidFill>
          <a:ln/>
        </p:spPr>
        <p:txBody>
          <a:bodyPr/>
          <a:lstStyle/>
          <a:p>
            <a:endParaRPr lang="en-US"/>
          </a:p>
        </p:txBody>
      </p:sp>
      <p:sp>
        <p:nvSpPr>
          <p:cNvPr id="35" name="Shape 33"/>
          <p:cNvSpPr/>
          <p:nvPr/>
        </p:nvSpPr>
        <p:spPr>
          <a:xfrm>
            <a:off x="9312965" y="2652060"/>
            <a:ext cx="47211" cy="365460"/>
          </a:xfrm>
          <a:prstGeom prst="roundRect">
            <a:avLst>
              <a:gd name="adj" fmla="val 38737"/>
            </a:avLst>
          </a:prstGeom>
          <a:solidFill>
            <a:srgbClr val="E08A3C"/>
          </a:solidFill>
          <a:ln/>
        </p:spPr>
        <p:txBody>
          <a:bodyPr/>
          <a:lstStyle/>
          <a:p>
            <a:endParaRPr lang="en-US"/>
          </a:p>
        </p:txBody>
      </p:sp>
      <p:sp>
        <p:nvSpPr>
          <p:cNvPr id="36" name="Shape 34"/>
          <p:cNvSpPr/>
          <p:nvPr/>
        </p:nvSpPr>
        <p:spPr>
          <a:xfrm>
            <a:off x="9407387" y="2098100"/>
            <a:ext cx="47211" cy="919420"/>
          </a:xfrm>
          <a:prstGeom prst="roundRect">
            <a:avLst>
              <a:gd name="adj" fmla="val 38737"/>
            </a:avLst>
          </a:prstGeom>
          <a:solidFill>
            <a:srgbClr val="E08A3C"/>
          </a:solidFill>
          <a:ln/>
        </p:spPr>
        <p:txBody>
          <a:bodyPr/>
          <a:lstStyle/>
          <a:p>
            <a:endParaRPr lang="en-US"/>
          </a:p>
        </p:txBody>
      </p:sp>
      <p:sp>
        <p:nvSpPr>
          <p:cNvPr id="37" name="Shape 35"/>
          <p:cNvSpPr/>
          <p:nvPr/>
        </p:nvSpPr>
        <p:spPr>
          <a:xfrm>
            <a:off x="9501809" y="2063995"/>
            <a:ext cx="47211" cy="953525"/>
          </a:xfrm>
          <a:prstGeom prst="roundRect">
            <a:avLst>
              <a:gd name="adj" fmla="val 38737"/>
            </a:avLst>
          </a:prstGeom>
          <a:solidFill>
            <a:srgbClr val="E08A3C"/>
          </a:solidFill>
          <a:ln/>
        </p:spPr>
        <p:txBody>
          <a:bodyPr/>
          <a:lstStyle/>
          <a:p>
            <a:endParaRPr lang="en-US"/>
          </a:p>
        </p:txBody>
      </p:sp>
      <p:sp>
        <p:nvSpPr>
          <p:cNvPr id="38" name="Shape 36"/>
          <p:cNvSpPr/>
          <p:nvPr/>
        </p:nvSpPr>
        <p:spPr>
          <a:xfrm>
            <a:off x="9596230" y="2308134"/>
            <a:ext cx="47211" cy="709386"/>
          </a:xfrm>
          <a:prstGeom prst="roundRect">
            <a:avLst>
              <a:gd name="adj" fmla="val 38737"/>
            </a:avLst>
          </a:prstGeom>
          <a:solidFill>
            <a:srgbClr val="E08A3C"/>
          </a:solidFill>
          <a:ln/>
        </p:spPr>
        <p:txBody>
          <a:bodyPr/>
          <a:lstStyle/>
          <a:p>
            <a:endParaRPr lang="en-US"/>
          </a:p>
        </p:txBody>
      </p:sp>
      <p:sp>
        <p:nvSpPr>
          <p:cNvPr id="39" name="Shape 37"/>
          <p:cNvSpPr/>
          <p:nvPr/>
        </p:nvSpPr>
        <p:spPr>
          <a:xfrm>
            <a:off x="9690652" y="2106006"/>
            <a:ext cx="47211" cy="911514"/>
          </a:xfrm>
          <a:prstGeom prst="roundRect">
            <a:avLst>
              <a:gd name="adj" fmla="val 38737"/>
            </a:avLst>
          </a:prstGeom>
          <a:solidFill>
            <a:srgbClr val="E08A3C"/>
          </a:solidFill>
          <a:ln/>
        </p:spPr>
        <p:txBody>
          <a:bodyPr/>
          <a:lstStyle/>
          <a:p>
            <a:endParaRPr lang="en-US"/>
          </a:p>
        </p:txBody>
      </p:sp>
      <p:sp>
        <p:nvSpPr>
          <p:cNvPr id="40" name="Shape 38"/>
          <p:cNvSpPr/>
          <p:nvPr/>
        </p:nvSpPr>
        <p:spPr>
          <a:xfrm>
            <a:off x="9785074" y="2354589"/>
            <a:ext cx="47211" cy="662931"/>
          </a:xfrm>
          <a:prstGeom prst="roundRect">
            <a:avLst>
              <a:gd name="adj" fmla="val 38737"/>
            </a:avLst>
          </a:prstGeom>
          <a:solidFill>
            <a:srgbClr val="E08A3C"/>
          </a:solidFill>
          <a:ln/>
        </p:spPr>
        <p:txBody>
          <a:bodyPr/>
          <a:lstStyle/>
          <a:p>
            <a:endParaRPr lang="en-US"/>
          </a:p>
        </p:txBody>
      </p:sp>
      <p:sp>
        <p:nvSpPr>
          <p:cNvPr id="41" name="Shape 39"/>
          <p:cNvSpPr/>
          <p:nvPr/>
        </p:nvSpPr>
        <p:spPr>
          <a:xfrm>
            <a:off x="9879496" y="2292123"/>
            <a:ext cx="47211" cy="725397"/>
          </a:xfrm>
          <a:prstGeom prst="roundRect">
            <a:avLst>
              <a:gd name="adj" fmla="val 38737"/>
            </a:avLst>
          </a:prstGeom>
          <a:solidFill>
            <a:srgbClr val="E08A3C"/>
          </a:solidFill>
          <a:ln/>
        </p:spPr>
        <p:txBody>
          <a:bodyPr/>
          <a:lstStyle/>
          <a:p>
            <a:endParaRPr lang="en-US"/>
          </a:p>
        </p:txBody>
      </p:sp>
      <p:sp>
        <p:nvSpPr>
          <p:cNvPr id="42" name="Shape 40"/>
          <p:cNvSpPr/>
          <p:nvPr/>
        </p:nvSpPr>
        <p:spPr>
          <a:xfrm>
            <a:off x="9973917" y="2315915"/>
            <a:ext cx="47211" cy="701605"/>
          </a:xfrm>
          <a:prstGeom prst="roundRect">
            <a:avLst>
              <a:gd name="adj" fmla="val 38737"/>
            </a:avLst>
          </a:prstGeom>
          <a:solidFill>
            <a:srgbClr val="E08A3C"/>
          </a:solidFill>
          <a:ln/>
        </p:spPr>
        <p:txBody>
          <a:bodyPr/>
          <a:lstStyle/>
          <a:p>
            <a:endParaRPr lang="en-US"/>
          </a:p>
        </p:txBody>
      </p:sp>
      <p:sp>
        <p:nvSpPr>
          <p:cNvPr id="43" name="Shape 41"/>
          <p:cNvSpPr/>
          <p:nvPr/>
        </p:nvSpPr>
        <p:spPr>
          <a:xfrm>
            <a:off x="10068339" y="2610999"/>
            <a:ext cx="47211" cy="406521"/>
          </a:xfrm>
          <a:prstGeom prst="roundRect">
            <a:avLst>
              <a:gd name="adj" fmla="val 38737"/>
            </a:avLst>
          </a:prstGeom>
          <a:solidFill>
            <a:srgbClr val="E08A3C"/>
          </a:solidFill>
          <a:ln/>
        </p:spPr>
        <p:txBody>
          <a:bodyPr/>
          <a:lstStyle/>
          <a:p>
            <a:endParaRPr lang="en-US"/>
          </a:p>
        </p:txBody>
      </p:sp>
      <p:sp>
        <p:nvSpPr>
          <p:cNvPr id="44" name="Shape 42"/>
          <p:cNvSpPr/>
          <p:nvPr/>
        </p:nvSpPr>
        <p:spPr>
          <a:xfrm>
            <a:off x="10162761" y="2217330"/>
            <a:ext cx="47211" cy="800190"/>
          </a:xfrm>
          <a:prstGeom prst="roundRect">
            <a:avLst>
              <a:gd name="adj" fmla="val 38737"/>
            </a:avLst>
          </a:prstGeom>
          <a:solidFill>
            <a:srgbClr val="E08A3C"/>
          </a:solidFill>
          <a:ln/>
        </p:spPr>
        <p:txBody>
          <a:bodyPr/>
          <a:lstStyle/>
          <a:p>
            <a:endParaRPr lang="en-US"/>
          </a:p>
        </p:txBody>
      </p:sp>
      <p:sp>
        <p:nvSpPr>
          <p:cNvPr id="45" name="Shape 43"/>
          <p:cNvSpPr/>
          <p:nvPr/>
        </p:nvSpPr>
        <p:spPr>
          <a:xfrm>
            <a:off x="10257183" y="2150380"/>
            <a:ext cx="47211" cy="867140"/>
          </a:xfrm>
          <a:prstGeom prst="roundRect">
            <a:avLst>
              <a:gd name="adj" fmla="val 38737"/>
            </a:avLst>
          </a:prstGeom>
          <a:solidFill>
            <a:srgbClr val="E08A3C"/>
          </a:solidFill>
          <a:ln/>
        </p:spPr>
        <p:txBody>
          <a:bodyPr/>
          <a:lstStyle/>
          <a:p>
            <a:endParaRPr lang="en-US"/>
          </a:p>
        </p:txBody>
      </p:sp>
      <p:sp>
        <p:nvSpPr>
          <p:cNvPr id="46" name="Shape 44"/>
          <p:cNvSpPr/>
          <p:nvPr/>
        </p:nvSpPr>
        <p:spPr>
          <a:xfrm>
            <a:off x="10351604" y="2097599"/>
            <a:ext cx="47211" cy="919921"/>
          </a:xfrm>
          <a:prstGeom prst="roundRect">
            <a:avLst>
              <a:gd name="adj" fmla="val 38737"/>
            </a:avLst>
          </a:prstGeom>
          <a:solidFill>
            <a:srgbClr val="E08A3C"/>
          </a:solidFill>
          <a:ln/>
        </p:spPr>
        <p:txBody>
          <a:bodyPr/>
          <a:lstStyle/>
          <a:p>
            <a:endParaRPr lang="en-US"/>
          </a:p>
        </p:txBody>
      </p:sp>
      <p:sp>
        <p:nvSpPr>
          <p:cNvPr id="47" name="Shape 45"/>
          <p:cNvSpPr/>
          <p:nvPr/>
        </p:nvSpPr>
        <p:spPr>
          <a:xfrm>
            <a:off x="10446026" y="2586500"/>
            <a:ext cx="47211" cy="431020"/>
          </a:xfrm>
          <a:prstGeom prst="roundRect">
            <a:avLst>
              <a:gd name="adj" fmla="val 38737"/>
            </a:avLst>
          </a:prstGeom>
          <a:solidFill>
            <a:srgbClr val="E08A3C"/>
          </a:solidFill>
          <a:ln/>
        </p:spPr>
        <p:txBody>
          <a:bodyPr/>
          <a:lstStyle/>
          <a:p>
            <a:endParaRPr lang="en-US"/>
          </a:p>
        </p:txBody>
      </p:sp>
      <p:sp>
        <p:nvSpPr>
          <p:cNvPr id="48" name="Shape 46"/>
          <p:cNvSpPr/>
          <p:nvPr/>
        </p:nvSpPr>
        <p:spPr>
          <a:xfrm>
            <a:off x="10540448" y="2739454"/>
            <a:ext cx="47211" cy="278066"/>
          </a:xfrm>
          <a:prstGeom prst="roundRect">
            <a:avLst>
              <a:gd name="adj" fmla="val 38737"/>
            </a:avLst>
          </a:prstGeom>
          <a:solidFill>
            <a:srgbClr val="E08A3C"/>
          </a:solidFill>
          <a:ln/>
        </p:spPr>
        <p:txBody>
          <a:bodyPr/>
          <a:lstStyle/>
          <a:p>
            <a:endParaRPr lang="en-US"/>
          </a:p>
        </p:txBody>
      </p:sp>
      <p:sp>
        <p:nvSpPr>
          <p:cNvPr id="49" name="Shape 47"/>
          <p:cNvSpPr/>
          <p:nvPr/>
        </p:nvSpPr>
        <p:spPr>
          <a:xfrm>
            <a:off x="10634870" y="2157692"/>
            <a:ext cx="47211" cy="859828"/>
          </a:xfrm>
          <a:prstGeom prst="roundRect">
            <a:avLst>
              <a:gd name="adj" fmla="val 38737"/>
            </a:avLst>
          </a:prstGeom>
          <a:solidFill>
            <a:srgbClr val="E08A3C"/>
          </a:solidFill>
          <a:ln/>
        </p:spPr>
        <p:txBody>
          <a:bodyPr/>
          <a:lstStyle/>
          <a:p>
            <a:endParaRPr lang="en-US"/>
          </a:p>
        </p:txBody>
      </p:sp>
      <p:sp>
        <p:nvSpPr>
          <p:cNvPr id="50" name="Shape 48"/>
          <p:cNvSpPr/>
          <p:nvPr/>
        </p:nvSpPr>
        <p:spPr>
          <a:xfrm>
            <a:off x="10729291" y="2447346"/>
            <a:ext cx="47211" cy="570174"/>
          </a:xfrm>
          <a:prstGeom prst="roundRect">
            <a:avLst>
              <a:gd name="adj" fmla="val 38737"/>
            </a:avLst>
          </a:prstGeom>
          <a:solidFill>
            <a:srgbClr val="E08A3C"/>
          </a:solidFill>
          <a:ln/>
        </p:spPr>
        <p:txBody>
          <a:bodyPr/>
          <a:lstStyle/>
          <a:p>
            <a:endParaRPr lang="en-US"/>
          </a:p>
        </p:txBody>
      </p:sp>
      <p:sp>
        <p:nvSpPr>
          <p:cNvPr id="51" name="Shape 49"/>
          <p:cNvSpPr/>
          <p:nvPr/>
        </p:nvSpPr>
        <p:spPr>
          <a:xfrm>
            <a:off x="10823713" y="2711108"/>
            <a:ext cx="47211" cy="306412"/>
          </a:xfrm>
          <a:prstGeom prst="roundRect">
            <a:avLst>
              <a:gd name="adj" fmla="val 38737"/>
            </a:avLst>
          </a:prstGeom>
          <a:solidFill>
            <a:srgbClr val="E08A3C"/>
          </a:solidFill>
          <a:ln/>
        </p:spPr>
        <p:txBody>
          <a:bodyPr/>
          <a:lstStyle/>
          <a:p>
            <a:endParaRPr lang="en-US"/>
          </a:p>
        </p:txBody>
      </p:sp>
      <p:sp>
        <p:nvSpPr>
          <p:cNvPr id="52" name="Shape 50"/>
          <p:cNvSpPr/>
          <p:nvPr/>
        </p:nvSpPr>
        <p:spPr>
          <a:xfrm>
            <a:off x="10918135" y="2616353"/>
            <a:ext cx="47211" cy="401167"/>
          </a:xfrm>
          <a:prstGeom prst="roundRect">
            <a:avLst>
              <a:gd name="adj" fmla="val 38737"/>
            </a:avLst>
          </a:prstGeom>
          <a:solidFill>
            <a:srgbClr val="E08A3C"/>
          </a:solidFill>
          <a:ln/>
        </p:spPr>
        <p:txBody>
          <a:bodyPr/>
          <a:lstStyle/>
          <a:p>
            <a:endParaRPr lang="en-US"/>
          </a:p>
        </p:txBody>
      </p:sp>
      <p:sp>
        <p:nvSpPr>
          <p:cNvPr id="53" name="Shape 51"/>
          <p:cNvSpPr/>
          <p:nvPr/>
        </p:nvSpPr>
        <p:spPr>
          <a:xfrm>
            <a:off x="11012557" y="2140296"/>
            <a:ext cx="47211" cy="877224"/>
          </a:xfrm>
          <a:prstGeom prst="roundRect">
            <a:avLst>
              <a:gd name="adj" fmla="val 38737"/>
            </a:avLst>
          </a:prstGeom>
          <a:solidFill>
            <a:srgbClr val="E08A3C"/>
          </a:solidFill>
          <a:ln/>
        </p:spPr>
        <p:txBody>
          <a:bodyPr/>
          <a:lstStyle/>
          <a:p>
            <a:endParaRPr lang="en-US"/>
          </a:p>
        </p:txBody>
      </p:sp>
      <p:sp>
        <p:nvSpPr>
          <p:cNvPr id="54" name="Shape 52"/>
          <p:cNvSpPr/>
          <p:nvPr/>
        </p:nvSpPr>
        <p:spPr>
          <a:xfrm>
            <a:off x="11106978" y="2236160"/>
            <a:ext cx="47211" cy="781360"/>
          </a:xfrm>
          <a:prstGeom prst="roundRect">
            <a:avLst>
              <a:gd name="adj" fmla="val 38737"/>
            </a:avLst>
          </a:prstGeom>
          <a:solidFill>
            <a:srgbClr val="E08A3C"/>
          </a:solidFill>
          <a:ln/>
        </p:spPr>
        <p:txBody>
          <a:bodyPr/>
          <a:lstStyle/>
          <a:p>
            <a:endParaRPr lang="en-US"/>
          </a:p>
        </p:txBody>
      </p:sp>
      <p:sp>
        <p:nvSpPr>
          <p:cNvPr id="55" name="Shape 53"/>
          <p:cNvSpPr/>
          <p:nvPr/>
        </p:nvSpPr>
        <p:spPr>
          <a:xfrm>
            <a:off x="8796528" y="3200400"/>
            <a:ext cx="457200" cy="566928"/>
          </a:xfrm>
          <a:prstGeom prst="downArrow">
            <a:avLst/>
          </a:prstGeom>
          <a:solidFill>
            <a:srgbClr val="12233A"/>
          </a:solidFill>
          <a:ln/>
        </p:spPr>
        <p:txBody>
          <a:bodyPr/>
          <a:lstStyle/>
          <a:p>
            <a:endParaRPr lang="en-US"/>
          </a:p>
        </p:txBody>
      </p:sp>
      <p:sp>
        <p:nvSpPr>
          <p:cNvPr id="56" name="Text 54"/>
          <p:cNvSpPr/>
          <p:nvPr/>
        </p:nvSpPr>
        <p:spPr>
          <a:xfrm>
            <a:off x="6858000" y="3246120"/>
            <a:ext cx="1874520" cy="457200"/>
          </a:xfrm>
          <a:prstGeom prst="rect">
            <a:avLst/>
          </a:prstGeom>
          <a:noFill/>
          <a:ln/>
        </p:spPr>
        <p:txBody>
          <a:bodyPr wrap="square" lIns="0" tIns="0" rIns="0" bIns="0" rtlCol="0" anchor="ctr"/>
          <a:lstStyle/>
          <a:p>
            <a:pPr marL="0" indent="0" algn="r">
              <a:buNone/>
            </a:pPr>
            <a:r>
              <a:rPr lang="en-US" sz="1050" dirty="0">
                <a:solidFill>
                  <a:srgbClr val="62707F"/>
                </a:solidFill>
                <a:latin typeface="Calibri" pitchFamily="34" charset="0"/>
                <a:ea typeface="Calibri" pitchFamily="34" charset="-122"/>
                <a:cs typeface="Calibri" pitchFamily="34" charset="-120"/>
              </a:rPr>
              <a:t>BiLSTM  ·  spectral gain mask</a:t>
            </a:r>
            <a:endParaRPr lang="en-US" sz="1050" dirty="0"/>
          </a:p>
        </p:txBody>
      </p:sp>
      <p:sp>
        <p:nvSpPr>
          <p:cNvPr id="57" name="Text 55"/>
          <p:cNvSpPr/>
          <p:nvPr/>
        </p:nvSpPr>
        <p:spPr>
          <a:xfrm>
            <a:off x="6858000" y="3931920"/>
            <a:ext cx="4297680" cy="228600"/>
          </a:xfrm>
          <a:prstGeom prst="rect">
            <a:avLst/>
          </a:prstGeom>
          <a:noFill/>
          <a:ln/>
        </p:spPr>
        <p:txBody>
          <a:bodyPr wrap="square" lIns="0" tIns="0" rIns="0" bIns="0" rtlCol="0" anchor="ctr"/>
          <a:lstStyle/>
          <a:p>
            <a:pPr marL="0" indent="0">
              <a:buNone/>
            </a:pPr>
            <a:r>
              <a:rPr lang="en-US" sz="1050" b="1" kern="0" spc="120" dirty="0">
                <a:solidFill>
                  <a:srgbClr val="0E8A8F"/>
                </a:solidFill>
                <a:latin typeface="Calibri" pitchFamily="34" charset="0"/>
                <a:ea typeface="Calibri" pitchFamily="34" charset="-122"/>
                <a:cs typeface="Calibri" pitchFamily="34" charset="-120"/>
              </a:rPr>
              <a:t>DENOISED OUTPUT</a:t>
            </a:r>
            <a:endParaRPr lang="en-US" sz="1050" dirty="0"/>
          </a:p>
        </p:txBody>
      </p:sp>
      <p:sp>
        <p:nvSpPr>
          <p:cNvPr id="58" name="Shape 56"/>
          <p:cNvSpPr/>
          <p:nvPr/>
        </p:nvSpPr>
        <p:spPr>
          <a:xfrm>
            <a:off x="6858000" y="5129784"/>
            <a:ext cx="47211" cy="36576"/>
          </a:xfrm>
          <a:prstGeom prst="roundRect">
            <a:avLst>
              <a:gd name="adj" fmla="val 50000"/>
            </a:avLst>
          </a:prstGeom>
          <a:solidFill>
            <a:srgbClr val="0E8A8F"/>
          </a:solidFill>
          <a:ln/>
        </p:spPr>
        <p:txBody>
          <a:bodyPr/>
          <a:lstStyle/>
          <a:p>
            <a:endParaRPr lang="en-US"/>
          </a:p>
        </p:txBody>
      </p:sp>
      <p:sp>
        <p:nvSpPr>
          <p:cNvPr id="59" name="Shape 57"/>
          <p:cNvSpPr/>
          <p:nvPr/>
        </p:nvSpPr>
        <p:spPr>
          <a:xfrm>
            <a:off x="6952422" y="5092302"/>
            <a:ext cx="47211" cy="74058"/>
          </a:xfrm>
          <a:prstGeom prst="roundRect">
            <a:avLst>
              <a:gd name="adj" fmla="val 38737"/>
            </a:avLst>
          </a:prstGeom>
          <a:solidFill>
            <a:srgbClr val="0E8A8F"/>
          </a:solidFill>
          <a:ln/>
        </p:spPr>
        <p:txBody>
          <a:bodyPr/>
          <a:lstStyle/>
          <a:p>
            <a:endParaRPr lang="en-US"/>
          </a:p>
        </p:txBody>
      </p:sp>
      <p:sp>
        <p:nvSpPr>
          <p:cNvPr id="60" name="Shape 58"/>
          <p:cNvSpPr/>
          <p:nvPr/>
        </p:nvSpPr>
        <p:spPr>
          <a:xfrm>
            <a:off x="7046843" y="4887996"/>
            <a:ext cx="47211" cy="278364"/>
          </a:xfrm>
          <a:prstGeom prst="roundRect">
            <a:avLst>
              <a:gd name="adj" fmla="val 38737"/>
            </a:avLst>
          </a:prstGeom>
          <a:solidFill>
            <a:srgbClr val="0E8A8F"/>
          </a:solidFill>
          <a:ln/>
        </p:spPr>
        <p:txBody>
          <a:bodyPr/>
          <a:lstStyle/>
          <a:p>
            <a:endParaRPr lang="en-US"/>
          </a:p>
        </p:txBody>
      </p:sp>
      <p:sp>
        <p:nvSpPr>
          <p:cNvPr id="61" name="Shape 59"/>
          <p:cNvSpPr/>
          <p:nvPr/>
        </p:nvSpPr>
        <p:spPr>
          <a:xfrm>
            <a:off x="7141265" y="5004801"/>
            <a:ext cx="47211" cy="161559"/>
          </a:xfrm>
          <a:prstGeom prst="roundRect">
            <a:avLst>
              <a:gd name="adj" fmla="val 38737"/>
            </a:avLst>
          </a:prstGeom>
          <a:solidFill>
            <a:srgbClr val="0E8A8F"/>
          </a:solidFill>
          <a:ln/>
        </p:spPr>
        <p:txBody>
          <a:bodyPr/>
          <a:lstStyle/>
          <a:p>
            <a:endParaRPr lang="en-US"/>
          </a:p>
        </p:txBody>
      </p:sp>
      <p:sp>
        <p:nvSpPr>
          <p:cNvPr id="62" name="Shape 60"/>
          <p:cNvSpPr/>
          <p:nvPr/>
        </p:nvSpPr>
        <p:spPr>
          <a:xfrm>
            <a:off x="7235687" y="4981620"/>
            <a:ext cx="47211" cy="184740"/>
          </a:xfrm>
          <a:prstGeom prst="roundRect">
            <a:avLst>
              <a:gd name="adj" fmla="val 38737"/>
            </a:avLst>
          </a:prstGeom>
          <a:solidFill>
            <a:srgbClr val="0E8A8F"/>
          </a:solidFill>
          <a:ln/>
        </p:spPr>
        <p:txBody>
          <a:bodyPr/>
          <a:lstStyle/>
          <a:p>
            <a:endParaRPr lang="en-US"/>
          </a:p>
        </p:txBody>
      </p:sp>
      <p:sp>
        <p:nvSpPr>
          <p:cNvPr id="63" name="Shape 61"/>
          <p:cNvSpPr/>
          <p:nvPr/>
        </p:nvSpPr>
        <p:spPr>
          <a:xfrm>
            <a:off x="7330109" y="4761799"/>
            <a:ext cx="47211" cy="404561"/>
          </a:xfrm>
          <a:prstGeom prst="roundRect">
            <a:avLst>
              <a:gd name="adj" fmla="val 38737"/>
            </a:avLst>
          </a:prstGeom>
          <a:solidFill>
            <a:srgbClr val="0E8A8F"/>
          </a:solidFill>
          <a:ln/>
        </p:spPr>
        <p:txBody>
          <a:bodyPr/>
          <a:lstStyle/>
          <a:p>
            <a:endParaRPr lang="en-US"/>
          </a:p>
        </p:txBody>
      </p:sp>
      <p:sp>
        <p:nvSpPr>
          <p:cNvPr id="64" name="Shape 62"/>
          <p:cNvSpPr/>
          <p:nvPr/>
        </p:nvSpPr>
        <p:spPr>
          <a:xfrm>
            <a:off x="7424530" y="4611015"/>
            <a:ext cx="47211" cy="555345"/>
          </a:xfrm>
          <a:prstGeom prst="roundRect">
            <a:avLst>
              <a:gd name="adj" fmla="val 38737"/>
            </a:avLst>
          </a:prstGeom>
          <a:solidFill>
            <a:srgbClr val="0E8A8F"/>
          </a:solidFill>
          <a:ln/>
        </p:spPr>
        <p:txBody>
          <a:bodyPr/>
          <a:lstStyle/>
          <a:p>
            <a:endParaRPr lang="en-US"/>
          </a:p>
        </p:txBody>
      </p:sp>
      <p:sp>
        <p:nvSpPr>
          <p:cNvPr id="65" name="Shape 63"/>
          <p:cNvSpPr/>
          <p:nvPr/>
        </p:nvSpPr>
        <p:spPr>
          <a:xfrm>
            <a:off x="7518952" y="4688816"/>
            <a:ext cx="47211" cy="477544"/>
          </a:xfrm>
          <a:prstGeom prst="roundRect">
            <a:avLst>
              <a:gd name="adj" fmla="val 38737"/>
            </a:avLst>
          </a:prstGeom>
          <a:solidFill>
            <a:srgbClr val="0E8A8F"/>
          </a:solidFill>
          <a:ln/>
        </p:spPr>
        <p:txBody>
          <a:bodyPr/>
          <a:lstStyle/>
          <a:p>
            <a:endParaRPr lang="en-US"/>
          </a:p>
        </p:txBody>
      </p:sp>
      <p:sp>
        <p:nvSpPr>
          <p:cNvPr id="66" name="Shape 64"/>
          <p:cNvSpPr/>
          <p:nvPr/>
        </p:nvSpPr>
        <p:spPr>
          <a:xfrm>
            <a:off x="7613374" y="4501838"/>
            <a:ext cx="47211" cy="664522"/>
          </a:xfrm>
          <a:prstGeom prst="roundRect">
            <a:avLst>
              <a:gd name="adj" fmla="val 38737"/>
            </a:avLst>
          </a:prstGeom>
          <a:solidFill>
            <a:srgbClr val="0E8A8F"/>
          </a:solidFill>
          <a:ln/>
        </p:spPr>
        <p:txBody>
          <a:bodyPr/>
          <a:lstStyle/>
          <a:p>
            <a:endParaRPr lang="en-US"/>
          </a:p>
        </p:txBody>
      </p:sp>
      <p:sp>
        <p:nvSpPr>
          <p:cNvPr id="67" name="Shape 65"/>
          <p:cNvSpPr/>
          <p:nvPr/>
        </p:nvSpPr>
        <p:spPr>
          <a:xfrm>
            <a:off x="7707796" y="4518529"/>
            <a:ext cx="47211" cy="647831"/>
          </a:xfrm>
          <a:prstGeom prst="roundRect">
            <a:avLst>
              <a:gd name="adj" fmla="val 38737"/>
            </a:avLst>
          </a:prstGeom>
          <a:solidFill>
            <a:srgbClr val="0E8A8F"/>
          </a:solidFill>
          <a:ln/>
        </p:spPr>
        <p:txBody>
          <a:bodyPr/>
          <a:lstStyle/>
          <a:p>
            <a:endParaRPr lang="en-US"/>
          </a:p>
        </p:txBody>
      </p:sp>
      <p:sp>
        <p:nvSpPr>
          <p:cNvPr id="68" name="Shape 66"/>
          <p:cNvSpPr/>
          <p:nvPr/>
        </p:nvSpPr>
        <p:spPr>
          <a:xfrm>
            <a:off x="7802217" y="4680119"/>
            <a:ext cx="47211" cy="486241"/>
          </a:xfrm>
          <a:prstGeom prst="roundRect">
            <a:avLst>
              <a:gd name="adj" fmla="val 38737"/>
            </a:avLst>
          </a:prstGeom>
          <a:solidFill>
            <a:srgbClr val="0E8A8F"/>
          </a:solidFill>
          <a:ln/>
        </p:spPr>
        <p:txBody>
          <a:bodyPr/>
          <a:lstStyle/>
          <a:p>
            <a:endParaRPr lang="en-US"/>
          </a:p>
        </p:txBody>
      </p:sp>
      <p:sp>
        <p:nvSpPr>
          <p:cNvPr id="69" name="Shape 67"/>
          <p:cNvSpPr/>
          <p:nvPr/>
        </p:nvSpPr>
        <p:spPr>
          <a:xfrm>
            <a:off x="7896639" y="4426927"/>
            <a:ext cx="47211" cy="739433"/>
          </a:xfrm>
          <a:prstGeom prst="roundRect">
            <a:avLst>
              <a:gd name="adj" fmla="val 38737"/>
            </a:avLst>
          </a:prstGeom>
          <a:solidFill>
            <a:srgbClr val="0E8A8F"/>
          </a:solidFill>
          <a:ln/>
        </p:spPr>
        <p:txBody>
          <a:bodyPr/>
          <a:lstStyle/>
          <a:p>
            <a:endParaRPr lang="en-US"/>
          </a:p>
        </p:txBody>
      </p:sp>
      <p:sp>
        <p:nvSpPr>
          <p:cNvPr id="70" name="Shape 68"/>
          <p:cNvSpPr/>
          <p:nvPr/>
        </p:nvSpPr>
        <p:spPr>
          <a:xfrm>
            <a:off x="7991061" y="4641040"/>
            <a:ext cx="47211" cy="525320"/>
          </a:xfrm>
          <a:prstGeom prst="roundRect">
            <a:avLst>
              <a:gd name="adj" fmla="val 38737"/>
            </a:avLst>
          </a:prstGeom>
          <a:solidFill>
            <a:srgbClr val="0E8A8F"/>
          </a:solidFill>
          <a:ln/>
        </p:spPr>
        <p:txBody>
          <a:bodyPr/>
          <a:lstStyle/>
          <a:p>
            <a:endParaRPr lang="en-US"/>
          </a:p>
        </p:txBody>
      </p:sp>
      <p:sp>
        <p:nvSpPr>
          <p:cNvPr id="71" name="Shape 69"/>
          <p:cNvSpPr/>
          <p:nvPr/>
        </p:nvSpPr>
        <p:spPr>
          <a:xfrm>
            <a:off x="8085483" y="4753866"/>
            <a:ext cx="47211" cy="412494"/>
          </a:xfrm>
          <a:prstGeom prst="roundRect">
            <a:avLst>
              <a:gd name="adj" fmla="val 38737"/>
            </a:avLst>
          </a:prstGeom>
          <a:solidFill>
            <a:srgbClr val="0E8A8F"/>
          </a:solidFill>
          <a:ln/>
        </p:spPr>
        <p:txBody>
          <a:bodyPr/>
          <a:lstStyle/>
          <a:p>
            <a:endParaRPr lang="en-US"/>
          </a:p>
        </p:txBody>
      </p:sp>
      <p:sp>
        <p:nvSpPr>
          <p:cNvPr id="72" name="Shape 70"/>
          <p:cNvSpPr/>
          <p:nvPr/>
        </p:nvSpPr>
        <p:spPr>
          <a:xfrm>
            <a:off x="8179904" y="4504955"/>
            <a:ext cx="47211" cy="661405"/>
          </a:xfrm>
          <a:prstGeom prst="roundRect">
            <a:avLst>
              <a:gd name="adj" fmla="val 38737"/>
            </a:avLst>
          </a:prstGeom>
          <a:solidFill>
            <a:srgbClr val="0E8A8F"/>
          </a:solidFill>
          <a:ln/>
        </p:spPr>
        <p:txBody>
          <a:bodyPr/>
          <a:lstStyle/>
          <a:p>
            <a:endParaRPr lang="en-US"/>
          </a:p>
        </p:txBody>
      </p:sp>
      <p:sp>
        <p:nvSpPr>
          <p:cNvPr id="73" name="Shape 71"/>
          <p:cNvSpPr/>
          <p:nvPr/>
        </p:nvSpPr>
        <p:spPr>
          <a:xfrm>
            <a:off x="8274326" y="4585709"/>
            <a:ext cx="47211" cy="580651"/>
          </a:xfrm>
          <a:prstGeom prst="roundRect">
            <a:avLst>
              <a:gd name="adj" fmla="val 38737"/>
            </a:avLst>
          </a:prstGeom>
          <a:solidFill>
            <a:srgbClr val="0E8A8F"/>
          </a:solidFill>
          <a:ln/>
        </p:spPr>
        <p:txBody>
          <a:bodyPr/>
          <a:lstStyle/>
          <a:p>
            <a:endParaRPr lang="en-US"/>
          </a:p>
        </p:txBody>
      </p:sp>
      <p:sp>
        <p:nvSpPr>
          <p:cNvPr id="74" name="Shape 72"/>
          <p:cNvSpPr/>
          <p:nvPr/>
        </p:nvSpPr>
        <p:spPr>
          <a:xfrm>
            <a:off x="8368748" y="4623257"/>
            <a:ext cx="47211" cy="543103"/>
          </a:xfrm>
          <a:prstGeom prst="roundRect">
            <a:avLst>
              <a:gd name="adj" fmla="val 38737"/>
            </a:avLst>
          </a:prstGeom>
          <a:solidFill>
            <a:srgbClr val="0E8A8F"/>
          </a:solidFill>
          <a:ln/>
        </p:spPr>
        <p:txBody>
          <a:bodyPr/>
          <a:lstStyle/>
          <a:p>
            <a:endParaRPr lang="en-US"/>
          </a:p>
        </p:txBody>
      </p:sp>
      <p:sp>
        <p:nvSpPr>
          <p:cNvPr id="75" name="Shape 73"/>
          <p:cNvSpPr/>
          <p:nvPr/>
        </p:nvSpPr>
        <p:spPr>
          <a:xfrm>
            <a:off x="8463170" y="4909061"/>
            <a:ext cx="47211" cy="257299"/>
          </a:xfrm>
          <a:prstGeom prst="roundRect">
            <a:avLst>
              <a:gd name="adj" fmla="val 38737"/>
            </a:avLst>
          </a:prstGeom>
          <a:solidFill>
            <a:srgbClr val="0E8A8F"/>
          </a:solidFill>
          <a:ln/>
        </p:spPr>
        <p:txBody>
          <a:bodyPr/>
          <a:lstStyle/>
          <a:p>
            <a:endParaRPr lang="en-US"/>
          </a:p>
        </p:txBody>
      </p:sp>
      <p:sp>
        <p:nvSpPr>
          <p:cNvPr id="76" name="Shape 74"/>
          <p:cNvSpPr/>
          <p:nvPr/>
        </p:nvSpPr>
        <p:spPr>
          <a:xfrm>
            <a:off x="8557591" y="4302312"/>
            <a:ext cx="47211" cy="864048"/>
          </a:xfrm>
          <a:prstGeom prst="roundRect">
            <a:avLst>
              <a:gd name="adj" fmla="val 38737"/>
            </a:avLst>
          </a:prstGeom>
          <a:solidFill>
            <a:srgbClr val="0E8A8F"/>
          </a:solidFill>
          <a:ln/>
        </p:spPr>
        <p:txBody>
          <a:bodyPr/>
          <a:lstStyle/>
          <a:p>
            <a:endParaRPr lang="en-US"/>
          </a:p>
        </p:txBody>
      </p:sp>
      <p:sp>
        <p:nvSpPr>
          <p:cNvPr id="77" name="Shape 75"/>
          <p:cNvSpPr/>
          <p:nvPr/>
        </p:nvSpPr>
        <p:spPr>
          <a:xfrm>
            <a:off x="8652013" y="4265296"/>
            <a:ext cx="47211" cy="901064"/>
          </a:xfrm>
          <a:prstGeom prst="roundRect">
            <a:avLst>
              <a:gd name="adj" fmla="val 38737"/>
            </a:avLst>
          </a:prstGeom>
          <a:solidFill>
            <a:srgbClr val="0E8A8F"/>
          </a:solidFill>
          <a:ln/>
        </p:spPr>
        <p:txBody>
          <a:bodyPr/>
          <a:lstStyle/>
          <a:p>
            <a:endParaRPr lang="en-US"/>
          </a:p>
        </p:txBody>
      </p:sp>
      <p:sp>
        <p:nvSpPr>
          <p:cNvPr id="78" name="Shape 76"/>
          <p:cNvSpPr/>
          <p:nvPr/>
        </p:nvSpPr>
        <p:spPr>
          <a:xfrm>
            <a:off x="8746435" y="4486937"/>
            <a:ext cx="47211" cy="679423"/>
          </a:xfrm>
          <a:prstGeom prst="roundRect">
            <a:avLst>
              <a:gd name="adj" fmla="val 38737"/>
            </a:avLst>
          </a:prstGeom>
          <a:solidFill>
            <a:srgbClr val="0E8A8F"/>
          </a:solidFill>
          <a:ln/>
        </p:spPr>
        <p:txBody>
          <a:bodyPr/>
          <a:lstStyle/>
          <a:p>
            <a:endParaRPr lang="en-US"/>
          </a:p>
        </p:txBody>
      </p:sp>
      <p:sp>
        <p:nvSpPr>
          <p:cNvPr id="79" name="Shape 77"/>
          <p:cNvSpPr/>
          <p:nvPr/>
        </p:nvSpPr>
        <p:spPr>
          <a:xfrm>
            <a:off x="8840857" y="4368559"/>
            <a:ext cx="47211" cy="797801"/>
          </a:xfrm>
          <a:prstGeom prst="roundRect">
            <a:avLst>
              <a:gd name="adj" fmla="val 38737"/>
            </a:avLst>
          </a:prstGeom>
          <a:solidFill>
            <a:srgbClr val="0E8A8F"/>
          </a:solidFill>
          <a:ln/>
        </p:spPr>
        <p:txBody>
          <a:bodyPr/>
          <a:lstStyle/>
          <a:p>
            <a:endParaRPr lang="en-US"/>
          </a:p>
        </p:txBody>
      </p:sp>
      <p:sp>
        <p:nvSpPr>
          <p:cNvPr id="80" name="Shape 78"/>
          <p:cNvSpPr/>
          <p:nvPr/>
        </p:nvSpPr>
        <p:spPr>
          <a:xfrm>
            <a:off x="8935278" y="4478635"/>
            <a:ext cx="47211" cy="687725"/>
          </a:xfrm>
          <a:prstGeom prst="roundRect">
            <a:avLst>
              <a:gd name="adj" fmla="val 38737"/>
            </a:avLst>
          </a:prstGeom>
          <a:solidFill>
            <a:srgbClr val="0E8A8F"/>
          </a:solidFill>
          <a:ln/>
        </p:spPr>
        <p:txBody>
          <a:bodyPr/>
          <a:lstStyle/>
          <a:p>
            <a:endParaRPr lang="en-US"/>
          </a:p>
        </p:txBody>
      </p:sp>
      <p:sp>
        <p:nvSpPr>
          <p:cNvPr id="81" name="Shape 79"/>
          <p:cNvSpPr/>
          <p:nvPr/>
        </p:nvSpPr>
        <p:spPr>
          <a:xfrm>
            <a:off x="9029700" y="4370278"/>
            <a:ext cx="47211" cy="796082"/>
          </a:xfrm>
          <a:prstGeom prst="roundRect">
            <a:avLst>
              <a:gd name="adj" fmla="val 38737"/>
            </a:avLst>
          </a:prstGeom>
          <a:solidFill>
            <a:srgbClr val="0E8A8F"/>
          </a:solidFill>
          <a:ln/>
        </p:spPr>
        <p:txBody>
          <a:bodyPr/>
          <a:lstStyle/>
          <a:p>
            <a:endParaRPr lang="en-US"/>
          </a:p>
        </p:txBody>
      </p:sp>
      <p:sp>
        <p:nvSpPr>
          <p:cNvPr id="82" name="Shape 80"/>
          <p:cNvSpPr/>
          <p:nvPr/>
        </p:nvSpPr>
        <p:spPr>
          <a:xfrm>
            <a:off x="9124122" y="4338410"/>
            <a:ext cx="47211" cy="827950"/>
          </a:xfrm>
          <a:prstGeom prst="roundRect">
            <a:avLst>
              <a:gd name="adj" fmla="val 38737"/>
            </a:avLst>
          </a:prstGeom>
          <a:solidFill>
            <a:srgbClr val="0E8A8F"/>
          </a:solidFill>
          <a:ln/>
        </p:spPr>
        <p:txBody>
          <a:bodyPr/>
          <a:lstStyle/>
          <a:p>
            <a:endParaRPr lang="en-US"/>
          </a:p>
        </p:txBody>
      </p:sp>
      <p:sp>
        <p:nvSpPr>
          <p:cNvPr id="83" name="Shape 81"/>
          <p:cNvSpPr/>
          <p:nvPr/>
        </p:nvSpPr>
        <p:spPr>
          <a:xfrm>
            <a:off x="9218543" y="4701516"/>
            <a:ext cx="47211" cy="464844"/>
          </a:xfrm>
          <a:prstGeom prst="roundRect">
            <a:avLst>
              <a:gd name="adj" fmla="val 38737"/>
            </a:avLst>
          </a:prstGeom>
          <a:solidFill>
            <a:srgbClr val="0E8A8F"/>
          </a:solidFill>
          <a:ln/>
        </p:spPr>
        <p:txBody>
          <a:bodyPr/>
          <a:lstStyle/>
          <a:p>
            <a:endParaRPr lang="en-US"/>
          </a:p>
        </p:txBody>
      </p:sp>
      <p:sp>
        <p:nvSpPr>
          <p:cNvPr id="84" name="Shape 82"/>
          <p:cNvSpPr/>
          <p:nvPr/>
        </p:nvSpPr>
        <p:spPr>
          <a:xfrm>
            <a:off x="9312965" y="4806911"/>
            <a:ext cx="47211" cy="359449"/>
          </a:xfrm>
          <a:prstGeom prst="roundRect">
            <a:avLst>
              <a:gd name="adj" fmla="val 38737"/>
            </a:avLst>
          </a:prstGeom>
          <a:solidFill>
            <a:srgbClr val="0E8A8F"/>
          </a:solidFill>
          <a:ln/>
        </p:spPr>
        <p:txBody>
          <a:bodyPr/>
          <a:lstStyle/>
          <a:p>
            <a:endParaRPr lang="en-US"/>
          </a:p>
        </p:txBody>
      </p:sp>
      <p:sp>
        <p:nvSpPr>
          <p:cNvPr id="85" name="Shape 83"/>
          <p:cNvSpPr/>
          <p:nvPr/>
        </p:nvSpPr>
        <p:spPr>
          <a:xfrm>
            <a:off x="9407387" y="4271969"/>
            <a:ext cx="47211" cy="894391"/>
          </a:xfrm>
          <a:prstGeom prst="roundRect">
            <a:avLst>
              <a:gd name="adj" fmla="val 38737"/>
            </a:avLst>
          </a:prstGeom>
          <a:solidFill>
            <a:srgbClr val="0E8A8F"/>
          </a:solidFill>
          <a:ln/>
        </p:spPr>
        <p:txBody>
          <a:bodyPr/>
          <a:lstStyle/>
          <a:p>
            <a:endParaRPr lang="en-US"/>
          </a:p>
        </p:txBody>
      </p:sp>
      <p:sp>
        <p:nvSpPr>
          <p:cNvPr id="86" name="Shape 84"/>
          <p:cNvSpPr/>
          <p:nvPr/>
        </p:nvSpPr>
        <p:spPr>
          <a:xfrm>
            <a:off x="9501809" y="4251672"/>
            <a:ext cx="47211" cy="914688"/>
          </a:xfrm>
          <a:prstGeom prst="roundRect">
            <a:avLst>
              <a:gd name="adj" fmla="val 38737"/>
            </a:avLst>
          </a:prstGeom>
          <a:solidFill>
            <a:srgbClr val="0E8A8F"/>
          </a:solidFill>
          <a:ln/>
        </p:spPr>
        <p:txBody>
          <a:bodyPr/>
          <a:lstStyle/>
          <a:p>
            <a:endParaRPr lang="en-US"/>
          </a:p>
        </p:txBody>
      </p:sp>
      <p:sp>
        <p:nvSpPr>
          <p:cNvPr id="87" name="Shape 85"/>
          <p:cNvSpPr/>
          <p:nvPr/>
        </p:nvSpPr>
        <p:spPr>
          <a:xfrm>
            <a:off x="9596230" y="4497406"/>
            <a:ext cx="47211" cy="668954"/>
          </a:xfrm>
          <a:prstGeom prst="roundRect">
            <a:avLst>
              <a:gd name="adj" fmla="val 38737"/>
            </a:avLst>
          </a:prstGeom>
          <a:solidFill>
            <a:srgbClr val="0E8A8F"/>
          </a:solidFill>
          <a:ln/>
        </p:spPr>
        <p:txBody>
          <a:bodyPr/>
          <a:lstStyle/>
          <a:p>
            <a:endParaRPr lang="en-US"/>
          </a:p>
        </p:txBody>
      </p:sp>
      <p:sp>
        <p:nvSpPr>
          <p:cNvPr id="88" name="Shape 86"/>
          <p:cNvSpPr/>
          <p:nvPr/>
        </p:nvSpPr>
        <p:spPr>
          <a:xfrm>
            <a:off x="9690652" y="4324180"/>
            <a:ext cx="47211" cy="842180"/>
          </a:xfrm>
          <a:prstGeom prst="roundRect">
            <a:avLst>
              <a:gd name="adj" fmla="val 38737"/>
            </a:avLst>
          </a:prstGeom>
          <a:solidFill>
            <a:srgbClr val="0E8A8F"/>
          </a:solidFill>
          <a:ln/>
        </p:spPr>
        <p:txBody>
          <a:bodyPr/>
          <a:lstStyle/>
          <a:p>
            <a:endParaRPr lang="en-US"/>
          </a:p>
        </p:txBody>
      </p:sp>
      <p:sp>
        <p:nvSpPr>
          <p:cNvPr id="89" name="Shape 87"/>
          <p:cNvSpPr/>
          <p:nvPr/>
        </p:nvSpPr>
        <p:spPr>
          <a:xfrm>
            <a:off x="9785074" y="4568384"/>
            <a:ext cx="47211" cy="597976"/>
          </a:xfrm>
          <a:prstGeom prst="roundRect">
            <a:avLst>
              <a:gd name="adj" fmla="val 38737"/>
            </a:avLst>
          </a:prstGeom>
          <a:solidFill>
            <a:srgbClr val="0E8A8F"/>
          </a:solidFill>
          <a:ln/>
        </p:spPr>
        <p:txBody>
          <a:bodyPr/>
          <a:lstStyle/>
          <a:p>
            <a:endParaRPr lang="en-US"/>
          </a:p>
        </p:txBody>
      </p:sp>
      <p:sp>
        <p:nvSpPr>
          <p:cNvPr id="90" name="Shape 88"/>
          <p:cNvSpPr/>
          <p:nvPr/>
        </p:nvSpPr>
        <p:spPr>
          <a:xfrm>
            <a:off x="9879496" y="4530051"/>
            <a:ext cx="47211" cy="636309"/>
          </a:xfrm>
          <a:prstGeom prst="roundRect">
            <a:avLst>
              <a:gd name="adj" fmla="val 38737"/>
            </a:avLst>
          </a:prstGeom>
          <a:solidFill>
            <a:srgbClr val="0E8A8F"/>
          </a:solidFill>
          <a:ln/>
        </p:spPr>
        <p:txBody>
          <a:bodyPr/>
          <a:lstStyle/>
          <a:p>
            <a:endParaRPr lang="en-US"/>
          </a:p>
        </p:txBody>
      </p:sp>
      <p:sp>
        <p:nvSpPr>
          <p:cNvPr id="91" name="Shape 89"/>
          <p:cNvSpPr/>
          <p:nvPr/>
        </p:nvSpPr>
        <p:spPr>
          <a:xfrm>
            <a:off x="9973917" y="4570447"/>
            <a:ext cx="47211" cy="595913"/>
          </a:xfrm>
          <a:prstGeom prst="roundRect">
            <a:avLst>
              <a:gd name="adj" fmla="val 38737"/>
            </a:avLst>
          </a:prstGeom>
          <a:solidFill>
            <a:srgbClr val="0E8A8F"/>
          </a:solidFill>
          <a:ln/>
        </p:spPr>
        <p:txBody>
          <a:bodyPr/>
          <a:lstStyle/>
          <a:p>
            <a:endParaRPr lang="en-US"/>
          </a:p>
        </p:txBody>
      </p:sp>
      <p:sp>
        <p:nvSpPr>
          <p:cNvPr id="92" name="Shape 90"/>
          <p:cNvSpPr/>
          <p:nvPr/>
        </p:nvSpPr>
        <p:spPr>
          <a:xfrm>
            <a:off x="10068339" y="4833657"/>
            <a:ext cx="47211" cy="332703"/>
          </a:xfrm>
          <a:prstGeom prst="roundRect">
            <a:avLst>
              <a:gd name="adj" fmla="val 38737"/>
            </a:avLst>
          </a:prstGeom>
          <a:solidFill>
            <a:srgbClr val="0E8A8F"/>
          </a:solidFill>
          <a:ln/>
        </p:spPr>
        <p:txBody>
          <a:bodyPr/>
          <a:lstStyle/>
          <a:p>
            <a:endParaRPr lang="en-US"/>
          </a:p>
        </p:txBody>
      </p:sp>
      <p:sp>
        <p:nvSpPr>
          <p:cNvPr id="93" name="Shape 91"/>
          <p:cNvSpPr/>
          <p:nvPr/>
        </p:nvSpPr>
        <p:spPr>
          <a:xfrm>
            <a:off x="10162761" y="4538836"/>
            <a:ext cx="47211" cy="627524"/>
          </a:xfrm>
          <a:prstGeom prst="roundRect">
            <a:avLst>
              <a:gd name="adj" fmla="val 38737"/>
            </a:avLst>
          </a:prstGeom>
          <a:solidFill>
            <a:srgbClr val="0E8A8F"/>
          </a:solidFill>
          <a:ln/>
        </p:spPr>
        <p:txBody>
          <a:bodyPr/>
          <a:lstStyle/>
          <a:p>
            <a:endParaRPr lang="en-US"/>
          </a:p>
        </p:txBody>
      </p:sp>
      <p:sp>
        <p:nvSpPr>
          <p:cNvPr id="94" name="Shape 92"/>
          <p:cNvSpPr/>
          <p:nvPr/>
        </p:nvSpPr>
        <p:spPr>
          <a:xfrm>
            <a:off x="10257183" y="4518980"/>
            <a:ext cx="47211" cy="647380"/>
          </a:xfrm>
          <a:prstGeom prst="roundRect">
            <a:avLst>
              <a:gd name="adj" fmla="val 38737"/>
            </a:avLst>
          </a:prstGeom>
          <a:solidFill>
            <a:srgbClr val="0E8A8F"/>
          </a:solidFill>
          <a:ln/>
        </p:spPr>
        <p:txBody>
          <a:bodyPr/>
          <a:lstStyle/>
          <a:p>
            <a:endParaRPr lang="en-US"/>
          </a:p>
        </p:txBody>
      </p:sp>
      <p:sp>
        <p:nvSpPr>
          <p:cNvPr id="95" name="Shape 93"/>
          <p:cNvSpPr/>
          <p:nvPr/>
        </p:nvSpPr>
        <p:spPr>
          <a:xfrm>
            <a:off x="10351604" y="4517627"/>
            <a:ext cx="47211" cy="648733"/>
          </a:xfrm>
          <a:prstGeom prst="roundRect">
            <a:avLst>
              <a:gd name="adj" fmla="val 38737"/>
            </a:avLst>
          </a:prstGeom>
          <a:solidFill>
            <a:srgbClr val="0E8A8F"/>
          </a:solidFill>
          <a:ln/>
        </p:spPr>
        <p:txBody>
          <a:bodyPr/>
          <a:lstStyle/>
          <a:p>
            <a:endParaRPr lang="en-US"/>
          </a:p>
        </p:txBody>
      </p:sp>
      <p:sp>
        <p:nvSpPr>
          <p:cNvPr id="96" name="Shape 94"/>
          <p:cNvSpPr/>
          <p:nvPr/>
        </p:nvSpPr>
        <p:spPr>
          <a:xfrm>
            <a:off x="10446026" y="4881991"/>
            <a:ext cx="47211" cy="284369"/>
          </a:xfrm>
          <a:prstGeom prst="roundRect">
            <a:avLst>
              <a:gd name="adj" fmla="val 38737"/>
            </a:avLst>
          </a:prstGeom>
          <a:solidFill>
            <a:srgbClr val="0E8A8F"/>
          </a:solidFill>
          <a:ln/>
        </p:spPr>
        <p:txBody>
          <a:bodyPr/>
          <a:lstStyle/>
          <a:p>
            <a:endParaRPr lang="en-US"/>
          </a:p>
        </p:txBody>
      </p:sp>
      <p:sp>
        <p:nvSpPr>
          <p:cNvPr id="97" name="Shape 95"/>
          <p:cNvSpPr/>
          <p:nvPr/>
        </p:nvSpPr>
        <p:spPr>
          <a:xfrm>
            <a:off x="10540448" y="4996820"/>
            <a:ext cx="47211" cy="169540"/>
          </a:xfrm>
          <a:prstGeom prst="roundRect">
            <a:avLst>
              <a:gd name="adj" fmla="val 38737"/>
            </a:avLst>
          </a:prstGeom>
          <a:solidFill>
            <a:srgbClr val="0E8A8F"/>
          </a:solidFill>
          <a:ln/>
        </p:spPr>
        <p:txBody>
          <a:bodyPr/>
          <a:lstStyle/>
          <a:p>
            <a:endParaRPr lang="en-US"/>
          </a:p>
        </p:txBody>
      </p:sp>
      <p:sp>
        <p:nvSpPr>
          <p:cNvPr id="98" name="Shape 96"/>
          <p:cNvSpPr/>
          <p:nvPr/>
        </p:nvSpPr>
        <p:spPr>
          <a:xfrm>
            <a:off x="10634870" y="4689775"/>
            <a:ext cx="47211" cy="476585"/>
          </a:xfrm>
          <a:prstGeom prst="roundRect">
            <a:avLst>
              <a:gd name="adj" fmla="val 38737"/>
            </a:avLst>
          </a:prstGeom>
          <a:solidFill>
            <a:srgbClr val="0E8A8F"/>
          </a:solidFill>
          <a:ln/>
        </p:spPr>
        <p:txBody>
          <a:bodyPr/>
          <a:lstStyle/>
          <a:p>
            <a:endParaRPr lang="en-US"/>
          </a:p>
        </p:txBody>
      </p:sp>
      <p:sp>
        <p:nvSpPr>
          <p:cNvPr id="99" name="Shape 97"/>
          <p:cNvSpPr/>
          <p:nvPr/>
        </p:nvSpPr>
        <p:spPr>
          <a:xfrm>
            <a:off x="10729291" y="4885692"/>
            <a:ext cx="47211" cy="280668"/>
          </a:xfrm>
          <a:prstGeom prst="roundRect">
            <a:avLst>
              <a:gd name="adj" fmla="val 38737"/>
            </a:avLst>
          </a:prstGeom>
          <a:solidFill>
            <a:srgbClr val="0E8A8F"/>
          </a:solidFill>
          <a:ln/>
        </p:spPr>
        <p:txBody>
          <a:bodyPr/>
          <a:lstStyle/>
          <a:p>
            <a:endParaRPr lang="en-US"/>
          </a:p>
        </p:txBody>
      </p:sp>
      <p:sp>
        <p:nvSpPr>
          <p:cNvPr id="100" name="Shape 98"/>
          <p:cNvSpPr/>
          <p:nvPr/>
        </p:nvSpPr>
        <p:spPr>
          <a:xfrm>
            <a:off x="10823713" y="5037197"/>
            <a:ext cx="47211" cy="129163"/>
          </a:xfrm>
          <a:prstGeom prst="roundRect">
            <a:avLst>
              <a:gd name="adj" fmla="val 38737"/>
            </a:avLst>
          </a:prstGeom>
          <a:solidFill>
            <a:srgbClr val="0E8A8F"/>
          </a:solidFill>
          <a:ln/>
        </p:spPr>
        <p:txBody>
          <a:bodyPr/>
          <a:lstStyle/>
          <a:p>
            <a:endParaRPr lang="en-US"/>
          </a:p>
        </p:txBody>
      </p:sp>
      <p:sp>
        <p:nvSpPr>
          <p:cNvPr id="101" name="Shape 99"/>
          <p:cNvSpPr/>
          <p:nvPr/>
        </p:nvSpPr>
        <p:spPr>
          <a:xfrm>
            <a:off x="10918135" y="5030753"/>
            <a:ext cx="47211" cy="135607"/>
          </a:xfrm>
          <a:prstGeom prst="roundRect">
            <a:avLst>
              <a:gd name="adj" fmla="val 38737"/>
            </a:avLst>
          </a:prstGeom>
          <a:solidFill>
            <a:srgbClr val="0E8A8F"/>
          </a:solidFill>
          <a:ln/>
        </p:spPr>
        <p:txBody>
          <a:bodyPr/>
          <a:lstStyle/>
          <a:p>
            <a:endParaRPr lang="en-US"/>
          </a:p>
        </p:txBody>
      </p:sp>
      <p:sp>
        <p:nvSpPr>
          <p:cNvPr id="102" name="Shape 100"/>
          <p:cNvSpPr/>
          <p:nvPr/>
        </p:nvSpPr>
        <p:spPr>
          <a:xfrm>
            <a:off x="11012557" y="4963553"/>
            <a:ext cx="47211" cy="202807"/>
          </a:xfrm>
          <a:prstGeom prst="roundRect">
            <a:avLst>
              <a:gd name="adj" fmla="val 38737"/>
            </a:avLst>
          </a:prstGeom>
          <a:solidFill>
            <a:srgbClr val="0E8A8F"/>
          </a:solidFill>
          <a:ln/>
        </p:spPr>
        <p:txBody>
          <a:bodyPr/>
          <a:lstStyle/>
          <a:p>
            <a:endParaRPr lang="en-US"/>
          </a:p>
        </p:txBody>
      </p:sp>
      <p:sp>
        <p:nvSpPr>
          <p:cNvPr id="103" name="Shape 101"/>
          <p:cNvSpPr/>
          <p:nvPr/>
        </p:nvSpPr>
        <p:spPr>
          <a:xfrm>
            <a:off x="11106978" y="5129784"/>
            <a:ext cx="47211" cy="36576"/>
          </a:xfrm>
          <a:prstGeom prst="roundRect">
            <a:avLst>
              <a:gd name="adj" fmla="val 50000"/>
            </a:avLst>
          </a:prstGeom>
          <a:solidFill>
            <a:srgbClr val="0E8A8F"/>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E5CAC-17DE-069B-3240-FBF7164B18F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62DB34-499C-BC1D-2D35-B7DD2C1375A1}"/>
              </a:ext>
            </a:extLst>
          </p:cNvPr>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a:solidFill>
                  <a:srgbClr val="0E8A8F"/>
                </a:solidFill>
                <a:latin typeface="Calibri" pitchFamily="34" charset="0"/>
                <a:ea typeface="Calibri" pitchFamily="34" charset="-122"/>
                <a:cs typeface="Calibri" pitchFamily="34" charset="-120"/>
              </a:rPr>
              <a:t>DATASET</a:t>
            </a:r>
            <a:endParaRPr lang="en-US" sz="1150" dirty="0"/>
          </a:p>
        </p:txBody>
      </p:sp>
      <p:sp>
        <p:nvSpPr>
          <p:cNvPr id="3" name="Text 1">
            <a:extLst>
              <a:ext uri="{FF2B5EF4-FFF2-40B4-BE49-F238E27FC236}">
                <a16:creationId xmlns:a16="http://schemas.microsoft.com/office/drawing/2014/main" id="{DCADBEFE-FF2A-6237-3B4B-D73448EB525B}"/>
              </a:ext>
            </a:extLst>
          </p:cNvPr>
          <p:cNvSpPr/>
          <p:nvPr/>
        </p:nvSpPr>
        <p:spPr>
          <a:xfrm>
            <a:off x="640080" y="621792"/>
            <a:ext cx="4950229"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Edinburgh Noisy Speech Database</a:t>
            </a:r>
            <a:endParaRPr lang="en-US" sz="3000" dirty="0"/>
          </a:p>
        </p:txBody>
      </p:sp>
      <p:sp>
        <p:nvSpPr>
          <p:cNvPr id="4" name="Shape 2">
            <a:extLst>
              <a:ext uri="{FF2B5EF4-FFF2-40B4-BE49-F238E27FC236}">
                <a16:creationId xmlns:a16="http://schemas.microsoft.com/office/drawing/2014/main" id="{15A79860-1435-8FEC-DF03-6181BDD2CD18}"/>
              </a:ext>
            </a:extLst>
          </p:cNvPr>
          <p:cNvSpPr/>
          <p:nvPr/>
        </p:nvSpPr>
        <p:spPr>
          <a:xfrm>
            <a:off x="640080" y="1600200"/>
            <a:ext cx="2587752" cy="1572768"/>
          </a:xfrm>
          <a:prstGeom prst="roundRect">
            <a:avLst>
              <a:gd name="adj" fmla="val 5233"/>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5" name="Text 3">
            <a:extLst>
              <a:ext uri="{FF2B5EF4-FFF2-40B4-BE49-F238E27FC236}">
                <a16:creationId xmlns:a16="http://schemas.microsoft.com/office/drawing/2014/main" id="{E834C0EB-BCE1-1DD6-A927-A178FD5BD158}"/>
              </a:ext>
            </a:extLst>
          </p:cNvPr>
          <p:cNvSpPr/>
          <p:nvPr/>
        </p:nvSpPr>
        <p:spPr>
          <a:xfrm>
            <a:off x="640080" y="1737360"/>
            <a:ext cx="2587752" cy="658368"/>
          </a:xfrm>
          <a:prstGeom prst="rect">
            <a:avLst/>
          </a:prstGeom>
          <a:noFill/>
          <a:ln/>
        </p:spPr>
        <p:txBody>
          <a:bodyPr wrap="square" lIns="0" tIns="0" rIns="0" bIns="0" rtlCol="0" anchor="ctr"/>
          <a:lstStyle/>
          <a:p>
            <a:pPr marL="0" indent="0" algn="ctr">
              <a:buNone/>
            </a:pPr>
            <a:r>
              <a:rPr lang="en-US" sz="3400" b="1" dirty="0">
                <a:solidFill>
                  <a:srgbClr val="0E8A8F"/>
                </a:solidFill>
                <a:latin typeface="Cambria" pitchFamily="34" charset="0"/>
                <a:ea typeface="Cambria" pitchFamily="34" charset="-122"/>
                <a:cs typeface="Cambria" pitchFamily="34" charset="-120"/>
              </a:rPr>
              <a:t>11,572</a:t>
            </a:r>
            <a:endParaRPr lang="en-US" sz="3400" dirty="0"/>
          </a:p>
        </p:txBody>
      </p:sp>
      <p:sp>
        <p:nvSpPr>
          <p:cNvPr id="6" name="Text 4">
            <a:extLst>
              <a:ext uri="{FF2B5EF4-FFF2-40B4-BE49-F238E27FC236}">
                <a16:creationId xmlns:a16="http://schemas.microsoft.com/office/drawing/2014/main" id="{C40164C1-C24F-B033-50D9-D840B38AF4E8}"/>
              </a:ext>
            </a:extLst>
          </p:cNvPr>
          <p:cNvSpPr/>
          <p:nvPr/>
        </p:nvSpPr>
        <p:spPr>
          <a:xfrm>
            <a:off x="640080" y="2377440"/>
            <a:ext cx="2587752" cy="658368"/>
          </a:xfrm>
          <a:prstGeom prst="rect">
            <a:avLst/>
          </a:prstGeom>
          <a:noFill/>
          <a:ln/>
        </p:spPr>
        <p:txBody>
          <a:bodyPr wrap="square" lIns="0" tIns="0" rIns="0" bIns="0" rtlCol="0" anchor="t"/>
          <a:lstStyle/>
          <a:p>
            <a:pPr marL="0" indent="0" algn="ctr">
              <a:buNone/>
            </a:pPr>
            <a:r>
              <a:rPr lang="en-US" sz="1200" dirty="0">
                <a:solidFill>
                  <a:srgbClr val="62707F"/>
                </a:solidFill>
                <a:latin typeface="Calibri" pitchFamily="34" charset="0"/>
                <a:ea typeface="Calibri" pitchFamily="34" charset="-122"/>
                <a:cs typeface="Calibri" pitchFamily="34" charset="-120"/>
              </a:rPr>
              <a:t>clean / noisy</a:t>
            </a:r>
            <a:endParaRPr lang="en-US" sz="1200" dirty="0"/>
          </a:p>
          <a:p>
            <a:pPr marL="0" indent="0" algn="ctr">
              <a:buNone/>
            </a:pPr>
            <a:r>
              <a:rPr lang="en-US" sz="1200" dirty="0">
                <a:solidFill>
                  <a:srgbClr val="62707F"/>
                </a:solidFill>
                <a:latin typeface="Calibri" pitchFamily="34" charset="0"/>
                <a:ea typeface="Calibri" pitchFamily="34" charset="-122"/>
                <a:cs typeface="Calibri" pitchFamily="34" charset="-120"/>
              </a:rPr>
              <a:t>file pairs</a:t>
            </a:r>
            <a:endParaRPr lang="en-US" sz="1200" dirty="0"/>
          </a:p>
        </p:txBody>
      </p:sp>
      <p:sp>
        <p:nvSpPr>
          <p:cNvPr id="7" name="Shape 5">
            <a:extLst>
              <a:ext uri="{FF2B5EF4-FFF2-40B4-BE49-F238E27FC236}">
                <a16:creationId xmlns:a16="http://schemas.microsoft.com/office/drawing/2014/main" id="{CC0AEC68-513E-D660-850A-B712E6353F00}"/>
              </a:ext>
            </a:extLst>
          </p:cNvPr>
          <p:cNvSpPr/>
          <p:nvPr/>
        </p:nvSpPr>
        <p:spPr>
          <a:xfrm>
            <a:off x="3456432" y="1600200"/>
            <a:ext cx="2587752" cy="1572768"/>
          </a:xfrm>
          <a:prstGeom prst="roundRect">
            <a:avLst>
              <a:gd name="adj" fmla="val 5233"/>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8" name="Text 6">
            <a:extLst>
              <a:ext uri="{FF2B5EF4-FFF2-40B4-BE49-F238E27FC236}">
                <a16:creationId xmlns:a16="http://schemas.microsoft.com/office/drawing/2014/main" id="{1BDE2195-1619-BE85-D67B-A2359860952F}"/>
              </a:ext>
            </a:extLst>
          </p:cNvPr>
          <p:cNvSpPr/>
          <p:nvPr/>
        </p:nvSpPr>
        <p:spPr>
          <a:xfrm>
            <a:off x="3456432" y="1737360"/>
            <a:ext cx="2587752" cy="658368"/>
          </a:xfrm>
          <a:prstGeom prst="rect">
            <a:avLst/>
          </a:prstGeom>
          <a:noFill/>
          <a:ln/>
        </p:spPr>
        <p:txBody>
          <a:bodyPr wrap="square" lIns="0" tIns="0" rIns="0" bIns="0" rtlCol="0" anchor="ctr"/>
          <a:lstStyle/>
          <a:p>
            <a:pPr marL="0" indent="0" algn="ctr">
              <a:buNone/>
            </a:pPr>
            <a:r>
              <a:rPr lang="en-US" sz="3400" b="1" dirty="0">
                <a:solidFill>
                  <a:srgbClr val="0E8A8F"/>
                </a:solidFill>
                <a:latin typeface="Cambria" pitchFamily="34" charset="0"/>
                <a:ea typeface="Cambria" pitchFamily="34" charset="-122"/>
                <a:cs typeface="Cambria" pitchFamily="34" charset="-120"/>
              </a:rPr>
              <a:t>28</a:t>
            </a:r>
            <a:endParaRPr lang="en-US" sz="3400" dirty="0"/>
          </a:p>
        </p:txBody>
      </p:sp>
      <p:sp>
        <p:nvSpPr>
          <p:cNvPr id="9" name="Text 7">
            <a:extLst>
              <a:ext uri="{FF2B5EF4-FFF2-40B4-BE49-F238E27FC236}">
                <a16:creationId xmlns:a16="http://schemas.microsoft.com/office/drawing/2014/main" id="{2085A085-7C2E-2FB3-37C6-166E8DF182CB}"/>
              </a:ext>
            </a:extLst>
          </p:cNvPr>
          <p:cNvSpPr/>
          <p:nvPr/>
        </p:nvSpPr>
        <p:spPr>
          <a:xfrm>
            <a:off x="3456432" y="2377440"/>
            <a:ext cx="2587752" cy="658368"/>
          </a:xfrm>
          <a:prstGeom prst="rect">
            <a:avLst/>
          </a:prstGeom>
          <a:noFill/>
          <a:ln/>
        </p:spPr>
        <p:txBody>
          <a:bodyPr wrap="square" lIns="0" tIns="0" rIns="0" bIns="0" rtlCol="0" anchor="t"/>
          <a:lstStyle/>
          <a:p>
            <a:pPr marL="0" indent="0" algn="ctr">
              <a:buNone/>
            </a:pPr>
            <a:r>
              <a:rPr lang="en-US" sz="1200" dirty="0">
                <a:solidFill>
                  <a:srgbClr val="62707F"/>
                </a:solidFill>
                <a:latin typeface="Calibri" pitchFamily="34" charset="0"/>
                <a:ea typeface="Calibri" pitchFamily="34" charset="-122"/>
                <a:cs typeface="Calibri" pitchFamily="34" charset="-120"/>
              </a:rPr>
              <a:t>speakers in</a:t>
            </a:r>
            <a:endParaRPr lang="en-US" sz="1200" dirty="0"/>
          </a:p>
          <a:p>
            <a:pPr marL="0" indent="0" algn="ctr">
              <a:buNone/>
            </a:pPr>
            <a:r>
              <a:rPr lang="en-US" sz="1200" dirty="0">
                <a:solidFill>
                  <a:srgbClr val="62707F"/>
                </a:solidFill>
                <a:latin typeface="Calibri" pitchFamily="34" charset="0"/>
                <a:ea typeface="Calibri" pitchFamily="34" charset="-122"/>
                <a:cs typeface="Calibri" pitchFamily="34" charset="-120"/>
              </a:rPr>
              <a:t>the train set</a:t>
            </a:r>
            <a:endParaRPr lang="en-US" sz="1200" dirty="0"/>
          </a:p>
        </p:txBody>
      </p:sp>
      <p:sp>
        <p:nvSpPr>
          <p:cNvPr id="16" name="Text 14">
            <a:extLst>
              <a:ext uri="{FF2B5EF4-FFF2-40B4-BE49-F238E27FC236}">
                <a16:creationId xmlns:a16="http://schemas.microsoft.com/office/drawing/2014/main" id="{312CA272-90AE-4F21-A846-0BE81B61F216}"/>
              </a:ext>
            </a:extLst>
          </p:cNvPr>
          <p:cNvSpPr/>
          <p:nvPr/>
        </p:nvSpPr>
        <p:spPr>
          <a:xfrm>
            <a:off x="640080" y="3520440"/>
            <a:ext cx="6766560" cy="173736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rgbClr val="16202C"/>
                </a:solidFill>
                <a:latin typeface="Calibri" pitchFamily="34" charset="0"/>
                <a:ea typeface="Calibri" pitchFamily="34" charset="-122"/>
                <a:cs typeface="Calibri" pitchFamily="34" charset="-120"/>
              </a:rPr>
              <a:t>Every clean file has a noisy twin.</a:t>
            </a:r>
            <a:endParaRPr lang="en-US" sz="1650" dirty="0"/>
          </a:p>
          <a:p>
            <a:pPr marL="342900" indent="-342900">
              <a:spcAft>
                <a:spcPts val="1200"/>
              </a:spcAft>
              <a:buSzPct val="100000"/>
              <a:buChar char="•"/>
            </a:pPr>
            <a:r>
              <a:rPr lang="en-US" sz="1650" dirty="0">
                <a:solidFill>
                  <a:srgbClr val="16202C"/>
                </a:solidFill>
                <a:latin typeface="Calibri" pitchFamily="34" charset="0"/>
                <a:ea typeface="Calibri" pitchFamily="34" charset="-122"/>
                <a:cs typeface="Calibri" pitchFamily="34" charset="-120"/>
              </a:rPr>
              <a:t>Input: the noisy log magnitude.</a:t>
            </a:r>
            <a:endParaRPr lang="en-US" sz="1650" dirty="0"/>
          </a:p>
          <a:p>
            <a:pPr marL="342900" indent="-342900">
              <a:spcAft>
                <a:spcPts val="1200"/>
              </a:spcAft>
              <a:buSzPct val="100000"/>
              <a:buChar char="•"/>
            </a:pPr>
            <a:r>
              <a:rPr lang="en-US" sz="1650" dirty="0">
                <a:solidFill>
                  <a:srgbClr val="16202C"/>
                </a:solidFill>
                <a:latin typeface="Calibri" pitchFamily="34" charset="0"/>
                <a:ea typeface="Calibri" pitchFamily="34" charset="-122"/>
                <a:cs typeface="Calibri" pitchFamily="34" charset="-120"/>
              </a:rPr>
              <a:t>Target: the matching clean magnitude.</a:t>
            </a:r>
            <a:endParaRPr lang="en-US" sz="1650" dirty="0"/>
          </a:p>
        </p:txBody>
      </p:sp>
      <p:sp>
        <p:nvSpPr>
          <p:cNvPr id="17" name="Shape 15">
            <a:extLst>
              <a:ext uri="{FF2B5EF4-FFF2-40B4-BE49-F238E27FC236}">
                <a16:creationId xmlns:a16="http://schemas.microsoft.com/office/drawing/2014/main" id="{1E5F6070-6672-9310-524D-DF41BD06B334}"/>
              </a:ext>
            </a:extLst>
          </p:cNvPr>
          <p:cNvSpPr/>
          <p:nvPr/>
        </p:nvSpPr>
        <p:spPr>
          <a:xfrm>
            <a:off x="7772400" y="3520440"/>
            <a:ext cx="3767328" cy="2331720"/>
          </a:xfrm>
          <a:prstGeom prst="roundRect">
            <a:avLst>
              <a:gd name="adj" fmla="val 3529"/>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18" name="Text 16">
            <a:extLst>
              <a:ext uri="{FF2B5EF4-FFF2-40B4-BE49-F238E27FC236}">
                <a16:creationId xmlns:a16="http://schemas.microsoft.com/office/drawing/2014/main" id="{041822E1-546D-F575-5370-B1A4E7D3EF02}"/>
              </a:ext>
            </a:extLst>
          </p:cNvPr>
          <p:cNvSpPr/>
          <p:nvPr/>
        </p:nvSpPr>
        <p:spPr>
          <a:xfrm>
            <a:off x="8028432" y="3703320"/>
            <a:ext cx="3291840" cy="237744"/>
          </a:xfrm>
          <a:prstGeom prst="rect">
            <a:avLst/>
          </a:prstGeom>
          <a:noFill/>
          <a:ln/>
        </p:spPr>
        <p:txBody>
          <a:bodyPr wrap="square" lIns="0" tIns="0" rIns="0" bIns="0" rtlCol="0" anchor="ctr"/>
          <a:lstStyle/>
          <a:p>
            <a:pPr marL="0" indent="0">
              <a:buNone/>
            </a:pPr>
            <a:r>
              <a:rPr lang="en-US" sz="1050" b="1" kern="0" spc="120" dirty="0">
                <a:solidFill>
                  <a:srgbClr val="0E8A8F"/>
                </a:solidFill>
                <a:latin typeface="Calibri" pitchFamily="34" charset="0"/>
                <a:ea typeface="Calibri" pitchFamily="34" charset="-122"/>
                <a:cs typeface="Calibri" pitchFamily="34" charset="-120"/>
              </a:rPr>
              <a:t>Source</a:t>
            </a:r>
            <a:endParaRPr lang="en-US" sz="1050" dirty="0"/>
          </a:p>
        </p:txBody>
      </p:sp>
      <p:sp>
        <p:nvSpPr>
          <p:cNvPr id="19" name="Text 17">
            <a:extLst>
              <a:ext uri="{FF2B5EF4-FFF2-40B4-BE49-F238E27FC236}">
                <a16:creationId xmlns:a16="http://schemas.microsoft.com/office/drawing/2014/main" id="{EFB2E91E-6ADA-E220-1DF7-FC76B629447F}"/>
              </a:ext>
            </a:extLst>
          </p:cNvPr>
          <p:cNvSpPr/>
          <p:nvPr/>
        </p:nvSpPr>
        <p:spPr>
          <a:xfrm>
            <a:off x="8028432" y="4005072"/>
            <a:ext cx="3291840" cy="914400"/>
          </a:xfrm>
          <a:prstGeom prst="rect">
            <a:avLst/>
          </a:prstGeom>
          <a:noFill/>
          <a:ln/>
        </p:spPr>
        <p:txBody>
          <a:bodyPr wrap="square" lIns="0" tIns="0" rIns="0" bIns="0" rtlCol="0" anchor="t"/>
          <a:lstStyle/>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University of Edinburgh DataShare</a:t>
            </a:r>
            <a:endParaRPr lang="en-US" sz="1300" dirty="0"/>
          </a:p>
          <a:p>
            <a:pPr marL="0" indent="0">
              <a:lnSpc>
                <a:spcPct val="125000"/>
              </a:lnSpc>
              <a:buNone/>
            </a:pPr>
            <a:r>
              <a:rPr lang="en-US" sz="1200" dirty="0">
                <a:solidFill>
                  <a:srgbClr val="C9D9E8"/>
                </a:solidFill>
                <a:latin typeface="Calibri" pitchFamily="34" charset="0"/>
                <a:ea typeface="Calibri" pitchFamily="34" charset="-122"/>
                <a:cs typeface="Calibri" pitchFamily="34" charset="-120"/>
              </a:rPr>
              <a:t>Centre for Speech Technology Research</a:t>
            </a:r>
            <a:endParaRPr lang="en-US" sz="1300" dirty="0"/>
          </a:p>
          <a:p>
            <a:pPr marL="0" indent="0">
              <a:lnSpc>
                <a:spcPct val="125000"/>
              </a:lnSpc>
              <a:buNone/>
            </a:pPr>
            <a:r>
              <a:rPr lang="en-US" sz="1150" i="1" dirty="0">
                <a:solidFill>
                  <a:srgbClr val="C9D9E8"/>
                </a:solidFill>
                <a:latin typeface="Calibri" pitchFamily="34" charset="0"/>
                <a:ea typeface="Calibri" pitchFamily="34" charset="-122"/>
                <a:cs typeface="Calibri" pitchFamily="34" charset="-120"/>
              </a:rPr>
              <a:t>doi.org/10.7488/ds/2117</a:t>
            </a:r>
            <a:endParaRPr lang="en-US" sz="1300" dirty="0"/>
          </a:p>
        </p:txBody>
      </p:sp>
      <p:sp>
        <p:nvSpPr>
          <p:cNvPr id="20" name="Text 18">
            <a:extLst>
              <a:ext uri="{FF2B5EF4-FFF2-40B4-BE49-F238E27FC236}">
                <a16:creationId xmlns:a16="http://schemas.microsoft.com/office/drawing/2014/main" id="{D88C2F10-9AC8-009C-FE53-3F3508334618}"/>
              </a:ext>
            </a:extLst>
          </p:cNvPr>
          <p:cNvSpPr/>
          <p:nvPr/>
        </p:nvSpPr>
        <p:spPr>
          <a:xfrm>
            <a:off x="8028432" y="5029200"/>
            <a:ext cx="3291840" cy="640080"/>
          </a:xfrm>
          <a:prstGeom prst="rect">
            <a:avLst/>
          </a:prstGeom>
          <a:noFill/>
          <a:ln/>
        </p:spPr>
        <p:txBody>
          <a:bodyPr wrap="square" lIns="0" tIns="0" rIns="0" bIns="0" rtlCol="0" anchor="t"/>
          <a:lstStyle/>
          <a:p>
            <a:pPr marL="0" indent="0">
              <a:buNone/>
            </a:pPr>
            <a:r>
              <a:rPr lang="en-US" sz="1150" dirty="0">
                <a:solidFill>
                  <a:srgbClr val="C9D9E8"/>
                </a:solidFill>
                <a:latin typeface="Calibri" pitchFamily="34" charset="0"/>
                <a:ea typeface="Calibri" pitchFamily="34" charset="-122"/>
                <a:cs typeface="Calibri" pitchFamily="34" charset="-120"/>
              </a:rPr>
              <a:t>Free for research use.</a:t>
            </a:r>
            <a:endParaRPr lang="en-US" sz="1150" dirty="0"/>
          </a:p>
        </p:txBody>
      </p:sp>
    </p:spTree>
    <p:extLst>
      <p:ext uri="{BB962C8B-B14F-4D97-AF65-F5344CB8AC3E}">
        <p14:creationId xmlns:p14="http://schemas.microsoft.com/office/powerpoint/2010/main" val="170165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a:solidFill>
                  <a:srgbClr val="0E8A8F"/>
                </a:solidFill>
                <a:latin typeface="Calibri" pitchFamily="34" charset="0"/>
                <a:ea typeface="Calibri" pitchFamily="34" charset="-122"/>
                <a:cs typeface="Calibri" pitchFamily="34" charset="-120"/>
              </a:rPr>
              <a:t>PREPROCESSING</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a:solidFill>
                  <a:srgbClr val="12233A"/>
                </a:solidFill>
                <a:latin typeface="Cambria" pitchFamily="34" charset="0"/>
                <a:ea typeface="Cambria" pitchFamily="34" charset="-122"/>
                <a:cs typeface="Cambria" pitchFamily="34" charset="-120"/>
              </a:rPr>
              <a:t>Quality control </a:t>
            </a:r>
            <a:r>
              <a:rPr lang="en-US" sz="3000" b="1" dirty="0">
                <a:solidFill>
                  <a:srgbClr val="12233A"/>
                </a:solidFill>
                <a:latin typeface="Cambria" pitchFamily="34" charset="0"/>
                <a:ea typeface="Cambria" pitchFamily="34" charset="-122"/>
                <a:cs typeface="Cambria" pitchFamily="34" charset="-120"/>
              </a:rPr>
              <a:t>before any training</a:t>
            </a:r>
            <a:endParaRPr lang="en-US" sz="3000" dirty="0"/>
          </a:p>
        </p:txBody>
      </p:sp>
      <p:sp>
        <p:nvSpPr>
          <p:cNvPr id="4" name="Shape 2"/>
          <p:cNvSpPr/>
          <p:nvPr/>
        </p:nvSpPr>
        <p:spPr>
          <a:xfrm>
            <a:off x="640080" y="1645920"/>
            <a:ext cx="3063240" cy="676656"/>
          </a:xfrm>
          <a:prstGeom prst="roundRect">
            <a:avLst>
              <a:gd name="adj" fmla="val 12162"/>
            </a:avLst>
          </a:prstGeom>
          <a:solidFill>
            <a:srgbClr val="FFFFFF"/>
          </a:solidFill>
          <a:ln w="12700">
            <a:solidFill>
              <a:srgbClr val="DFE5EB"/>
            </a:solidFill>
            <a:prstDash val="solid"/>
          </a:ln>
        </p:spPr>
        <p:txBody>
          <a:bodyPr/>
          <a:lstStyle/>
          <a:p>
            <a:endParaRPr lang="en-US"/>
          </a:p>
        </p:txBody>
      </p:sp>
      <p:sp>
        <p:nvSpPr>
          <p:cNvPr id="5" name="Shape 3"/>
          <p:cNvSpPr/>
          <p:nvPr/>
        </p:nvSpPr>
        <p:spPr>
          <a:xfrm>
            <a:off x="822960" y="1874520"/>
            <a:ext cx="219456" cy="219456"/>
          </a:xfrm>
          <a:prstGeom prst="ellipse">
            <a:avLst/>
          </a:prstGeom>
          <a:solidFill>
            <a:srgbClr val="E08A3C"/>
          </a:solidFill>
          <a:ln/>
        </p:spPr>
        <p:txBody>
          <a:bodyPr/>
          <a:lstStyle/>
          <a:p>
            <a:endParaRPr lang="en-US"/>
          </a:p>
        </p:txBody>
      </p:sp>
      <p:sp>
        <p:nvSpPr>
          <p:cNvPr id="6" name="Text 4"/>
          <p:cNvSpPr/>
          <p:nvPr/>
        </p:nvSpPr>
        <p:spPr>
          <a:xfrm>
            <a:off x="1152144" y="1719072"/>
            <a:ext cx="2377440" cy="274320"/>
          </a:xfrm>
          <a:prstGeom prst="rect">
            <a:avLst/>
          </a:prstGeom>
          <a:noFill/>
          <a:ln/>
        </p:spPr>
        <p:txBody>
          <a:bodyPr wrap="square" lIns="0" tIns="0" rIns="0" bIns="0" rtlCol="0" anchor="ctr"/>
          <a:lstStyle/>
          <a:p>
            <a:pPr marL="0" indent="0">
              <a:buNone/>
            </a:pPr>
            <a:r>
              <a:rPr lang="en-US" sz="1200" b="1" dirty="0">
                <a:solidFill>
                  <a:srgbClr val="12233A"/>
                </a:solidFill>
                <a:latin typeface="Courier New" pitchFamily="34" charset="0"/>
                <a:ea typeface="Courier New" pitchFamily="34" charset="-122"/>
                <a:cs typeface="Courier New" pitchFamily="34" charset="-120"/>
              </a:rPr>
              <a:t>unpaired</a:t>
            </a:r>
            <a:endParaRPr lang="en-US" sz="1200" dirty="0"/>
          </a:p>
        </p:txBody>
      </p:sp>
      <p:sp>
        <p:nvSpPr>
          <p:cNvPr id="7" name="Text 5"/>
          <p:cNvSpPr/>
          <p:nvPr/>
        </p:nvSpPr>
        <p:spPr>
          <a:xfrm>
            <a:off x="1152144" y="1975104"/>
            <a:ext cx="2423160" cy="274320"/>
          </a:xfrm>
          <a:prstGeom prst="rect">
            <a:avLst/>
          </a:prstGeom>
          <a:noFill/>
          <a:ln/>
        </p:spPr>
        <p:txBody>
          <a:bodyPr wrap="square" lIns="0" tIns="0" rIns="0" bIns="0" rtlCol="0" anchor="ctr"/>
          <a:lstStyle/>
          <a:p>
            <a:pPr marL="0" indent="0">
              <a:buNone/>
            </a:pPr>
            <a:r>
              <a:rPr lang="en-US" sz="1200" dirty="0">
                <a:solidFill>
                  <a:srgbClr val="62707F"/>
                </a:solidFill>
                <a:latin typeface="Calibri" pitchFamily="34" charset="0"/>
                <a:ea typeface="Calibri" pitchFamily="34" charset="-122"/>
                <a:cs typeface="Calibri" pitchFamily="34" charset="-120"/>
              </a:rPr>
              <a:t>no partner file</a:t>
            </a:r>
            <a:endParaRPr lang="en-US" sz="1200" dirty="0"/>
          </a:p>
        </p:txBody>
      </p:sp>
      <p:sp>
        <p:nvSpPr>
          <p:cNvPr id="8" name="Shape 6"/>
          <p:cNvSpPr/>
          <p:nvPr/>
        </p:nvSpPr>
        <p:spPr>
          <a:xfrm>
            <a:off x="3886200" y="1645920"/>
            <a:ext cx="3063240" cy="676656"/>
          </a:xfrm>
          <a:prstGeom prst="roundRect">
            <a:avLst>
              <a:gd name="adj" fmla="val 12162"/>
            </a:avLst>
          </a:prstGeom>
          <a:solidFill>
            <a:srgbClr val="FFFFFF"/>
          </a:solidFill>
          <a:ln w="12700">
            <a:solidFill>
              <a:srgbClr val="DFE5EB"/>
            </a:solidFill>
            <a:prstDash val="solid"/>
          </a:ln>
        </p:spPr>
        <p:txBody>
          <a:bodyPr/>
          <a:lstStyle/>
          <a:p>
            <a:endParaRPr lang="en-US"/>
          </a:p>
        </p:txBody>
      </p:sp>
      <p:sp>
        <p:nvSpPr>
          <p:cNvPr id="9" name="Shape 7"/>
          <p:cNvSpPr/>
          <p:nvPr/>
        </p:nvSpPr>
        <p:spPr>
          <a:xfrm>
            <a:off x="4069080" y="1874520"/>
            <a:ext cx="219456" cy="219456"/>
          </a:xfrm>
          <a:prstGeom prst="ellipse">
            <a:avLst/>
          </a:prstGeom>
          <a:solidFill>
            <a:srgbClr val="E08A3C"/>
          </a:solidFill>
          <a:ln/>
        </p:spPr>
        <p:txBody>
          <a:bodyPr/>
          <a:lstStyle/>
          <a:p>
            <a:endParaRPr lang="en-US"/>
          </a:p>
        </p:txBody>
      </p:sp>
      <p:sp>
        <p:nvSpPr>
          <p:cNvPr id="10" name="Text 8"/>
          <p:cNvSpPr/>
          <p:nvPr/>
        </p:nvSpPr>
        <p:spPr>
          <a:xfrm>
            <a:off x="4398264" y="1719072"/>
            <a:ext cx="2377440" cy="274320"/>
          </a:xfrm>
          <a:prstGeom prst="rect">
            <a:avLst/>
          </a:prstGeom>
          <a:noFill/>
          <a:ln/>
        </p:spPr>
        <p:txBody>
          <a:bodyPr wrap="square" lIns="0" tIns="0" rIns="0" bIns="0" rtlCol="0" anchor="ctr"/>
          <a:lstStyle/>
          <a:p>
            <a:pPr marL="0" indent="0">
              <a:buNone/>
            </a:pPr>
            <a:r>
              <a:rPr lang="en-US" sz="1200" b="1" dirty="0">
                <a:solidFill>
                  <a:srgbClr val="12233A"/>
                </a:solidFill>
                <a:latin typeface="Courier New" pitchFamily="34" charset="0"/>
                <a:ea typeface="Courier New" pitchFamily="34" charset="-122"/>
                <a:cs typeface="Courier New" pitchFamily="34" charset="-120"/>
              </a:rPr>
              <a:t>quiet</a:t>
            </a:r>
            <a:endParaRPr lang="en-US" sz="1200" dirty="0"/>
          </a:p>
        </p:txBody>
      </p:sp>
      <p:sp>
        <p:nvSpPr>
          <p:cNvPr id="11" name="Text 9"/>
          <p:cNvSpPr/>
          <p:nvPr/>
        </p:nvSpPr>
        <p:spPr>
          <a:xfrm>
            <a:off x="4398264" y="1975104"/>
            <a:ext cx="2423160" cy="274320"/>
          </a:xfrm>
          <a:prstGeom prst="rect">
            <a:avLst/>
          </a:prstGeom>
          <a:noFill/>
          <a:ln/>
        </p:spPr>
        <p:txBody>
          <a:bodyPr wrap="square" lIns="0" tIns="0" rIns="0" bIns="0" rtlCol="0" anchor="ctr"/>
          <a:lstStyle/>
          <a:p>
            <a:pPr marL="0" indent="0">
              <a:buNone/>
            </a:pPr>
            <a:r>
              <a:rPr lang="en-US" sz="1200" dirty="0">
                <a:solidFill>
                  <a:srgbClr val="62707F"/>
                </a:solidFill>
                <a:latin typeface="Calibri" pitchFamily="34" charset="0"/>
                <a:ea typeface="Calibri" pitchFamily="34" charset="-122"/>
                <a:cs typeface="Calibri" pitchFamily="34" charset="-120"/>
              </a:rPr>
              <a:t>RMS below −40 dBFS</a:t>
            </a:r>
            <a:endParaRPr lang="en-US" sz="1200" dirty="0"/>
          </a:p>
        </p:txBody>
      </p:sp>
      <p:sp>
        <p:nvSpPr>
          <p:cNvPr id="12" name="Shape 10"/>
          <p:cNvSpPr/>
          <p:nvPr/>
        </p:nvSpPr>
        <p:spPr>
          <a:xfrm>
            <a:off x="640080" y="2487168"/>
            <a:ext cx="3063240" cy="676656"/>
          </a:xfrm>
          <a:prstGeom prst="roundRect">
            <a:avLst>
              <a:gd name="adj" fmla="val 12162"/>
            </a:avLst>
          </a:prstGeom>
          <a:solidFill>
            <a:srgbClr val="FFFFFF"/>
          </a:solidFill>
          <a:ln w="12700">
            <a:solidFill>
              <a:srgbClr val="DFE5EB"/>
            </a:solidFill>
            <a:prstDash val="solid"/>
          </a:ln>
        </p:spPr>
        <p:txBody>
          <a:bodyPr/>
          <a:lstStyle/>
          <a:p>
            <a:endParaRPr lang="en-US"/>
          </a:p>
        </p:txBody>
      </p:sp>
      <p:sp>
        <p:nvSpPr>
          <p:cNvPr id="13" name="Shape 11"/>
          <p:cNvSpPr/>
          <p:nvPr/>
        </p:nvSpPr>
        <p:spPr>
          <a:xfrm>
            <a:off x="822960" y="2715768"/>
            <a:ext cx="219456" cy="219456"/>
          </a:xfrm>
          <a:prstGeom prst="ellipse">
            <a:avLst/>
          </a:prstGeom>
          <a:solidFill>
            <a:srgbClr val="E08A3C"/>
          </a:solidFill>
          <a:ln/>
        </p:spPr>
        <p:txBody>
          <a:bodyPr/>
          <a:lstStyle/>
          <a:p>
            <a:endParaRPr lang="en-US"/>
          </a:p>
        </p:txBody>
      </p:sp>
      <p:sp>
        <p:nvSpPr>
          <p:cNvPr id="14" name="Text 12"/>
          <p:cNvSpPr/>
          <p:nvPr/>
        </p:nvSpPr>
        <p:spPr>
          <a:xfrm>
            <a:off x="1152144" y="2560320"/>
            <a:ext cx="2377440" cy="274320"/>
          </a:xfrm>
          <a:prstGeom prst="rect">
            <a:avLst/>
          </a:prstGeom>
          <a:noFill/>
          <a:ln/>
        </p:spPr>
        <p:txBody>
          <a:bodyPr wrap="square" lIns="0" tIns="0" rIns="0" bIns="0" rtlCol="0" anchor="ctr"/>
          <a:lstStyle/>
          <a:p>
            <a:pPr marL="0" indent="0">
              <a:buNone/>
            </a:pPr>
            <a:r>
              <a:rPr lang="en-US" sz="1200" b="1" dirty="0">
                <a:solidFill>
                  <a:srgbClr val="12233A"/>
                </a:solidFill>
                <a:latin typeface="Courier New" pitchFamily="34" charset="0"/>
                <a:ea typeface="Courier New" pitchFamily="34" charset="-122"/>
                <a:cs typeface="Courier New" pitchFamily="34" charset="-120"/>
              </a:rPr>
              <a:t>clipping</a:t>
            </a:r>
            <a:endParaRPr lang="en-US" sz="1200" dirty="0"/>
          </a:p>
        </p:txBody>
      </p:sp>
      <p:sp>
        <p:nvSpPr>
          <p:cNvPr id="15" name="Text 13"/>
          <p:cNvSpPr/>
          <p:nvPr/>
        </p:nvSpPr>
        <p:spPr>
          <a:xfrm>
            <a:off x="1152144" y="2816352"/>
            <a:ext cx="2423160" cy="274320"/>
          </a:xfrm>
          <a:prstGeom prst="rect">
            <a:avLst/>
          </a:prstGeom>
          <a:noFill/>
          <a:ln/>
        </p:spPr>
        <p:txBody>
          <a:bodyPr wrap="square" lIns="0" tIns="0" rIns="0" bIns="0" rtlCol="0" anchor="ctr"/>
          <a:lstStyle/>
          <a:p>
            <a:pPr marL="0" indent="0">
              <a:buNone/>
            </a:pPr>
            <a:r>
              <a:rPr lang="en-US" sz="1200" dirty="0">
                <a:solidFill>
                  <a:srgbClr val="62707F"/>
                </a:solidFill>
                <a:latin typeface="Calibri" pitchFamily="34" charset="0"/>
                <a:ea typeface="Calibri" pitchFamily="34" charset="-122"/>
                <a:cs typeface="Calibri" pitchFamily="34" charset="-120"/>
              </a:rPr>
              <a:t>&gt; 0.1 % samples at full scale</a:t>
            </a:r>
            <a:endParaRPr lang="en-US" sz="1200" dirty="0"/>
          </a:p>
        </p:txBody>
      </p:sp>
      <p:sp>
        <p:nvSpPr>
          <p:cNvPr id="16" name="Shape 14"/>
          <p:cNvSpPr/>
          <p:nvPr/>
        </p:nvSpPr>
        <p:spPr>
          <a:xfrm>
            <a:off x="3886200" y="2487168"/>
            <a:ext cx="3063240" cy="676656"/>
          </a:xfrm>
          <a:prstGeom prst="roundRect">
            <a:avLst>
              <a:gd name="adj" fmla="val 12162"/>
            </a:avLst>
          </a:prstGeom>
          <a:solidFill>
            <a:srgbClr val="FFFFFF"/>
          </a:solidFill>
          <a:ln w="12700">
            <a:solidFill>
              <a:srgbClr val="DFE5EB"/>
            </a:solidFill>
            <a:prstDash val="solid"/>
          </a:ln>
        </p:spPr>
        <p:txBody>
          <a:bodyPr/>
          <a:lstStyle/>
          <a:p>
            <a:endParaRPr lang="en-US"/>
          </a:p>
        </p:txBody>
      </p:sp>
      <p:sp>
        <p:nvSpPr>
          <p:cNvPr id="17" name="Shape 15"/>
          <p:cNvSpPr/>
          <p:nvPr/>
        </p:nvSpPr>
        <p:spPr>
          <a:xfrm>
            <a:off x="4069080" y="2715768"/>
            <a:ext cx="219456" cy="219456"/>
          </a:xfrm>
          <a:prstGeom prst="ellipse">
            <a:avLst/>
          </a:prstGeom>
          <a:solidFill>
            <a:srgbClr val="E08A3C"/>
          </a:solidFill>
          <a:ln/>
        </p:spPr>
        <p:txBody>
          <a:bodyPr/>
          <a:lstStyle/>
          <a:p>
            <a:endParaRPr lang="en-US"/>
          </a:p>
        </p:txBody>
      </p:sp>
      <p:sp>
        <p:nvSpPr>
          <p:cNvPr id="18" name="Text 16"/>
          <p:cNvSpPr/>
          <p:nvPr/>
        </p:nvSpPr>
        <p:spPr>
          <a:xfrm>
            <a:off x="4398264" y="2560320"/>
            <a:ext cx="2377440" cy="274320"/>
          </a:xfrm>
          <a:prstGeom prst="rect">
            <a:avLst/>
          </a:prstGeom>
          <a:noFill/>
          <a:ln/>
        </p:spPr>
        <p:txBody>
          <a:bodyPr wrap="square" lIns="0" tIns="0" rIns="0" bIns="0" rtlCol="0" anchor="ctr"/>
          <a:lstStyle/>
          <a:p>
            <a:pPr marL="0" indent="0">
              <a:buNone/>
            </a:pPr>
            <a:r>
              <a:rPr lang="en-US" sz="1200" b="1" dirty="0">
                <a:solidFill>
                  <a:srgbClr val="12233A"/>
                </a:solidFill>
                <a:latin typeface="Courier New" pitchFamily="34" charset="0"/>
                <a:ea typeface="Courier New" pitchFamily="34" charset="-122"/>
                <a:cs typeface="Courier New" pitchFamily="34" charset="-120"/>
              </a:rPr>
              <a:t>short</a:t>
            </a:r>
            <a:endParaRPr lang="en-US" sz="1200" dirty="0"/>
          </a:p>
        </p:txBody>
      </p:sp>
      <p:sp>
        <p:nvSpPr>
          <p:cNvPr id="19" name="Text 17"/>
          <p:cNvSpPr/>
          <p:nvPr/>
        </p:nvSpPr>
        <p:spPr>
          <a:xfrm>
            <a:off x="4398264" y="2816352"/>
            <a:ext cx="2423160" cy="274320"/>
          </a:xfrm>
          <a:prstGeom prst="rect">
            <a:avLst/>
          </a:prstGeom>
          <a:noFill/>
          <a:ln/>
        </p:spPr>
        <p:txBody>
          <a:bodyPr wrap="square" lIns="0" tIns="0" rIns="0" bIns="0" rtlCol="0" anchor="ctr"/>
          <a:lstStyle/>
          <a:p>
            <a:pPr marL="0" indent="0">
              <a:buNone/>
            </a:pPr>
            <a:r>
              <a:rPr lang="en-US" sz="1200" dirty="0">
                <a:solidFill>
                  <a:srgbClr val="62707F"/>
                </a:solidFill>
                <a:latin typeface="Calibri" pitchFamily="34" charset="0"/>
                <a:ea typeface="Calibri" pitchFamily="34" charset="-122"/>
                <a:cs typeface="Calibri" pitchFamily="34" charset="-120"/>
              </a:rPr>
              <a:t>under 1.0 second</a:t>
            </a:r>
            <a:endParaRPr lang="en-US" sz="1200" dirty="0"/>
          </a:p>
        </p:txBody>
      </p:sp>
      <p:sp>
        <p:nvSpPr>
          <p:cNvPr id="20" name="Shape 18"/>
          <p:cNvSpPr/>
          <p:nvPr/>
        </p:nvSpPr>
        <p:spPr>
          <a:xfrm>
            <a:off x="640080" y="3328416"/>
            <a:ext cx="3063240" cy="676656"/>
          </a:xfrm>
          <a:prstGeom prst="roundRect">
            <a:avLst>
              <a:gd name="adj" fmla="val 12162"/>
            </a:avLst>
          </a:prstGeom>
          <a:solidFill>
            <a:srgbClr val="FFFFFF"/>
          </a:solidFill>
          <a:ln w="12700">
            <a:solidFill>
              <a:srgbClr val="DFE5EB"/>
            </a:solidFill>
            <a:prstDash val="solid"/>
          </a:ln>
        </p:spPr>
        <p:txBody>
          <a:bodyPr/>
          <a:lstStyle/>
          <a:p>
            <a:endParaRPr lang="en-US"/>
          </a:p>
        </p:txBody>
      </p:sp>
      <p:sp>
        <p:nvSpPr>
          <p:cNvPr id="21" name="Shape 19"/>
          <p:cNvSpPr/>
          <p:nvPr/>
        </p:nvSpPr>
        <p:spPr>
          <a:xfrm>
            <a:off x="822960" y="3557016"/>
            <a:ext cx="219456" cy="219456"/>
          </a:xfrm>
          <a:prstGeom prst="ellipse">
            <a:avLst/>
          </a:prstGeom>
          <a:solidFill>
            <a:srgbClr val="E08A3C"/>
          </a:solidFill>
          <a:ln/>
        </p:spPr>
        <p:txBody>
          <a:bodyPr/>
          <a:lstStyle/>
          <a:p>
            <a:endParaRPr lang="en-US"/>
          </a:p>
        </p:txBody>
      </p:sp>
      <p:sp>
        <p:nvSpPr>
          <p:cNvPr id="22" name="Text 20"/>
          <p:cNvSpPr/>
          <p:nvPr/>
        </p:nvSpPr>
        <p:spPr>
          <a:xfrm>
            <a:off x="1152144" y="3401568"/>
            <a:ext cx="2377440" cy="274320"/>
          </a:xfrm>
          <a:prstGeom prst="rect">
            <a:avLst/>
          </a:prstGeom>
          <a:noFill/>
          <a:ln/>
        </p:spPr>
        <p:txBody>
          <a:bodyPr wrap="square" lIns="0" tIns="0" rIns="0" bIns="0" rtlCol="0" anchor="ctr"/>
          <a:lstStyle/>
          <a:p>
            <a:pPr marL="0" indent="0">
              <a:buNone/>
            </a:pPr>
            <a:r>
              <a:rPr lang="en-US" sz="1200" b="1" dirty="0">
                <a:solidFill>
                  <a:srgbClr val="12233A"/>
                </a:solidFill>
                <a:latin typeface="Courier New" pitchFamily="34" charset="0"/>
                <a:ea typeface="Courier New" pitchFamily="34" charset="-122"/>
                <a:cs typeface="Courier New" pitchFamily="34" charset="-120"/>
              </a:rPr>
              <a:t>bad_sr</a:t>
            </a:r>
            <a:endParaRPr lang="en-US" sz="1200" dirty="0"/>
          </a:p>
        </p:txBody>
      </p:sp>
      <p:sp>
        <p:nvSpPr>
          <p:cNvPr id="23" name="Text 21"/>
          <p:cNvSpPr/>
          <p:nvPr/>
        </p:nvSpPr>
        <p:spPr>
          <a:xfrm>
            <a:off x="1152144" y="3657600"/>
            <a:ext cx="2423160" cy="274320"/>
          </a:xfrm>
          <a:prstGeom prst="rect">
            <a:avLst/>
          </a:prstGeom>
          <a:noFill/>
          <a:ln/>
        </p:spPr>
        <p:txBody>
          <a:bodyPr wrap="square" lIns="0" tIns="0" rIns="0" bIns="0" rtlCol="0" anchor="ctr"/>
          <a:lstStyle/>
          <a:p>
            <a:pPr marL="0" indent="0">
              <a:buNone/>
            </a:pPr>
            <a:r>
              <a:rPr lang="en-US" sz="1200" dirty="0">
                <a:solidFill>
                  <a:srgbClr val="62707F"/>
                </a:solidFill>
                <a:latin typeface="Calibri" pitchFamily="34" charset="0"/>
                <a:ea typeface="Calibri" pitchFamily="34" charset="-122"/>
                <a:cs typeface="Calibri" pitchFamily="34" charset="-120"/>
              </a:rPr>
              <a:t>wrong sample rate</a:t>
            </a:r>
            <a:endParaRPr lang="en-US" sz="1200" dirty="0"/>
          </a:p>
        </p:txBody>
      </p:sp>
      <p:sp>
        <p:nvSpPr>
          <p:cNvPr id="24" name="Shape 22"/>
          <p:cNvSpPr/>
          <p:nvPr/>
        </p:nvSpPr>
        <p:spPr>
          <a:xfrm>
            <a:off x="3886200" y="3328416"/>
            <a:ext cx="3063240" cy="676656"/>
          </a:xfrm>
          <a:prstGeom prst="roundRect">
            <a:avLst>
              <a:gd name="adj" fmla="val 12162"/>
            </a:avLst>
          </a:prstGeom>
          <a:solidFill>
            <a:srgbClr val="FFFFFF"/>
          </a:solidFill>
          <a:ln w="12700">
            <a:solidFill>
              <a:srgbClr val="DFE5EB"/>
            </a:solidFill>
            <a:prstDash val="solid"/>
          </a:ln>
        </p:spPr>
        <p:txBody>
          <a:bodyPr/>
          <a:lstStyle/>
          <a:p>
            <a:endParaRPr lang="en-US"/>
          </a:p>
        </p:txBody>
      </p:sp>
      <p:sp>
        <p:nvSpPr>
          <p:cNvPr id="25" name="Shape 23"/>
          <p:cNvSpPr/>
          <p:nvPr/>
        </p:nvSpPr>
        <p:spPr>
          <a:xfrm>
            <a:off x="4069080" y="3557016"/>
            <a:ext cx="219456" cy="219456"/>
          </a:xfrm>
          <a:prstGeom prst="ellipse">
            <a:avLst/>
          </a:prstGeom>
          <a:solidFill>
            <a:srgbClr val="E08A3C"/>
          </a:solidFill>
          <a:ln/>
        </p:spPr>
        <p:txBody>
          <a:bodyPr/>
          <a:lstStyle/>
          <a:p>
            <a:endParaRPr lang="en-US"/>
          </a:p>
        </p:txBody>
      </p:sp>
      <p:sp>
        <p:nvSpPr>
          <p:cNvPr id="26" name="Text 24"/>
          <p:cNvSpPr/>
          <p:nvPr/>
        </p:nvSpPr>
        <p:spPr>
          <a:xfrm>
            <a:off x="4398264" y="3401568"/>
            <a:ext cx="2377440" cy="274320"/>
          </a:xfrm>
          <a:prstGeom prst="rect">
            <a:avLst/>
          </a:prstGeom>
          <a:noFill/>
          <a:ln/>
        </p:spPr>
        <p:txBody>
          <a:bodyPr wrap="square" lIns="0" tIns="0" rIns="0" bIns="0" rtlCol="0" anchor="ctr"/>
          <a:lstStyle/>
          <a:p>
            <a:pPr marL="0" indent="0">
              <a:buNone/>
            </a:pPr>
            <a:r>
              <a:rPr lang="en-US" sz="1200" b="1" dirty="0">
                <a:solidFill>
                  <a:srgbClr val="12233A"/>
                </a:solidFill>
                <a:latin typeface="Courier New" pitchFamily="34" charset="0"/>
                <a:ea typeface="Courier New" pitchFamily="34" charset="-122"/>
                <a:cs typeface="Courier New" pitchFamily="34" charset="-120"/>
              </a:rPr>
              <a:t>offset</a:t>
            </a:r>
            <a:endParaRPr lang="en-US" sz="1200" dirty="0"/>
          </a:p>
        </p:txBody>
      </p:sp>
      <p:sp>
        <p:nvSpPr>
          <p:cNvPr id="27" name="Text 25"/>
          <p:cNvSpPr/>
          <p:nvPr/>
        </p:nvSpPr>
        <p:spPr>
          <a:xfrm>
            <a:off x="4398264" y="3657600"/>
            <a:ext cx="2423160" cy="274320"/>
          </a:xfrm>
          <a:prstGeom prst="rect">
            <a:avLst/>
          </a:prstGeom>
          <a:noFill/>
          <a:ln/>
        </p:spPr>
        <p:txBody>
          <a:bodyPr wrap="square" lIns="0" tIns="0" rIns="0" bIns="0" rtlCol="0" anchor="ctr"/>
          <a:lstStyle/>
          <a:p>
            <a:pPr marL="0" indent="0">
              <a:buNone/>
            </a:pPr>
            <a:r>
              <a:rPr lang="en-US" sz="1200" dirty="0">
                <a:solidFill>
                  <a:srgbClr val="62707F"/>
                </a:solidFill>
                <a:latin typeface="Calibri" pitchFamily="34" charset="0"/>
                <a:ea typeface="Calibri" pitchFamily="34" charset="-122"/>
                <a:cs typeface="Calibri" pitchFamily="34" charset="-120"/>
              </a:rPr>
              <a:t>|DC offset| &gt; 0.05</a:t>
            </a:r>
            <a:endParaRPr lang="en-US" sz="1200" dirty="0"/>
          </a:p>
        </p:txBody>
      </p:sp>
      <p:sp>
        <p:nvSpPr>
          <p:cNvPr id="28" name="Text 26"/>
          <p:cNvSpPr/>
          <p:nvPr/>
        </p:nvSpPr>
        <p:spPr>
          <a:xfrm>
            <a:off x="640080" y="4407408"/>
            <a:ext cx="6583680" cy="685800"/>
          </a:xfrm>
          <a:prstGeom prst="rect">
            <a:avLst/>
          </a:prstGeom>
          <a:noFill/>
          <a:ln/>
        </p:spPr>
        <p:txBody>
          <a:bodyPr wrap="square" lIns="0" tIns="0" rIns="0" bIns="0" rtlCol="0" anchor="t"/>
          <a:lstStyle/>
          <a:p>
            <a:pPr marL="0" indent="0">
              <a:buNone/>
            </a:pPr>
            <a:r>
              <a:rPr lang="en-US" sz="1350">
                <a:solidFill>
                  <a:srgbClr val="16202C"/>
                </a:solidFill>
                <a:latin typeface="Calibri" pitchFamily="34" charset="0"/>
                <a:ea typeface="Calibri" pitchFamily="34" charset="-122"/>
                <a:cs typeface="Calibri" pitchFamily="34" charset="-120"/>
              </a:rPr>
              <a:t>These are the conditions in which files would be dropped</a:t>
            </a:r>
            <a:endParaRPr lang="en-US" sz="1350" dirty="0"/>
          </a:p>
        </p:txBody>
      </p:sp>
      <p:sp>
        <p:nvSpPr>
          <p:cNvPr id="29" name="Shape 27"/>
          <p:cNvSpPr/>
          <p:nvPr/>
        </p:nvSpPr>
        <p:spPr>
          <a:xfrm>
            <a:off x="7680960" y="1645920"/>
            <a:ext cx="3858768" cy="2359152"/>
          </a:xfrm>
          <a:prstGeom prst="roundRect">
            <a:avLst>
              <a:gd name="adj" fmla="val 3488"/>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30" name="Text 28"/>
          <p:cNvSpPr/>
          <p:nvPr/>
        </p:nvSpPr>
        <p:spPr>
          <a:xfrm>
            <a:off x="7936992" y="1828800"/>
            <a:ext cx="3383280" cy="457200"/>
          </a:xfrm>
          <a:prstGeom prst="rect">
            <a:avLst/>
          </a:prstGeom>
          <a:noFill/>
          <a:ln/>
        </p:spPr>
        <p:txBody>
          <a:bodyPr wrap="square" lIns="0" tIns="0" rIns="0" bIns="0" rtlCol="0" anchor="t"/>
          <a:lstStyle/>
          <a:p>
            <a:pPr marL="0" indent="0">
              <a:buNone/>
            </a:pPr>
            <a:r>
              <a:rPr lang="en-US" sz="1250" b="1" dirty="0">
                <a:solidFill>
                  <a:srgbClr val="0E8A8F"/>
                </a:solidFill>
                <a:latin typeface="Calibri" pitchFamily="34" charset="0"/>
                <a:ea typeface="Calibri" pitchFamily="34" charset="-122"/>
                <a:cs typeface="Calibri" pitchFamily="34" charset="-120"/>
              </a:rPr>
              <a:t>Tested with broken files</a:t>
            </a:r>
            <a:endParaRPr lang="en-US" sz="1250" dirty="0"/>
          </a:p>
        </p:txBody>
      </p:sp>
      <p:sp>
        <p:nvSpPr>
          <p:cNvPr id="31" name="Text 29"/>
          <p:cNvSpPr/>
          <p:nvPr/>
        </p:nvSpPr>
        <p:spPr>
          <a:xfrm>
            <a:off x="7936992" y="2331720"/>
            <a:ext cx="3383280" cy="1554480"/>
          </a:xfrm>
          <a:prstGeom prst="rect">
            <a:avLst/>
          </a:prstGeom>
          <a:noFill/>
          <a:ln/>
        </p:spPr>
        <p:txBody>
          <a:bodyPr wrap="square" lIns="0" tIns="0" rIns="0" bIns="0" rtlCol="0" anchor="t"/>
          <a:lstStyle/>
          <a:p>
            <a:pPr marL="342900" indent="-342900">
              <a:lnSpc>
                <a:spcPct val="135000"/>
              </a:lnSpc>
              <a:buSzPct val="100000"/>
              <a:buChar char="•"/>
            </a:pPr>
            <a:r>
              <a:rPr lang="en-US" sz="1200" dirty="0">
                <a:solidFill>
                  <a:srgbClr val="C9D9E8"/>
                </a:solidFill>
                <a:latin typeface="Calibri" pitchFamily="34" charset="0"/>
                <a:ea typeface="Calibri" pitchFamily="34" charset="-122"/>
                <a:cs typeface="Calibri" pitchFamily="34" charset="-120"/>
              </a:rPr>
              <a:t>8 broken pairs → skipped</a:t>
            </a:r>
            <a:endParaRPr lang="en-US" sz="1200" dirty="0"/>
          </a:p>
          <a:p>
            <a:pPr marL="0" indent="0">
              <a:lnSpc>
                <a:spcPct val="135000"/>
              </a:lnSpc>
              <a:buNone/>
            </a:pPr>
            <a:r>
              <a:rPr lang="en-US" sz="1200" dirty="0">
                <a:solidFill>
                  <a:srgbClr val="C9D9E8"/>
                </a:solidFill>
                <a:latin typeface="Calibri" pitchFamily="34" charset="0"/>
                <a:ea typeface="Calibri" pitchFamily="34" charset="-122"/>
                <a:cs typeface="Calibri" pitchFamily="34" charset="-120"/>
              </a:rPr>
              <a:t>2 silent files → quiet</a:t>
            </a:r>
            <a:endParaRPr lang="en-US" sz="1200" dirty="0"/>
          </a:p>
          <a:p>
            <a:pPr marL="0" indent="0">
              <a:lnSpc>
                <a:spcPct val="135000"/>
              </a:lnSpc>
              <a:buNone/>
            </a:pPr>
            <a:r>
              <a:rPr lang="en-US" sz="1200" dirty="0">
                <a:solidFill>
                  <a:srgbClr val="C9D9E8"/>
                </a:solidFill>
                <a:latin typeface="Calibri" pitchFamily="34" charset="0"/>
                <a:ea typeface="Calibri" pitchFamily="34" charset="-122"/>
                <a:cs typeface="Calibri" pitchFamily="34" charset="-120"/>
              </a:rPr>
              <a:t>2 square waves → clipping</a:t>
            </a:r>
            <a:endParaRPr lang="en-US" sz="1200" dirty="0"/>
          </a:p>
          <a:p>
            <a:pPr marL="0" indent="0">
              <a:lnSpc>
                <a:spcPct val="135000"/>
              </a:lnSpc>
              <a:buNone/>
            </a:pPr>
            <a:r>
              <a:rPr lang="en-US" sz="1200" dirty="0">
                <a:solidFill>
                  <a:srgbClr val="C9D9E8"/>
                </a:solidFill>
                <a:latin typeface="Calibri" pitchFamily="34" charset="0"/>
                <a:ea typeface="Calibri" pitchFamily="34" charset="-122"/>
                <a:cs typeface="Calibri" pitchFamily="34" charset="-120"/>
              </a:rPr>
              <a:t>2 short 44.1 kHz files → short, bad_sr</a:t>
            </a:r>
            <a:endParaRPr lang="en-US" sz="1200" dirty="0"/>
          </a:p>
        </p:txBody>
      </p:sp>
      <p:sp>
        <p:nvSpPr>
          <p:cNvPr id="32" name="Shape 30"/>
          <p:cNvSpPr/>
          <p:nvPr/>
        </p:nvSpPr>
        <p:spPr>
          <a:xfrm>
            <a:off x="7680960" y="4206240"/>
            <a:ext cx="3858768" cy="1536192"/>
          </a:xfrm>
          <a:prstGeom prst="roundRect">
            <a:avLst>
              <a:gd name="adj" fmla="val 5357"/>
            </a:avLst>
          </a:prstGeom>
          <a:solidFill>
            <a:srgbClr val="E3F2F2"/>
          </a:solidFill>
          <a:ln/>
        </p:spPr>
        <p:txBody>
          <a:bodyPr/>
          <a:lstStyle/>
          <a:p>
            <a:endParaRPr lang="en-US"/>
          </a:p>
        </p:txBody>
      </p:sp>
      <p:sp>
        <p:nvSpPr>
          <p:cNvPr id="33" name="Text 31"/>
          <p:cNvSpPr/>
          <p:nvPr/>
        </p:nvSpPr>
        <p:spPr>
          <a:xfrm>
            <a:off x="7680960" y="4315968"/>
            <a:ext cx="3858768" cy="603504"/>
          </a:xfrm>
          <a:prstGeom prst="rect">
            <a:avLst/>
          </a:prstGeom>
          <a:noFill/>
          <a:ln/>
        </p:spPr>
        <p:txBody>
          <a:bodyPr wrap="square" lIns="0" tIns="0" rIns="0" bIns="0" rtlCol="0" anchor="ctr"/>
          <a:lstStyle/>
          <a:p>
            <a:pPr marL="0" indent="0" algn="ctr">
              <a:buNone/>
            </a:pPr>
            <a:r>
              <a:rPr lang="en-US" sz="3200" b="1" dirty="0">
                <a:solidFill>
                  <a:srgbClr val="0E8A8F"/>
                </a:solidFill>
                <a:latin typeface="Cambria" pitchFamily="34" charset="0"/>
                <a:ea typeface="Cambria" pitchFamily="34" charset="-122"/>
                <a:cs typeface="Cambria" pitchFamily="34" charset="-120"/>
              </a:rPr>
              <a:t>11,572</a:t>
            </a:r>
            <a:endParaRPr lang="en-US" sz="3200" dirty="0"/>
          </a:p>
        </p:txBody>
      </p:sp>
      <p:sp>
        <p:nvSpPr>
          <p:cNvPr id="34" name="Text 32"/>
          <p:cNvSpPr/>
          <p:nvPr/>
        </p:nvSpPr>
        <p:spPr>
          <a:xfrm>
            <a:off x="7680960" y="4919472"/>
            <a:ext cx="3858768" cy="640080"/>
          </a:xfrm>
          <a:prstGeom prst="rect">
            <a:avLst/>
          </a:prstGeom>
          <a:noFill/>
          <a:ln/>
        </p:spPr>
        <p:txBody>
          <a:bodyPr wrap="square" lIns="0" tIns="0" rIns="0" bIns="0" rtlCol="0" anchor="t"/>
          <a:lstStyle/>
          <a:p>
            <a:pPr marL="0" indent="0" algn="ctr">
              <a:buNone/>
            </a:pPr>
            <a:r>
              <a:rPr lang="en-US" sz="1200" dirty="0">
                <a:solidFill>
                  <a:srgbClr val="12233A"/>
                </a:solidFill>
                <a:latin typeface="Calibri" pitchFamily="34" charset="0"/>
                <a:ea typeface="Calibri" pitchFamily="34" charset="-122"/>
                <a:cs typeface="Calibri" pitchFamily="34" charset="-120"/>
              </a:rPr>
              <a:t>pairs kept  ·  0 dropped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a:solidFill>
                  <a:srgbClr val="0E8A8F"/>
                </a:solidFill>
                <a:latin typeface="Calibri" pitchFamily="34" charset="0"/>
                <a:ea typeface="Calibri" pitchFamily="34" charset="-122"/>
                <a:cs typeface="Calibri" pitchFamily="34" charset="-120"/>
              </a:rPr>
              <a:t>DATASET</a:t>
            </a:r>
            <a:endParaRPr lang="en-US" sz="1150" dirty="0"/>
          </a:p>
        </p:txBody>
      </p:sp>
      <p:sp>
        <p:nvSpPr>
          <p:cNvPr id="3" name="Text 1"/>
          <p:cNvSpPr/>
          <p:nvPr/>
        </p:nvSpPr>
        <p:spPr>
          <a:xfrm>
            <a:off x="640080" y="621792"/>
            <a:ext cx="11101647" cy="658368"/>
          </a:xfrm>
          <a:prstGeom prst="rect">
            <a:avLst/>
          </a:prstGeom>
          <a:noFill/>
          <a:ln/>
        </p:spPr>
        <p:txBody>
          <a:bodyPr wrap="square" lIns="0" tIns="0" rIns="0" bIns="0" rtlCol="0" anchor="t"/>
          <a:lstStyle/>
          <a:p>
            <a:pPr marL="0" indent="0">
              <a:buNone/>
            </a:pPr>
            <a:r>
              <a:rPr lang="en-US" sz="3000" b="1">
                <a:solidFill>
                  <a:srgbClr val="12233A"/>
                </a:solidFill>
                <a:latin typeface="Cambria" pitchFamily="34" charset="0"/>
                <a:ea typeface="Cambria" pitchFamily="34" charset="-122"/>
                <a:cs typeface="Cambria" pitchFamily="34" charset="-120"/>
              </a:rPr>
              <a:t>Encoding – Short-Time Fourier Transform</a:t>
            </a:r>
            <a:endParaRPr lang="en-US" sz="3000" dirty="0"/>
          </a:p>
        </p:txBody>
      </p:sp>
      <p:sp>
        <p:nvSpPr>
          <p:cNvPr id="16" name="Text 14"/>
          <p:cNvSpPr/>
          <p:nvPr/>
        </p:nvSpPr>
        <p:spPr>
          <a:xfrm>
            <a:off x="640080" y="3520440"/>
            <a:ext cx="6766560" cy="1737360"/>
          </a:xfrm>
          <a:prstGeom prst="rect">
            <a:avLst/>
          </a:prstGeom>
          <a:noFill/>
          <a:ln/>
        </p:spPr>
        <p:txBody>
          <a:bodyPr wrap="square" lIns="0" tIns="0" rIns="0" bIns="0" rtlCol="0" anchor="t"/>
          <a:lstStyle/>
          <a:p>
            <a:pPr marL="342900" indent="-342900">
              <a:spcAft>
                <a:spcPts val="1200"/>
              </a:spcAft>
              <a:buSzPct val="100000"/>
              <a:buChar char="•"/>
            </a:pPr>
            <a:r>
              <a:rPr lang="en-US" sz="1650">
                <a:solidFill>
                  <a:srgbClr val="16202C"/>
                </a:solidFill>
                <a:latin typeface="Calibri" pitchFamily="34" charset="0"/>
                <a:ea typeface="Calibri" pitchFamily="34" charset="-122"/>
                <a:cs typeface="Calibri" pitchFamily="34" charset="-120"/>
              </a:rPr>
              <a:t>Inherently a frequency problem</a:t>
            </a:r>
          </a:p>
          <a:p>
            <a:pPr marL="342900" indent="-342900">
              <a:spcAft>
                <a:spcPts val="1200"/>
              </a:spcAft>
              <a:buSzPct val="100000"/>
              <a:buChar char="•"/>
            </a:pPr>
            <a:r>
              <a:rPr lang="en-US" sz="1650">
                <a:solidFill>
                  <a:srgbClr val="16202C"/>
                </a:solidFill>
                <a:latin typeface="Calibri" pitchFamily="34" charset="0"/>
                <a:cs typeface="Calibri" pitchFamily="34" charset="-120"/>
              </a:rPr>
              <a:t>Also a time problem (so use frames)</a:t>
            </a:r>
            <a:endParaRPr lang="en-US" sz="1650" dirty="0"/>
          </a:p>
        </p:txBody>
      </p:sp>
      <p:sp>
        <p:nvSpPr>
          <p:cNvPr id="22" name="Shape 8">
            <a:extLst>
              <a:ext uri="{FF2B5EF4-FFF2-40B4-BE49-F238E27FC236}">
                <a16:creationId xmlns:a16="http://schemas.microsoft.com/office/drawing/2014/main" id="{94A37EC4-74DC-D067-B65E-04ABEF86D196}"/>
              </a:ext>
            </a:extLst>
          </p:cNvPr>
          <p:cNvSpPr/>
          <p:nvPr/>
        </p:nvSpPr>
        <p:spPr>
          <a:xfrm>
            <a:off x="691896" y="1613916"/>
            <a:ext cx="2587752" cy="1572768"/>
          </a:xfrm>
          <a:prstGeom prst="roundRect">
            <a:avLst>
              <a:gd name="adj" fmla="val 5233"/>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23" name="Text 9">
            <a:extLst>
              <a:ext uri="{FF2B5EF4-FFF2-40B4-BE49-F238E27FC236}">
                <a16:creationId xmlns:a16="http://schemas.microsoft.com/office/drawing/2014/main" id="{0D8DB09E-9B49-EE0E-3D7F-C9EA3B853E99}"/>
              </a:ext>
            </a:extLst>
          </p:cNvPr>
          <p:cNvSpPr/>
          <p:nvPr/>
        </p:nvSpPr>
        <p:spPr>
          <a:xfrm>
            <a:off x="691896" y="1751076"/>
            <a:ext cx="2587752" cy="658368"/>
          </a:xfrm>
          <a:prstGeom prst="rect">
            <a:avLst/>
          </a:prstGeom>
          <a:noFill/>
          <a:ln/>
        </p:spPr>
        <p:txBody>
          <a:bodyPr wrap="square" lIns="0" tIns="0" rIns="0" bIns="0" rtlCol="0" anchor="ctr"/>
          <a:lstStyle/>
          <a:p>
            <a:pPr marL="0" indent="0" algn="ctr">
              <a:buNone/>
            </a:pPr>
            <a:r>
              <a:rPr lang="en-US" sz="3400" b="1" dirty="0">
                <a:solidFill>
                  <a:srgbClr val="0E8A8F"/>
                </a:solidFill>
                <a:latin typeface="Cambria" pitchFamily="34" charset="0"/>
                <a:ea typeface="Cambria" pitchFamily="34" charset="-122"/>
                <a:cs typeface="Cambria" pitchFamily="34" charset="-120"/>
              </a:rPr>
              <a:t>257</a:t>
            </a:r>
            <a:endParaRPr lang="en-US" sz="3400" dirty="0"/>
          </a:p>
        </p:txBody>
      </p:sp>
      <p:sp>
        <p:nvSpPr>
          <p:cNvPr id="24" name="Text 10">
            <a:extLst>
              <a:ext uri="{FF2B5EF4-FFF2-40B4-BE49-F238E27FC236}">
                <a16:creationId xmlns:a16="http://schemas.microsoft.com/office/drawing/2014/main" id="{85B05CAA-6CBC-9FCC-A726-B658C9214B75}"/>
              </a:ext>
            </a:extLst>
          </p:cNvPr>
          <p:cNvSpPr/>
          <p:nvPr/>
        </p:nvSpPr>
        <p:spPr>
          <a:xfrm>
            <a:off x="691896" y="2391156"/>
            <a:ext cx="2587752" cy="658368"/>
          </a:xfrm>
          <a:prstGeom prst="rect">
            <a:avLst/>
          </a:prstGeom>
          <a:noFill/>
          <a:ln/>
        </p:spPr>
        <p:txBody>
          <a:bodyPr wrap="square" lIns="0" tIns="0" rIns="0" bIns="0" rtlCol="0" anchor="t"/>
          <a:lstStyle/>
          <a:p>
            <a:pPr marL="0" indent="0" algn="ctr">
              <a:buNone/>
            </a:pPr>
            <a:r>
              <a:rPr lang="en-US" sz="1200" dirty="0">
                <a:solidFill>
                  <a:srgbClr val="62707F"/>
                </a:solidFill>
                <a:latin typeface="Calibri" pitchFamily="34" charset="0"/>
                <a:ea typeface="Calibri" pitchFamily="34" charset="-122"/>
                <a:cs typeface="Calibri" pitchFamily="34" charset="-120"/>
              </a:rPr>
              <a:t>frequency bins</a:t>
            </a:r>
            <a:endParaRPr lang="en-US" sz="1200" dirty="0"/>
          </a:p>
          <a:p>
            <a:pPr marL="0" indent="0" algn="ctr">
              <a:buNone/>
            </a:pPr>
            <a:r>
              <a:rPr lang="en-US" sz="1200" dirty="0">
                <a:solidFill>
                  <a:srgbClr val="62707F"/>
                </a:solidFill>
                <a:latin typeface="Calibri" pitchFamily="34" charset="0"/>
                <a:ea typeface="Calibri" pitchFamily="34" charset="-122"/>
                <a:cs typeface="Calibri" pitchFamily="34" charset="-120"/>
              </a:rPr>
              <a:t>per STFT frame</a:t>
            </a:r>
            <a:endParaRPr lang="en-US" sz="1200" dirty="0"/>
          </a:p>
        </p:txBody>
      </p:sp>
      <p:sp>
        <p:nvSpPr>
          <p:cNvPr id="25" name="Shape 11">
            <a:extLst>
              <a:ext uri="{FF2B5EF4-FFF2-40B4-BE49-F238E27FC236}">
                <a16:creationId xmlns:a16="http://schemas.microsoft.com/office/drawing/2014/main" id="{B440D73A-D044-8448-E191-01FA4BFA9CD8}"/>
              </a:ext>
            </a:extLst>
          </p:cNvPr>
          <p:cNvSpPr/>
          <p:nvPr/>
        </p:nvSpPr>
        <p:spPr>
          <a:xfrm>
            <a:off x="3508248" y="1613916"/>
            <a:ext cx="2587752" cy="1572768"/>
          </a:xfrm>
          <a:prstGeom prst="roundRect">
            <a:avLst>
              <a:gd name="adj" fmla="val 5233"/>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26" name="Text 12">
            <a:extLst>
              <a:ext uri="{FF2B5EF4-FFF2-40B4-BE49-F238E27FC236}">
                <a16:creationId xmlns:a16="http://schemas.microsoft.com/office/drawing/2014/main" id="{62066F64-C585-D16F-8D37-94A48C45C42B}"/>
              </a:ext>
            </a:extLst>
          </p:cNvPr>
          <p:cNvSpPr/>
          <p:nvPr/>
        </p:nvSpPr>
        <p:spPr>
          <a:xfrm>
            <a:off x="3508248" y="1751076"/>
            <a:ext cx="2587752" cy="658368"/>
          </a:xfrm>
          <a:prstGeom prst="rect">
            <a:avLst/>
          </a:prstGeom>
          <a:noFill/>
          <a:ln/>
        </p:spPr>
        <p:txBody>
          <a:bodyPr wrap="square" lIns="0" tIns="0" rIns="0" bIns="0" rtlCol="0" anchor="ctr"/>
          <a:lstStyle/>
          <a:p>
            <a:pPr marL="0" indent="0" algn="ctr">
              <a:buNone/>
            </a:pPr>
            <a:r>
              <a:rPr lang="en-US" sz="3400" b="1" dirty="0">
                <a:solidFill>
                  <a:srgbClr val="0E8A8F"/>
                </a:solidFill>
                <a:latin typeface="Cambria" pitchFamily="34" charset="0"/>
                <a:ea typeface="Cambria" pitchFamily="34" charset="-122"/>
                <a:cs typeface="Cambria" pitchFamily="34" charset="-120"/>
              </a:rPr>
              <a:t>32 ms</a:t>
            </a:r>
            <a:endParaRPr lang="en-US" sz="3400" dirty="0"/>
          </a:p>
        </p:txBody>
      </p:sp>
      <p:sp>
        <p:nvSpPr>
          <p:cNvPr id="27" name="Text 13">
            <a:extLst>
              <a:ext uri="{FF2B5EF4-FFF2-40B4-BE49-F238E27FC236}">
                <a16:creationId xmlns:a16="http://schemas.microsoft.com/office/drawing/2014/main" id="{726FC490-0536-838B-C94B-82E64D96881C}"/>
              </a:ext>
            </a:extLst>
          </p:cNvPr>
          <p:cNvSpPr/>
          <p:nvPr/>
        </p:nvSpPr>
        <p:spPr>
          <a:xfrm>
            <a:off x="3508248" y="2391156"/>
            <a:ext cx="2587752" cy="658368"/>
          </a:xfrm>
          <a:prstGeom prst="rect">
            <a:avLst/>
          </a:prstGeom>
          <a:noFill/>
          <a:ln/>
        </p:spPr>
        <p:txBody>
          <a:bodyPr wrap="square" lIns="0" tIns="0" rIns="0" bIns="0" rtlCol="0" anchor="t"/>
          <a:lstStyle/>
          <a:p>
            <a:pPr marL="0" indent="0" algn="ctr">
              <a:buNone/>
            </a:pPr>
            <a:r>
              <a:rPr lang="en-US" sz="1200" dirty="0">
                <a:solidFill>
                  <a:srgbClr val="62707F"/>
                </a:solidFill>
                <a:latin typeface="Calibri" pitchFamily="34" charset="0"/>
                <a:ea typeface="Calibri" pitchFamily="34" charset="-122"/>
                <a:cs typeface="Calibri" pitchFamily="34" charset="-120"/>
              </a:rPr>
              <a:t>per frame</a:t>
            </a:r>
            <a:endParaRPr lang="en-US" sz="1200" dirty="0"/>
          </a:p>
          <a:p>
            <a:pPr marL="0" indent="0" algn="ctr">
              <a:buNone/>
            </a:pPr>
            <a:r>
              <a:rPr lang="en-US" sz="1200" dirty="0">
                <a:solidFill>
                  <a:srgbClr val="62707F"/>
                </a:solidFill>
                <a:latin typeface="Calibri" pitchFamily="34" charset="0"/>
                <a:ea typeface="Calibri" pitchFamily="34" charset="-122"/>
                <a:cs typeface="Calibri" pitchFamily="34" charset="-120"/>
              </a:rPr>
              <a:t>(512 @ 16 kHz)</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a:solidFill>
                  <a:srgbClr val="12233A"/>
                </a:solidFill>
                <a:latin typeface="Cambria" pitchFamily="34" charset="0"/>
                <a:ea typeface="Cambria" pitchFamily="34" charset="-122"/>
                <a:cs typeface="Cambria" pitchFamily="34" charset="-120"/>
              </a:rPr>
              <a:t>Pipeline overview</a:t>
            </a:r>
            <a:endParaRPr lang="en-US" sz="3000" dirty="0"/>
          </a:p>
        </p:txBody>
      </p:sp>
      <p:sp>
        <p:nvSpPr>
          <p:cNvPr id="4" name="Shape 2"/>
          <p:cNvSpPr/>
          <p:nvPr/>
        </p:nvSpPr>
        <p:spPr>
          <a:xfrm>
            <a:off x="640080" y="1783080"/>
            <a:ext cx="2121408" cy="2788920"/>
          </a:xfrm>
          <a:prstGeom prst="roundRect">
            <a:avLst>
              <a:gd name="adj" fmla="val 3879"/>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5" name="Shape 3"/>
          <p:cNvSpPr/>
          <p:nvPr/>
        </p:nvSpPr>
        <p:spPr>
          <a:xfrm>
            <a:off x="841248" y="1993392"/>
            <a:ext cx="402336" cy="402336"/>
          </a:xfrm>
          <a:prstGeom prst="ellipse">
            <a:avLst/>
          </a:prstGeom>
          <a:solidFill>
            <a:srgbClr val="0E8A8F"/>
          </a:solidFill>
          <a:ln/>
        </p:spPr>
        <p:txBody>
          <a:bodyPr/>
          <a:lstStyle/>
          <a:p>
            <a:endParaRPr lang="en-US"/>
          </a:p>
        </p:txBody>
      </p:sp>
      <p:sp>
        <p:nvSpPr>
          <p:cNvPr id="6" name="Text 4"/>
          <p:cNvSpPr/>
          <p:nvPr/>
        </p:nvSpPr>
        <p:spPr>
          <a:xfrm>
            <a:off x="841248" y="19933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41248" y="2542032"/>
            <a:ext cx="1719072" cy="292608"/>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Validate</a:t>
            </a:r>
            <a:endParaRPr lang="en-US" sz="1700" dirty="0"/>
          </a:p>
        </p:txBody>
      </p:sp>
      <p:sp>
        <p:nvSpPr>
          <p:cNvPr id="8" name="Text 6"/>
          <p:cNvSpPr/>
          <p:nvPr/>
        </p:nvSpPr>
        <p:spPr>
          <a:xfrm>
            <a:off x="841248" y="2852928"/>
            <a:ext cx="1719072" cy="256032"/>
          </a:xfrm>
          <a:prstGeom prst="rect">
            <a:avLst/>
          </a:prstGeom>
          <a:noFill/>
          <a:ln/>
        </p:spPr>
        <p:txBody>
          <a:bodyPr wrap="square" lIns="0" tIns="0" rIns="0" bIns="0" rtlCol="0" anchor="ctr"/>
          <a:lstStyle/>
          <a:p>
            <a:pPr marL="0" indent="0">
              <a:buNone/>
            </a:pPr>
            <a:r>
              <a:rPr lang="en-US" sz="1000" dirty="0">
                <a:solidFill>
                  <a:srgbClr val="0E8A8F"/>
                </a:solidFill>
                <a:latin typeface="Courier New" pitchFamily="34" charset="0"/>
                <a:ea typeface="Courier New" pitchFamily="34" charset="-122"/>
                <a:cs typeface="Courier New" pitchFamily="34" charset="-120"/>
              </a:rPr>
              <a:t>1_preprocess.py</a:t>
            </a:r>
            <a:endParaRPr lang="en-US" sz="1000" dirty="0"/>
          </a:p>
        </p:txBody>
      </p:sp>
      <p:sp>
        <p:nvSpPr>
          <p:cNvPr id="9" name="Text 7"/>
          <p:cNvSpPr/>
          <p:nvPr/>
        </p:nvSpPr>
        <p:spPr>
          <a:xfrm>
            <a:off x="841248" y="3200400"/>
            <a:ext cx="1719072" cy="1188720"/>
          </a:xfrm>
          <a:prstGeom prst="rect">
            <a:avLst/>
          </a:prstGeom>
          <a:noFill/>
          <a:ln/>
        </p:spPr>
        <p:txBody>
          <a:bodyPr wrap="square" lIns="0" tIns="0" rIns="0" bIns="0" rtlCol="0" anchor="t"/>
          <a:lstStyle/>
          <a:p>
            <a:pPr marL="0" indent="0">
              <a:buNone/>
            </a:pPr>
            <a:r>
              <a:rPr lang="en-US" sz="1250" dirty="0">
                <a:solidFill>
                  <a:srgbClr val="62707F"/>
                </a:solidFill>
                <a:latin typeface="Calibri" pitchFamily="34" charset="0"/>
                <a:ea typeface="Calibri" pitchFamily="34" charset="-122"/>
                <a:cs typeface="Calibri" pitchFamily="34" charset="-120"/>
              </a:rPr>
              <a:t>Pair check. Six quality flags.</a:t>
            </a:r>
            <a:endParaRPr lang="en-US" sz="1250" dirty="0"/>
          </a:p>
        </p:txBody>
      </p:sp>
      <p:sp>
        <p:nvSpPr>
          <p:cNvPr id="10" name="Shape 8"/>
          <p:cNvSpPr/>
          <p:nvPr/>
        </p:nvSpPr>
        <p:spPr>
          <a:xfrm>
            <a:off x="2788920" y="3063240"/>
            <a:ext cx="164592" cy="201168"/>
          </a:xfrm>
          <a:prstGeom prst="rightArrow">
            <a:avLst/>
          </a:prstGeom>
          <a:solidFill>
            <a:srgbClr val="C9D9E8"/>
          </a:solidFill>
          <a:ln/>
        </p:spPr>
        <p:txBody>
          <a:bodyPr/>
          <a:lstStyle/>
          <a:p>
            <a:endParaRPr lang="en-US"/>
          </a:p>
        </p:txBody>
      </p:sp>
      <p:sp>
        <p:nvSpPr>
          <p:cNvPr id="11" name="Shape 9"/>
          <p:cNvSpPr/>
          <p:nvPr/>
        </p:nvSpPr>
        <p:spPr>
          <a:xfrm>
            <a:off x="2980944" y="1783080"/>
            <a:ext cx="2121408" cy="2788920"/>
          </a:xfrm>
          <a:prstGeom prst="roundRect">
            <a:avLst>
              <a:gd name="adj" fmla="val 3879"/>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12" name="Shape 10"/>
          <p:cNvSpPr/>
          <p:nvPr/>
        </p:nvSpPr>
        <p:spPr>
          <a:xfrm>
            <a:off x="3182112" y="1993392"/>
            <a:ext cx="402336" cy="402336"/>
          </a:xfrm>
          <a:prstGeom prst="ellipse">
            <a:avLst/>
          </a:prstGeom>
          <a:solidFill>
            <a:srgbClr val="0E8A8F"/>
          </a:solidFill>
          <a:ln/>
        </p:spPr>
        <p:txBody>
          <a:bodyPr/>
          <a:lstStyle/>
          <a:p>
            <a:endParaRPr lang="en-US"/>
          </a:p>
        </p:txBody>
      </p:sp>
      <p:sp>
        <p:nvSpPr>
          <p:cNvPr id="13" name="Text 11"/>
          <p:cNvSpPr/>
          <p:nvPr/>
        </p:nvSpPr>
        <p:spPr>
          <a:xfrm>
            <a:off x="3182112" y="19933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3182112" y="2542032"/>
            <a:ext cx="1719072" cy="292608"/>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Encode</a:t>
            </a:r>
            <a:endParaRPr lang="en-US" sz="1700" dirty="0"/>
          </a:p>
        </p:txBody>
      </p:sp>
      <p:sp>
        <p:nvSpPr>
          <p:cNvPr id="15" name="Text 13"/>
          <p:cNvSpPr/>
          <p:nvPr/>
        </p:nvSpPr>
        <p:spPr>
          <a:xfrm>
            <a:off x="3182112" y="2852928"/>
            <a:ext cx="1719072" cy="256032"/>
          </a:xfrm>
          <a:prstGeom prst="rect">
            <a:avLst/>
          </a:prstGeom>
          <a:noFill/>
          <a:ln/>
        </p:spPr>
        <p:txBody>
          <a:bodyPr wrap="square" lIns="0" tIns="0" rIns="0" bIns="0" rtlCol="0" anchor="ctr"/>
          <a:lstStyle/>
          <a:p>
            <a:pPr marL="0" indent="0">
              <a:buNone/>
            </a:pPr>
            <a:r>
              <a:rPr lang="en-US" sz="1000" dirty="0">
                <a:solidFill>
                  <a:srgbClr val="0E8A8F"/>
                </a:solidFill>
                <a:latin typeface="Courier New" pitchFamily="34" charset="0"/>
                <a:ea typeface="Courier New" pitchFamily="34" charset="-122"/>
                <a:cs typeface="Courier New" pitchFamily="34" charset="-120"/>
              </a:rPr>
              <a:t>2_encode.py</a:t>
            </a:r>
            <a:endParaRPr lang="en-US" sz="1000" dirty="0"/>
          </a:p>
        </p:txBody>
      </p:sp>
      <p:sp>
        <p:nvSpPr>
          <p:cNvPr id="16" name="Text 14"/>
          <p:cNvSpPr/>
          <p:nvPr/>
        </p:nvSpPr>
        <p:spPr>
          <a:xfrm>
            <a:off x="3182112" y="3200400"/>
            <a:ext cx="1719072" cy="1188720"/>
          </a:xfrm>
          <a:prstGeom prst="rect">
            <a:avLst/>
          </a:prstGeom>
          <a:noFill/>
          <a:ln/>
        </p:spPr>
        <p:txBody>
          <a:bodyPr wrap="square" lIns="0" tIns="0" rIns="0" bIns="0" rtlCol="0" anchor="t"/>
          <a:lstStyle/>
          <a:p>
            <a:pPr marL="0" indent="0">
              <a:buNone/>
            </a:pPr>
            <a:r>
              <a:rPr lang="en-US" sz="1250" dirty="0">
                <a:solidFill>
                  <a:srgbClr val="62707F"/>
                </a:solidFill>
                <a:latin typeface="Calibri" pitchFamily="34" charset="0"/>
                <a:ea typeface="Calibri" pitchFamily="34" charset="-122"/>
                <a:cs typeface="Calibri" pitchFamily="34" charset="-120"/>
              </a:rPr>
              <a:t>Resample, STFT, cache to .npz.</a:t>
            </a:r>
            <a:endParaRPr lang="en-US" sz="1250" dirty="0"/>
          </a:p>
        </p:txBody>
      </p:sp>
      <p:sp>
        <p:nvSpPr>
          <p:cNvPr id="17" name="Shape 15"/>
          <p:cNvSpPr/>
          <p:nvPr/>
        </p:nvSpPr>
        <p:spPr>
          <a:xfrm>
            <a:off x="5129784" y="3063240"/>
            <a:ext cx="164592" cy="201168"/>
          </a:xfrm>
          <a:prstGeom prst="rightArrow">
            <a:avLst/>
          </a:prstGeom>
          <a:solidFill>
            <a:srgbClr val="C9D9E8"/>
          </a:solidFill>
          <a:ln/>
        </p:spPr>
        <p:txBody>
          <a:bodyPr/>
          <a:lstStyle/>
          <a:p>
            <a:endParaRPr lang="en-US"/>
          </a:p>
        </p:txBody>
      </p:sp>
      <p:sp>
        <p:nvSpPr>
          <p:cNvPr id="18" name="Shape 16"/>
          <p:cNvSpPr/>
          <p:nvPr/>
        </p:nvSpPr>
        <p:spPr>
          <a:xfrm>
            <a:off x="5321808" y="1783080"/>
            <a:ext cx="2121408" cy="2788920"/>
          </a:xfrm>
          <a:prstGeom prst="roundRect">
            <a:avLst>
              <a:gd name="adj" fmla="val 3879"/>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19" name="Shape 17"/>
          <p:cNvSpPr/>
          <p:nvPr/>
        </p:nvSpPr>
        <p:spPr>
          <a:xfrm>
            <a:off x="5522976" y="1993392"/>
            <a:ext cx="402336" cy="402336"/>
          </a:xfrm>
          <a:prstGeom prst="ellipse">
            <a:avLst/>
          </a:prstGeom>
          <a:solidFill>
            <a:srgbClr val="0E8A8F"/>
          </a:solidFill>
          <a:ln/>
        </p:spPr>
        <p:txBody>
          <a:bodyPr/>
          <a:lstStyle/>
          <a:p>
            <a:endParaRPr lang="en-US"/>
          </a:p>
        </p:txBody>
      </p:sp>
      <p:sp>
        <p:nvSpPr>
          <p:cNvPr id="20" name="Text 18"/>
          <p:cNvSpPr/>
          <p:nvPr/>
        </p:nvSpPr>
        <p:spPr>
          <a:xfrm>
            <a:off x="5522976" y="19933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5522976" y="2542032"/>
            <a:ext cx="1719072" cy="292608"/>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Split</a:t>
            </a:r>
            <a:endParaRPr lang="en-US" sz="1700" dirty="0"/>
          </a:p>
        </p:txBody>
      </p:sp>
      <p:sp>
        <p:nvSpPr>
          <p:cNvPr id="22" name="Text 20"/>
          <p:cNvSpPr/>
          <p:nvPr/>
        </p:nvSpPr>
        <p:spPr>
          <a:xfrm>
            <a:off x="5522976" y="2852928"/>
            <a:ext cx="1719072" cy="256032"/>
          </a:xfrm>
          <a:prstGeom prst="rect">
            <a:avLst/>
          </a:prstGeom>
          <a:noFill/>
          <a:ln/>
        </p:spPr>
        <p:txBody>
          <a:bodyPr wrap="square" lIns="0" tIns="0" rIns="0" bIns="0" rtlCol="0" anchor="ctr"/>
          <a:lstStyle/>
          <a:p>
            <a:pPr marL="0" indent="0">
              <a:buNone/>
            </a:pPr>
            <a:r>
              <a:rPr lang="en-US" sz="1000" dirty="0">
                <a:solidFill>
                  <a:srgbClr val="0E8A8F"/>
                </a:solidFill>
                <a:latin typeface="Courier New" pitchFamily="34" charset="0"/>
                <a:ea typeface="Courier New" pitchFamily="34" charset="-122"/>
                <a:cs typeface="Courier New" pitchFamily="34" charset="-120"/>
              </a:rPr>
              <a:t>3_make_split.py</a:t>
            </a:r>
            <a:endParaRPr lang="en-US" sz="1000" dirty="0"/>
          </a:p>
        </p:txBody>
      </p:sp>
      <p:sp>
        <p:nvSpPr>
          <p:cNvPr id="23" name="Text 21"/>
          <p:cNvSpPr/>
          <p:nvPr/>
        </p:nvSpPr>
        <p:spPr>
          <a:xfrm>
            <a:off x="5522976" y="3200400"/>
            <a:ext cx="1719072" cy="1188720"/>
          </a:xfrm>
          <a:prstGeom prst="rect">
            <a:avLst/>
          </a:prstGeom>
          <a:noFill/>
          <a:ln/>
        </p:spPr>
        <p:txBody>
          <a:bodyPr wrap="square" lIns="0" tIns="0" rIns="0" bIns="0" rtlCol="0" anchor="t"/>
          <a:lstStyle/>
          <a:p>
            <a:pPr marL="0" indent="0">
              <a:buNone/>
            </a:pPr>
            <a:r>
              <a:rPr lang="en-US" sz="1250" dirty="0">
                <a:solidFill>
                  <a:srgbClr val="62707F"/>
                </a:solidFill>
                <a:latin typeface="Calibri" pitchFamily="34" charset="0"/>
                <a:ea typeface="Calibri" pitchFamily="34" charset="-122"/>
                <a:cs typeface="Calibri" pitchFamily="34" charset="-120"/>
              </a:rPr>
              <a:t>Seeded split by speaker.</a:t>
            </a:r>
            <a:endParaRPr lang="en-US" sz="1250" dirty="0"/>
          </a:p>
        </p:txBody>
      </p:sp>
      <p:sp>
        <p:nvSpPr>
          <p:cNvPr id="24" name="Shape 22"/>
          <p:cNvSpPr/>
          <p:nvPr/>
        </p:nvSpPr>
        <p:spPr>
          <a:xfrm>
            <a:off x="7470648" y="3063240"/>
            <a:ext cx="164592" cy="201168"/>
          </a:xfrm>
          <a:prstGeom prst="rightArrow">
            <a:avLst/>
          </a:prstGeom>
          <a:solidFill>
            <a:srgbClr val="C9D9E8"/>
          </a:solidFill>
          <a:ln/>
        </p:spPr>
        <p:txBody>
          <a:bodyPr/>
          <a:lstStyle/>
          <a:p>
            <a:endParaRPr lang="en-US"/>
          </a:p>
        </p:txBody>
      </p:sp>
      <p:sp>
        <p:nvSpPr>
          <p:cNvPr id="25" name="Shape 23"/>
          <p:cNvSpPr/>
          <p:nvPr/>
        </p:nvSpPr>
        <p:spPr>
          <a:xfrm>
            <a:off x="7662672" y="1783080"/>
            <a:ext cx="2121408" cy="2788920"/>
          </a:xfrm>
          <a:prstGeom prst="roundRect">
            <a:avLst>
              <a:gd name="adj" fmla="val 3879"/>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26" name="Shape 24"/>
          <p:cNvSpPr/>
          <p:nvPr/>
        </p:nvSpPr>
        <p:spPr>
          <a:xfrm>
            <a:off x="7863840" y="1993392"/>
            <a:ext cx="402336" cy="402336"/>
          </a:xfrm>
          <a:prstGeom prst="ellipse">
            <a:avLst/>
          </a:prstGeom>
          <a:solidFill>
            <a:srgbClr val="0E8A8F"/>
          </a:solidFill>
          <a:ln/>
        </p:spPr>
        <p:txBody>
          <a:bodyPr/>
          <a:lstStyle/>
          <a:p>
            <a:endParaRPr lang="en-US"/>
          </a:p>
        </p:txBody>
      </p:sp>
      <p:sp>
        <p:nvSpPr>
          <p:cNvPr id="27" name="Text 25"/>
          <p:cNvSpPr/>
          <p:nvPr/>
        </p:nvSpPr>
        <p:spPr>
          <a:xfrm>
            <a:off x="7863840" y="19933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p:nvPr/>
        </p:nvSpPr>
        <p:spPr>
          <a:xfrm>
            <a:off x="7863840" y="2542032"/>
            <a:ext cx="1719072" cy="292608"/>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Train</a:t>
            </a:r>
            <a:endParaRPr lang="en-US" sz="1700" dirty="0"/>
          </a:p>
        </p:txBody>
      </p:sp>
      <p:sp>
        <p:nvSpPr>
          <p:cNvPr id="29" name="Text 27"/>
          <p:cNvSpPr/>
          <p:nvPr/>
        </p:nvSpPr>
        <p:spPr>
          <a:xfrm>
            <a:off x="7863840" y="2852928"/>
            <a:ext cx="1719072" cy="256032"/>
          </a:xfrm>
          <a:prstGeom prst="rect">
            <a:avLst/>
          </a:prstGeom>
          <a:noFill/>
          <a:ln/>
        </p:spPr>
        <p:txBody>
          <a:bodyPr wrap="square" lIns="0" tIns="0" rIns="0" bIns="0" rtlCol="0" anchor="ctr"/>
          <a:lstStyle/>
          <a:p>
            <a:pPr marL="0" indent="0">
              <a:buNone/>
            </a:pPr>
            <a:r>
              <a:rPr lang="en-US" sz="1000" dirty="0">
                <a:solidFill>
                  <a:srgbClr val="0E8A8F"/>
                </a:solidFill>
                <a:latin typeface="Courier New" pitchFamily="34" charset="0"/>
                <a:ea typeface="Courier New" pitchFamily="34" charset="-122"/>
                <a:cs typeface="Courier New" pitchFamily="34" charset="-120"/>
              </a:rPr>
              <a:t>4_train.py</a:t>
            </a:r>
            <a:endParaRPr lang="en-US" sz="1000" dirty="0"/>
          </a:p>
        </p:txBody>
      </p:sp>
      <p:sp>
        <p:nvSpPr>
          <p:cNvPr id="30" name="Text 28"/>
          <p:cNvSpPr/>
          <p:nvPr/>
        </p:nvSpPr>
        <p:spPr>
          <a:xfrm>
            <a:off x="7863840" y="3200400"/>
            <a:ext cx="1719072" cy="1188720"/>
          </a:xfrm>
          <a:prstGeom prst="rect">
            <a:avLst/>
          </a:prstGeom>
          <a:noFill/>
          <a:ln/>
        </p:spPr>
        <p:txBody>
          <a:bodyPr wrap="square" lIns="0" tIns="0" rIns="0" bIns="0" rtlCol="0" anchor="t"/>
          <a:lstStyle/>
          <a:p>
            <a:pPr marL="0" indent="0">
              <a:buNone/>
            </a:pPr>
            <a:r>
              <a:rPr lang="en-US" sz="1250" dirty="0">
                <a:solidFill>
                  <a:srgbClr val="62707F"/>
                </a:solidFill>
                <a:latin typeface="Calibri" pitchFamily="34" charset="0"/>
                <a:ea typeface="Calibri" pitchFamily="34" charset="-122"/>
                <a:cs typeface="Calibri" pitchFamily="34" charset="-120"/>
              </a:rPr>
              <a:t>BiLSTM and masked MSE.</a:t>
            </a:r>
            <a:endParaRPr lang="en-US" sz="1250" dirty="0"/>
          </a:p>
        </p:txBody>
      </p:sp>
      <p:sp>
        <p:nvSpPr>
          <p:cNvPr id="31" name="Shape 29"/>
          <p:cNvSpPr/>
          <p:nvPr/>
        </p:nvSpPr>
        <p:spPr>
          <a:xfrm>
            <a:off x="9811512" y="3063240"/>
            <a:ext cx="164592" cy="201168"/>
          </a:xfrm>
          <a:prstGeom prst="rightArrow">
            <a:avLst/>
          </a:prstGeom>
          <a:solidFill>
            <a:srgbClr val="C9D9E8"/>
          </a:solidFill>
          <a:ln/>
        </p:spPr>
        <p:txBody>
          <a:bodyPr/>
          <a:lstStyle/>
          <a:p>
            <a:endParaRPr lang="en-US"/>
          </a:p>
        </p:txBody>
      </p:sp>
      <p:sp>
        <p:nvSpPr>
          <p:cNvPr id="32" name="Shape 30"/>
          <p:cNvSpPr/>
          <p:nvPr/>
        </p:nvSpPr>
        <p:spPr>
          <a:xfrm>
            <a:off x="10003536" y="1783080"/>
            <a:ext cx="2121408" cy="2788920"/>
          </a:xfrm>
          <a:prstGeom prst="roundRect">
            <a:avLst>
              <a:gd name="adj" fmla="val 3879"/>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33" name="Shape 31"/>
          <p:cNvSpPr/>
          <p:nvPr/>
        </p:nvSpPr>
        <p:spPr>
          <a:xfrm>
            <a:off x="10204704" y="1993392"/>
            <a:ext cx="402336" cy="402336"/>
          </a:xfrm>
          <a:prstGeom prst="ellipse">
            <a:avLst/>
          </a:prstGeom>
          <a:solidFill>
            <a:srgbClr val="0E8A8F"/>
          </a:solidFill>
          <a:ln/>
        </p:spPr>
        <p:txBody>
          <a:bodyPr/>
          <a:lstStyle/>
          <a:p>
            <a:endParaRPr lang="en-US"/>
          </a:p>
        </p:txBody>
      </p:sp>
      <p:sp>
        <p:nvSpPr>
          <p:cNvPr id="34" name="Text 32"/>
          <p:cNvSpPr/>
          <p:nvPr/>
        </p:nvSpPr>
        <p:spPr>
          <a:xfrm>
            <a:off x="10204704" y="199339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5" name="Text 33"/>
          <p:cNvSpPr/>
          <p:nvPr/>
        </p:nvSpPr>
        <p:spPr>
          <a:xfrm>
            <a:off x="10204704" y="2542032"/>
            <a:ext cx="1719072" cy="292608"/>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Infer</a:t>
            </a:r>
            <a:endParaRPr lang="en-US" sz="1700" dirty="0"/>
          </a:p>
        </p:txBody>
      </p:sp>
      <p:sp>
        <p:nvSpPr>
          <p:cNvPr id="36" name="Text 34"/>
          <p:cNvSpPr/>
          <p:nvPr/>
        </p:nvSpPr>
        <p:spPr>
          <a:xfrm>
            <a:off x="10204704" y="2852928"/>
            <a:ext cx="1719072" cy="256032"/>
          </a:xfrm>
          <a:prstGeom prst="rect">
            <a:avLst/>
          </a:prstGeom>
          <a:noFill/>
          <a:ln/>
        </p:spPr>
        <p:txBody>
          <a:bodyPr wrap="square" lIns="0" tIns="0" rIns="0" bIns="0" rtlCol="0" anchor="ctr"/>
          <a:lstStyle/>
          <a:p>
            <a:pPr marL="0" indent="0">
              <a:buNone/>
            </a:pPr>
            <a:r>
              <a:rPr lang="en-US" sz="1000" dirty="0">
                <a:solidFill>
                  <a:srgbClr val="0E8A8F"/>
                </a:solidFill>
                <a:latin typeface="Courier New" pitchFamily="34" charset="0"/>
                <a:ea typeface="Courier New" pitchFamily="34" charset="-122"/>
                <a:cs typeface="Courier New" pitchFamily="34" charset="-120"/>
              </a:rPr>
              <a:t>5_infer.py</a:t>
            </a:r>
            <a:endParaRPr lang="en-US" sz="1000" dirty="0"/>
          </a:p>
        </p:txBody>
      </p:sp>
      <p:sp>
        <p:nvSpPr>
          <p:cNvPr id="37" name="Text 35"/>
          <p:cNvSpPr/>
          <p:nvPr/>
        </p:nvSpPr>
        <p:spPr>
          <a:xfrm>
            <a:off x="10204704" y="3200400"/>
            <a:ext cx="1719072" cy="1188720"/>
          </a:xfrm>
          <a:prstGeom prst="rect">
            <a:avLst/>
          </a:prstGeom>
          <a:noFill/>
          <a:ln/>
        </p:spPr>
        <p:txBody>
          <a:bodyPr wrap="square" lIns="0" tIns="0" rIns="0" bIns="0" rtlCol="0" anchor="t"/>
          <a:lstStyle/>
          <a:p>
            <a:pPr marL="0" indent="0">
              <a:buNone/>
            </a:pPr>
            <a:r>
              <a:rPr lang="en-US" sz="1250" dirty="0">
                <a:solidFill>
                  <a:srgbClr val="62707F"/>
                </a:solidFill>
                <a:latin typeface="Calibri" pitchFamily="34" charset="0"/>
                <a:ea typeface="Calibri" pitchFamily="34" charset="-122"/>
                <a:cs typeface="Calibri" pitchFamily="34" charset="-120"/>
              </a:rPr>
              <a:t>Mask, iSTFT, clean WAV.</a:t>
            </a:r>
            <a:endParaRPr lang="en-US" sz="1250" dirty="0"/>
          </a:p>
        </p:txBody>
      </p:sp>
      <p:sp>
        <p:nvSpPr>
          <p:cNvPr id="38" name="Shape 36"/>
          <p:cNvSpPr/>
          <p:nvPr/>
        </p:nvSpPr>
        <p:spPr>
          <a:xfrm>
            <a:off x="640080" y="4846320"/>
            <a:ext cx="10899648" cy="868680"/>
          </a:xfrm>
          <a:prstGeom prst="roundRect">
            <a:avLst>
              <a:gd name="adj" fmla="val 9474"/>
            </a:avLst>
          </a:prstGeom>
          <a:solidFill>
            <a:srgbClr val="E3F2F2"/>
          </a:solidFill>
          <a:ln/>
        </p:spPr>
        <p:txBody>
          <a:bodyPr/>
          <a:lstStyle/>
          <a:p>
            <a:endParaRPr lang="en-US"/>
          </a:p>
        </p:txBody>
      </p:sp>
      <p:sp>
        <p:nvSpPr>
          <p:cNvPr id="39" name="Text 37"/>
          <p:cNvSpPr/>
          <p:nvPr/>
        </p:nvSpPr>
        <p:spPr>
          <a:xfrm>
            <a:off x="914400" y="4846320"/>
            <a:ext cx="10332720" cy="868680"/>
          </a:xfrm>
          <a:prstGeom prst="rect">
            <a:avLst/>
          </a:prstGeom>
          <a:noFill/>
          <a:ln/>
        </p:spPr>
        <p:txBody>
          <a:bodyPr wrap="square" lIns="0" tIns="0" rIns="0" bIns="0" rtlCol="0" anchor="ctr"/>
          <a:lstStyle/>
          <a:p>
            <a:pPr marL="0" indent="0">
              <a:buNone/>
            </a:pPr>
            <a:r>
              <a:rPr lang="en-US" sz="1350">
                <a:solidFill>
                  <a:srgbClr val="12233A"/>
                </a:solidFill>
                <a:latin typeface="Calibri" pitchFamily="34" charset="0"/>
                <a:ea typeface="Calibri" pitchFamily="34" charset="-122"/>
                <a:cs typeface="Calibri" pitchFamily="34" charset="-120"/>
              </a:rPr>
              <a:t>Config files were made for each script, making changes easy, since I would be tuning the training loop a lot to get better results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STAGE 3 — DATA SPLIT</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Split by speaker, not by file</a:t>
            </a:r>
            <a:endParaRPr lang="en-US" sz="3000" dirty="0"/>
          </a:p>
        </p:txBody>
      </p:sp>
      <p:sp>
        <p:nvSpPr>
          <p:cNvPr id="4" name="Shape 2"/>
          <p:cNvSpPr/>
          <p:nvPr/>
        </p:nvSpPr>
        <p:spPr>
          <a:xfrm>
            <a:off x="640080" y="1691640"/>
            <a:ext cx="6720840" cy="2788920"/>
          </a:xfrm>
          <a:prstGeom prst="roundRect">
            <a:avLst>
              <a:gd name="adj" fmla="val 2951"/>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5" name="Text 3"/>
          <p:cNvSpPr/>
          <p:nvPr/>
        </p:nvSpPr>
        <p:spPr>
          <a:xfrm>
            <a:off x="914400" y="1874520"/>
            <a:ext cx="6217920" cy="292608"/>
          </a:xfrm>
          <a:prstGeom prst="rect">
            <a:avLst/>
          </a:prstGeom>
          <a:noFill/>
          <a:ln/>
        </p:spPr>
        <p:txBody>
          <a:bodyPr wrap="square" lIns="0" tIns="0" rIns="0" bIns="0" rtlCol="0" anchor="ctr"/>
          <a:lstStyle/>
          <a:p>
            <a:pPr marL="0" indent="0">
              <a:buNone/>
            </a:pPr>
            <a:r>
              <a:rPr lang="en-US" sz="1300" b="1" dirty="0">
                <a:solidFill>
                  <a:srgbClr val="12233A"/>
                </a:solidFill>
                <a:latin typeface="Calibri" pitchFamily="34" charset="0"/>
                <a:ea typeface="Calibri" pitchFamily="34" charset="-122"/>
                <a:cs typeface="Calibri" pitchFamily="34" charset="-120"/>
              </a:rPr>
              <a:t>28 speakers, split before training</a:t>
            </a:r>
            <a:endParaRPr lang="en-US" sz="1300" dirty="0"/>
          </a:p>
        </p:txBody>
      </p:sp>
      <p:sp>
        <p:nvSpPr>
          <p:cNvPr id="6" name="Shape 4"/>
          <p:cNvSpPr/>
          <p:nvPr/>
        </p:nvSpPr>
        <p:spPr>
          <a:xfrm>
            <a:off x="914400" y="2331720"/>
            <a:ext cx="329184" cy="329184"/>
          </a:xfrm>
          <a:prstGeom prst="ellipse">
            <a:avLst/>
          </a:prstGeom>
          <a:solidFill>
            <a:srgbClr val="0E8A8F"/>
          </a:solidFill>
          <a:ln/>
        </p:spPr>
        <p:txBody>
          <a:bodyPr/>
          <a:lstStyle/>
          <a:p>
            <a:endParaRPr lang="en-US"/>
          </a:p>
        </p:txBody>
      </p:sp>
      <p:sp>
        <p:nvSpPr>
          <p:cNvPr id="7" name="Shape 5"/>
          <p:cNvSpPr/>
          <p:nvPr/>
        </p:nvSpPr>
        <p:spPr>
          <a:xfrm>
            <a:off x="1344168" y="2331720"/>
            <a:ext cx="329184" cy="329184"/>
          </a:xfrm>
          <a:prstGeom prst="ellipse">
            <a:avLst/>
          </a:prstGeom>
          <a:solidFill>
            <a:srgbClr val="0E8A8F"/>
          </a:solidFill>
          <a:ln/>
        </p:spPr>
        <p:txBody>
          <a:bodyPr/>
          <a:lstStyle/>
          <a:p>
            <a:endParaRPr lang="en-US"/>
          </a:p>
        </p:txBody>
      </p:sp>
      <p:sp>
        <p:nvSpPr>
          <p:cNvPr id="8" name="Shape 6"/>
          <p:cNvSpPr/>
          <p:nvPr/>
        </p:nvSpPr>
        <p:spPr>
          <a:xfrm>
            <a:off x="1773936" y="2331720"/>
            <a:ext cx="329184" cy="329184"/>
          </a:xfrm>
          <a:prstGeom prst="ellipse">
            <a:avLst/>
          </a:prstGeom>
          <a:solidFill>
            <a:srgbClr val="0E8A8F"/>
          </a:solidFill>
          <a:ln/>
        </p:spPr>
        <p:txBody>
          <a:bodyPr/>
          <a:lstStyle/>
          <a:p>
            <a:endParaRPr lang="en-US"/>
          </a:p>
        </p:txBody>
      </p:sp>
      <p:sp>
        <p:nvSpPr>
          <p:cNvPr id="9" name="Shape 7"/>
          <p:cNvSpPr/>
          <p:nvPr/>
        </p:nvSpPr>
        <p:spPr>
          <a:xfrm>
            <a:off x="2203704" y="2331720"/>
            <a:ext cx="329184" cy="329184"/>
          </a:xfrm>
          <a:prstGeom prst="ellipse">
            <a:avLst/>
          </a:prstGeom>
          <a:solidFill>
            <a:srgbClr val="0E8A8F"/>
          </a:solidFill>
          <a:ln/>
        </p:spPr>
        <p:txBody>
          <a:bodyPr/>
          <a:lstStyle/>
          <a:p>
            <a:endParaRPr lang="en-US"/>
          </a:p>
        </p:txBody>
      </p:sp>
      <p:sp>
        <p:nvSpPr>
          <p:cNvPr id="10" name="Shape 8"/>
          <p:cNvSpPr/>
          <p:nvPr/>
        </p:nvSpPr>
        <p:spPr>
          <a:xfrm>
            <a:off x="2633472" y="2331720"/>
            <a:ext cx="329184" cy="329184"/>
          </a:xfrm>
          <a:prstGeom prst="ellipse">
            <a:avLst/>
          </a:prstGeom>
          <a:solidFill>
            <a:srgbClr val="0E8A8F"/>
          </a:solidFill>
          <a:ln/>
        </p:spPr>
        <p:txBody>
          <a:bodyPr/>
          <a:lstStyle/>
          <a:p>
            <a:endParaRPr lang="en-US"/>
          </a:p>
        </p:txBody>
      </p:sp>
      <p:sp>
        <p:nvSpPr>
          <p:cNvPr id="11" name="Shape 9"/>
          <p:cNvSpPr/>
          <p:nvPr/>
        </p:nvSpPr>
        <p:spPr>
          <a:xfrm>
            <a:off x="3063240" y="2331720"/>
            <a:ext cx="329184" cy="329184"/>
          </a:xfrm>
          <a:prstGeom prst="ellipse">
            <a:avLst/>
          </a:prstGeom>
          <a:solidFill>
            <a:srgbClr val="0E8A8F"/>
          </a:solidFill>
          <a:ln/>
        </p:spPr>
        <p:txBody>
          <a:bodyPr/>
          <a:lstStyle/>
          <a:p>
            <a:endParaRPr lang="en-US"/>
          </a:p>
        </p:txBody>
      </p:sp>
      <p:sp>
        <p:nvSpPr>
          <p:cNvPr id="12" name="Shape 10"/>
          <p:cNvSpPr/>
          <p:nvPr/>
        </p:nvSpPr>
        <p:spPr>
          <a:xfrm>
            <a:off x="3493008" y="2331720"/>
            <a:ext cx="329184" cy="329184"/>
          </a:xfrm>
          <a:prstGeom prst="ellipse">
            <a:avLst/>
          </a:prstGeom>
          <a:solidFill>
            <a:srgbClr val="0E8A8F"/>
          </a:solidFill>
          <a:ln/>
        </p:spPr>
        <p:txBody>
          <a:bodyPr/>
          <a:lstStyle/>
          <a:p>
            <a:endParaRPr lang="en-US"/>
          </a:p>
        </p:txBody>
      </p:sp>
      <p:sp>
        <p:nvSpPr>
          <p:cNvPr id="13" name="Shape 11"/>
          <p:cNvSpPr/>
          <p:nvPr/>
        </p:nvSpPr>
        <p:spPr>
          <a:xfrm>
            <a:off x="3922776" y="2331720"/>
            <a:ext cx="329184" cy="329184"/>
          </a:xfrm>
          <a:prstGeom prst="ellipse">
            <a:avLst/>
          </a:prstGeom>
          <a:solidFill>
            <a:srgbClr val="0E8A8F"/>
          </a:solidFill>
          <a:ln/>
        </p:spPr>
        <p:txBody>
          <a:bodyPr/>
          <a:lstStyle/>
          <a:p>
            <a:endParaRPr lang="en-US"/>
          </a:p>
        </p:txBody>
      </p:sp>
      <p:sp>
        <p:nvSpPr>
          <p:cNvPr id="14" name="Shape 12"/>
          <p:cNvSpPr/>
          <p:nvPr/>
        </p:nvSpPr>
        <p:spPr>
          <a:xfrm>
            <a:off x="4352544" y="2331720"/>
            <a:ext cx="329184" cy="329184"/>
          </a:xfrm>
          <a:prstGeom prst="ellipse">
            <a:avLst/>
          </a:prstGeom>
          <a:solidFill>
            <a:srgbClr val="0E8A8F"/>
          </a:solidFill>
          <a:ln/>
        </p:spPr>
        <p:txBody>
          <a:bodyPr/>
          <a:lstStyle/>
          <a:p>
            <a:endParaRPr lang="en-US"/>
          </a:p>
        </p:txBody>
      </p:sp>
      <p:sp>
        <p:nvSpPr>
          <p:cNvPr id="15" name="Shape 13"/>
          <p:cNvSpPr/>
          <p:nvPr/>
        </p:nvSpPr>
        <p:spPr>
          <a:xfrm>
            <a:off x="4782312" y="2331720"/>
            <a:ext cx="329184" cy="329184"/>
          </a:xfrm>
          <a:prstGeom prst="ellipse">
            <a:avLst/>
          </a:prstGeom>
          <a:solidFill>
            <a:srgbClr val="0E8A8F"/>
          </a:solidFill>
          <a:ln/>
        </p:spPr>
        <p:txBody>
          <a:bodyPr/>
          <a:lstStyle/>
          <a:p>
            <a:endParaRPr lang="en-US"/>
          </a:p>
        </p:txBody>
      </p:sp>
      <p:sp>
        <p:nvSpPr>
          <p:cNvPr id="16" name="Shape 14"/>
          <p:cNvSpPr/>
          <p:nvPr/>
        </p:nvSpPr>
        <p:spPr>
          <a:xfrm>
            <a:off x="5212080" y="2331720"/>
            <a:ext cx="329184" cy="329184"/>
          </a:xfrm>
          <a:prstGeom prst="ellipse">
            <a:avLst/>
          </a:prstGeom>
          <a:solidFill>
            <a:srgbClr val="0E8A8F"/>
          </a:solidFill>
          <a:ln/>
        </p:spPr>
        <p:txBody>
          <a:bodyPr/>
          <a:lstStyle/>
          <a:p>
            <a:endParaRPr lang="en-US"/>
          </a:p>
        </p:txBody>
      </p:sp>
      <p:sp>
        <p:nvSpPr>
          <p:cNvPr id="17" name="Shape 15"/>
          <p:cNvSpPr/>
          <p:nvPr/>
        </p:nvSpPr>
        <p:spPr>
          <a:xfrm>
            <a:off x="5641848" y="2331720"/>
            <a:ext cx="329184" cy="329184"/>
          </a:xfrm>
          <a:prstGeom prst="ellipse">
            <a:avLst/>
          </a:prstGeom>
          <a:solidFill>
            <a:srgbClr val="0E8A8F"/>
          </a:solidFill>
          <a:ln/>
        </p:spPr>
        <p:txBody>
          <a:bodyPr/>
          <a:lstStyle/>
          <a:p>
            <a:endParaRPr lang="en-US"/>
          </a:p>
        </p:txBody>
      </p:sp>
      <p:sp>
        <p:nvSpPr>
          <p:cNvPr id="18" name="Shape 16"/>
          <p:cNvSpPr/>
          <p:nvPr/>
        </p:nvSpPr>
        <p:spPr>
          <a:xfrm>
            <a:off x="6071616" y="2331720"/>
            <a:ext cx="329184" cy="329184"/>
          </a:xfrm>
          <a:prstGeom prst="ellipse">
            <a:avLst/>
          </a:prstGeom>
          <a:solidFill>
            <a:srgbClr val="0E8A8F"/>
          </a:solidFill>
          <a:ln/>
        </p:spPr>
        <p:txBody>
          <a:bodyPr/>
          <a:lstStyle/>
          <a:p>
            <a:endParaRPr lang="en-US"/>
          </a:p>
        </p:txBody>
      </p:sp>
      <p:sp>
        <p:nvSpPr>
          <p:cNvPr id="19" name="Shape 17"/>
          <p:cNvSpPr/>
          <p:nvPr/>
        </p:nvSpPr>
        <p:spPr>
          <a:xfrm>
            <a:off x="6501384" y="2331720"/>
            <a:ext cx="329184" cy="329184"/>
          </a:xfrm>
          <a:prstGeom prst="ellipse">
            <a:avLst/>
          </a:prstGeom>
          <a:solidFill>
            <a:srgbClr val="0E8A8F"/>
          </a:solidFill>
          <a:ln/>
        </p:spPr>
        <p:txBody>
          <a:bodyPr/>
          <a:lstStyle/>
          <a:p>
            <a:endParaRPr lang="en-US"/>
          </a:p>
        </p:txBody>
      </p:sp>
      <p:sp>
        <p:nvSpPr>
          <p:cNvPr id="20" name="Shape 18"/>
          <p:cNvSpPr/>
          <p:nvPr/>
        </p:nvSpPr>
        <p:spPr>
          <a:xfrm>
            <a:off x="914400" y="2834640"/>
            <a:ext cx="329184" cy="329184"/>
          </a:xfrm>
          <a:prstGeom prst="ellipse">
            <a:avLst/>
          </a:prstGeom>
          <a:solidFill>
            <a:srgbClr val="0E8A8F"/>
          </a:solidFill>
          <a:ln/>
        </p:spPr>
        <p:txBody>
          <a:bodyPr/>
          <a:lstStyle/>
          <a:p>
            <a:endParaRPr lang="en-US"/>
          </a:p>
        </p:txBody>
      </p:sp>
      <p:sp>
        <p:nvSpPr>
          <p:cNvPr id="21" name="Shape 19"/>
          <p:cNvSpPr/>
          <p:nvPr/>
        </p:nvSpPr>
        <p:spPr>
          <a:xfrm>
            <a:off x="1344168" y="2834640"/>
            <a:ext cx="329184" cy="329184"/>
          </a:xfrm>
          <a:prstGeom prst="ellipse">
            <a:avLst/>
          </a:prstGeom>
          <a:solidFill>
            <a:srgbClr val="0E8A8F"/>
          </a:solidFill>
          <a:ln/>
        </p:spPr>
        <p:txBody>
          <a:bodyPr/>
          <a:lstStyle/>
          <a:p>
            <a:endParaRPr lang="en-US"/>
          </a:p>
        </p:txBody>
      </p:sp>
      <p:sp>
        <p:nvSpPr>
          <p:cNvPr id="22" name="Shape 20"/>
          <p:cNvSpPr/>
          <p:nvPr/>
        </p:nvSpPr>
        <p:spPr>
          <a:xfrm>
            <a:off x="1773936" y="2834640"/>
            <a:ext cx="329184" cy="329184"/>
          </a:xfrm>
          <a:prstGeom prst="ellipse">
            <a:avLst/>
          </a:prstGeom>
          <a:solidFill>
            <a:srgbClr val="0E8A8F"/>
          </a:solidFill>
          <a:ln/>
        </p:spPr>
        <p:txBody>
          <a:bodyPr/>
          <a:lstStyle/>
          <a:p>
            <a:endParaRPr lang="en-US"/>
          </a:p>
        </p:txBody>
      </p:sp>
      <p:sp>
        <p:nvSpPr>
          <p:cNvPr id="23" name="Shape 21"/>
          <p:cNvSpPr/>
          <p:nvPr/>
        </p:nvSpPr>
        <p:spPr>
          <a:xfrm>
            <a:off x="2203704" y="2834640"/>
            <a:ext cx="329184" cy="329184"/>
          </a:xfrm>
          <a:prstGeom prst="ellipse">
            <a:avLst/>
          </a:prstGeom>
          <a:solidFill>
            <a:srgbClr val="0E8A8F"/>
          </a:solidFill>
          <a:ln/>
        </p:spPr>
        <p:txBody>
          <a:bodyPr/>
          <a:lstStyle/>
          <a:p>
            <a:endParaRPr lang="en-US"/>
          </a:p>
        </p:txBody>
      </p:sp>
      <p:sp>
        <p:nvSpPr>
          <p:cNvPr id="24" name="Shape 22"/>
          <p:cNvSpPr/>
          <p:nvPr/>
        </p:nvSpPr>
        <p:spPr>
          <a:xfrm>
            <a:off x="2633472" y="2834640"/>
            <a:ext cx="329184" cy="329184"/>
          </a:xfrm>
          <a:prstGeom prst="ellipse">
            <a:avLst/>
          </a:prstGeom>
          <a:solidFill>
            <a:srgbClr val="0E8A8F"/>
          </a:solidFill>
          <a:ln/>
        </p:spPr>
        <p:txBody>
          <a:bodyPr/>
          <a:lstStyle/>
          <a:p>
            <a:endParaRPr lang="en-US"/>
          </a:p>
        </p:txBody>
      </p:sp>
      <p:sp>
        <p:nvSpPr>
          <p:cNvPr id="25" name="Shape 23"/>
          <p:cNvSpPr/>
          <p:nvPr/>
        </p:nvSpPr>
        <p:spPr>
          <a:xfrm>
            <a:off x="3063240" y="2834640"/>
            <a:ext cx="329184" cy="329184"/>
          </a:xfrm>
          <a:prstGeom prst="ellipse">
            <a:avLst/>
          </a:prstGeom>
          <a:solidFill>
            <a:srgbClr val="0E8A8F"/>
          </a:solidFill>
          <a:ln/>
        </p:spPr>
        <p:txBody>
          <a:bodyPr/>
          <a:lstStyle/>
          <a:p>
            <a:endParaRPr lang="en-US"/>
          </a:p>
        </p:txBody>
      </p:sp>
      <p:sp>
        <p:nvSpPr>
          <p:cNvPr id="26" name="Shape 24"/>
          <p:cNvSpPr/>
          <p:nvPr/>
        </p:nvSpPr>
        <p:spPr>
          <a:xfrm>
            <a:off x="3493008" y="2834640"/>
            <a:ext cx="329184" cy="329184"/>
          </a:xfrm>
          <a:prstGeom prst="ellipse">
            <a:avLst/>
          </a:prstGeom>
          <a:solidFill>
            <a:srgbClr val="0E8A8F"/>
          </a:solidFill>
          <a:ln/>
        </p:spPr>
        <p:txBody>
          <a:bodyPr/>
          <a:lstStyle/>
          <a:p>
            <a:endParaRPr lang="en-US"/>
          </a:p>
        </p:txBody>
      </p:sp>
      <p:sp>
        <p:nvSpPr>
          <p:cNvPr id="27" name="Shape 25"/>
          <p:cNvSpPr/>
          <p:nvPr/>
        </p:nvSpPr>
        <p:spPr>
          <a:xfrm>
            <a:off x="3922776" y="2834640"/>
            <a:ext cx="329184" cy="329184"/>
          </a:xfrm>
          <a:prstGeom prst="ellipse">
            <a:avLst/>
          </a:prstGeom>
          <a:solidFill>
            <a:srgbClr val="0E8A8F"/>
          </a:solidFill>
          <a:ln/>
        </p:spPr>
        <p:txBody>
          <a:bodyPr/>
          <a:lstStyle/>
          <a:p>
            <a:endParaRPr lang="en-US"/>
          </a:p>
        </p:txBody>
      </p:sp>
      <p:sp>
        <p:nvSpPr>
          <p:cNvPr id="28" name="Shape 26"/>
          <p:cNvSpPr/>
          <p:nvPr/>
        </p:nvSpPr>
        <p:spPr>
          <a:xfrm>
            <a:off x="4352544" y="2834640"/>
            <a:ext cx="329184" cy="329184"/>
          </a:xfrm>
          <a:prstGeom prst="ellipse">
            <a:avLst/>
          </a:prstGeom>
          <a:solidFill>
            <a:srgbClr val="0E8A8F"/>
          </a:solidFill>
          <a:ln/>
        </p:spPr>
        <p:txBody>
          <a:bodyPr/>
          <a:lstStyle/>
          <a:p>
            <a:endParaRPr lang="en-US"/>
          </a:p>
        </p:txBody>
      </p:sp>
      <p:sp>
        <p:nvSpPr>
          <p:cNvPr id="29" name="Shape 27"/>
          <p:cNvSpPr/>
          <p:nvPr/>
        </p:nvSpPr>
        <p:spPr>
          <a:xfrm>
            <a:off x="4782312" y="2834640"/>
            <a:ext cx="329184" cy="329184"/>
          </a:xfrm>
          <a:prstGeom prst="ellipse">
            <a:avLst/>
          </a:prstGeom>
          <a:solidFill>
            <a:srgbClr val="0E8A8F"/>
          </a:solidFill>
          <a:ln/>
        </p:spPr>
        <p:txBody>
          <a:bodyPr/>
          <a:lstStyle/>
          <a:p>
            <a:endParaRPr lang="en-US"/>
          </a:p>
        </p:txBody>
      </p:sp>
      <p:sp>
        <p:nvSpPr>
          <p:cNvPr id="30" name="Shape 28"/>
          <p:cNvSpPr/>
          <p:nvPr/>
        </p:nvSpPr>
        <p:spPr>
          <a:xfrm>
            <a:off x="5212080" y="2834640"/>
            <a:ext cx="329184" cy="329184"/>
          </a:xfrm>
          <a:prstGeom prst="ellipse">
            <a:avLst/>
          </a:prstGeom>
          <a:solidFill>
            <a:srgbClr val="E08A3C"/>
          </a:solidFill>
          <a:ln/>
        </p:spPr>
        <p:txBody>
          <a:bodyPr/>
          <a:lstStyle/>
          <a:p>
            <a:endParaRPr lang="en-US"/>
          </a:p>
        </p:txBody>
      </p:sp>
      <p:sp>
        <p:nvSpPr>
          <p:cNvPr id="31" name="Shape 29"/>
          <p:cNvSpPr/>
          <p:nvPr/>
        </p:nvSpPr>
        <p:spPr>
          <a:xfrm>
            <a:off x="5641848" y="2834640"/>
            <a:ext cx="329184" cy="329184"/>
          </a:xfrm>
          <a:prstGeom prst="ellipse">
            <a:avLst/>
          </a:prstGeom>
          <a:solidFill>
            <a:srgbClr val="E08A3C"/>
          </a:solidFill>
          <a:ln/>
        </p:spPr>
        <p:txBody>
          <a:bodyPr/>
          <a:lstStyle/>
          <a:p>
            <a:endParaRPr lang="en-US"/>
          </a:p>
        </p:txBody>
      </p:sp>
      <p:sp>
        <p:nvSpPr>
          <p:cNvPr id="32" name="Shape 30"/>
          <p:cNvSpPr/>
          <p:nvPr/>
        </p:nvSpPr>
        <p:spPr>
          <a:xfrm>
            <a:off x="6071616" y="2834640"/>
            <a:ext cx="329184" cy="329184"/>
          </a:xfrm>
          <a:prstGeom prst="ellipse">
            <a:avLst/>
          </a:prstGeom>
          <a:solidFill>
            <a:srgbClr val="E08A3C"/>
          </a:solidFill>
          <a:ln/>
        </p:spPr>
        <p:txBody>
          <a:bodyPr/>
          <a:lstStyle/>
          <a:p>
            <a:endParaRPr lang="en-US"/>
          </a:p>
        </p:txBody>
      </p:sp>
      <p:sp>
        <p:nvSpPr>
          <p:cNvPr id="33" name="Shape 31"/>
          <p:cNvSpPr/>
          <p:nvPr/>
        </p:nvSpPr>
        <p:spPr>
          <a:xfrm>
            <a:off x="6501384" y="2834640"/>
            <a:ext cx="329184" cy="329184"/>
          </a:xfrm>
          <a:prstGeom prst="ellipse">
            <a:avLst/>
          </a:prstGeom>
          <a:solidFill>
            <a:srgbClr val="E08A3C"/>
          </a:solidFill>
          <a:ln/>
        </p:spPr>
        <p:txBody>
          <a:bodyPr/>
          <a:lstStyle/>
          <a:p>
            <a:endParaRPr lang="en-US"/>
          </a:p>
        </p:txBody>
      </p:sp>
      <p:sp>
        <p:nvSpPr>
          <p:cNvPr id="34" name="Shape 32"/>
          <p:cNvSpPr/>
          <p:nvPr/>
        </p:nvSpPr>
        <p:spPr>
          <a:xfrm>
            <a:off x="914400" y="3520440"/>
            <a:ext cx="201168" cy="201168"/>
          </a:xfrm>
          <a:prstGeom prst="ellipse">
            <a:avLst/>
          </a:prstGeom>
          <a:solidFill>
            <a:srgbClr val="0E8A8F"/>
          </a:solidFill>
          <a:ln/>
        </p:spPr>
        <p:txBody>
          <a:bodyPr/>
          <a:lstStyle/>
          <a:p>
            <a:endParaRPr lang="en-US"/>
          </a:p>
        </p:txBody>
      </p:sp>
      <p:sp>
        <p:nvSpPr>
          <p:cNvPr id="35" name="Text 33"/>
          <p:cNvSpPr/>
          <p:nvPr/>
        </p:nvSpPr>
        <p:spPr>
          <a:xfrm>
            <a:off x="1207008" y="3456432"/>
            <a:ext cx="3840480" cy="292608"/>
          </a:xfrm>
          <a:prstGeom prst="rect">
            <a:avLst/>
          </a:prstGeom>
          <a:noFill/>
          <a:ln/>
        </p:spPr>
        <p:txBody>
          <a:bodyPr wrap="square" lIns="0" tIns="0" rIns="0" bIns="0" rtlCol="0" anchor="ctr"/>
          <a:lstStyle/>
          <a:p>
            <a:pPr marL="0" indent="0">
              <a:buNone/>
            </a:pPr>
            <a:r>
              <a:rPr lang="en-US" sz="1200" dirty="0">
                <a:solidFill>
                  <a:srgbClr val="16202C"/>
                </a:solidFill>
                <a:latin typeface="Calibri" pitchFamily="34" charset="0"/>
                <a:ea typeface="Calibri" pitchFamily="34" charset="-122"/>
                <a:cs typeface="Calibri" pitchFamily="34" charset="-120"/>
              </a:rPr>
              <a:t>24 training speakers — 9,964 utterances</a:t>
            </a:r>
            <a:endParaRPr lang="en-US" sz="1200" dirty="0"/>
          </a:p>
        </p:txBody>
      </p:sp>
      <p:sp>
        <p:nvSpPr>
          <p:cNvPr id="36" name="Shape 34"/>
          <p:cNvSpPr/>
          <p:nvPr/>
        </p:nvSpPr>
        <p:spPr>
          <a:xfrm>
            <a:off x="914400" y="3886200"/>
            <a:ext cx="201168" cy="201168"/>
          </a:xfrm>
          <a:prstGeom prst="ellipse">
            <a:avLst/>
          </a:prstGeom>
          <a:solidFill>
            <a:srgbClr val="E08A3C"/>
          </a:solidFill>
          <a:ln/>
        </p:spPr>
        <p:txBody>
          <a:bodyPr/>
          <a:lstStyle/>
          <a:p>
            <a:endParaRPr lang="en-US"/>
          </a:p>
        </p:txBody>
      </p:sp>
      <p:sp>
        <p:nvSpPr>
          <p:cNvPr id="37" name="Text 35"/>
          <p:cNvSpPr/>
          <p:nvPr/>
        </p:nvSpPr>
        <p:spPr>
          <a:xfrm>
            <a:off x="1207008" y="3822192"/>
            <a:ext cx="5852160" cy="292608"/>
          </a:xfrm>
          <a:prstGeom prst="rect">
            <a:avLst/>
          </a:prstGeom>
          <a:noFill/>
          <a:ln/>
        </p:spPr>
        <p:txBody>
          <a:bodyPr wrap="square" lIns="0" tIns="0" rIns="0" bIns="0" rtlCol="0" anchor="ctr"/>
          <a:lstStyle/>
          <a:p>
            <a:pPr marL="0" indent="0">
              <a:buNone/>
            </a:pPr>
            <a:r>
              <a:rPr lang="en-US" sz="1200" dirty="0">
                <a:solidFill>
                  <a:srgbClr val="16202C"/>
                </a:solidFill>
                <a:latin typeface="Calibri" pitchFamily="34" charset="0"/>
                <a:ea typeface="Calibri" pitchFamily="34" charset="-122"/>
                <a:cs typeface="Calibri" pitchFamily="34" charset="-120"/>
              </a:rPr>
              <a:t>4 validation speakers — 1,608 utterances</a:t>
            </a:r>
            <a:endParaRPr lang="en-US" sz="1200" dirty="0"/>
          </a:p>
        </p:txBody>
      </p:sp>
      <p:sp>
        <p:nvSpPr>
          <p:cNvPr id="38" name="Shape 36"/>
          <p:cNvSpPr/>
          <p:nvPr/>
        </p:nvSpPr>
        <p:spPr>
          <a:xfrm>
            <a:off x="7635240" y="1691640"/>
            <a:ext cx="3904488" cy="2788920"/>
          </a:xfrm>
          <a:prstGeom prst="roundRect">
            <a:avLst>
              <a:gd name="adj" fmla="val 2951"/>
            </a:avLst>
          </a:prstGeom>
          <a:solidFill>
            <a:srgbClr val="FBEEE1"/>
          </a:solidFill>
          <a:ln/>
          <a:effectLst>
            <a:outerShdw blurRad="101600" dist="12700" dir="5400000" algn="bl" rotWithShape="0">
              <a:srgbClr val="9AA7B4">
                <a:alpha val="18000"/>
              </a:srgbClr>
            </a:outerShdw>
          </a:effectLst>
        </p:spPr>
        <p:txBody>
          <a:bodyPr/>
          <a:lstStyle/>
          <a:p>
            <a:endParaRPr lang="en-US"/>
          </a:p>
        </p:txBody>
      </p:sp>
      <p:sp>
        <p:nvSpPr>
          <p:cNvPr id="39" name="Text 37"/>
          <p:cNvSpPr/>
          <p:nvPr/>
        </p:nvSpPr>
        <p:spPr>
          <a:xfrm>
            <a:off x="7891272" y="1874520"/>
            <a:ext cx="3383280" cy="274320"/>
          </a:xfrm>
          <a:prstGeom prst="rect">
            <a:avLst/>
          </a:prstGeom>
          <a:noFill/>
          <a:ln/>
        </p:spPr>
        <p:txBody>
          <a:bodyPr wrap="square" lIns="0" tIns="0" rIns="0" bIns="0" rtlCol="0" anchor="ctr"/>
          <a:lstStyle/>
          <a:p>
            <a:pPr marL="0" indent="0">
              <a:buNone/>
            </a:pPr>
            <a:r>
              <a:rPr lang="en-US" sz="1100" b="1" kern="0" spc="120" dirty="0">
                <a:solidFill>
                  <a:srgbClr val="E08A3C"/>
                </a:solidFill>
                <a:latin typeface="Calibri" pitchFamily="34" charset="0"/>
                <a:ea typeface="Calibri" pitchFamily="34" charset="-122"/>
                <a:cs typeface="Calibri" pitchFamily="34" charset="-120"/>
              </a:rPr>
              <a:t>Why it matters</a:t>
            </a:r>
            <a:endParaRPr lang="en-US" sz="1100" dirty="0"/>
          </a:p>
        </p:txBody>
      </p:sp>
      <p:sp>
        <p:nvSpPr>
          <p:cNvPr id="40" name="Text 38"/>
          <p:cNvSpPr/>
          <p:nvPr/>
        </p:nvSpPr>
        <p:spPr>
          <a:xfrm>
            <a:off x="7891272" y="2212848"/>
            <a:ext cx="3383280" cy="2148840"/>
          </a:xfrm>
          <a:prstGeom prst="rect">
            <a:avLst/>
          </a:prstGeom>
          <a:noFill/>
          <a:ln/>
        </p:spPr>
        <p:txBody>
          <a:bodyPr wrap="square" lIns="0" tIns="0" rIns="0" bIns="0" rtlCol="0" anchor="t"/>
          <a:lstStyle/>
          <a:p>
            <a:pPr marL="0" indent="0">
              <a:buNone/>
            </a:pPr>
            <a:r>
              <a:rPr lang="en-US" sz="1400" dirty="0">
                <a:solidFill>
                  <a:srgbClr val="12233A"/>
                </a:solidFill>
                <a:latin typeface="Calibri" pitchFamily="34" charset="0"/>
                <a:ea typeface="Calibri" pitchFamily="34" charset="-122"/>
                <a:cs typeface="Calibri" pitchFamily="34" charset="-120"/>
              </a:rPr>
              <a:t>A file split puts one voice in both sets. The model then wins by knowing the speaker. A speaker split stops this.</a:t>
            </a:r>
            <a:endParaRPr lang="en-US" sz="1400" dirty="0"/>
          </a:p>
        </p:txBody>
      </p:sp>
      <p:sp>
        <p:nvSpPr>
          <p:cNvPr id="41" name="Shape 39"/>
          <p:cNvSpPr/>
          <p:nvPr/>
        </p:nvSpPr>
        <p:spPr>
          <a:xfrm>
            <a:off x="640080" y="4663440"/>
            <a:ext cx="10899648" cy="960120"/>
          </a:xfrm>
          <a:prstGeom prst="roundRect">
            <a:avLst>
              <a:gd name="adj" fmla="val 8571"/>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42" name="Text 40"/>
          <p:cNvSpPr/>
          <p:nvPr/>
        </p:nvSpPr>
        <p:spPr>
          <a:xfrm>
            <a:off x="914400" y="4663440"/>
            <a:ext cx="10332720" cy="96012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Speaker overlap is empty. A fixed seed repeats the split.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MODEL SELECTION</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Why </a:t>
            </a:r>
            <a:r>
              <a:rPr lang="en-US" sz="3000" b="1">
                <a:solidFill>
                  <a:srgbClr val="12233A"/>
                </a:solidFill>
                <a:latin typeface="Cambria" pitchFamily="34" charset="0"/>
                <a:ea typeface="Cambria" pitchFamily="34" charset="-122"/>
                <a:cs typeface="Cambria" pitchFamily="34" charset="-120"/>
              </a:rPr>
              <a:t>an LSTM?</a:t>
            </a:r>
            <a:endParaRPr lang="en-US" sz="3000" dirty="0"/>
          </a:p>
        </p:txBody>
      </p:sp>
      <p:sp>
        <p:nvSpPr>
          <p:cNvPr id="4" name="Shape 2"/>
          <p:cNvSpPr/>
          <p:nvPr/>
        </p:nvSpPr>
        <p:spPr>
          <a:xfrm>
            <a:off x="640080" y="1691640"/>
            <a:ext cx="7223760" cy="1115568"/>
          </a:xfrm>
          <a:prstGeom prst="roundRect">
            <a:avLst>
              <a:gd name="adj" fmla="val 7377"/>
            </a:avLst>
          </a:prstGeom>
          <a:solidFill>
            <a:srgbClr val="FFFFFF"/>
          </a:solidFill>
          <a:ln w="12700">
            <a:solidFill>
              <a:srgbClr val="DFE5EB"/>
            </a:solidFill>
            <a:prstDash val="solid"/>
          </a:ln>
        </p:spPr>
        <p:txBody>
          <a:bodyPr/>
          <a:lstStyle/>
          <a:p>
            <a:endParaRPr lang="en-US"/>
          </a:p>
        </p:txBody>
      </p:sp>
      <p:sp>
        <p:nvSpPr>
          <p:cNvPr id="5" name="Shape 3"/>
          <p:cNvSpPr/>
          <p:nvPr/>
        </p:nvSpPr>
        <p:spPr>
          <a:xfrm>
            <a:off x="896112" y="2020824"/>
            <a:ext cx="457200" cy="457200"/>
          </a:xfrm>
          <a:prstGeom prst="ellipse">
            <a:avLst/>
          </a:prstGeom>
          <a:solidFill>
            <a:srgbClr val="0E8A8F"/>
          </a:solidFill>
          <a:ln/>
        </p:spPr>
        <p:txBody>
          <a:bodyPr/>
          <a:lstStyle/>
          <a:p>
            <a:endParaRPr lang="en-US"/>
          </a:p>
        </p:txBody>
      </p:sp>
      <p:sp>
        <p:nvSpPr>
          <p:cNvPr id="6" name="Text 4"/>
          <p:cNvSpPr/>
          <p:nvPr/>
        </p:nvSpPr>
        <p:spPr>
          <a:xfrm>
            <a:off x="896112" y="202082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17904" y="1837944"/>
            <a:ext cx="6126480" cy="274320"/>
          </a:xfrm>
          <a:prstGeom prst="rect">
            <a:avLst/>
          </a:prstGeom>
          <a:noFill/>
          <a:ln/>
        </p:spPr>
        <p:txBody>
          <a:bodyPr wrap="square" lIns="0" tIns="0" rIns="0" bIns="0" rtlCol="0" anchor="ctr"/>
          <a:lstStyle/>
          <a:p>
            <a:pPr marL="0" indent="0">
              <a:buNone/>
            </a:pPr>
            <a:r>
              <a:rPr lang="en-US" sz="1600" b="1" dirty="0">
                <a:solidFill>
                  <a:srgbClr val="12233A"/>
                </a:solidFill>
                <a:latin typeface="Cambria" pitchFamily="34" charset="0"/>
                <a:ea typeface="Cambria" pitchFamily="34" charset="-122"/>
                <a:cs typeface="Cambria" pitchFamily="34" charset="-120"/>
              </a:rPr>
              <a:t>Noise is sequential</a:t>
            </a:r>
            <a:endParaRPr lang="en-US" sz="1600" dirty="0"/>
          </a:p>
        </p:txBody>
      </p:sp>
      <p:sp>
        <p:nvSpPr>
          <p:cNvPr id="8" name="Text 6"/>
          <p:cNvSpPr/>
          <p:nvPr/>
        </p:nvSpPr>
        <p:spPr>
          <a:xfrm>
            <a:off x="1517904" y="2130552"/>
            <a:ext cx="6126480" cy="603504"/>
          </a:xfrm>
          <a:prstGeom prst="rect">
            <a:avLst/>
          </a:prstGeom>
          <a:noFill/>
          <a:ln/>
        </p:spPr>
        <p:txBody>
          <a:bodyPr wrap="square" lIns="0" tIns="0" rIns="0" bIns="0" rtlCol="0" anchor="t"/>
          <a:lstStyle/>
          <a:p>
            <a:pPr marL="0" indent="0">
              <a:buNone/>
            </a:pPr>
            <a:r>
              <a:rPr lang="en-US" sz="1350" dirty="0">
                <a:solidFill>
                  <a:srgbClr val="62707F"/>
                </a:solidFill>
                <a:latin typeface="Calibri" pitchFamily="34" charset="0"/>
                <a:ea typeface="Calibri" pitchFamily="34" charset="-122"/>
                <a:cs typeface="Calibri" pitchFamily="34" charset="-120"/>
              </a:rPr>
              <a:t>Nearby frames look alike. The last mask predicts the next.</a:t>
            </a:r>
            <a:endParaRPr lang="en-US" sz="1350" dirty="0"/>
          </a:p>
        </p:txBody>
      </p:sp>
      <p:sp>
        <p:nvSpPr>
          <p:cNvPr id="9" name="Shape 7"/>
          <p:cNvSpPr/>
          <p:nvPr/>
        </p:nvSpPr>
        <p:spPr>
          <a:xfrm>
            <a:off x="640080" y="2990088"/>
            <a:ext cx="7223760" cy="1115568"/>
          </a:xfrm>
          <a:prstGeom prst="roundRect">
            <a:avLst>
              <a:gd name="adj" fmla="val 7377"/>
            </a:avLst>
          </a:prstGeom>
          <a:solidFill>
            <a:srgbClr val="FFFFFF"/>
          </a:solidFill>
          <a:ln w="12700">
            <a:solidFill>
              <a:srgbClr val="DFE5EB"/>
            </a:solidFill>
            <a:prstDash val="solid"/>
          </a:ln>
        </p:spPr>
        <p:txBody>
          <a:bodyPr/>
          <a:lstStyle/>
          <a:p>
            <a:endParaRPr lang="en-US"/>
          </a:p>
        </p:txBody>
      </p:sp>
      <p:sp>
        <p:nvSpPr>
          <p:cNvPr id="10" name="Shape 8"/>
          <p:cNvSpPr/>
          <p:nvPr/>
        </p:nvSpPr>
        <p:spPr>
          <a:xfrm>
            <a:off x="896112" y="3319272"/>
            <a:ext cx="457200" cy="457200"/>
          </a:xfrm>
          <a:prstGeom prst="ellipse">
            <a:avLst/>
          </a:prstGeom>
          <a:solidFill>
            <a:srgbClr val="0E8A8F"/>
          </a:solidFill>
          <a:ln/>
        </p:spPr>
        <p:txBody>
          <a:bodyPr/>
          <a:lstStyle/>
          <a:p>
            <a:endParaRPr lang="en-US"/>
          </a:p>
        </p:txBody>
      </p:sp>
      <p:sp>
        <p:nvSpPr>
          <p:cNvPr id="11" name="Text 9"/>
          <p:cNvSpPr/>
          <p:nvPr/>
        </p:nvSpPr>
        <p:spPr>
          <a:xfrm>
            <a:off x="896112" y="33192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17904" y="3136392"/>
            <a:ext cx="6126480" cy="274320"/>
          </a:xfrm>
          <a:prstGeom prst="rect">
            <a:avLst/>
          </a:prstGeom>
          <a:noFill/>
          <a:ln/>
        </p:spPr>
        <p:txBody>
          <a:bodyPr wrap="square" lIns="0" tIns="0" rIns="0" bIns="0" rtlCol="0" anchor="ctr"/>
          <a:lstStyle/>
          <a:p>
            <a:pPr marL="0" indent="0">
              <a:buNone/>
            </a:pPr>
            <a:r>
              <a:rPr lang="en-US" sz="1600" b="1" dirty="0">
                <a:solidFill>
                  <a:srgbClr val="12233A"/>
                </a:solidFill>
                <a:latin typeface="Cambria" pitchFamily="34" charset="0"/>
                <a:ea typeface="Cambria" pitchFamily="34" charset="-122"/>
                <a:cs typeface="Cambria" pitchFamily="34" charset="-120"/>
              </a:rPr>
              <a:t>Plain RNNs forget</a:t>
            </a:r>
            <a:endParaRPr lang="en-US" sz="1600" dirty="0"/>
          </a:p>
        </p:txBody>
      </p:sp>
      <p:sp>
        <p:nvSpPr>
          <p:cNvPr id="13" name="Text 11"/>
          <p:cNvSpPr/>
          <p:nvPr/>
        </p:nvSpPr>
        <p:spPr>
          <a:xfrm>
            <a:off x="1517904" y="3429000"/>
            <a:ext cx="6126480" cy="603504"/>
          </a:xfrm>
          <a:prstGeom prst="rect">
            <a:avLst/>
          </a:prstGeom>
          <a:noFill/>
          <a:ln/>
        </p:spPr>
        <p:txBody>
          <a:bodyPr wrap="square" lIns="0" tIns="0" rIns="0" bIns="0" rtlCol="0" anchor="t"/>
          <a:lstStyle/>
          <a:p>
            <a:pPr marL="0" indent="0">
              <a:buNone/>
            </a:pPr>
            <a:r>
              <a:rPr lang="en-US" sz="1350" dirty="0">
                <a:solidFill>
                  <a:srgbClr val="62707F"/>
                </a:solidFill>
                <a:latin typeface="Calibri" pitchFamily="34" charset="0"/>
                <a:ea typeface="Calibri" pitchFamily="34" charset="-122"/>
                <a:cs typeface="Calibri" pitchFamily="34" charset="-120"/>
              </a:rPr>
              <a:t>Hundreds of small gradients multiply down to zero.</a:t>
            </a:r>
            <a:endParaRPr lang="en-US" sz="1350" dirty="0"/>
          </a:p>
        </p:txBody>
      </p:sp>
      <p:sp>
        <p:nvSpPr>
          <p:cNvPr id="14" name="Shape 12"/>
          <p:cNvSpPr/>
          <p:nvPr/>
        </p:nvSpPr>
        <p:spPr>
          <a:xfrm>
            <a:off x="640080" y="4288536"/>
            <a:ext cx="7223760" cy="1115568"/>
          </a:xfrm>
          <a:prstGeom prst="roundRect">
            <a:avLst>
              <a:gd name="adj" fmla="val 7377"/>
            </a:avLst>
          </a:prstGeom>
          <a:solidFill>
            <a:srgbClr val="FFFFFF"/>
          </a:solidFill>
          <a:ln w="12700">
            <a:solidFill>
              <a:srgbClr val="DFE5EB"/>
            </a:solidFill>
            <a:prstDash val="solid"/>
          </a:ln>
        </p:spPr>
        <p:txBody>
          <a:bodyPr/>
          <a:lstStyle/>
          <a:p>
            <a:endParaRPr lang="en-US"/>
          </a:p>
        </p:txBody>
      </p:sp>
      <p:sp>
        <p:nvSpPr>
          <p:cNvPr id="15" name="Shape 13"/>
          <p:cNvSpPr/>
          <p:nvPr/>
        </p:nvSpPr>
        <p:spPr>
          <a:xfrm>
            <a:off x="896112" y="4617720"/>
            <a:ext cx="457200" cy="457200"/>
          </a:xfrm>
          <a:prstGeom prst="ellipse">
            <a:avLst/>
          </a:prstGeom>
          <a:solidFill>
            <a:srgbClr val="0E8A8F"/>
          </a:solidFill>
          <a:ln/>
        </p:spPr>
        <p:txBody>
          <a:bodyPr/>
          <a:lstStyle/>
          <a:p>
            <a:endParaRPr lang="en-US"/>
          </a:p>
        </p:txBody>
      </p:sp>
      <p:sp>
        <p:nvSpPr>
          <p:cNvPr id="16" name="Text 14"/>
          <p:cNvSpPr/>
          <p:nvPr/>
        </p:nvSpPr>
        <p:spPr>
          <a:xfrm>
            <a:off x="896112" y="46177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17904" y="4434840"/>
            <a:ext cx="6126480" cy="274320"/>
          </a:xfrm>
          <a:prstGeom prst="rect">
            <a:avLst/>
          </a:prstGeom>
          <a:noFill/>
          <a:ln/>
        </p:spPr>
        <p:txBody>
          <a:bodyPr wrap="square" lIns="0" tIns="0" rIns="0" bIns="0" rtlCol="0" anchor="ctr"/>
          <a:lstStyle/>
          <a:p>
            <a:pPr marL="0" indent="0">
              <a:buNone/>
            </a:pPr>
            <a:r>
              <a:rPr lang="en-US" sz="1600" b="1" dirty="0">
                <a:solidFill>
                  <a:srgbClr val="12233A"/>
                </a:solidFill>
                <a:latin typeface="Cambria" pitchFamily="34" charset="0"/>
                <a:ea typeface="Cambria" pitchFamily="34" charset="-122"/>
                <a:cs typeface="Cambria" pitchFamily="34" charset="-120"/>
              </a:rPr>
              <a:t>LSTM cell state adds</a:t>
            </a:r>
            <a:endParaRPr lang="en-US" sz="1600" dirty="0"/>
          </a:p>
        </p:txBody>
      </p:sp>
      <p:sp>
        <p:nvSpPr>
          <p:cNvPr id="18" name="Text 16"/>
          <p:cNvSpPr/>
          <p:nvPr/>
        </p:nvSpPr>
        <p:spPr>
          <a:xfrm>
            <a:off x="1517904" y="4727448"/>
            <a:ext cx="6126480" cy="603504"/>
          </a:xfrm>
          <a:prstGeom prst="rect">
            <a:avLst/>
          </a:prstGeom>
          <a:noFill/>
          <a:ln/>
        </p:spPr>
        <p:txBody>
          <a:bodyPr wrap="square" lIns="0" tIns="0" rIns="0" bIns="0" rtlCol="0" anchor="t"/>
          <a:lstStyle/>
          <a:p>
            <a:pPr marL="0" indent="0">
              <a:buNone/>
            </a:pPr>
            <a:r>
              <a:rPr lang="en-US" sz="1350" dirty="0">
                <a:solidFill>
                  <a:srgbClr val="62707F"/>
                </a:solidFill>
                <a:latin typeface="Calibri" pitchFamily="34" charset="0"/>
                <a:ea typeface="Calibri" pitchFamily="34" charset="-122"/>
                <a:cs typeface="Calibri" pitchFamily="34" charset="-120"/>
              </a:rPr>
              <a:t>The cell state adds instead of multiplies. Context survives.</a:t>
            </a:r>
            <a:endParaRPr lang="en-US" sz="1350" dirty="0"/>
          </a:p>
        </p:txBody>
      </p:sp>
      <p:sp>
        <p:nvSpPr>
          <p:cNvPr id="19" name="Shape 17"/>
          <p:cNvSpPr/>
          <p:nvPr/>
        </p:nvSpPr>
        <p:spPr>
          <a:xfrm>
            <a:off x="8138160" y="1691640"/>
            <a:ext cx="3401568" cy="3895344"/>
          </a:xfrm>
          <a:prstGeom prst="roundRect">
            <a:avLst>
              <a:gd name="adj" fmla="val 2419"/>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20" name="Text 18"/>
          <p:cNvSpPr/>
          <p:nvPr/>
        </p:nvSpPr>
        <p:spPr>
          <a:xfrm>
            <a:off x="8394192" y="1874520"/>
            <a:ext cx="2889504" cy="274320"/>
          </a:xfrm>
          <a:prstGeom prst="rect">
            <a:avLst/>
          </a:prstGeom>
          <a:noFill/>
          <a:ln/>
        </p:spPr>
        <p:txBody>
          <a:bodyPr wrap="square" lIns="0" tIns="0" rIns="0" bIns="0" rtlCol="0" anchor="ctr"/>
          <a:lstStyle/>
          <a:p>
            <a:pPr marL="0" indent="0">
              <a:buNone/>
            </a:pPr>
            <a:r>
              <a:rPr lang="en-US" sz="1100" b="1" kern="0" spc="120" dirty="0">
                <a:solidFill>
                  <a:srgbClr val="0E8A8F"/>
                </a:solidFill>
                <a:latin typeface="Calibri" pitchFamily="34" charset="0"/>
                <a:ea typeface="Calibri" pitchFamily="34" charset="-122"/>
                <a:cs typeface="Calibri" pitchFamily="34" charset="-120"/>
              </a:rPr>
              <a:t>Framing</a:t>
            </a:r>
            <a:endParaRPr lang="en-US" sz="1100" dirty="0"/>
          </a:p>
        </p:txBody>
      </p:sp>
      <p:sp>
        <p:nvSpPr>
          <p:cNvPr id="21" name="Text 19"/>
          <p:cNvSpPr/>
          <p:nvPr/>
        </p:nvSpPr>
        <p:spPr>
          <a:xfrm>
            <a:off x="8394192" y="2176272"/>
            <a:ext cx="2889504" cy="38404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Many-to-many</a:t>
            </a:r>
            <a:endParaRPr lang="en-US" sz="2100" dirty="0"/>
          </a:p>
        </p:txBody>
      </p:sp>
      <p:sp>
        <p:nvSpPr>
          <p:cNvPr id="22" name="Text 20"/>
          <p:cNvSpPr/>
          <p:nvPr/>
        </p:nvSpPr>
        <p:spPr>
          <a:xfrm>
            <a:off x="8394192" y="2670048"/>
            <a:ext cx="2889504" cy="1234440"/>
          </a:xfrm>
          <a:prstGeom prst="rect">
            <a:avLst/>
          </a:prstGeom>
          <a:noFill/>
          <a:ln/>
        </p:spPr>
        <p:txBody>
          <a:bodyPr wrap="square" lIns="0" tIns="0" rIns="0" bIns="0" rtlCol="0" anchor="t"/>
          <a:lstStyle/>
          <a:p>
            <a:pPr marL="0" indent="0">
              <a:buNone/>
            </a:pPr>
            <a:r>
              <a:rPr lang="en-US" sz="1250" dirty="0">
                <a:solidFill>
                  <a:srgbClr val="C9D9E8"/>
                </a:solidFill>
                <a:latin typeface="Calibri" pitchFamily="34" charset="0"/>
                <a:ea typeface="Calibri" pitchFamily="34" charset="-122"/>
                <a:cs typeface="Calibri" pitchFamily="34" charset="-120"/>
              </a:rPr>
              <a:t>One frame in. 257 gain values out.</a:t>
            </a:r>
            <a:endParaRPr lang="en-US" sz="1250" dirty="0"/>
          </a:p>
        </p:txBody>
      </p:sp>
      <p:sp>
        <p:nvSpPr>
          <p:cNvPr id="23" name="Shape 21"/>
          <p:cNvSpPr/>
          <p:nvPr/>
        </p:nvSpPr>
        <p:spPr>
          <a:xfrm>
            <a:off x="8394192" y="4055468"/>
            <a:ext cx="65671" cy="516532"/>
          </a:xfrm>
          <a:prstGeom prst="roundRect">
            <a:avLst>
              <a:gd name="adj" fmla="val 27848"/>
            </a:avLst>
          </a:prstGeom>
          <a:solidFill>
            <a:srgbClr val="E08A3C">
              <a:alpha val="80000"/>
            </a:srgbClr>
          </a:solidFill>
          <a:ln/>
        </p:spPr>
        <p:txBody>
          <a:bodyPr/>
          <a:lstStyle/>
          <a:p>
            <a:endParaRPr lang="en-US"/>
          </a:p>
        </p:txBody>
      </p:sp>
      <p:sp>
        <p:nvSpPr>
          <p:cNvPr id="24" name="Shape 22"/>
          <p:cNvSpPr/>
          <p:nvPr/>
        </p:nvSpPr>
        <p:spPr>
          <a:xfrm>
            <a:off x="8525533" y="4183288"/>
            <a:ext cx="65671" cy="388712"/>
          </a:xfrm>
          <a:prstGeom prst="roundRect">
            <a:avLst>
              <a:gd name="adj" fmla="val 27848"/>
            </a:avLst>
          </a:prstGeom>
          <a:solidFill>
            <a:srgbClr val="E08A3C">
              <a:alpha val="80000"/>
            </a:srgbClr>
          </a:solidFill>
          <a:ln/>
        </p:spPr>
        <p:txBody>
          <a:bodyPr/>
          <a:lstStyle/>
          <a:p>
            <a:endParaRPr lang="en-US"/>
          </a:p>
        </p:txBody>
      </p:sp>
      <p:sp>
        <p:nvSpPr>
          <p:cNvPr id="25" name="Shape 23"/>
          <p:cNvSpPr/>
          <p:nvPr/>
        </p:nvSpPr>
        <p:spPr>
          <a:xfrm>
            <a:off x="8656874" y="4408106"/>
            <a:ext cx="65671" cy="163894"/>
          </a:xfrm>
          <a:prstGeom prst="roundRect">
            <a:avLst>
              <a:gd name="adj" fmla="val 27848"/>
            </a:avLst>
          </a:prstGeom>
          <a:solidFill>
            <a:srgbClr val="E08A3C">
              <a:alpha val="80000"/>
            </a:srgbClr>
          </a:solidFill>
          <a:ln/>
        </p:spPr>
        <p:txBody>
          <a:bodyPr/>
          <a:lstStyle/>
          <a:p>
            <a:endParaRPr lang="en-US"/>
          </a:p>
        </p:txBody>
      </p:sp>
      <p:sp>
        <p:nvSpPr>
          <p:cNvPr id="26" name="Shape 24"/>
          <p:cNvSpPr/>
          <p:nvPr/>
        </p:nvSpPr>
        <p:spPr>
          <a:xfrm>
            <a:off x="8788215" y="4375692"/>
            <a:ext cx="65671" cy="196308"/>
          </a:xfrm>
          <a:prstGeom prst="roundRect">
            <a:avLst>
              <a:gd name="adj" fmla="val 27848"/>
            </a:avLst>
          </a:prstGeom>
          <a:solidFill>
            <a:srgbClr val="E08A3C">
              <a:alpha val="80000"/>
            </a:srgbClr>
          </a:solidFill>
          <a:ln/>
        </p:spPr>
        <p:txBody>
          <a:bodyPr/>
          <a:lstStyle/>
          <a:p>
            <a:endParaRPr lang="en-US"/>
          </a:p>
        </p:txBody>
      </p:sp>
      <p:sp>
        <p:nvSpPr>
          <p:cNvPr id="27" name="Shape 25"/>
          <p:cNvSpPr/>
          <p:nvPr/>
        </p:nvSpPr>
        <p:spPr>
          <a:xfrm>
            <a:off x="8919556" y="4304305"/>
            <a:ext cx="65671" cy="267695"/>
          </a:xfrm>
          <a:prstGeom prst="roundRect">
            <a:avLst>
              <a:gd name="adj" fmla="val 27848"/>
            </a:avLst>
          </a:prstGeom>
          <a:solidFill>
            <a:srgbClr val="E08A3C">
              <a:alpha val="80000"/>
            </a:srgbClr>
          </a:solidFill>
          <a:ln/>
        </p:spPr>
        <p:txBody>
          <a:bodyPr/>
          <a:lstStyle/>
          <a:p>
            <a:endParaRPr lang="en-US"/>
          </a:p>
        </p:txBody>
      </p:sp>
      <p:sp>
        <p:nvSpPr>
          <p:cNvPr id="28" name="Shape 26"/>
          <p:cNvSpPr/>
          <p:nvPr/>
        </p:nvSpPr>
        <p:spPr>
          <a:xfrm>
            <a:off x="9050897" y="3989167"/>
            <a:ext cx="65671" cy="582833"/>
          </a:xfrm>
          <a:prstGeom prst="roundRect">
            <a:avLst>
              <a:gd name="adj" fmla="val 27848"/>
            </a:avLst>
          </a:prstGeom>
          <a:solidFill>
            <a:srgbClr val="E08A3C">
              <a:alpha val="80000"/>
            </a:srgbClr>
          </a:solidFill>
          <a:ln/>
        </p:spPr>
        <p:txBody>
          <a:bodyPr/>
          <a:lstStyle/>
          <a:p>
            <a:endParaRPr lang="en-US"/>
          </a:p>
        </p:txBody>
      </p:sp>
      <p:sp>
        <p:nvSpPr>
          <p:cNvPr id="29" name="Shape 27"/>
          <p:cNvSpPr/>
          <p:nvPr/>
        </p:nvSpPr>
        <p:spPr>
          <a:xfrm>
            <a:off x="9182239" y="4232616"/>
            <a:ext cx="65671" cy="339384"/>
          </a:xfrm>
          <a:prstGeom prst="roundRect">
            <a:avLst>
              <a:gd name="adj" fmla="val 27848"/>
            </a:avLst>
          </a:prstGeom>
          <a:solidFill>
            <a:srgbClr val="E08A3C">
              <a:alpha val="80000"/>
            </a:srgbClr>
          </a:solidFill>
          <a:ln/>
        </p:spPr>
        <p:txBody>
          <a:bodyPr/>
          <a:lstStyle/>
          <a:p>
            <a:endParaRPr lang="en-US"/>
          </a:p>
        </p:txBody>
      </p:sp>
      <p:sp>
        <p:nvSpPr>
          <p:cNvPr id="30" name="Shape 28"/>
          <p:cNvSpPr/>
          <p:nvPr/>
        </p:nvSpPr>
        <p:spPr>
          <a:xfrm>
            <a:off x="9313580" y="4422008"/>
            <a:ext cx="65671" cy="149992"/>
          </a:xfrm>
          <a:prstGeom prst="roundRect">
            <a:avLst>
              <a:gd name="adj" fmla="val 27848"/>
            </a:avLst>
          </a:prstGeom>
          <a:solidFill>
            <a:srgbClr val="E08A3C">
              <a:alpha val="80000"/>
            </a:srgbClr>
          </a:solidFill>
          <a:ln/>
        </p:spPr>
        <p:txBody>
          <a:bodyPr/>
          <a:lstStyle/>
          <a:p>
            <a:endParaRPr lang="en-US"/>
          </a:p>
        </p:txBody>
      </p:sp>
      <p:sp>
        <p:nvSpPr>
          <p:cNvPr id="31" name="Shape 29"/>
          <p:cNvSpPr/>
          <p:nvPr/>
        </p:nvSpPr>
        <p:spPr>
          <a:xfrm>
            <a:off x="9444921" y="4200602"/>
            <a:ext cx="65671" cy="371398"/>
          </a:xfrm>
          <a:prstGeom prst="roundRect">
            <a:avLst>
              <a:gd name="adj" fmla="val 27848"/>
            </a:avLst>
          </a:prstGeom>
          <a:solidFill>
            <a:srgbClr val="E08A3C">
              <a:alpha val="80000"/>
            </a:srgbClr>
          </a:solidFill>
          <a:ln/>
        </p:spPr>
        <p:txBody>
          <a:bodyPr/>
          <a:lstStyle/>
          <a:p>
            <a:endParaRPr lang="en-US"/>
          </a:p>
        </p:txBody>
      </p:sp>
      <p:sp>
        <p:nvSpPr>
          <p:cNvPr id="32" name="Shape 30"/>
          <p:cNvSpPr/>
          <p:nvPr/>
        </p:nvSpPr>
        <p:spPr>
          <a:xfrm>
            <a:off x="9576262" y="4166068"/>
            <a:ext cx="65671" cy="405932"/>
          </a:xfrm>
          <a:prstGeom prst="roundRect">
            <a:avLst>
              <a:gd name="adj" fmla="val 27848"/>
            </a:avLst>
          </a:prstGeom>
          <a:solidFill>
            <a:srgbClr val="E08A3C">
              <a:alpha val="80000"/>
            </a:srgbClr>
          </a:solidFill>
          <a:ln/>
        </p:spPr>
        <p:txBody>
          <a:bodyPr/>
          <a:lstStyle/>
          <a:p>
            <a:endParaRPr lang="en-US"/>
          </a:p>
        </p:txBody>
      </p:sp>
      <p:sp>
        <p:nvSpPr>
          <p:cNvPr id="33" name="Shape 31"/>
          <p:cNvSpPr/>
          <p:nvPr/>
        </p:nvSpPr>
        <p:spPr>
          <a:xfrm>
            <a:off x="9707603" y="4094824"/>
            <a:ext cx="65671" cy="477176"/>
          </a:xfrm>
          <a:prstGeom prst="roundRect">
            <a:avLst>
              <a:gd name="adj" fmla="val 27848"/>
            </a:avLst>
          </a:prstGeom>
          <a:solidFill>
            <a:srgbClr val="E08A3C">
              <a:alpha val="80000"/>
            </a:srgbClr>
          </a:solidFill>
          <a:ln/>
        </p:spPr>
        <p:txBody>
          <a:bodyPr/>
          <a:lstStyle/>
          <a:p>
            <a:endParaRPr lang="en-US"/>
          </a:p>
        </p:txBody>
      </p:sp>
      <p:sp>
        <p:nvSpPr>
          <p:cNvPr id="34" name="Shape 32"/>
          <p:cNvSpPr/>
          <p:nvPr/>
        </p:nvSpPr>
        <p:spPr>
          <a:xfrm>
            <a:off x="9838944" y="4142045"/>
            <a:ext cx="65671" cy="429955"/>
          </a:xfrm>
          <a:prstGeom prst="roundRect">
            <a:avLst>
              <a:gd name="adj" fmla="val 27848"/>
            </a:avLst>
          </a:prstGeom>
          <a:solidFill>
            <a:srgbClr val="E08A3C">
              <a:alpha val="80000"/>
            </a:srgbClr>
          </a:solidFill>
          <a:ln/>
        </p:spPr>
        <p:txBody>
          <a:bodyPr/>
          <a:lstStyle/>
          <a:p>
            <a:endParaRPr lang="en-US"/>
          </a:p>
        </p:txBody>
      </p:sp>
      <p:sp>
        <p:nvSpPr>
          <p:cNvPr id="35" name="Shape 33"/>
          <p:cNvSpPr/>
          <p:nvPr/>
        </p:nvSpPr>
        <p:spPr>
          <a:xfrm>
            <a:off x="9970285" y="4414499"/>
            <a:ext cx="65671" cy="157501"/>
          </a:xfrm>
          <a:prstGeom prst="roundRect">
            <a:avLst>
              <a:gd name="adj" fmla="val 27848"/>
            </a:avLst>
          </a:prstGeom>
          <a:solidFill>
            <a:srgbClr val="E08A3C">
              <a:alpha val="80000"/>
            </a:srgbClr>
          </a:solidFill>
          <a:ln/>
        </p:spPr>
        <p:txBody>
          <a:bodyPr/>
          <a:lstStyle/>
          <a:p>
            <a:endParaRPr lang="en-US"/>
          </a:p>
        </p:txBody>
      </p:sp>
      <p:sp>
        <p:nvSpPr>
          <p:cNvPr id="36" name="Shape 34"/>
          <p:cNvSpPr/>
          <p:nvPr/>
        </p:nvSpPr>
        <p:spPr>
          <a:xfrm>
            <a:off x="10101626" y="4235929"/>
            <a:ext cx="65671" cy="336071"/>
          </a:xfrm>
          <a:prstGeom prst="roundRect">
            <a:avLst>
              <a:gd name="adj" fmla="val 27848"/>
            </a:avLst>
          </a:prstGeom>
          <a:solidFill>
            <a:srgbClr val="E08A3C">
              <a:alpha val="80000"/>
            </a:srgbClr>
          </a:solidFill>
          <a:ln/>
        </p:spPr>
        <p:txBody>
          <a:bodyPr/>
          <a:lstStyle/>
          <a:p>
            <a:endParaRPr lang="en-US"/>
          </a:p>
        </p:txBody>
      </p:sp>
      <p:sp>
        <p:nvSpPr>
          <p:cNvPr id="37" name="Shape 35"/>
          <p:cNvSpPr/>
          <p:nvPr/>
        </p:nvSpPr>
        <p:spPr>
          <a:xfrm>
            <a:off x="10232967" y="4266884"/>
            <a:ext cx="65671" cy="305116"/>
          </a:xfrm>
          <a:prstGeom prst="roundRect">
            <a:avLst>
              <a:gd name="adj" fmla="val 27848"/>
            </a:avLst>
          </a:prstGeom>
          <a:solidFill>
            <a:srgbClr val="E08A3C">
              <a:alpha val="80000"/>
            </a:srgbClr>
          </a:solidFill>
          <a:ln/>
        </p:spPr>
        <p:txBody>
          <a:bodyPr/>
          <a:lstStyle/>
          <a:p>
            <a:endParaRPr lang="en-US"/>
          </a:p>
        </p:txBody>
      </p:sp>
      <p:sp>
        <p:nvSpPr>
          <p:cNvPr id="38" name="Shape 36"/>
          <p:cNvSpPr/>
          <p:nvPr/>
        </p:nvSpPr>
        <p:spPr>
          <a:xfrm>
            <a:off x="10364308" y="4315183"/>
            <a:ext cx="65671" cy="256817"/>
          </a:xfrm>
          <a:prstGeom prst="roundRect">
            <a:avLst>
              <a:gd name="adj" fmla="val 27848"/>
            </a:avLst>
          </a:prstGeom>
          <a:solidFill>
            <a:srgbClr val="E08A3C">
              <a:alpha val="80000"/>
            </a:srgbClr>
          </a:solidFill>
          <a:ln/>
        </p:spPr>
        <p:txBody>
          <a:bodyPr/>
          <a:lstStyle/>
          <a:p>
            <a:endParaRPr lang="en-US"/>
          </a:p>
        </p:txBody>
      </p:sp>
      <p:sp>
        <p:nvSpPr>
          <p:cNvPr id="39" name="Shape 37"/>
          <p:cNvSpPr/>
          <p:nvPr/>
        </p:nvSpPr>
        <p:spPr>
          <a:xfrm>
            <a:off x="10495649" y="4215614"/>
            <a:ext cx="65671" cy="356386"/>
          </a:xfrm>
          <a:prstGeom prst="roundRect">
            <a:avLst>
              <a:gd name="adj" fmla="val 27848"/>
            </a:avLst>
          </a:prstGeom>
          <a:solidFill>
            <a:srgbClr val="E08A3C">
              <a:alpha val="80000"/>
            </a:srgbClr>
          </a:solidFill>
          <a:ln/>
        </p:spPr>
        <p:txBody>
          <a:bodyPr/>
          <a:lstStyle/>
          <a:p>
            <a:endParaRPr lang="en-US"/>
          </a:p>
        </p:txBody>
      </p:sp>
      <p:sp>
        <p:nvSpPr>
          <p:cNvPr id="40" name="Shape 38"/>
          <p:cNvSpPr/>
          <p:nvPr/>
        </p:nvSpPr>
        <p:spPr>
          <a:xfrm>
            <a:off x="10626991" y="4275319"/>
            <a:ext cx="65671" cy="296681"/>
          </a:xfrm>
          <a:prstGeom prst="roundRect">
            <a:avLst>
              <a:gd name="adj" fmla="val 27848"/>
            </a:avLst>
          </a:prstGeom>
          <a:solidFill>
            <a:srgbClr val="E08A3C">
              <a:alpha val="80000"/>
            </a:srgbClr>
          </a:solidFill>
          <a:ln/>
        </p:spPr>
        <p:txBody>
          <a:bodyPr/>
          <a:lstStyle/>
          <a:p>
            <a:endParaRPr lang="en-US"/>
          </a:p>
        </p:txBody>
      </p:sp>
      <p:sp>
        <p:nvSpPr>
          <p:cNvPr id="41" name="Shape 39"/>
          <p:cNvSpPr/>
          <p:nvPr/>
        </p:nvSpPr>
        <p:spPr>
          <a:xfrm>
            <a:off x="10758332" y="4023810"/>
            <a:ext cx="65671" cy="548190"/>
          </a:xfrm>
          <a:prstGeom prst="roundRect">
            <a:avLst>
              <a:gd name="adj" fmla="val 27848"/>
            </a:avLst>
          </a:prstGeom>
          <a:solidFill>
            <a:srgbClr val="E08A3C">
              <a:alpha val="80000"/>
            </a:srgbClr>
          </a:solidFill>
          <a:ln/>
        </p:spPr>
        <p:txBody>
          <a:bodyPr/>
          <a:lstStyle/>
          <a:p>
            <a:endParaRPr lang="en-US"/>
          </a:p>
        </p:txBody>
      </p:sp>
      <p:sp>
        <p:nvSpPr>
          <p:cNvPr id="42" name="Shape 40"/>
          <p:cNvSpPr/>
          <p:nvPr/>
        </p:nvSpPr>
        <p:spPr>
          <a:xfrm>
            <a:off x="10889673" y="4059773"/>
            <a:ext cx="65671" cy="512227"/>
          </a:xfrm>
          <a:prstGeom prst="roundRect">
            <a:avLst>
              <a:gd name="adj" fmla="val 27848"/>
            </a:avLst>
          </a:prstGeom>
          <a:solidFill>
            <a:srgbClr val="E08A3C">
              <a:alpha val="80000"/>
            </a:srgbClr>
          </a:solidFill>
          <a:ln/>
        </p:spPr>
        <p:txBody>
          <a:bodyPr/>
          <a:lstStyle/>
          <a:p>
            <a:endParaRPr lang="en-US"/>
          </a:p>
        </p:txBody>
      </p:sp>
      <p:sp>
        <p:nvSpPr>
          <p:cNvPr id="43" name="Shape 41"/>
          <p:cNvSpPr/>
          <p:nvPr/>
        </p:nvSpPr>
        <p:spPr>
          <a:xfrm>
            <a:off x="11021014" y="4232459"/>
            <a:ext cx="65671" cy="339541"/>
          </a:xfrm>
          <a:prstGeom prst="roundRect">
            <a:avLst>
              <a:gd name="adj" fmla="val 27848"/>
            </a:avLst>
          </a:prstGeom>
          <a:solidFill>
            <a:srgbClr val="E08A3C">
              <a:alpha val="80000"/>
            </a:srgbClr>
          </a:solidFill>
          <a:ln/>
        </p:spPr>
        <p:txBody>
          <a:bodyPr/>
          <a:lstStyle/>
          <a:p>
            <a:endParaRPr lang="en-US"/>
          </a:p>
        </p:txBody>
      </p:sp>
      <p:sp>
        <p:nvSpPr>
          <p:cNvPr id="44" name="Shape 42"/>
          <p:cNvSpPr/>
          <p:nvPr/>
        </p:nvSpPr>
        <p:spPr>
          <a:xfrm>
            <a:off x="11152355" y="3997475"/>
            <a:ext cx="65671" cy="574525"/>
          </a:xfrm>
          <a:prstGeom prst="roundRect">
            <a:avLst>
              <a:gd name="adj" fmla="val 27848"/>
            </a:avLst>
          </a:prstGeom>
          <a:solidFill>
            <a:srgbClr val="E08A3C">
              <a:alpha val="80000"/>
            </a:srgbClr>
          </a:solidFill>
          <a:ln/>
        </p:spPr>
        <p:txBody>
          <a:bodyPr/>
          <a:lstStyle/>
          <a:p>
            <a:endParaRPr lang="en-US"/>
          </a:p>
        </p:txBody>
      </p:sp>
      <p:sp>
        <p:nvSpPr>
          <p:cNvPr id="45" name="Shape 43"/>
          <p:cNvSpPr/>
          <p:nvPr/>
        </p:nvSpPr>
        <p:spPr>
          <a:xfrm>
            <a:off x="9646920" y="4663440"/>
            <a:ext cx="365760" cy="292608"/>
          </a:xfrm>
          <a:prstGeom prst="downArrow">
            <a:avLst/>
          </a:prstGeom>
          <a:solidFill>
            <a:srgbClr val="0E8A8F"/>
          </a:solidFill>
          <a:ln/>
        </p:spPr>
        <p:txBody>
          <a:bodyPr/>
          <a:lstStyle/>
          <a:p>
            <a:endParaRPr lang="en-US"/>
          </a:p>
        </p:txBody>
      </p:sp>
      <p:sp>
        <p:nvSpPr>
          <p:cNvPr id="46" name="Shape 44"/>
          <p:cNvSpPr/>
          <p:nvPr/>
        </p:nvSpPr>
        <p:spPr>
          <a:xfrm>
            <a:off x="8394192" y="5449824"/>
            <a:ext cx="65671" cy="36576"/>
          </a:xfrm>
          <a:prstGeom prst="roundRect">
            <a:avLst>
              <a:gd name="adj" fmla="val 50000"/>
            </a:avLst>
          </a:prstGeom>
          <a:solidFill>
            <a:srgbClr val="0E8A8F"/>
          </a:solidFill>
          <a:ln/>
        </p:spPr>
        <p:txBody>
          <a:bodyPr/>
          <a:lstStyle/>
          <a:p>
            <a:endParaRPr lang="en-US"/>
          </a:p>
        </p:txBody>
      </p:sp>
      <p:sp>
        <p:nvSpPr>
          <p:cNvPr id="47" name="Shape 45"/>
          <p:cNvSpPr/>
          <p:nvPr/>
        </p:nvSpPr>
        <p:spPr>
          <a:xfrm>
            <a:off x="8525533" y="5381444"/>
            <a:ext cx="65671" cy="104956"/>
          </a:xfrm>
          <a:prstGeom prst="roundRect">
            <a:avLst>
              <a:gd name="adj" fmla="val 27848"/>
            </a:avLst>
          </a:prstGeom>
          <a:solidFill>
            <a:srgbClr val="0E8A8F"/>
          </a:solidFill>
          <a:ln/>
        </p:spPr>
        <p:txBody>
          <a:bodyPr/>
          <a:lstStyle/>
          <a:p>
            <a:endParaRPr lang="en-US"/>
          </a:p>
        </p:txBody>
      </p:sp>
      <p:sp>
        <p:nvSpPr>
          <p:cNvPr id="48" name="Shape 46"/>
          <p:cNvSpPr/>
          <p:nvPr/>
        </p:nvSpPr>
        <p:spPr>
          <a:xfrm>
            <a:off x="8656874" y="5422009"/>
            <a:ext cx="65671" cy="64391"/>
          </a:xfrm>
          <a:prstGeom prst="roundRect">
            <a:avLst>
              <a:gd name="adj" fmla="val 28401"/>
            </a:avLst>
          </a:prstGeom>
          <a:solidFill>
            <a:srgbClr val="0E8A8F"/>
          </a:solidFill>
          <a:ln/>
        </p:spPr>
        <p:txBody>
          <a:bodyPr/>
          <a:lstStyle/>
          <a:p>
            <a:endParaRPr lang="en-US"/>
          </a:p>
        </p:txBody>
      </p:sp>
      <p:sp>
        <p:nvSpPr>
          <p:cNvPr id="49" name="Shape 47"/>
          <p:cNvSpPr/>
          <p:nvPr/>
        </p:nvSpPr>
        <p:spPr>
          <a:xfrm>
            <a:off x="8788215" y="5391000"/>
            <a:ext cx="65671" cy="95400"/>
          </a:xfrm>
          <a:prstGeom prst="roundRect">
            <a:avLst>
              <a:gd name="adj" fmla="val 27848"/>
            </a:avLst>
          </a:prstGeom>
          <a:solidFill>
            <a:srgbClr val="0E8A8F"/>
          </a:solidFill>
          <a:ln/>
        </p:spPr>
        <p:txBody>
          <a:bodyPr/>
          <a:lstStyle/>
          <a:p>
            <a:endParaRPr lang="en-US"/>
          </a:p>
        </p:txBody>
      </p:sp>
      <p:sp>
        <p:nvSpPr>
          <p:cNvPr id="50" name="Shape 48"/>
          <p:cNvSpPr/>
          <p:nvPr/>
        </p:nvSpPr>
        <p:spPr>
          <a:xfrm>
            <a:off x="8919556" y="5336220"/>
            <a:ext cx="65671" cy="150180"/>
          </a:xfrm>
          <a:prstGeom prst="roundRect">
            <a:avLst>
              <a:gd name="adj" fmla="val 27848"/>
            </a:avLst>
          </a:prstGeom>
          <a:solidFill>
            <a:srgbClr val="0E8A8F"/>
          </a:solidFill>
          <a:ln/>
        </p:spPr>
        <p:txBody>
          <a:bodyPr/>
          <a:lstStyle/>
          <a:p>
            <a:endParaRPr lang="en-US"/>
          </a:p>
        </p:txBody>
      </p:sp>
      <p:sp>
        <p:nvSpPr>
          <p:cNvPr id="51" name="Shape 49"/>
          <p:cNvSpPr/>
          <p:nvPr/>
        </p:nvSpPr>
        <p:spPr>
          <a:xfrm>
            <a:off x="9050897" y="5123705"/>
            <a:ext cx="65671" cy="362695"/>
          </a:xfrm>
          <a:prstGeom prst="roundRect">
            <a:avLst>
              <a:gd name="adj" fmla="val 27848"/>
            </a:avLst>
          </a:prstGeom>
          <a:solidFill>
            <a:srgbClr val="0E8A8F"/>
          </a:solidFill>
          <a:ln/>
        </p:spPr>
        <p:txBody>
          <a:bodyPr/>
          <a:lstStyle/>
          <a:p>
            <a:endParaRPr lang="en-US"/>
          </a:p>
        </p:txBody>
      </p:sp>
      <p:sp>
        <p:nvSpPr>
          <p:cNvPr id="52" name="Shape 50"/>
          <p:cNvSpPr/>
          <p:nvPr/>
        </p:nvSpPr>
        <p:spPr>
          <a:xfrm>
            <a:off x="9182239" y="5258387"/>
            <a:ext cx="65671" cy="228013"/>
          </a:xfrm>
          <a:prstGeom prst="roundRect">
            <a:avLst>
              <a:gd name="adj" fmla="val 27848"/>
            </a:avLst>
          </a:prstGeom>
          <a:solidFill>
            <a:srgbClr val="0E8A8F"/>
          </a:solidFill>
          <a:ln/>
        </p:spPr>
        <p:txBody>
          <a:bodyPr/>
          <a:lstStyle/>
          <a:p>
            <a:endParaRPr lang="en-US"/>
          </a:p>
        </p:txBody>
      </p:sp>
      <p:sp>
        <p:nvSpPr>
          <p:cNvPr id="53" name="Shape 51"/>
          <p:cNvSpPr/>
          <p:nvPr/>
        </p:nvSpPr>
        <p:spPr>
          <a:xfrm>
            <a:off x="9313580" y="5379798"/>
            <a:ext cx="65671" cy="106602"/>
          </a:xfrm>
          <a:prstGeom prst="roundRect">
            <a:avLst>
              <a:gd name="adj" fmla="val 27848"/>
            </a:avLst>
          </a:prstGeom>
          <a:solidFill>
            <a:srgbClr val="0E8A8F"/>
          </a:solidFill>
          <a:ln/>
        </p:spPr>
        <p:txBody>
          <a:bodyPr/>
          <a:lstStyle/>
          <a:p>
            <a:endParaRPr lang="en-US"/>
          </a:p>
        </p:txBody>
      </p:sp>
      <p:sp>
        <p:nvSpPr>
          <p:cNvPr id="54" name="Shape 52"/>
          <p:cNvSpPr/>
          <p:nvPr/>
        </p:nvSpPr>
        <p:spPr>
          <a:xfrm>
            <a:off x="9444921" y="5211746"/>
            <a:ext cx="65671" cy="274654"/>
          </a:xfrm>
          <a:prstGeom prst="roundRect">
            <a:avLst>
              <a:gd name="adj" fmla="val 27848"/>
            </a:avLst>
          </a:prstGeom>
          <a:solidFill>
            <a:srgbClr val="0E8A8F"/>
          </a:solidFill>
          <a:ln/>
        </p:spPr>
        <p:txBody>
          <a:bodyPr/>
          <a:lstStyle/>
          <a:p>
            <a:endParaRPr lang="en-US"/>
          </a:p>
        </p:txBody>
      </p:sp>
      <p:sp>
        <p:nvSpPr>
          <p:cNvPr id="55" name="Shape 53"/>
          <p:cNvSpPr/>
          <p:nvPr/>
        </p:nvSpPr>
        <p:spPr>
          <a:xfrm>
            <a:off x="9576262" y="5178475"/>
            <a:ext cx="65671" cy="307925"/>
          </a:xfrm>
          <a:prstGeom prst="roundRect">
            <a:avLst>
              <a:gd name="adj" fmla="val 27848"/>
            </a:avLst>
          </a:prstGeom>
          <a:solidFill>
            <a:srgbClr val="0E8A8F"/>
          </a:solidFill>
          <a:ln/>
        </p:spPr>
        <p:txBody>
          <a:bodyPr/>
          <a:lstStyle/>
          <a:p>
            <a:endParaRPr lang="en-US"/>
          </a:p>
        </p:txBody>
      </p:sp>
      <p:sp>
        <p:nvSpPr>
          <p:cNvPr id="56" name="Shape 54"/>
          <p:cNvSpPr/>
          <p:nvPr/>
        </p:nvSpPr>
        <p:spPr>
          <a:xfrm>
            <a:off x="9707603" y="5119907"/>
            <a:ext cx="65671" cy="366493"/>
          </a:xfrm>
          <a:prstGeom prst="roundRect">
            <a:avLst>
              <a:gd name="adj" fmla="val 27848"/>
            </a:avLst>
          </a:prstGeom>
          <a:solidFill>
            <a:srgbClr val="0E8A8F"/>
          </a:solidFill>
          <a:ln/>
        </p:spPr>
        <p:txBody>
          <a:bodyPr/>
          <a:lstStyle/>
          <a:p>
            <a:endParaRPr lang="en-US"/>
          </a:p>
        </p:txBody>
      </p:sp>
      <p:sp>
        <p:nvSpPr>
          <p:cNvPr id="57" name="Shape 55"/>
          <p:cNvSpPr/>
          <p:nvPr/>
        </p:nvSpPr>
        <p:spPr>
          <a:xfrm>
            <a:off x="9838944" y="5156175"/>
            <a:ext cx="65671" cy="330225"/>
          </a:xfrm>
          <a:prstGeom prst="roundRect">
            <a:avLst>
              <a:gd name="adj" fmla="val 27848"/>
            </a:avLst>
          </a:prstGeom>
          <a:solidFill>
            <a:srgbClr val="0E8A8F"/>
          </a:solidFill>
          <a:ln/>
        </p:spPr>
        <p:txBody>
          <a:bodyPr/>
          <a:lstStyle/>
          <a:p>
            <a:endParaRPr lang="en-US"/>
          </a:p>
        </p:txBody>
      </p:sp>
      <p:sp>
        <p:nvSpPr>
          <p:cNvPr id="58" name="Shape 56"/>
          <p:cNvSpPr/>
          <p:nvPr/>
        </p:nvSpPr>
        <p:spPr>
          <a:xfrm>
            <a:off x="9970285" y="5366925"/>
            <a:ext cx="65671" cy="119475"/>
          </a:xfrm>
          <a:prstGeom prst="roundRect">
            <a:avLst>
              <a:gd name="adj" fmla="val 27848"/>
            </a:avLst>
          </a:prstGeom>
          <a:solidFill>
            <a:srgbClr val="0E8A8F"/>
          </a:solidFill>
          <a:ln/>
        </p:spPr>
        <p:txBody>
          <a:bodyPr/>
          <a:lstStyle/>
          <a:p>
            <a:endParaRPr lang="en-US"/>
          </a:p>
        </p:txBody>
      </p:sp>
      <p:sp>
        <p:nvSpPr>
          <p:cNvPr id="59" name="Shape 57"/>
          <p:cNvSpPr/>
          <p:nvPr/>
        </p:nvSpPr>
        <p:spPr>
          <a:xfrm>
            <a:off x="10101626" y="5237871"/>
            <a:ext cx="65671" cy="248529"/>
          </a:xfrm>
          <a:prstGeom prst="roundRect">
            <a:avLst>
              <a:gd name="adj" fmla="val 27848"/>
            </a:avLst>
          </a:prstGeom>
          <a:solidFill>
            <a:srgbClr val="0E8A8F"/>
          </a:solidFill>
          <a:ln/>
        </p:spPr>
        <p:txBody>
          <a:bodyPr/>
          <a:lstStyle/>
          <a:p>
            <a:endParaRPr lang="en-US"/>
          </a:p>
        </p:txBody>
      </p:sp>
      <p:sp>
        <p:nvSpPr>
          <p:cNvPr id="60" name="Shape 58"/>
          <p:cNvSpPr/>
          <p:nvPr/>
        </p:nvSpPr>
        <p:spPr>
          <a:xfrm>
            <a:off x="10232967" y="5269548"/>
            <a:ext cx="65671" cy="216852"/>
          </a:xfrm>
          <a:prstGeom prst="roundRect">
            <a:avLst>
              <a:gd name="adj" fmla="val 27848"/>
            </a:avLst>
          </a:prstGeom>
          <a:solidFill>
            <a:srgbClr val="0E8A8F"/>
          </a:solidFill>
          <a:ln/>
        </p:spPr>
        <p:txBody>
          <a:bodyPr/>
          <a:lstStyle/>
          <a:p>
            <a:endParaRPr lang="en-US"/>
          </a:p>
        </p:txBody>
      </p:sp>
      <p:sp>
        <p:nvSpPr>
          <p:cNvPr id="61" name="Shape 59"/>
          <p:cNvSpPr/>
          <p:nvPr/>
        </p:nvSpPr>
        <p:spPr>
          <a:xfrm>
            <a:off x="10364308" y="5313859"/>
            <a:ext cx="65671" cy="172541"/>
          </a:xfrm>
          <a:prstGeom prst="roundRect">
            <a:avLst>
              <a:gd name="adj" fmla="val 27848"/>
            </a:avLst>
          </a:prstGeom>
          <a:solidFill>
            <a:srgbClr val="0E8A8F"/>
          </a:solidFill>
          <a:ln/>
        </p:spPr>
        <p:txBody>
          <a:bodyPr/>
          <a:lstStyle/>
          <a:p>
            <a:endParaRPr lang="en-US"/>
          </a:p>
        </p:txBody>
      </p:sp>
      <p:sp>
        <p:nvSpPr>
          <p:cNvPr id="62" name="Shape 60"/>
          <p:cNvSpPr/>
          <p:nvPr/>
        </p:nvSpPr>
        <p:spPr>
          <a:xfrm>
            <a:off x="10495649" y="5264622"/>
            <a:ext cx="65671" cy="221778"/>
          </a:xfrm>
          <a:prstGeom prst="roundRect">
            <a:avLst>
              <a:gd name="adj" fmla="val 27848"/>
            </a:avLst>
          </a:prstGeom>
          <a:solidFill>
            <a:srgbClr val="0E8A8F"/>
          </a:solidFill>
          <a:ln/>
        </p:spPr>
        <p:txBody>
          <a:bodyPr/>
          <a:lstStyle/>
          <a:p>
            <a:endParaRPr lang="en-US"/>
          </a:p>
        </p:txBody>
      </p:sp>
      <p:sp>
        <p:nvSpPr>
          <p:cNvPr id="63" name="Shape 61"/>
          <p:cNvSpPr/>
          <p:nvPr/>
        </p:nvSpPr>
        <p:spPr>
          <a:xfrm>
            <a:off x="10626991" y="5319959"/>
            <a:ext cx="65671" cy="166441"/>
          </a:xfrm>
          <a:prstGeom prst="roundRect">
            <a:avLst>
              <a:gd name="adj" fmla="val 27848"/>
            </a:avLst>
          </a:prstGeom>
          <a:solidFill>
            <a:srgbClr val="0E8A8F"/>
          </a:solidFill>
          <a:ln/>
        </p:spPr>
        <p:txBody>
          <a:bodyPr/>
          <a:lstStyle/>
          <a:p>
            <a:endParaRPr lang="en-US"/>
          </a:p>
        </p:txBody>
      </p:sp>
      <p:sp>
        <p:nvSpPr>
          <p:cNvPr id="64" name="Shape 62"/>
          <p:cNvSpPr/>
          <p:nvPr/>
        </p:nvSpPr>
        <p:spPr>
          <a:xfrm>
            <a:off x="10758332" y="5219994"/>
            <a:ext cx="65671" cy="266406"/>
          </a:xfrm>
          <a:prstGeom prst="roundRect">
            <a:avLst>
              <a:gd name="adj" fmla="val 27848"/>
            </a:avLst>
          </a:prstGeom>
          <a:solidFill>
            <a:srgbClr val="0E8A8F"/>
          </a:solidFill>
          <a:ln/>
        </p:spPr>
        <p:txBody>
          <a:bodyPr/>
          <a:lstStyle/>
          <a:p>
            <a:endParaRPr lang="en-US"/>
          </a:p>
        </p:txBody>
      </p:sp>
      <p:sp>
        <p:nvSpPr>
          <p:cNvPr id="65" name="Shape 63"/>
          <p:cNvSpPr/>
          <p:nvPr/>
        </p:nvSpPr>
        <p:spPr>
          <a:xfrm>
            <a:off x="10889673" y="5285156"/>
            <a:ext cx="65671" cy="201244"/>
          </a:xfrm>
          <a:prstGeom prst="roundRect">
            <a:avLst>
              <a:gd name="adj" fmla="val 27848"/>
            </a:avLst>
          </a:prstGeom>
          <a:solidFill>
            <a:srgbClr val="0E8A8F"/>
          </a:solidFill>
          <a:ln/>
        </p:spPr>
        <p:txBody>
          <a:bodyPr/>
          <a:lstStyle/>
          <a:p>
            <a:endParaRPr lang="en-US"/>
          </a:p>
        </p:txBody>
      </p:sp>
      <p:sp>
        <p:nvSpPr>
          <p:cNvPr id="66" name="Shape 64"/>
          <p:cNvSpPr/>
          <p:nvPr/>
        </p:nvSpPr>
        <p:spPr>
          <a:xfrm>
            <a:off x="11021014" y="5394721"/>
            <a:ext cx="65671" cy="91679"/>
          </a:xfrm>
          <a:prstGeom prst="roundRect">
            <a:avLst>
              <a:gd name="adj" fmla="val 27848"/>
            </a:avLst>
          </a:prstGeom>
          <a:solidFill>
            <a:srgbClr val="0E8A8F"/>
          </a:solidFill>
          <a:ln/>
        </p:spPr>
        <p:txBody>
          <a:bodyPr/>
          <a:lstStyle/>
          <a:p>
            <a:endParaRPr lang="en-US"/>
          </a:p>
        </p:txBody>
      </p:sp>
      <p:sp>
        <p:nvSpPr>
          <p:cNvPr id="67" name="Shape 65"/>
          <p:cNvSpPr/>
          <p:nvPr/>
        </p:nvSpPr>
        <p:spPr>
          <a:xfrm>
            <a:off x="11152355" y="5449824"/>
            <a:ext cx="65671" cy="36576"/>
          </a:xfrm>
          <a:prstGeom prst="roundRect">
            <a:avLst>
              <a:gd name="adj" fmla="val 50000"/>
            </a:avLst>
          </a:prstGeom>
          <a:solidFill>
            <a:srgbClr val="0E8A8F"/>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THE MODEL</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Architecture and signal flow</a:t>
            </a:r>
            <a:endParaRPr lang="en-US" sz="3000" dirty="0"/>
          </a:p>
        </p:txBody>
      </p:sp>
      <p:sp>
        <p:nvSpPr>
          <p:cNvPr id="4" name="Shape 2"/>
          <p:cNvSpPr/>
          <p:nvPr/>
        </p:nvSpPr>
        <p:spPr>
          <a:xfrm>
            <a:off x="640080" y="1874520"/>
            <a:ext cx="1481328" cy="1188720"/>
          </a:xfrm>
          <a:prstGeom prst="roundRect">
            <a:avLst>
              <a:gd name="adj" fmla="val 6923"/>
            </a:avLst>
          </a:prstGeom>
          <a:solidFill>
            <a:srgbClr val="FFFFFF"/>
          </a:solidFill>
          <a:ln w="12700">
            <a:solidFill>
              <a:srgbClr val="DFE5EB"/>
            </a:solidFill>
            <a:prstDash val="solid"/>
          </a:ln>
        </p:spPr>
        <p:txBody>
          <a:bodyPr/>
          <a:lstStyle/>
          <a:p>
            <a:endParaRPr lang="en-US"/>
          </a:p>
        </p:txBody>
      </p:sp>
      <p:sp>
        <p:nvSpPr>
          <p:cNvPr id="5" name="Text 3"/>
          <p:cNvSpPr/>
          <p:nvPr/>
        </p:nvSpPr>
        <p:spPr>
          <a:xfrm>
            <a:off x="731520" y="2011680"/>
            <a:ext cx="1298448" cy="502920"/>
          </a:xfrm>
          <a:prstGeom prst="rect">
            <a:avLst/>
          </a:prstGeom>
          <a:noFill/>
          <a:ln/>
        </p:spPr>
        <p:txBody>
          <a:bodyPr wrap="square" lIns="0" tIns="0" rIns="0" bIns="0" rtlCol="0" anchor="ctr"/>
          <a:lstStyle/>
          <a:p>
            <a:pPr marL="0" indent="0" algn="ctr">
              <a:buNone/>
            </a:pPr>
            <a:r>
              <a:rPr lang="en-US" sz="1250" b="1" dirty="0">
                <a:solidFill>
                  <a:srgbClr val="12233A"/>
                </a:solidFill>
                <a:latin typeface="Calibri" pitchFamily="34" charset="0"/>
                <a:ea typeface="Calibri" pitchFamily="34" charset="-122"/>
                <a:cs typeface="Calibri" pitchFamily="34" charset="-120"/>
              </a:rPr>
              <a:t>Noisy WAV</a:t>
            </a:r>
            <a:endParaRPr lang="en-US" sz="1250" dirty="0"/>
          </a:p>
        </p:txBody>
      </p:sp>
      <p:sp>
        <p:nvSpPr>
          <p:cNvPr id="6" name="Text 4"/>
          <p:cNvSpPr/>
          <p:nvPr/>
        </p:nvSpPr>
        <p:spPr>
          <a:xfrm>
            <a:off x="713232" y="2514600"/>
            <a:ext cx="1335024" cy="457200"/>
          </a:xfrm>
          <a:prstGeom prst="rect">
            <a:avLst/>
          </a:prstGeom>
          <a:noFill/>
          <a:ln/>
        </p:spPr>
        <p:txBody>
          <a:bodyPr wrap="square" lIns="0" tIns="0" rIns="0" bIns="0" rtlCol="0" anchor="t"/>
          <a:lstStyle/>
          <a:p>
            <a:pPr marL="0" indent="0" algn="ctr">
              <a:buNone/>
            </a:pPr>
            <a:r>
              <a:rPr lang="en-US" sz="1000" dirty="0">
                <a:solidFill>
                  <a:srgbClr val="62707F"/>
                </a:solidFill>
                <a:latin typeface="Calibri" pitchFamily="34" charset="0"/>
                <a:ea typeface="Calibri" pitchFamily="34" charset="-122"/>
                <a:cs typeface="Calibri" pitchFamily="34" charset="-120"/>
              </a:rPr>
              <a:t>mono, 16 kHz</a:t>
            </a:r>
            <a:endParaRPr lang="en-US" sz="1000" dirty="0"/>
          </a:p>
        </p:txBody>
      </p:sp>
      <p:sp>
        <p:nvSpPr>
          <p:cNvPr id="7" name="Shape 5"/>
          <p:cNvSpPr/>
          <p:nvPr/>
        </p:nvSpPr>
        <p:spPr>
          <a:xfrm>
            <a:off x="2125980" y="2395728"/>
            <a:ext cx="118872" cy="146304"/>
          </a:xfrm>
          <a:prstGeom prst="rightArrow">
            <a:avLst/>
          </a:prstGeom>
          <a:solidFill>
            <a:srgbClr val="0E8A8F"/>
          </a:solidFill>
          <a:ln/>
        </p:spPr>
        <p:txBody>
          <a:bodyPr/>
          <a:lstStyle/>
          <a:p>
            <a:endParaRPr lang="en-US"/>
          </a:p>
        </p:txBody>
      </p:sp>
      <p:sp>
        <p:nvSpPr>
          <p:cNvPr id="8" name="Shape 6"/>
          <p:cNvSpPr/>
          <p:nvPr/>
        </p:nvSpPr>
        <p:spPr>
          <a:xfrm>
            <a:off x="2249424" y="1874520"/>
            <a:ext cx="1481328" cy="1188720"/>
          </a:xfrm>
          <a:prstGeom prst="roundRect">
            <a:avLst>
              <a:gd name="adj" fmla="val 6923"/>
            </a:avLst>
          </a:prstGeom>
          <a:solidFill>
            <a:srgbClr val="FFFFFF"/>
          </a:solidFill>
          <a:ln w="12700">
            <a:solidFill>
              <a:srgbClr val="DFE5EB"/>
            </a:solidFill>
            <a:prstDash val="solid"/>
          </a:ln>
        </p:spPr>
        <p:txBody>
          <a:bodyPr/>
          <a:lstStyle/>
          <a:p>
            <a:endParaRPr lang="en-US"/>
          </a:p>
        </p:txBody>
      </p:sp>
      <p:sp>
        <p:nvSpPr>
          <p:cNvPr id="9" name="Text 7"/>
          <p:cNvSpPr/>
          <p:nvPr/>
        </p:nvSpPr>
        <p:spPr>
          <a:xfrm>
            <a:off x="2340864" y="2011680"/>
            <a:ext cx="1298448" cy="502920"/>
          </a:xfrm>
          <a:prstGeom prst="rect">
            <a:avLst/>
          </a:prstGeom>
          <a:noFill/>
          <a:ln/>
        </p:spPr>
        <p:txBody>
          <a:bodyPr wrap="square" lIns="0" tIns="0" rIns="0" bIns="0" rtlCol="0" anchor="ctr"/>
          <a:lstStyle/>
          <a:p>
            <a:pPr marL="0" indent="0" algn="ctr">
              <a:buNone/>
            </a:pPr>
            <a:r>
              <a:rPr lang="en-US" sz="1250" b="1" dirty="0">
                <a:solidFill>
                  <a:srgbClr val="12233A"/>
                </a:solidFill>
                <a:latin typeface="Calibri" pitchFamily="34" charset="0"/>
                <a:ea typeface="Calibri" pitchFamily="34" charset="-122"/>
                <a:cs typeface="Calibri" pitchFamily="34" charset="-120"/>
              </a:rPr>
              <a:t>STFT</a:t>
            </a:r>
            <a:endParaRPr lang="en-US" sz="1250" dirty="0"/>
          </a:p>
        </p:txBody>
      </p:sp>
      <p:sp>
        <p:nvSpPr>
          <p:cNvPr id="10" name="Text 8"/>
          <p:cNvSpPr/>
          <p:nvPr/>
        </p:nvSpPr>
        <p:spPr>
          <a:xfrm>
            <a:off x="2322576" y="2514600"/>
            <a:ext cx="1335024" cy="457200"/>
          </a:xfrm>
          <a:prstGeom prst="rect">
            <a:avLst/>
          </a:prstGeom>
          <a:noFill/>
          <a:ln/>
        </p:spPr>
        <p:txBody>
          <a:bodyPr wrap="square" lIns="0" tIns="0" rIns="0" bIns="0" rtlCol="0" anchor="t"/>
          <a:lstStyle/>
          <a:p>
            <a:pPr marL="0" indent="0" algn="ctr">
              <a:buNone/>
            </a:pPr>
            <a:r>
              <a:rPr lang="en-US" sz="1000" dirty="0">
                <a:solidFill>
                  <a:srgbClr val="62707F"/>
                </a:solidFill>
                <a:latin typeface="Calibri" pitchFamily="34" charset="0"/>
                <a:ea typeface="Calibri" pitchFamily="34" charset="-122"/>
                <a:cs typeface="Calibri" pitchFamily="34" charset="-120"/>
              </a:rPr>
              <a:t>257 × T complex</a:t>
            </a:r>
            <a:endParaRPr lang="en-US" sz="1000" dirty="0"/>
          </a:p>
        </p:txBody>
      </p:sp>
      <p:sp>
        <p:nvSpPr>
          <p:cNvPr id="11" name="Shape 9"/>
          <p:cNvSpPr/>
          <p:nvPr/>
        </p:nvSpPr>
        <p:spPr>
          <a:xfrm>
            <a:off x="3735324" y="2395728"/>
            <a:ext cx="118872" cy="146304"/>
          </a:xfrm>
          <a:prstGeom prst="rightArrow">
            <a:avLst/>
          </a:prstGeom>
          <a:solidFill>
            <a:srgbClr val="0E8A8F"/>
          </a:solidFill>
          <a:ln/>
        </p:spPr>
        <p:txBody>
          <a:bodyPr/>
          <a:lstStyle/>
          <a:p>
            <a:endParaRPr lang="en-US"/>
          </a:p>
        </p:txBody>
      </p:sp>
      <p:sp>
        <p:nvSpPr>
          <p:cNvPr id="12" name="Shape 10"/>
          <p:cNvSpPr/>
          <p:nvPr/>
        </p:nvSpPr>
        <p:spPr>
          <a:xfrm>
            <a:off x="3858768" y="1874520"/>
            <a:ext cx="1481328" cy="1188720"/>
          </a:xfrm>
          <a:prstGeom prst="roundRect">
            <a:avLst>
              <a:gd name="adj" fmla="val 6923"/>
            </a:avLst>
          </a:prstGeom>
          <a:solidFill>
            <a:srgbClr val="FFFFFF"/>
          </a:solidFill>
          <a:ln w="12700">
            <a:solidFill>
              <a:srgbClr val="DFE5EB"/>
            </a:solidFill>
            <a:prstDash val="solid"/>
          </a:ln>
        </p:spPr>
        <p:txBody>
          <a:bodyPr/>
          <a:lstStyle/>
          <a:p>
            <a:endParaRPr lang="en-US"/>
          </a:p>
        </p:txBody>
      </p:sp>
      <p:sp>
        <p:nvSpPr>
          <p:cNvPr id="13" name="Text 11"/>
          <p:cNvSpPr/>
          <p:nvPr/>
        </p:nvSpPr>
        <p:spPr>
          <a:xfrm>
            <a:off x="3950208" y="2011680"/>
            <a:ext cx="1298448" cy="502920"/>
          </a:xfrm>
          <a:prstGeom prst="rect">
            <a:avLst/>
          </a:prstGeom>
          <a:noFill/>
          <a:ln/>
        </p:spPr>
        <p:txBody>
          <a:bodyPr wrap="square" lIns="0" tIns="0" rIns="0" bIns="0" rtlCol="0" anchor="ctr"/>
          <a:lstStyle/>
          <a:p>
            <a:pPr marL="0" indent="0" algn="ctr">
              <a:buNone/>
            </a:pPr>
            <a:r>
              <a:rPr lang="en-US" sz="1250" b="1" dirty="0">
                <a:solidFill>
                  <a:srgbClr val="12233A"/>
                </a:solidFill>
                <a:latin typeface="Calibri" pitchFamily="34" charset="0"/>
                <a:ea typeface="Calibri" pitchFamily="34" charset="-122"/>
                <a:cs typeface="Calibri" pitchFamily="34" charset="-120"/>
              </a:rPr>
              <a:t>log1p |Y|</a:t>
            </a:r>
            <a:endParaRPr lang="en-US" sz="1250" dirty="0"/>
          </a:p>
        </p:txBody>
      </p:sp>
      <p:sp>
        <p:nvSpPr>
          <p:cNvPr id="14" name="Text 12"/>
          <p:cNvSpPr/>
          <p:nvPr/>
        </p:nvSpPr>
        <p:spPr>
          <a:xfrm>
            <a:off x="3931920" y="2514600"/>
            <a:ext cx="1335024" cy="457200"/>
          </a:xfrm>
          <a:prstGeom prst="rect">
            <a:avLst/>
          </a:prstGeom>
          <a:noFill/>
          <a:ln/>
        </p:spPr>
        <p:txBody>
          <a:bodyPr wrap="square" lIns="0" tIns="0" rIns="0" bIns="0" rtlCol="0" anchor="t"/>
          <a:lstStyle/>
          <a:p>
            <a:pPr marL="0" indent="0" algn="ctr">
              <a:buNone/>
            </a:pPr>
            <a:r>
              <a:rPr lang="en-US" sz="1000" dirty="0">
                <a:solidFill>
                  <a:srgbClr val="62707F"/>
                </a:solidFill>
                <a:latin typeface="Calibri" pitchFamily="34" charset="0"/>
                <a:ea typeface="Calibri" pitchFamily="34" charset="-122"/>
                <a:cs typeface="Calibri" pitchFamily="34" charset="-120"/>
              </a:rPr>
              <a:t>input features</a:t>
            </a:r>
            <a:endParaRPr lang="en-US" sz="1000" dirty="0"/>
          </a:p>
        </p:txBody>
      </p:sp>
      <p:sp>
        <p:nvSpPr>
          <p:cNvPr id="15" name="Shape 13"/>
          <p:cNvSpPr/>
          <p:nvPr/>
        </p:nvSpPr>
        <p:spPr>
          <a:xfrm>
            <a:off x="5344668" y="2395728"/>
            <a:ext cx="118872" cy="146304"/>
          </a:xfrm>
          <a:prstGeom prst="rightArrow">
            <a:avLst/>
          </a:prstGeom>
          <a:solidFill>
            <a:srgbClr val="0E8A8F"/>
          </a:solidFill>
          <a:ln/>
        </p:spPr>
        <p:txBody>
          <a:bodyPr/>
          <a:lstStyle/>
          <a:p>
            <a:endParaRPr lang="en-US"/>
          </a:p>
        </p:txBody>
      </p:sp>
      <p:sp>
        <p:nvSpPr>
          <p:cNvPr id="16" name="Shape 14"/>
          <p:cNvSpPr/>
          <p:nvPr/>
        </p:nvSpPr>
        <p:spPr>
          <a:xfrm>
            <a:off x="5468112" y="1874520"/>
            <a:ext cx="1481328" cy="1188720"/>
          </a:xfrm>
          <a:prstGeom prst="roundRect">
            <a:avLst>
              <a:gd name="adj" fmla="val 6923"/>
            </a:avLst>
          </a:prstGeom>
          <a:solidFill>
            <a:srgbClr val="12233A"/>
          </a:solidFill>
          <a:ln/>
        </p:spPr>
        <p:txBody>
          <a:bodyPr/>
          <a:lstStyle/>
          <a:p>
            <a:endParaRPr lang="en-US"/>
          </a:p>
        </p:txBody>
      </p:sp>
      <p:sp>
        <p:nvSpPr>
          <p:cNvPr id="17" name="Text 15"/>
          <p:cNvSpPr/>
          <p:nvPr/>
        </p:nvSpPr>
        <p:spPr>
          <a:xfrm>
            <a:off x="5559552" y="2011680"/>
            <a:ext cx="1298448"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BiLSTM</a:t>
            </a:r>
            <a:endParaRPr lang="en-US" sz="1250" dirty="0"/>
          </a:p>
        </p:txBody>
      </p:sp>
      <p:sp>
        <p:nvSpPr>
          <p:cNvPr id="18" name="Text 16"/>
          <p:cNvSpPr/>
          <p:nvPr/>
        </p:nvSpPr>
        <p:spPr>
          <a:xfrm>
            <a:off x="5541264" y="2514600"/>
            <a:ext cx="1335024" cy="457200"/>
          </a:xfrm>
          <a:prstGeom prst="rect">
            <a:avLst/>
          </a:prstGeom>
          <a:noFill/>
          <a:ln/>
        </p:spPr>
        <p:txBody>
          <a:bodyPr wrap="square" lIns="0" tIns="0" rIns="0" bIns="0" rtlCol="0" anchor="t"/>
          <a:lstStyle/>
          <a:p>
            <a:pPr marL="0" indent="0" algn="ctr">
              <a:buNone/>
            </a:pPr>
            <a:r>
              <a:rPr lang="en-US" sz="1000" dirty="0">
                <a:solidFill>
                  <a:srgbClr val="C9D9E8"/>
                </a:solidFill>
                <a:latin typeface="Calibri" pitchFamily="34" charset="0"/>
                <a:ea typeface="Calibri" pitchFamily="34" charset="-122"/>
                <a:cs typeface="Calibri" pitchFamily="34" charset="-120"/>
              </a:rPr>
              <a:t>packed sequences</a:t>
            </a:r>
            <a:endParaRPr lang="en-US" sz="1000" dirty="0"/>
          </a:p>
        </p:txBody>
      </p:sp>
      <p:sp>
        <p:nvSpPr>
          <p:cNvPr id="19" name="Shape 17"/>
          <p:cNvSpPr/>
          <p:nvPr/>
        </p:nvSpPr>
        <p:spPr>
          <a:xfrm>
            <a:off x="6954012" y="2395728"/>
            <a:ext cx="118872" cy="146304"/>
          </a:xfrm>
          <a:prstGeom prst="rightArrow">
            <a:avLst/>
          </a:prstGeom>
          <a:solidFill>
            <a:srgbClr val="0E8A8F"/>
          </a:solidFill>
          <a:ln/>
        </p:spPr>
        <p:txBody>
          <a:bodyPr/>
          <a:lstStyle/>
          <a:p>
            <a:endParaRPr lang="en-US"/>
          </a:p>
        </p:txBody>
      </p:sp>
      <p:sp>
        <p:nvSpPr>
          <p:cNvPr id="20" name="Shape 18"/>
          <p:cNvSpPr/>
          <p:nvPr/>
        </p:nvSpPr>
        <p:spPr>
          <a:xfrm>
            <a:off x="7077456" y="1874520"/>
            <a:ext cx="1481328" cy="1188720"/>
          </a:xfrm>
          <a:prstGeom prst="roundRect">
            <a:avLst>
              <a:gd name="adj" fmla="val 6923"/>
            </a:avLst>
          </a:prstGeom>
          <a:solidFill>
            <a:srgbClr val="12233A"/>
          </a:solidFill>
          <a:ln/>
        </p:spPr>
        <p:txBody>
          <a:bodyPr/>
          <a:lstStyle/>
          <a:p>
            <a:endParaRPr lang="en-US"/>
          </a:p>
        </p:txBody>
      </p:sp>
      <p:sp>
        <p:nvSpPr>
          <p:cNvPr id="21" name="Text 19"/>
          <p:cNvSpPr/>
          <p:nvPr/>
        </p:nvSpPr>
        <p:spPr>
          <a:xfrm>
            <a:off x="7168896" y="2011680"/>
            <a:ext cx="1298448"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Linear + Sigmoid</a:t>
            </a:r>
            <a:endParaRPr lang="en-US" sz="1250" dirty="0"/>
          </a:p>
        </p:txBody>
      </p:sp>
      <p:sp>
        <p:nvSpPr>
          <p:cNvPr id="22" name="Text 20"/>
          <p:cNvSpPr/>
          <p:nvPr/>
        </p:nvSpPr>
        <p:spPr>
          <a:xfrm>
            <a:off x="7150608" y="2514600"/>
            <a:ext cx="1335024" cy="457200"/>
          </a:xfrm>
          <a:prstGeom prst="rect">
            <a:avLst/>
          </a:prstGeom>
          <a:noFill/>
          <a:ln/>
        </p:spPr>
        <p:txBody>
          <a:bodyPr wrap="square" lIns="0" tIns="0" rIns="0" bIns="0" rtlCol="0" anchor="t"/>
          <a:lstStyle/>
          <a:p>
            <a:pPr marL="0" indent="0" algn="ctr">
              <a:buNone/>
            </a:pPr>
            <a:r>
              <a:rPr lang="en-US" sz="1000" dirty="0">
                <a:solidFill>
                  <a:srgbClr val="C9D9E8"/>
                </a:solidFill>
                <a:latin typeface="Calibri" pitchFamily="34" charset="0"/>
                <a:ea typeface="Calibri" pitchFamily="34" charset="-122"/>
                <a:cs typeface="Calibri" pitchFamily="34" charset="-120"/>
              </a:rPr>
              <a:t>257 gain values</a:t>
            </a:r>
            <a:endParaRPr lang="en-US" sz="1000" dirty="0"/>
          </a:p>
        </p:txBody>
      </p:sp>
      <p:sp>
        <p:nvSpPr>
          <p:cNvPr id="23" name="Shape 21"/>
          <p:cNvSpPr/>
          <p:nvPr/>
        </p:nvSpPr>
        <p:spPr>
          <a:xfrm>
            <a:off x="8563356" y="2395728"/>
            <a:ext cx="118872" cy="146304"/>
          </a:xfrm>
          <a:prstGeom prst="rightArrow">
            <a:avLst/>
          </a:prstGeom>
          <a:solidFill>
            <a:srgbClr val="0E8A8F"/>
          </a:solidFill>
          <a:ln/>
        </p:spPr>
        <p:txBody>
          <a:bodyPr/>
          <a:lstStyle/>
          <a:p>
            <a:endParaRPr lang="en-US"/>
          </a:p>
        </p:txBody>
      </p:sp>
      <p:sp>
        <p:nvSpPr>
          <p:cNvPr id="24" name="Shape 22"/>
          <p:cNvSpPr/>
          <p:nvPr/>
        </p:nvSpPr>
        <p:spPr>
          <a:xfrm>
            <a:off x="8686800" y="1874520"/>
            <a:ext cx="1481328" cy="1188720"/>
          </a:xfrm>
          <a:prstGeom prst="roundRect">
            <a:avLst>
              <a:gd name="adj" fmla="val 6923"/>
            </a:avLst>
          </a:prstGeom>
          <a:solidFill>
            <a:srgbClr val="FFFFFF"/>
          </a:solidFill>
          <a:ln w="12700">
            <a:solidFill>
              <a:srgbClr val="DFE5EB"/>
            </a:solidFill>
            <a:prstDash val="solid"/>
          </a:ln>
        </p:spPr>
        <p:txBody>
          <a:bodyPr/>
          <a:lstStyle/>
          <a:p>
            <a:endParaRPr lang="en-US"/>
          </a:p>
        </p:txBody>
      </p:sp>
      <p:sp>
        <p:nvSpPr>
          <p:cNvPr id="25" name="Text 23"/>
          <p:cNvSpPr/>
          <p:nvPr/>
        </p:nvSpPr>
        <p:spPr>
          <a:xfrm>
            <a:off x="8778240" y="2011680"/>
            <a:ext cx="1298448" cy="502920"/>
          </a:xfrm>
          <a:prstGeom prst="rect">
            <a:avLst/>
          </a:prstGeom>
          <a:noFill/>
          <a:ln/>
        </p:spPr>
        <p:txBody>
          <a:bodyPr wrap="square" lIns="0" tIns="0" rIns="0" bIns="0" rtlCol="0" anchor="ctr"/>
          <a:lstStyle/>
          <a:p>
            <a:pPr marL="0" indent="0" algn="ctr">
              <a:buNone/>
            </a:pPr>
            <a:r>
              <a:rPr lang="en-US" sz="1250" b="1" dirty="0">
                <a:solidFill>
                  <a:srgbClr val="12233A"/>
                </a:solidFill>
                <a:latin typeface="Calibri" pitchFamily="34" charset="0"/>
                <a:ea typeface="Calibri" pitchFamily="34" charset="-122"/>
                <a:cs typeface="Calibri" pitchFamily="34" charset="-120"/>
              </a:rPr>
              <a:t>Mask × |Y|</a:t>
            </a:r>
            <a:endParaRPr lang="en-US" sz="1250" dirty="0"/>
          </a:p>
        </p:txBody>
      </p:sp>
      <p:sp>
        <p:nvSpPr>
          <p:cNvPr id="26" name="Text 24"/>
          <p:cNvSpPr/>
          <p:nvPr/>
        </p:nvSpPr>
        <p:spPr>
          <a:xfrm>
            <a:off x="8759952" y="2514600"/>
            <a:ext cx="1335024" cy="457200"/>
          </a:xfrm>
          <a:prstGeom prst="rect">
            <a:avLst/>
          </a:prstGeom>
          <a:noFill/>
          <a:ln/>
        </p:spPr>
        <p:txBody>
          <a:bodyPr wrap="square" lIns="0" tIns="0" rIns="0" bIns="0" rtlCol="0" anchor="t"/>
          <a:lstStyle/>
          <a:p>
            <a:pPr marL="0" indent="0" algn="ctr">
              <a:buNone/>
            </a:pPr>
            <a:r>
              <a:rPr lang="en-US" sz="1000" dirty="0">
                <a:solidFill>
                  <a:srgbClr val="62707F"/>
                </a:solidFill>
                <a:latin typeface="Calibri" pitchFamily="34" charset="0"/>
                <a:ea typeface="Calibri" pitchFamily="34" charset="-122"/>
                <a:cs typeface="Calibri" pitchFamily="34" charset="-120"/>
              </a:rPr>
              <a:t>clean magnitude</a:t>
            </a:r>
            <a:endParaRPr lang="en-US" sz="1000" dirty="0"/>
          </a:p>
        </p:txBody>
      </p:sp>
      <p:sp>
        <p:nvSpPr>
          <p:cNvPr id="27" name="Shape 25"/>
          <p:cNvSpPr/>
          <p:nvPr/>
        </p:nvSpPr>
        <p:spPr>
          <a:xfrm>
            <a:off x="10172700" y="2395728"/>
            <a:ext cx="118872" cy="146304"/>
          </a:xfrm>
          <a:prstGeom prst="rightArrow">
            <a:avLst/>
          </a:prstGeom>
          <a:solidFill>
            <a:srgbClr val="0E8A8F"/>
          </a:solidFill>
          <a:ln/>
        </p:spPr>
        <p:txBody>
          <a:bodyPr/>
          <a:lstStyle/>
          <a:p>
            <a:endParaRPr lang="en-US"/>
          </a:p>
        </p:txBody>
      </p:sp>
      <p:sp>
        <p:nvSpPr>
          <p:cNvPr id="28" name="Shape 26"/>
          <p:cNvSpPr/>
          <p:nvPr/>
        </p:nvSpPr>
        <p:spPr>
          <a:xfrm>
            <a:off x="10296144" y="1874520"/>
            <a:ext cx="1481328" cy="1188720"/>
          </a:xfrm>
          <a:prstGeom prst="roundRect">
            <a:avLst>
              <a:gd name="adj" fmla="val 6923"/>
            </a:avLst>
          </a:prstGeom>
          <a:solidFill>
            <a:srgbClr val="FFFFFF"/>
          </a:solidFill>
          <a:ln w="12700">
            <a:solidFill>
              <a:srgbClr val="DFE5EB"/>
            </a:solidFill>
            <a:prstDash val="solid"/>
          </a:ln>
        </p:spPr>
        <p:txBody>
          <a:bodyPr/>
          <a:lstStyle/>
          <a:p>
            <a:endParaRPr lang="en-US"/>
          </a:p>
        </p:txBody>
      </p:sp>
      <p:sp>
        <p:nvSpPr>
          <p:cNvPr id="29" name="Text 27"/>
          <p:cNvSpPr/>
          <p:nvPr/>
        </p:nvSpPr>
        <p:spPr>
          <a:xfrm>
            <a:off x="10387584" y="2011680"/>
            <a:ext cx="1298448" cy="502920"/>
          </a:xfrm>
          <a:prstGeom prst="rect">
            <a:avLst/>
          </a:prstGeom>
          <a:noFill/>
          <a:ln/>
        </p:spPr>
        <p:txBody>
          <a:bodyPr wrap="square" lIns="0" tIns="0" rIns="0" bIns="0" rtlCol="0" anchor="ctr"/>
          <a:lstStyle/>
          <a:p>
            <a:pPr marL="0" indent="0" algn="ctr">
              <a:buNone/>
            </a:pPr>
            <a:r>
              <a:rPr lang="en-US" sz="1250" b="1" dirty="0">
                <a:solidFill>
                  <a:srgbClr val="12233A"/>
                </a:solidFill>
                <a:latin typeface="Calibri" pitchFamily="34" charset="0"/>
                <a:ea typeface="Calibri" pitchFamily="34" charset="-122"/>
                <a:cs typeface="Calibri" pitchFamily="34" charset="-120"/>
              </a:rPr>
              <a:t>iSTFT</a:t>
            </a:r>
            <a:endParaRPr lang="en-US" sz="1250" dirty="0"/>
          </a:p>
        </p:txBody>
      </p:sp>
      <p:sp>
        <p:nvSpPr>
          <p:cNvPr id="30" name="Text 28"/>
          <p:cNvSpPr/>
          <p:nvPr/>
        </p:nvSpPr>
        <p:spPr>
          <a:xfrm>
            <a:off x="10369296" y="2514600"/>
            <a:ext cx="1335024" cy="457200"/>
          </a:xfrm>
          <a:prstGeom prst="rect">
            <a:avLst/>
          </a:prstGeom>
          <a:noFill/>
          <a:ln/>
        </p:spPr>
        <p:txBody>
          <a:bodyPr wrap="square" lIns="0" tIns="0" rIns="0" bIns="0" rtlCol="0" anchor="t"/>
          <a:lstStyle/>
          <a:p>
            <a:pPr marL="0" indent="0" algn="ctr">
              <a:buNone/>
            </a:pPr>
            <a:r>
              <a:rPr lang="en-US" sz="1000" dirty="0">
                <a:solidFill>
                  <a:srgbClr val="62707F"/>
                </a:solidFill>
                <a:latin typeface="Calibri" pitchFamily="34" charset="0"/>
                <a:ea typeface="Calibri" pitchFamily="34" charset="-122"/>
                <a:cs typeface="Calibri" pitchFamily="34" charset="-120"/>
              </a:rPr>
              <a:t>noisy phase</a:t>
            </a:r>
            <a:endParaRPr lang="en-US" sz="1000" dirty="0"/>
          </a:p>
        </p:txBody>
      </p:sp>
      <p:sp>
        <p:nvSpPr>
          <p:cNvPr id="31" name="Text 29"/>
          <p:cNvSpPr/>
          <p:nvPr/>
        </p:nvSpPr>
        <p:spPr>
          <a:xfrm>
            <a:off x="640080" y="3429000"/>
            <a:ext cx="2011680" cy="384048"/>
          </a:xfrm>
          <a:prstGeom prst="rect">
            <a:avLst/>
          </a:prstGeom>
          <a:noFill/>
          <a:ln/>
        </p:spPr>
        <p:txBody>
          <a:bodyPr wrap="square" lIns="0" tIns="0" rIns="0" bIns="0" rtlCol="0" anchor="ctr"/>
          <a:lstStyle/>
          <a:p>
            <a:pPr marL="0" indent="0">
              <a:buNone/>
            </a:pPr>
            <a:r>
              <a:rPr lang="en-US" sz="1250" b="1" dirty="0">
                <a:solidFill>
                  <a:srgbClr val="0E8A8F"/>
                </a:solidFill>
                <a:latin typeface="Calibri" pitchFamily="34" charset="0"/>
                <a:ea typeface="Calibri" pitchFamily="34" charset="-122"/>
                <a:cs typeface="Calibri" pitchFamily="34" charset="-120"/>
              </a:rPr>
              <a:t>Input size</a:t>
            </a:r>
            <a:endParaRPr lang="en-US" sz="1250" dirty="0"/>
          </a:p>
        </p:txBody>
      </p:sp>
      <p:sp>
        <p:nvSpPr>
          <p:cNvPr id="32" name="Text 30"/>
          <p:cNvSpPr/>
          <p:nvPr/>
        </p:nvSpPr>
        <p:spPr>
          <a:xfrm>
            <a:off x="2651760" y="3429000"/>
            <a:ext cx="4663440" cy="384048"/>
          </a:xfrm>
          <a:prstGeom prst="rect">
            <a:avLst/>
          </a:prstGeom>
          <a:noFill/>
          <a:ln/>
        </p:spPr>
        <p:txBody>
          <a:bodyPr wrap="square" lIns="0" tIns="0" rIns="0" bIns="0" rtlCol="0" anchor="ctr"/>
          <a:lstStyle/>
          <a:p>
            <a:pPr marL="0" indent="0">
              <a:buNone/>
            </a:pPr>
            <a:r>
              <a:rPr lang="en-US" sz="1250" dirty="0">
                <a:solidFill>
                  <a:srgbClr val="16202C"/>
                </a:solidFill>
                <a:latin typeface="Calibri" pitchFamily="34" charset="0"/>
                <a:ea typeface="Calibri" pitchFamily="34" charset="-122"/>
                <a:cs typeface="Calibri" pitchFamily="34" charset="-120"/>
              </a:rPr>
              <a:t>257 bins</a:t>
            </a:r>
            <a:endParaRPr lang="en-US" sz="1250" dirty="0"/>
          </a:p>
        </p:txBody>
      </p:sp>
      <p:sp>
        <p:nvSpPr>
          <p:cNvPr id="33" name="Shape 31"/>
          <p:cNvSpPr/>
          <p:nvPr/>
        </p:nvSpPr>
        <p:spPr>
          <a:xfrm>
            <a:off x="640080" y="3886200"/>
            <a:ext cx="6675120" cy="0"/>
          </a:xfrm>
          <a:prstGeom prst="line">
            <a:avLst/>
          </a:prstGeom>
          <a:noFill/>
          <a:ln w="12700">
            <a:solidFill>
              <a:srgbClr val="DFE5EB"/>
            </a:solidFill>
            <a:prstDash val="solid"/>
          </a:ln>
        </p:spPr>
        <p:txBody>
          <a:bodyPr/>
          <a:lstStyle/>
          <a:p>
            <a:endParaRPr lang="en-US"/>
          </a:p>
        </p:txBody>
      </p:sp>
      <p:sp>
        <p:nvSpPr>
          <p:cNvPr id="34" name="Text 32"/>
          <p:cNvSpPr/>
          <p:nvPr/>
        </p:nvSpPr>
        <p:spPr>
          <a:xfrm>
            <a:off x="640080" y="3977640"/>
            <a:ext cx="2011680" cy="384048"/>
          </a:xfrm>
          <a:prstGeom prst="rect">
            <a:avLst/>
          </a:prstGeom>
          <a:noFill/>
          <a:ln/>
        </p:spPr>
        <p:txBody>
          <a:bodyPr wrap="square" lIns="0" tIns="0" rIns="0" bIns="0" rtlCol="0" anchor="ctr"/>
          <a:lstStyle/>
          <a:p>
            <a:pPr marL="0" indent="0">
              <a:buNone/>
            </a:pPr>
            <a:r>
              <a:rPr lang="en-US" sz="1250" b="1" dirty="0">
                <a:solidFill>
                  <a:srgbClr val="0E8A8F"/>
                </a:solidFill>
                <a:latin typeface="Calibri" pitchFamily="34" charset="0"/>
                <a:ea typeface="Calibri" pitchFamily="34" charset="-122"/>
                <a:cs typeface="Calibri" pitchFamily="34" charset="-120"/>
              </a:rPr>
              <a:t>Direction</a:t>
            </a:r>
            <a:endParaRPr lang="en-US" sz="1250" dirty="0"/>
          </a:p>
        </p:txBody>
      </p:sp>
      <p:sp>
        <p:nvSpPr>
          <p:cNvPr id="35" name="Text 33"/>
          <p:cNvSpPr/>
          <p:nvPr/>
        </p:nvSpPr>
        <p:spPr>
          <a:xfrm>
            <a:off x="2651760" y="3977640"/>
            <a:ext cx="4663440" cy="384048"/>
          </a:xfrm>
          <a:prstGeom prst="rect">
            <a:avLst/>
          </a:prstGeom>
          <a:noFill/>
          <a:ln/>
        </p:spPr>
        <p:txBody>
          <a:bodyPr wrap="square" lIns="0" tIns="0" rIns="0" bIns="0" rtlCol="0" anchor="ctr"/>
          <a:lstStyle/>
          <a:p>
            <a:pPr marL="0" indent="0">
              <a:buNone/>
            </a:pPr>
            <a:r>
              <a:rPr lang="en-US" sz="1250" dirty="0">
                <a:solidFill>
                  <a:srgbClr val="16202C"/>
                </a:solidFill>
                <a:latin typeface="Calibri" pitchFamily="34" charset="0"/>
                <a:ea typeface="Calibri" pitchFamily="34" charset="-122"/>
                <a:cs typeface="Calibri" pitchFamily="34" charset="-120"/>
              </a:rPr>
              <a:t>Bidirectional → 2 × hidden</a:t>
            </a:r>
            <a:endParaRPr lang="en-US" sz="1250" dirty="0"/>
          </a:p>
        </p:txBody>
      </p:sp>
      <p:sp>
        <p:nvSpPr>
          <p:cNvPr id="36" name="Shape 34"/>
          <p:cNvSpPr/>
          <p:nvPr/>
        </p:nvSpPr>
        <p:spPr>
          <a:xfrm>
            <a:off x="640080" y="4434840"/>
            <a:ext cx="6675120" cy="0"/>
          </a:xfrm>
          <a:prstGeom prst="line">
            <a:avLst/>
          </a:prstGeom>
          <a:noFill/>
          <a:ln w="12700">
            <a:solidFill>
              <a:srgbClr val="DFE5EB"/>
            </a:solidFill>
            <a:prstDash val="solid"/>
          </a:ln>
        </p:spPr>
        <p:txBody>
          <a:bodyPr/>
          <a:lstStyle/>
          <a:p>
            <a:endParaRPr lang="en-US"/>
          </a:p>
        </p:txBody>
      </p:sp>
      <p:sp>
        <p:nvSpPr>
          <p:cNvPr id="37" name="Text 35"/>
          <p:cNvSpPr/>
          <p:nvPr/>
        </p:nvSpPr>
        <p:spPr>
          <a:xfrm>
            <a:off x="640080" y="4526280"/>
            <a:ext cx="2011680" cy="384048"/>
          </a:xfrm>
          <a:prstGeom prst="rect">
            <a:avLst/>
          </a:prstGeom>
          <a:noFill/>
          <a:ln/>
        </p:spPr>
        <p:txBody>
          <a:bodyPr wrap="square" lIns="0" tIns="0" rIns="0" bIns="0" rtlCol="0" anchor="ctr"/>
          <a:lstStyle/>
          <a:p>
            <a:pPr marL="0" indent="0">
              <a:buNone/>
            </a:pPr>
            <a:r>
              <a:rPr lang="en-US" sz="1250" b="1" dirty="0">
                <a:solidFill>
                  <a:srgbClr val="0E8A8F"/>
                </a:solidFill>
                <a:latin typeface="Calibri" pitchFamily="34" charset="0"/>
                <a:ea typeface="Calibri" pitchFamily="34" charset="-122"/>
                <a:cs typeface="Calibri" pitchFamily="34" charset="-120"/>
              </a:rPr>
              <a:t>Output head</a:t>
            </a:r>
            <a:endParaRPr lang="en-US" sz="1250" dirty="0"/>
          </a:p>
        </p:txBody>
      </p:sp>
      <p:sp>
        <p:nvSpPr>
          <p:cNvPr id="38" name="Text 36"/>
          <p:cNvSpPr/>
          <p:nvPr/>
        </p:nvSpPr>
        <p:spPr>
          <a:xfrm>
            <a:off x="2651760" y="4526280"/>
            <a:ext cx="4663440" cy="384048"/>
          </a:xfrm>
          <a:prstGeom prst="rect">
            <a:avLst/>
          </a:prstGeom>
          <a:noFill/>
          <a:ln/>
        </p:spPr>
        <p:txBody>
          <a:bodyPr wrap="square" lIns="0" tIns="0" rIns="0" bIns="0" rtlCol="0" anchor="ctr"/>
          <a:lstStyle/>
          <a:p>
            <a:pPr marL="0" indent="0">
              <a:buNone/>
            </a:pPr>
            <a:r>
              <a:rPr lang="en-US" sz="1250" dirty="0">
                <a:solidFill>
                  <a:srgbClr val="16202C"/>
                </a:solidFill>
                <a:latin typeface="Calibri" pitchFamily="34" charset="0"/>
                <a:ea typeface="Calibri" pitchFamily="34" charset="-122"/>
                <a:cs typeface="Calibri" pitchFamily="34" charset="-120"/>
              </a:rPr>
              <a:t>Linear → Sigmoid, scaled by mask_max</a:t>
            </a:r>
            <a:endParaRPr lang="en-US" sz="1250" dirty="0"/>
          </a:p>
        </p:txBody>
      </p:sp>
      <p:sp>
        <p:nvSpPr>
          <p:cNvPr id="39" name="Shape 37"/>
          <p:cNvSpPr/>
          <p:nvPr/>
        </p:nvSpPr>
        <p:spPr>
          <a:xfrm>
            <a:off x="640080" y="4983480"/>
            <a:ext cx="6675120" cy="0"/>
          </a:xfrm>
          <a:prstGeom prst="line">
            <a:avLst/>
          </a:prstGeom>
          <a:noFill/>
          <a:ln w="12700">
            <a:solidFill>
              <a:srgbClr val="DFE5EB"/>
            </a:solidFill>
            <a:prstDash val="solid"/>
          </a:ln>
        </p:spPr>
        <p:txBody>
          <a:bodyPr/>
          <a:lstStyle/>
          <a:p>
            <a:endParaRPr lang="en-US"/>
          </a:p>
        </p:txBody>
      </p:sp>
      <p:sp>
        <p:nvSpPr>
          <p:cNvPr id="40" name="Text 38"/>
          <p:cNvSpPr/>
          <p:nvPr/>
        </p:nvSpPr>
        <p:spPr>
          <a:xfrm>
            <a:off x="640080" y="5074920"/>
            <a:ext cx="2011680" cy="384048"/>
          </a:xfrm>
          <a:prstGeom prst="rect">
            <a:avLst/>
          </a:prstGeom>
          <a:noFill/>
          <a:ln/>
        </p:spPr>
        <p:txBody>
          <a:bodyPr wrap="square" lIns="0" tIns="0" rIns="0" bIns="0" rtlCol="0" anchor="ctr"/>
          <a:lstStyle/>
          <a:p>
            <a:pPr marL="0" indent="0">
              <a:buNone/>
            </a:pPr>
            <a:r>
              <a:rPr lang="en-US" sz="1250" b="1" dirty="0">
                <a:solidFill>
                  <a:srgbClr val="0E8A8F"/>
                </a:solidFill>
                <a:latin typeface="Calibri" pitchFamily="34" charset="0"/>
                <a:ea typeface="Calibri" pitchFamily="34" charset="-122"/>
                <a:cs typeface="Calibri" pitchFamily="34" charset="-120"/>
              </a:rPr>
              <a:t>Phase</a:t>
            </a:r>
            <a:endParaRPr lang="en-US" sz="1250" dirty="0"/>
          </a:p>
        </p:txBody>
      </p:sp>
      <p:sp>
        <p:nvSpPr>
          <p:cNvPr id="41" name="Text 39"/>
          <p:cNvSpPr/>
          <p:nvPr/>
        </p:nvSpPr>
        <p:spPr>
          <a:xfrm>
            <a:off x="2651760" y="5074920"/>
            <a:ext cx="4663440" cy="384048"/>
          </a:xfrm>
          <a:prstGeom prst="rect">
            <a:avLst/>
          </a:prstGeom>
          <a:noFill/>
          <a:ln/>
        </p:spPr>
        <p:txBody>
          <a:bodyPr wrap="square" lIns="0" tIns="0" rIns="0" bIns="0" rtlCol="0" anchor="ctr"/>
          <a:lstStyle/>
          <a:p>
            <a:pPr marL="0" indent="0">
              <a:buNone/>
            </a:pPr>
            <a:r>
              <a:rPr lang="en-US" sz="1250" dirty="0">
                <a:solidFill>
                  <a:srgbClr val="16202C"/>
                </a:solidFill>
                <a:latin typeface="Calibri" pitchFamily="34" charset="0"/>
                <a:ea typeface="Calibri" pitchFamily="34" charset="-122"/>
                <a:cs typeface="Calibri" pitchFamily="34" charset="-120"/>
              </a:rPr>
              <a:t>Reuse the noisy phase</a:t>
            </a:r>
            <a:endParaRPr lang="en-US" sz="1250" dirty="0"/>
          </a:p>
        </p:txBody>
      </p:sp>
      <p:sp>
        <p:nvSpPr>
          <p:cNvPr id="42" name="Shape 40"/>
          <p:cNvSpPr/>
          <p:nvPr/>
        </p:nvSpPr>
        <p:spPr>
          <a:xfrm>
            <a:off x="640080" y="5532120"/>
            <a:ext cx="6675120" cy="0"/>
          </a:xfrm>
          <a:prstGeom prst="line">
            <a:avLst/>
          </a:prstGeom>
          <a:noFill/>
          <a:ln w="12700">
            <a:solidFill>
              <a:srgbClr val="DFE5EB"/>
            </a:solidFill>
            <a:prstDash val="solid"/>
          </a:ln>
        </p:spPr>
        <p:txBody>
          <a:bodyPr/>
          <a:lstStyle/>
          <a:p>
            <a:endParaRPr lang="en-US"/>
          </a:p>
        </p:txBody>
      </p:sp>
      <p:sp>
        <p:nvSpPr>
          <p:cNvPr id="43" name="Shape 41"/>
          <p:cNvSpPr/>
          <p:nvPr/>
        </p:nvSpPr>
        <p:spPr>
          <a:xfrm>
            <a:off x="7772400" y="3429000"/>
            <a:ext cx="3767328" cy="2212848"/>
          </a:xfrm>
          <a:prstGeom prst="roundRect">
            <a:avLst>
              <a:gd name="adj" fmla="val 3719"/>
            </a:avLst>
          </a:prstGeom>
          <a:solidFill>
            <a:srgbClr val="E3F2F2"/>
          </a:solidFill>
          <a:ln/>
          <a:effectLst>
            <a:outerShdw blurRad="101600" dist="12700" dir="5400000" algn="bl" rotWithShape="0">
              <a:srgbClr val="9AA7B4">
                <a:alpha val="18000"/>
              </a:srgbClr>
            </a:outerShdw>
          </a:effectLst>
        </p:spPr>
        <p:txBody>
          <a:bodyPr/>
          <a:lstStyle/>
          <a:p>
            <a:endParaRPr lang="en-US"/>
          </a:p>
        </p:txBody>
      </p:sp>
      <p:sp>
        <p:nvSpPr>
          <p:cNvPr id="44" name="Text 42"/>
          <p:cNvSpPr/>
          <p:nvPr/>
        </p:nvSpPr>
        <p:spPr>
          <a:xfrm>
            <a:off x="8028432" y="3611880"/>
            <a:ext cx="3255264" cy="274320"/>
          </a:xfrm>
          <a:prstGeom prst="rect">
            <a:avLst/>
          </a:prstGeom>
          <a:noFill/>
          <a:ln/>
        </p:spPr>
        <p:txBody>
          <a:bodyPr wrap="square" lIns="0" tIns="0" rIns="0" bIns="0" rtlCol="0" anchor="ctr"/>
          <a:lstStyle/>
          <a:p>
            <a:pPr marL="0" indent="0">
              <a:buNone/>
            </a:pPr>
            <a:r>
              <a:rPr lang="en-US" sz="1250" b="1" dirty="0">
                <a:solidFill>
                  <a:srgbClr val="12233A"/>
                </a:solidFill>
                <a:latin typeface="Calibri" pitchFamily="34" charset="0"/>
                <a:ea typeface="Calibri" pitchFamily="34" charset="-122"/>
                <a:cs typeface="Calibri" pitchFamily="34" charset="-120"/>
              </a:rPr>
              <a:t>Mask or magnitude</a:t>
            </a:r>
            <a:endParaRPr lang="en-US" sz="1250" dirty="0"/>
          </a:p>
        </p:txBody>
      </p:sp>
      <p:sp>
        <p:nvSpPr>
          <p:cNvPr id="45" name="Text 43"/>
          <p:cNvSpPr/>
          <p:nvPr/>
        </p:nvSpPr>
        <p:spPr>
          <a:xfrm>
            <a:off x="8028432" y="3950208"/>
            <a:ext cx="3255264" cy="1554480"/>
          </a:xfrm>
          <a:prstGeom prst="rect">
            <a:avLst/>
          </a:prstGeom>
          <a:noFill/>
          <a:ln/>
        </p:spPr>
        <p:txBody>
          <a:bodyPr wrap="square" lIns="0" tIns="0" rIns="0" bIns="0" rtlCol="0" anchor="t"/>
          <a:lstStyle/>
          <a:p>
            <a:pPr marL="0" indent="0">
              <a:buNone/>
            </a:pPr>
            <a:r>
              <a:rPr lang="en-US" sz="1300" dirty="0">
                <a:solidFill>
                  <a:srgbClr val="12233A"/>
                </a:solidFill>
                <a:latin typeface="Calibri" pitchFamily="34" charset="0"/>
                <a:ea typeface="Calibri" pitchFamily="34" charset="-122"/>
                <a:cs typeface="Calibri" pitchFamily="34" charset="-120"/>
              </a:rPr>
              <a:t>The sigmoid head predicts a gain from 0 to 1. The softplus head predicts the magnitude. The mask is easier to learn.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STAGE 4</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Training the network</a:t>
            </a:r>
            <a:endParaRPr lang="en-US" sz="3000" dirty="0"/>
          </a:p>
        </p:txBody>
      </p:sp>
      <p:sp>
        <p:nvSpPr>
          <p:cNvPr id="4" name="Shape 2"/>
          <p:cNvSpPr/>
          <p:nvPr/>
        </p:nvSpPr>
        <p:spPr>
          <a:xfrm>
            <a:off x="640080" y="1691640"/>
            <a:ext cx="5285232" cy="1371600"/>
          </a:xfrm>
          <a:prstGeom prst="roundRect">
            <a:avLst>
              <a:gd name="adj" fmla="val 6000"/>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5" name="Shape 3"/>
          <p:cNvSpPr/>
          <p:nvPr/>
        </p:nvSpPr>
        <p:spPr>
          <a:xfrm>
            <a:off x="877824" y="1947672"/>
            <a:ext cx="274320" cy="274320"/>
          </a:xfrm>
          <a:prstGeom prst="ellipse">
            <a:avLst/>
          </a:prstGeom>
          <a:solidFill>
            <a:srgbClr val="0E8A8F"/>
          </a:solidFill>
          <a:ln/>
        </p:spPr>
        <p:txBody>
          <a:bodyPr/>
          <a:lstStyle/>
          <a:p>
            <a:endParaRPr lang="en-US"/>
          </a:p>
        </p:txBody>
      </p:sp>
      <p:sp>
        <p:nvSpPr>
          <p:cNvPr id="6" name="Text 4"/>
          <p:cNvSpPr/>
          <p:nvPr/>
        </p:nvSpPr>
        <p:spPr>
          <a:xfrm>
            <a:off x="1280160" y="1874520"/>
            <a:ext cx="4480560" cy="310896"/>
          </a:xfrm>
          <a:prstGeom prst="rect">
            <a:avLst/>
          </a:prstGeom>
          <a:noFill/>
          <a:ln/>
        </p:spPr>
        <p:txBody>
          <a:bodyPr wrap="square" lIns="0" tIns="0" rIns="0" bIns="0"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Variable-length batching</a:t>
            </a:r>
            <a:endParaRPr lang="en-US" sz="1400" dirty="0"/>
          </a:p>
        </p:txBody>
      </p:sp>
      <p:sp>
        <p:nvSpPr>
          <p:cNvPr id="7" name="Text 5"/>
          <p:cNvSpPr/>
          <p:nvPr/>
        </p:nvSpPr>
        <p:spPr>
          <a:xfrm>
            <a:off x="1280160" y="2221992"/>
            <a:ext cx="4480560" cy="749808"/>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Pad each batch, then pack. The LSTM skips the padding.</a:t>
            </a:r>
            <a:endParaRPr lang="en-US" sz="1300" dirty="0"/>
          </a:p>
        </p:txBody>
      </p:sp>
      <p:sp>
        <p:nvSpPr>
          <p:cNvPr id="8" name="Shape 6"/>
          <p:cNvSpPr/>
          <p:nvPr/>
        </p:nvSpPr>
        <p:spPr>
          <a:xfrm>
            <a:off x="6254496" y="1691640"/>
            <a:ext cx="5285232" cy="1371600"/>
          </a:xfrm>
          <a:prstGeom prst="roundRect">
            <a:avLst>
              <a:gd name="adj" fmla="val 6000"/>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9" name="Shape 7"/>
          <p:cNvSpPr/>
          <p:nvPr/>
        </p:nvSpPr>
        <p:spPr>
          <a:xfrm>
            <a:off x="6492240" y="1947672"/>
            <a:ext cx="274320" cy="274320"/>
          </a:xfrm>
          <a:prstGeom prst="ellipse">
            <a:avLst/>
          </a:prstGeom>
          <a:solidFill>
            <a:srgbClr val="E08A3C"/>
          </a:solidFill>
          <a:ln/>
        </p:spPr>
        <p:txBody>
          <a:bodyPr/>
          <a:lstStyle/>
          <a:p>
            <a:endParaRPr lang="en-US"/>
          </a:p>
        </p:txBody>
      </p:sp>
      <p:sp>
        <p:nvSpPr>
          <p:cNvPr id="10" name="Text 8"/>
          <p:cNvSpPr/>
          <p:nvPr/>
        </p:nvSpPr>
        <p:spPr>
          <a:xfrm>
            <a:off x="6894576" y="1874520"/>
            <a:ext cx="4480560" cy="310896"/>
          </a:xfrm>
          <a:prstGeom prst="rect">
            <a:avLst/>
          </a:prstGeom>
          <a:noFill/>
          <a:ln/>
        </p:spPr>
        <p:txBody>
          <a:bodyPr wrap="square" lIns="0" tIns="0" rIns="0" bIns="0"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Masked MSE loss</a:t>
            </a:r>
            <a:endParaRPr lang="en-US" sz="1400" dirty="0"/>
          </a:p>
        </p:txBody>
      </p:sp>
      <p:sp>
        <p:nvSpPr>
          <p:cNvPr id="11" name="Text 9"/>
          <p:cNvSpPr/>
          <p:nvPr/>
        </p:nvSpPr>
        <p:spPr>
          <a:xfrm>
            <a:off x="6894576" y="2221992"/>
            <a:ext cx="4480560" cy="749808"/>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The loss ignores every padded frame.</a:t>
            </a:r>
            <a:endParaRPr lang="en-US" sz="1300" dirty="0"/>
          </a:p>
        </p:txBody>
      </p:sp>
      <p:sp>
        <p:nvSpPr>
          <p:cNvPr id="12" name="Shape 10"/>
          <p:cNvSpPr/>
          <p:nvPr/>
        </p:nvSpPr>
        <p:spPr>
          <a:xfrm>
            <a:off x="640080" y="3264408"/>
            <a:ext cx="5285232" cy="1371600"/>
          </a:xfrm>
          <a:prstGeom prst="roundRect">
            <a:avLst>
              <a:gd name="adj" fmla="val 6000"/>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13" name="Shape 11"/>
          <p:cNvSpPr/>
          <p:nvPr/>
        </p:nvSpPr>
        <p:spPr>
          <a:xfrm>
            <a:off x="877824" y="3520440"/>
            <a:ext cx="274320" cy="274320"/>
          </a:xfrm>
          <a:prstGeom prst="ellipse">
            <a:avLst/>
          </a:prstGeom>
          <a:solidFill>
            <a:srgbClr val="0E8A8F"/>
          </a:solidFill>
          <a:ln/>
        </p:spPr>
        <p:txBody>
          <a:bodyPr/>
          <a:lstStyle/>
          <a:p>
            <a:endParaRPr lang="en-US"/>
          </a:p>
        </p:txBody>
      </p:sp>
      <p:sp>
        <p:nvSpPr>
          <p:cNvPr id="14" name="Text 12"/>
          <p:cNvSpPr/>
          <p:nvPr/>
        </p:nvSpPr>
        <p:spPr>
          <a:xfrm>
            <a:off x="1280160" y="3447288"/>
            <a:ext cx="4480560" cy="310896"/>
          </a:xfrm>
          <a:prstGeom prst="rect">
            <a:avLst/>
          </a:prstGeom>
          <a:noFill/>
          <a:ln/>
        </p:spPr>
        <p:txBody>
          <a:bodyPr wrap="square" lIns="0" tIns="0" rIns="0" bIns="0"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Adam, checkpoint every epoch</a:t>
            </a:r>
            <a:endParaRPr lang="en-US" sz="1400" dirty="0"/>
          </a:p>
        </p:txBody>
      </p:sp>
      <p:sp>
        <p:nvSpPr>
          <p:cNvPr id="15" name="Text 13"/>
          <p:cNvSpPr/>
          <p:nvPr/>
        </p:nvSpPr>
        <p:spPr>
          <a:xfrm>
            <a:off x="1280160" y="3794760"/>
            <a:ext cx="4480560" cy="749808"/>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Validate each epoch. Keep the best checkpoint.</a:t>
            </a:r>
            <a:endParaRPr lang="en-US" sz="1300" dirty="0"/>
          </a:p>
        </p:txBody>
      </p:sp>
      <p:sp>
        <p:nvSpPr>
          <p:cNvPr id="16" name="Shape 14"/>
          <p:cNvSpPr/>
          <p:nvPr/>
        </p:nvSpPr>
        <p:spPr>
          <a:xfrm>
            <a:off x="6254496" y="3264408"/>
            <a:ext cx="5285232" cy="1371600"/>
          </a:xfrm>
          <a:prstGeom prst="roundRect">
            <a:avLst>
              <a:gd name="adj" fmla="val 6000"/>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17" name="Shape 15"/>
          <p:cNvSpPr/>
          <p:nvPr/>
        </p:nvSpPr>
        <p:spPr>
          <a:xfrm>
            <a:off x="6492240" y="3520440"/>
            <a:ext cx="274320" cy="274320"/>
          </a:xfrm>
          <a:prstGeom prst="ellipse">
            <a:avLst/>
          </a:prstGeom>
          <a:solidFill>
            <a:srgbClr val="E08A3C"/>
          </a:solidFill>
          <a:ln/>
        </p:spPr>
        <p:txBody>
          <a:bodyPr/>
          <a:lstStyle/>
          <a:p>
            <a:endParaRPr lang="en-US"/>
          </a:p>
        </p:txBody>
      </p:sp>
      <p:sp>
        <p:nvSpPr>
          <p:cNvPr id="18" name="Text 16"/>
          <p:cNvSpPr/>
          <p:nvPr/>
        </p:nvSpPr>
        <p:spPr>
          <a:xfrm>
            <a:off x="6894576" y="3447288"/>
            <a:ext cx="4480560" cy="310896"/>
          </a:xfrm>
          <a:prstGeom prst="rect">
            <a:avLst/>
          </a:prstGeom>
          <a:noFill/>
          <a:ln/>
        </p:spPr>
        <p:txBody>
          <a:bodyPr wrap="square" lIns="0" tIns="0" rIns="0" bIns="0"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Grid-search tuning</a:t>
            </a:r>
            <a:endParaRPr lang="en-US" sz="1400" dirty="0"/>
          </a:p>
        </p:txBody>
      </p:sp>
      <p:sp>
        <p:nvSpPr>
          <p:cNvPr id="19" name="Text 17"/>
          <p:cNvSpPr/>
          <p:nvPr/>
        </p:nvSpPr>
        <p:spPr>
          <a:xfrm>
            <a:off x="6894576" y="3794760"/>
            <a:ext cx="4480560" cy="749808"/>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Short runs pick the hyperparameters. Then retrain.</a:t>
            </a:r>
            <a:endParaRPr lang="en-US" sz="1300" dirty="0"/>
          </a:p>
        </p:txBody>
      </p:sp>
      <p:sp>
        <p:nvSpPr>
          <p:cNvPr id="20" name="Shape 18"/>
          <p:cNvSpPr/>
          <p:nvPr/>
        </p:nvSpPr>
        <p:spPr>
          <a:xfrm>
            <a:off x="640080" y="4937760"/>
            <a:ext cx="10899648" cy="868680"/>
          </a:xfrm>
          <a:prstGeom prst="roundRect">
            <a:avLst>
              <a:gd name="adj" fmla="val 9474"/>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21" name="Text 19"/>
          <p:cNvSpPr/>
          <p:nvPr/>
        </p:nvSpPr>
        <p:spPr>
          <a:xfrm>
            <a:off x="914400" y="4937760"/>
            <a:ext cx="10332720" cy="868680"/>
          </a:xfrm>
          <a:prstGeom prst="rect">
            <a:avLst/>
          </a:prstGeom>
          <a:noFill/>
          <a:ln/>
        </p:spPr>
        <p:txBody>
          <a:bodyPr wrap="square" lIns="0" tIns="0" rIns="0" bIns="0" rtlCol="0" anchor="ctr"/>
          <a:lstStyle/>
          <a:p>
            <a:pPr marL="0" indent="0">
              <a:buNone/>
            </a:pPr>
            <a:r>
              <a:rPr lang="en-US" sz="1300" b="1" dirty="0">
                <a:solidFill>
                  <a:srgbClr val="0E8A8F"/>
                </a:solidFill>
                <a:latin typeface="Calibri" pitchFamily="34" charset="0"/>
                <a:ea typeface="Calibri" pitchFamily="34" charset="-122"/>
                <a:cs typeface="Calibri" pitchFamily="34" charset="-120"/>
              </a:rPr>
              <a:t>Run A  </a:t>
            </a:r>
            <a:r>
              <a:rPr lang="en-US" sz="1300" dirty="0">
                <a:solidFill>
                  <a:srgbClr val="FFFFFF"/>
                </a:solidFill>
                <a:latin typeface="Calibri" pitchFamily="34" charset="0"/>
                <a:ea typeface="Calibri" pitchFamily="34" charset="-122"/>
                <a:cs typeface="Calibri" pitchFamily="34" charset="-120"/>
              </a:rPr>
              <a:t>16 kHz · unidirectional · 512-sample frames · 25 epochs · batch 4          </a:t>
            </a:r>
            <a:r>
              <a:rPr lang="en-US" sz="1300" b="1" dirty="0">
                <a:solidFill>
                  <a:srgbClr val="E08A3C"/>
                </a:solidFill>
                <a:latin typeface="Calibri" pitchFamily="34" charset="0"/>
                <a:ea typeface="Calibri" pitchFamily="34" charset="-122"/>
                <a:cs typeface="Calibri" pitchFamily="34" charset="-120"/>
              </a:rPr>
              <a:t>Run B  </a:t>
            </a:r>
            <a:r>
              <a:rPr lang="en-US" sz="1300" dirty="0">
                <a:solidFill>
                  <a:srgbClr val="FFFFFF"/>
                </a:solidFill>
                <a:latin typeface="Calibri" pitchFamily="34" charset="0"/>
                <a:ea typeface="Calibri" pitchFamily="34" charset="-122"/>
                <a:cs typeface="Calibri" pitchFamily="34" charset="-120"/>
              </a:rPr>
              <a:t>44.1 kHz · bidirectional · 2048-sample frames · 32 epochs · batch 8</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EVALUATION</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How to measure the result</a:t>
            </a:r>
            <a:endParaRPr lang="en-US" sz="3000" dirty="0"/>
          </a:p>
        </p:txBody>
      </p:sp>
      <p:sp>
        <p:nvSpPr>
          <p:cNvPr id="4" name="Text 2"/>
          <p:cNvSpPr/>
          <p:nvPr/>
        </p:nvSpPr>
        <p:spPr>
          <a:xfrm>
            <a:off x="640080" y="1627632"/>
            <a:ext cx="5212080" cy="274320"/>
          </a:xfrm>
          <a:prstGeom prst="rect">
            <a:avLst/>
          </a:prstGeom>
          <a:noFill/>
          <a:ln/>
        </p:spPr>
        <p:txBody>
          <a:bodyPr wrap="square" lIns="0" tIns="0" rIns="0" bIns="0" rtlCol="0" anchor="ctr"/>
          <a:lstStyle/>
          <a:p>
            <a:pPr marL="0" indent="0">
              <a:buNone/>
            </a:pPr>
            <a:r>
              <a:rPr lang="en-US" sz="1150" b="1" kern="0" spc="120" dirty="0">
                <a:solidFill>
                  <a:srgbClr val="0E8A8F"/>
                </a:solidFill>
                <a:latin typeface="Calibri" pitchFamily="34" charset="0"/>
                <a:ea typeface="Calibri" pitchFamily="34" charset="-122"/>
                <a:cs typeface="Calibri" pitchFamily="34" charset="-120"/>
              </a:rPr>
              <a:t>Optimization metrics</a:t>
            </a:r>
            <a:endParaRPr lang="en-US" sz="1150" dirty="0"/>
          </a:p>
        </p:txBody>
      </p:sp>
      <p:sp>
        <p:nvSpPr>
          <p:cNvPr id="5" name="Shape 3"/>
          <p:cNvSpPr/>
          <p:nvPr/>
        </p:nvSpPr>
        <p:spPr>
          <a:xfrm>
            <a:off x="640080" y="1965960"/>
            <a:ext cx="5257800" cy="914400"/>
          </a:xfrm>
          <a:prstGeom prst="roundRect">
            <a:avLst>
              <a:gd name="adj" fmla="val 9000"/>
            </a:avLst>
          </a:prstGeom>
          <a:solidFill>
            <a:srgbClr val="FFFFFF"/>
          </a:solidFill>
          <a:ln w="12700">
            <a:solidFill>
              <a:srgbClr val="DFE5EB"/>
            </a:solidFill>
            <a:prstDash val="solid"/>
          </a:ln>
        </p:spPr>
        <p:txBody>
          <a:bodyPr/>
          <a:lstStyle/>
          <a:p>
            <a:endParaRPr lang="en-US"/>
          </a:p>
        </p:txBody>
      </p:sp>
      <p:sp>
        <p:nvSpPr>
          <p:cNvPr id="6" name="Text 4"/>
          <p:cNvSpPr/>
          <p:nvPr/>
        </p:nvSpPr>
        <p:spPr>
          <a:xfrm>
            <a:off x="914400" y="2084832"/>
            <a:ext cx="4754880" cy="274320"/>
          </a:xfrm>
          <a:prstGeom prst="rect">
            <a:avLst/>
          </a:prstGeom>
          <a:noFill/>
          <a:ln/>
        </p:spPr>
        <p:txBody>
          <a:bodyPr wrap="square" lIns="0" tIns="0" rIns="0" bIns="0" rtlCol="0" anchor="ctr"/>
          <a:lstStyle/>
          <a:p>
            <a:pPr marL="0" indent="0">
              <a:buNone/>
            </a:pPr>
            <a:r>
              <a:rPr lang="en-US" sz="1350" b="1" dirty="0">
                <a:solidFill>
                  <a:srgbClr val="12233A"/>
                </a:solidFill>
                <a:latin typeface="Calibri" pitchFamily="34" charset="0"/>
                <a:ea typeface="Calibri" pitchFamily="34" charset="-122"/>
                <a:cs typeface="Calibri" pitchFamily="34" charset="-120"/>
              </a:rPr>
              <a:t>Validation loss / MSE</a:t>
            </a:r>
            <a:endParaRPr lang="en-US" sz="1350" dirty="0"/>
          </a:p>
        </p:txBody>
      </p:sp>
      <p:sp>
        <p:nvSpPr>
          <p:cNvPr id="7" name="Text 5"/>
          <p:cNvSpPr/>
          <p:nvPr/>
        </p:nvSpPr>
        <p:spPr>
          <a:xfrm>
            <a:off x="914400" y="2377440"/>
            <a:ext cx="4754880" cy="411480"/>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Squared error on speakers the model never saw.</a:t>
            </a:r>
            <a:endParaRPr lang="en-US" sz="1300" dirty="0"/>
          </a:p>
        </p:txBody>
      </p:sp>
      <p:sp>
        <p:nvSpPr>
          <p:cNvPr id="8" name="Shape 6"/>
          <p:cNvSpPr/>
          <p:nvPr/>
        </p:nvSpPr>
        <p:spPr>
          <a:xfrm>
            <a:off x="640080" y="3044952"/>
            <a:ext cx="5257800" cy="914400"/>
          </a:xfrm>
          <a:prstGeom prst="roundRect">
            <a:avLst>
              <a:gd name="adj" fmla="val 9000"/>
            </a:avLst>
          </a:prstGeom>
          <a:solidFill>
            <a:srgbClr val="FFFFFF"/>
          </a:solidFill>
          <a:ln w="12700">
            <a:solidFill>
              <a:srgbClr val="DFE5EB"/>
            </a:solidFill>
            <a:prstDash val="solid"/>
          </a:ln>
        </p:spPr>
        <p:txBody>
          <a:bodyPr/>
          <a:lstStyle/>
          <a:p>
            <a:endParaRPr lang="en-US"/>
          </a:p>
        </p:txBody>
      </p:sp>
      <p:sp>
        <p:nvSpPr>
          <p:cNvPr id="9" name="Text 7"/>
          <p:cNvSpPr/>
          <p:nvPr/>
        </p:nvSpPr>
        <p:spPr>
          <a:xfrm>
            <a:off x="914400" y="3163824"/>
            <a:ext cx="4754880" cy="274320"/>
          </a:xfrm>
          <a:prstGeom prst="rect">
            <a:avLst/>
          </a:prstGeom>
          <a:noFill/>
          <a:ln/>
        </p:spPr>
        <p:txBody>
          <a:bodyPr wrap="square" lIns="0" tIns="0" rIns="0" bIns="0" rtlCol="0" anchor="ctr"/>
          <a:lstStyle/>
          <a:p>
            <a:pPr marL="0" indent="0">
              <a:buNone/>
            </a:pPr>
            <a:r>
              <a:rPr lang="en-US" sz="1350" b="1" dirty="0">
                <a:solidFill>
                  <a:srgbClr val="12233A"/>
                </a:solidFill>
                <a:latin typeface="Calibri" pitchFamily="34" charset="0"/>
                <a:ea typeface="Calibri" pitchFamily="34" charset="-122"/>
                <a:cs typeface="Calibri" pitchFamily="34" charset="-120"/>
              </a:rPr>
              <a:t>R²</a:t>
            </a:r>
            <a:endParaRPr lang="en-US" sz="1350" dirty="0"/>
          </a:p>
        </p:txBody>
      </p:sp>
      <p:sp>
        <p:nvSpPr>
          <p:cNvPr id="10" name="Text 8"/>
          <p:cNvSpPr/>
          <p:nvPr/>
        </p:nvSpPr>
        <p:spPr>
          <a:xfrm>
            <a:off x="914400" y="3456432"/>
            <a:ext cx="4754880" cy="411480"/>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How much spectral variance the model explains.</a:t>
            </a:r>
            <a:endParaRPr lang="en-US" sz="1300" dirty="0"/>
          </a:p>
        </p:txBody>
      </p:sp>
      <p:sp>
        <p:nvSpPr>
          <p:cNvPr id="11" name="Shape 9"/>
          <p:cNvSpPr/>
          <p:nvPr/>
        </p:nvSpPr>
        <p:spPr>
          <a:xfrm>
            <a:off x="640080" y="4206240"/>
            <a:ext cx="5257800" cy="1417320"/>
          </a:xfrm>
          <a:prstGeom prst="roundRect">
            <a:avLst>
              <a:gd name="adj" fmla="val 5806"/>
            </a:avLst>
          </a:prstGeom>
          <a:solidFill>
            <a:srgbClr val="FBEEE1"/>
          </a:solidFill>
          <a:ln/>
          <a:effectLst>
            <a:outerShdw blurRad="101600" dist="12700" dir="5400000" algn="bl" rotWithShape="0">
              <a:srgbClr val="9AA7B4">
                <a:alpha val="18000"/>
              </a:srgbClr>
            </a:outerShdw>
          </a:effectLst>
        </p:spPr>
        <p:txBody>
          <a:bodyPr/>
          <a:lstStyle/>
          <a:p>
            <a:endParaRPr lang="en-US"/>
          </a:p>
        </p:txBody>
      </p:sp>
      <p:sp>
        <p:nvSpPr>
          <p:cNvPr id="12" name="Text 10"/>
          <p:cNvSpPr/>
          <p:nvPr/>
        </p:nvSpPr>
        <p:spPr>
          <a:xfrm>
            <a:off x="914400" y="4206240"/>
            <a:ext cx="4754880" cy="1417320"/>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Low MSE does not mean good audio.</a:t>
            </a:r>
            <a:endParaRPr lang="en-US" sz="1500" dirty="0"/>
          </a:p>
        </p:txBody>
      </p:sp>
      <p:sp>
        <p:nvSpPr>
          <p:cNvPr id="13" name="Text 11"/>
          <p:cNvSpPr/>
          <p:nvPr/>
        </p:nvSpPr>
        <p:spPr>
          <a:xfrm>
            <a:off x="6309360" y="1627632"/>
            <a:ext cx="5212080" cy="274320"/>
          </a:xfrm>
          <a:prstGeom prst="rect">
            <a:avLst/>
          </a:prstGeom>
          <a:noFill/>
          <a:ln/>
        </p:spPr>
        <p:txBody>
          <a:bodyPr wrap="square" lIns="0" tIns="0" rIns="0" bIns="0" rtlCol="0" anchor="ctr"/>
          <a:lstStyle/>
          <a:p>
            <a:pPr marL="0" indent="0">
              <a:buNone/>
            </a:pPr>
            <a:r>
              <a:rPr lang="en-US" sz="1150" b="1" kern="0" spc="120" dirty="0">
                <a:solidFill>
                  <a:srgbClr val="E08A3C"/>
                </a:solidFill>
                <a:latin typeface="Calibri" pitchFamily="34" charset="0"/>
                <a:ea typeface="Calibri" pitchFamily="34" charset="-122"/>
                <a:cs typeface="Calibri" pitchFamily="34" charset="-120"/>
              </a:rPr>
              <a:t>Perceptual / signal metrics</a:t>
            </a:r>
            <a:endParaRPr lang="en-US" sz="1150" dirty="0"/>
          </a:p>
        </p:txBody>
      </p:sp>
      <p:sp>
        <p:nvSpPr>
          <p:cNvPr id="14" name="Shape 12"/>
          <p:cNvSpPr/>
          <p:nvPr/>
        </p:nvSpPr>
        <p:spPr>
          <a:xfrm>
            <a:off x="6309360" y="1965960"/>
            <a:ext cx="5230368" cy="1115568"/>
          </a:xfrm>
          <a:prstGeom prst="roundRect">
            <a:avLst>
              <a:gd name="adj" fmla="val 7377"/>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15" name="Text 13"/>
          <p:cNvSpPr/>
          <p:nvPr/>
        </p:nvSpPr>
        <p:spPr>
          <a:xfrm>
            <a:off x="6583680" y="2093976"/>
            <a:ext cx="1828800" cy="310896"/>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PESQ</a:t>
            </a:r>
            <a:endParaRPr lang="en-US" sz="1700" dirty="0"/>
          </a:p>
        </p:txBody>
      </p:sp>
      <p:sp>
        <p:nvSpPr>
          <p:cNvPr id="16" name="Text 14"/>
          <p:cNvSpPr/>
          <p:nvPr/>
        </p:nvSpPr>
        <p:spPr>
          <a:xfrm>
            <a:off x="8412480" y="2130552"/>
            <a:ext cx="2834640" cy="274320"/>
          </a:xfrm>
          <a:prstGeom prst="rect">
            <a:avLst/>
          </a:prstGeom>
          <a:noFill/>
          <a:ln/>
        </p:spPr>
        <p:txBody>
          <a:bodyPr wrap="square" lIns="0" tIns="0" rIns="0" bIns="0" rtlCol="0" anchor="ctr"/>
          <a:lstStyle/>
          <a:p>
            <a:pPr marL="0" indent="0" algn="r">
              <a:buNone/>
            </a:pPr>
            <a:r>
              <a:rPr lang="en-US" sz="1150" b="1" dirty="0">
                <a:solidFill>
                  <a:srgbClr val="0E8A8F"/>
                </a:solidFill>
                <a:latin typeface="Calibri" pitchFamily="34" charset="0"/>
                <a:ea typeface="Calibri" pitchFamily="34" charset="-122"/>
                <a:cs typeface="Calibri" pitchFamily="34" charset="-120"/>
              </a:rPr>
              <a:t>−0.5 → 4.5</a:t>
            </a:r>
            <a:endParaRPr lang="en-US" sz="1150" dirty="0"/>
          </a:p>
        </p:txBody>
      </p:sp>
      <p:sp>
        <p:nvSpPr>
          <p:cNvPr id="17" name="Text 15"/>
          <p:cNvSpPr/>
          <p:nvPr/>
        </p:nvSpPr>
        <p:spPr>
          <a:xfrm>
            <a:off x="6583680" y="2459736"/>
            <a:ext cx="4663440" cy="548640"/>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Does it sound good to a person.</a:t>
            </a:r>
            <a:endParaRPr lang="en-US" sz="1300" dirty="0"/>
          </a:p>
        </p:txBody>
      </p:sp>
      <p:sp>
        <p:nvSpPr>
          <p:cNvPr id="18" name="Shape 16"/>
          <p:cNvSpPr/>
          <p:nvPr/>
        </p:nvSpPr>
        <p:spPr>
          <a:xfrm>
            <a:off x="6309360" y="3246120"/>
            <a:ext cx="5230368" cy="1115568"/>
          </a:xfrm>
          <a:prstGeom prst="roundRect">
            <a:avLst>
              <a:gd name="adj" fmla="val 7377"/>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19" name="Text 17"/>
          <p:cNvSpPr/>
          <p:nvPr/>
        </p:nvSpPr>
        <p:spPr>
          <a:xfrm>
            <a:off x="6583680" y="3374136"/>
            <a:ext cx="1828800" cy="310896"/>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STOI</a:t>
            </a:r>
            <a:endParaRPr lang="en-US" sz="1700" dirty="0"/>
          </a:p>
        </p:txBody>
      </p:sp>
      <p:sp>
        <p:nvSpPr>
          <p:cNvPr id="20" name="Text 18"/>
          <p:cNvSpPr/>
          <p:nvPr/>
        </p:nvSpPr>
        <p:spPr>
          <a:xfrm>
            <a:off x="8412480" y="3410712"/>
            <a:ext cx="2834640" cy="274320"/>
          </a:xfrm>
          <a:prstGeom prst="rect">
            <a:avLst/>
          </a:prstGeom>
          <a:noFill/>
          <a:ln/>
        </p:spPr>
        <p:txBody>
          <a:bodyPr wrap="square" lIns="0" tIns="0" rIns="0" bIns="0" rtlCol="0" anchor="ctr"/>
          <a:lstStyle/>
          <a:p>
            <a:pPr marL="0" indent="0" algn="r">
              <a:buNone/>
            </a:pPr>
            <a:r>
              <a:rPr lang="en-US" sz="1150" b="1" dirty="0">
                <a:solidFill>
                  <a:srgbClr val="0E8A8F"/>
                </a:solidFill>
                <a:latin typeface="Calibri" pitchFamily="34" charset="0"/>
                <a:ea typeface="Calibri" pitchFamily="34" charset="-122"/>
                <a:cs typeface="Calibri" pitchFamily="34" charset="-120"/>
              </a:rPr>
              <a:t>0 → 1</a:t>
            </a:r>
            <a:endParaRPr lang="en-US" sz="1150" dirty="0"/>
          </a:p>
        </p:txBody>
      </p:sp>
      <p:sp>
        <p:nvSpPr>
          <p:cNvPr id="21" name="Text 19"/>
          <p:cNvSpPr/>
          <p:nvPr/>
        </p:nvSpPr>
        <p:spPr>
          <a:xfrm>
            <a:off x="6583680" y="3739896"/>
            <a:ext cx="4663440" cy="548640"/>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Can a person understand the words.</a:t>
            </a:r>
            <a:endParaRPr lang="en-US" sz="1300" dirty="0"/>
          </a:p>
        </p:txBody>
      </p:sp>
      <p:sp>
        <p:nvSpPr>
          <p:cNvPr id="22" name="Shape 20"/>
          <p:cNvSpPr/>
          <p:nvPr/>
        </p:nvSpPr>
        <p:spPr>
          <a:xfrm>
            <a:off x="6309360" y="4526280"/>
            <a:ext cx="5230368" cy="1115568"/>
          </a:xfrm>
          <a:prstGeom prst="roundRect">
            <a:avLst>
              <a:gd name="adj" fmla="val 7377"/>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23" name="Text 21"/>
          <p:cNvSpPr/>
          <p:nvPr/>
        </p:nvSpPr>
        <p:spPr>
          <a:xfrm>
            <a:off x="6583680" y="4654296"/>
            <a:ext cx="1828800" cy="310896"/>
          </a:xfrm>
          <a:prstGeom prst="rect">
            <a:avLst/>
          </a:prstGeom>
          <a:noFill/>
          <a:ln/>
        </p:spPr>
        <p:txBody>
          <a:bodyPr wrap="square" lIns="0" tIns="0" rIns="0" bIns="0" rtlCol="0" anchor="ctr"/>
          <a:lstStyle/>
          <a:p>
            <a:pPr marL="0" indent="0">
              <a:buNone/>
            </a:pPr>
            <a:r>
              <a:rPr lang="en-US" sz="1700" b="1" dirty="0">
                <a:solidFill>
                  <a:srgbClr val="12233A"/>
                </a:solidFill>
                <a:latin typeface="Cambria" pitchFamily="34" charset="0"/>
                <a:ea typeface="Cambria" pitchFamily="34" charset="-122"/>
                <a:cs typeface="Cambria" pitchFamily="34" charset="-120"/>
              </a:rPr>
              <a:t>SI-SDR</a:t>
            </a:r>
            <a:endParaRPr lang="en-US" sz="1700" dirty="0"/>
          </a:p>
        </p:txBody>
      </p:sp>
      <p:sp>
        <p:nvSpPr>
          <p:cNvPr id="24" name="Text 22"/>
          <p:cNvSpPr/>
          <p:nvPr/>
        </p:nvSpPr>
        <p:spPr>
          <a:xfrm>
            <a:off x="8412480" y="4690872"/>
            <a:ext cx="2834640" cy="274320"/>
          </a:xfrm>
          <a:prstGeom prst="rect">
            <a:avLst/>
          </a:prstGeom>
          <a:noFill/>
          <a:ln/>
        </p:spPr>
        <p:txBody>
          <a:bodyPr wrap="square" lIns="0" tIns="0" rIns="0" bIns="0" rtlCol="0" anchor="ctr"/>
          <a:lstStyle/>
          <a:p>
            <a:pPr marL="0" indent="0" algn="r">
              <a:buNone/>
            </a:pPr>
            <a:r>
              <a:rPr lang="en-US" sz="1150" b="1" dirty="0">
                <a:solidFill>
                  <a:srgbClr val="0E8A8F"/>
                </a:solidFill>
                <a:latin typeface="Calibri" pitchFamily="34" charset="0"/>
                <a:ea typeface="Calibri" pitchFamily="34" charset="-122"/>
                <a:cs typeface="Calibri" pitchFamily="34" charset="-120"/>
              </a:rPr>
              <a:t>dB</a:t>
            </a:r>
            <a:endParaRPr lang="en-US" sz="1150" dirty="0"/>
          </a:p>
        </p:txBody>
      </p:sp>
      <p:sp>
        <p:nvSpPr>
          <p:cNvPr id="25" name="Text 23"/>
          <p:cNvSpPr/>
          <p:nvPr/>
        </p:nvSpPr>
        <p:spPr>
          <a:xfrm>
            <a:off x="6583680" y="5020056"/>
            <a:ext cx="4663440" cy="548640"/>
          </a:xfrm>
          <a:prstGeom prst="rect">
            <a:avLst/>
          </a:prstGeom>
          <a:noFill/>
          <a:ln/>
        </p:spPr>
        <p:txBody>
          <a:bodyPr wrap="square" lIns="0" tIns="0" rIns="0" bIns="0" rtlCol="0" anchor="t"/>
          <a:lstStyle/>
          <a:p>
            <a:pPr marL="0" indent="0">
              <a:buNone/>
            </a:pPr>
            <a:r>
              <a:rPr lang="en-US" sz="1300" dirty="0">
                <a:solidFill>
                  <a:srgbClr val="62707F"/>
                </a:solidFill>
                <a:latin typeface="Calibri" pitchFamily="34" charset="0"/>
                <a:ea typeface="Calibri" pitchFamily="34" charset="-122"/>
                <a:cs typeface="Calibri" pitchFamily="34" charset="-120"/>
              </a:rPr>
              <a:t>How close the wave is to the clean 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RESULTS — 16 KHZ RUN</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a:solidFill>
                  <a:srgbClr val="12233A"/>
                </a:solidFill>
                <a:latin typeface="Cambria" pitchFamily="34" charset="0"/>
                <a:ea typeface="Cambria" pitchFamily="34" charset="-122"/>
                <a:cs typeface="Cambria" pitchFamily="34" charset="-120"/>
              </a:rPr>
              <a:t>Loss learning curve</a:t>
            </a:r>
            <a:endParaRPr lang="en-US" sz="3000" dirty="0"/>
          </a:p>
        </p:txBody>
      </p:sp>
      <p:graphicFrame>
        <p:nvGraphicFramePr>
          <p:cNvPr id="4" name="Chart 0"/>
          <p:cNvGraphicFramePr/>
          <p:nvPr/>
        </p:nvGraphicFramePr>
        <p:xfrm>
          <a:off x="640080" y="1645920"/>
          <a:ext cx="74066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66760" y="1645920"/>
            <a:ext cx="3172968" cy="1600200"/>
          </a:xfrm>
          <a:prstGeom prst="roundRect">
            <a:avLst>
              <a:gd name="adj" fmla="val 5143"/>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6" name="Text 3"/>
          <p:cNvSpPr/>
          <p:nvPr/>
        </p:nvSpPr>
        <p:spPr>
          <a:xfrm>
            <a:off x="8366760" y="1783080"/>
            <a:ext cx="3172968" cy="640080"/>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2.97 × 10⁻⁴</a:t>
            </a:r>
            <a:endParaRPr lang="en-US" sz="2700" dirty="0"/>
          </a:p>
        </p:txBody>
      </p:sp>
      <p:sp>
        <p:nvSpPr>
          <p:cNvPr id="7" name="Text 4"/>
          <p:cNvSpPr/>
          <p:nvPr/>
        </p:nvSpPr>
        <p:spPr>
          <a:xfrm>
            <a:off x="8366760" y="2423160"/>
            <a:ext cx="3172968" cy="548640"/>
          </a:xfrm>
          <a:prstGeom prst="rect">
            <a:avLst/>
          </a:prstGeom>
          <a:noFill/>
          <a:ln/>
        </p:spPr>
        <p:txBody>
          <a:bodyPr wrap="square" lIns="0" tIns="0" rIns="0" bIns="0" rtlCol="0" anchor="t"/>
          <a:lstStyle/>
          <a:p>
            <a:pPr marL="0" indent="0" algn="ctr">
              <a:buNone/>
            </a:pPr>
            <a:r>
              <a:rPr lang="en-US" sz="1200" dirty="0">
                <a:solidFill>
                  <a:srgbClr val="C9D9E8"/>
                </a:solidFill>
                <a:latin typeface="Calibri" pitchFamily="34" charset="0"/>
                <a:ea typeface="Calibri" pitchFamily="34" charset="-122"/>
                <a:cs typeface="Calibri" pitchFamily="34" charset="-120"/>
              </a:rPr>
              <a:t>best validation loss (epoch 24)</a:t>
            </a:r>
            <a:endParaRPr lang="en-US" sz="1200" dirty="0"/>
          </a:p>
        </p:txBody>
      </p:sp>
      <p:sp>
        <p:nvSpPr>
          <p:cNvPr id="8" name="Text 5"/>
          <p:cNvSpPr/>
          <p:nvPr/>
        </p:nvSpPr>
        <p:spPr>
          <a:xfrm>
            <a:off x="8366760" y="3429000"/>
            <a:ext cx="3172968" cy="219456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16202C"/>
                </a:solidFill>
                <a:latin typeface="Calibri" pitchFamily="34" charset="0"/>
                <a:ea typeface="Calibri" pitchFamily="34" charset="-122"/>
                <a:cs typeface="Calibri" pitchFamily="34" charset="-120"/>
              </a:rPr>
              <a:t>Most of the gain arrives in five epochs.</a:t>
            </a:r>
            <a:endParaRPr lang="en-US" sz="1400" dirty="0"/>
          </a:p>
          <a:p>
            <a:pPr marL="342900" indent="-342900">
              <a:spcAft>
                <a:spcPts val="1200"/>
              </a:spcAft>
              <a:buSzPct val="100000"/>
              <a:buChar char="•"/>
            </a:pPr>
            <a:r>
              <a:rPr lang="en-US" sz="1400" dirty="0">
                <a:solidFill>
                  <a:srgbClr val="16202C"/>
                </a:solidFill>
                <a:latin typeface="Calibri" pitchFamily="34" charset="0"/>
                <a:ea typeface="Calibri" pitchFamily="34" charset="-122"/>
                <a:cs typeface="Calibri" pitchFamily="34" charset="-120"/>
              </a:rPr>
              <a:t>Train and validation stay together.</a:t>
            </a:r>
            <a:endParaRPr lang="en-US" sz="1400" dirty="0"/>
          </a:p>
          <a:p>
            <a:pPr marL="342900" indent="-342900">
              <a:spcAft>
                <a:spcPts val="1200"/>
              </a:spcAft>
              <a:buSzPct val="100000"/>
              <a:buChar char="•"/>
            </a:pPr>
            <a:r>
              <a:rPr lang="en-US" sz="1400" dirty="0">
                <a:solidFill>
                  <a:srgbClr val="16202C"/>
                </a:solidFill>
                <a:latin typeface="Calibri" pitchFamily="34" charset="0"/>
                <a:ea typeface="Calibri" pitchFamily="34" charset="-122"/>
                <a:cs typeface="Calibri" pitchFamily="34" charset="-120"/>
              </a:rPr>
              <a:t>No overfitting, even on new speakers.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RESULTS — 16 KHZ RUN</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R² and </a:t>
            </a:r>
            <a:r>
              <a:rPr lang="en-US" sz="3000" b="1">
                <a:solidFill>
                  <a:srgbClr val="12233A"/>
                </a:solidFill>
                <a:latin typeface="Cambria" pitchFamily="34" charset="0"/>
                <a:ea typeface="Cambria" pitchFamily="34" charset="-122"/>
                <a:cs typeface="Cambria" pitchFamily="34" charset="-120"/>
              </a:rPr>
              <a:t>F1 learning curves</a:t>
            </a:r>
            <a:endParaRPr lang="en-US" sz="3000" dirty="0"/>
          </a:p>
        </p:txBody>
      </p:sp>
      <p:graphicFrame>
        <p:nvGraphicFramePr>
          <p:cNvPr id="4" name="Chart 0"/>
          <p:cNvGraphicFramePr/>
          <p:nvPr/>
        </p:nvGraphicFramePr>
        <p:xfrm>
          <a:off x="640080" y="1645920"/>
          <a:ext cx="74066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66760" y="1645920"/>
            <a:ext cx="3172968" cy="1481328"/>
          </a:xfrm>
          <a:prstGeom prst="roundRect">
            <a:avLst>
              <a:gd name="adj" fmla="val 5556"/>
            </a:avLst>
          </a:prstGeom>
          <a:solidFill>
            <a:srgbClr val="E3F2F2"/>
          </a:solidFill>
          <a:ln/>
          <a:effectLst>
            <a:outerShdw blurRad="101600" dist="12700" dir="5400000" algn="bl" rotWithShape="0">
              <a:srgbClr val="9AA7B4">
                <a:alpha val="18000"/>
              </a:srgbClr>
            </a:outerShdw>
          </a:effectLst>
        </p:spPr>
        <p:txBody>
          <a:bodyPr/>
          <a:lstStyle/>
          <a:p>
            <a:endParaRPr lang="en-US"/>
          </a:p>
        </p:txBody>
      </p:sp>
      <p:sp>
        <p:nvSpPr>
          <p:cNvPr id="6" name="Text 3"/>
          <p:cNvSpPr/>
          <p:nvPr/>
        </p:nvSpPr>
        <p:spPr>
          <a:xfrm>
            <a:off x="8366760" y="1737360"/>
            <a:ext cx="3172968" cy="603504"/>
          </a:xfrm>
          <a:prstGeom prst="rect">
            <a:avLst/>
          </a:prstGeom>
          <a:noFill/>
          <a:ln/>
        </p:spPr>
        <p:txBody>
          <a:bodyPr wrap="square" lIns="0" tIns="0" rIns="0" bIns="0" rtlCol="0" anchor="ctr"/>
          <a:lstStyle/>
          <a:p>
            <a:pPr marL="0" indent="0" algn="ctr">
              <a:buNone/>
            </a:pPr>
            <a:r>
              <a:rPr lang="en-US" sz="3000" b="1" dirty="0">
                <a:solidFill>
                  <a:srgbClr val="0E8A8F"/>
                </a:solidFill>
                <a:latin typeface="Cambria" pitchFamily="34" charset="0"/>
                <a:ea typeface="Cambria" pitchFamily="34" charset="-122"/>
                <a:cs typeface="Cambria" pitchFamily="34" charset="-120"/>
              </a:rPr>
              <a:t>0.964</a:t>
            </a:r>
            <a:endParaRPr lang="en-US" sz="3000" dirty="0"/>
          </a:p>
        </p:txBody>
      </p:sp>
      <p:sp>
        <p:nvSpPr>
          <p:cNvPr id="7" name="Text 4"/>
          <p:cNvSpPr/>
          <p:nvPr/>
        </p:nvSpPr>
        <p:spPr>
          <a:xfrm>
            <a:off x="8366760" y="2340864"/>
            <a:ext cx="3172968" cy="548640"/>
          </a:xfrm>
          <a:prstGeom prst="rect">
            <a:avLst/>
          </a:prstGeom>
          <a:noFill/>
          <a:ln/>
        </p:spPr>
        <p:txBody>
          <a:bodyPr wrap="square" lIns="0" tIns="0" rIns="0" bIns="0" rtlCol="0" anchor="t"/>
          <a:lstStyle/>
          <a:p>
            <a:pPr marL="0" indent="0" algn="ctr">
              <a:buNone/>
            </a:pPr>
            <a:r>
              <a:rPr lang="en-US" sz="1200" dirty="0">
                <a:solidFill>
                  <a:srgbClr val="12233A"/>
                </a:solidFill>
                <a:latin typeface="Calibri" pitchFamily="34" charset="0"/>
                <a:ea typeface="Calibri" pitchFamily="34" charset="-122"/>
                <a:cs typeface="Calibri" pitchFamily="34" charset="-120"/>
              </a:rPr>
              <a:t>best validation R² (epoch 24)</a:t>
            </a:r>
            <a:endParaRPr lang="en-US" sz="1200" dirty="0"/>
          </a:p>
        </p:txBody>
      </p:sp>
      <p:sp>
        <p:nvSpPr>
          <p:cNvPr id="8" name="Text 5"/>
          <p:cNvSpPr/>
          <p:nvPr/>
        </p:nvSpPr>
        <p:spPr>
          <a:xfrm>
            <a:off x="8366760" y="3310128"/>
            <a:ext cx="3172968" cy="22860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16202C"/>
                </a:solidFill>
                <a:latin typeface="Calibri" pitchFamily="34" charset="0"/>
                <a:ea typeface="Calibri" pitchFamily="34" charset="-122"/>
                <a:cs typeface="Calibri" pitchFamily="34" charset="-120"/>
              </a:rPr>
              <a:t>R² above 0.96 on speakers it never saw.</a:t>
            </a:r>
            <a:endParaRPr lang="en-US" sz="1400" dirty="0"/>
          </a:p>
          <a:p>
            <a:pPr marL="342900" indent="-342900">
              <a:spcAft>
                <a:spcPts val="1200"/>
              </a:spcAft>
              <a:buSzPct val="100000"/>
              <a:buChar char="•"/>
            </a:pPr>
            <a:r>
              <a:rPr lang="en-US" sz="1400" dirty="0">
                <a:solidFill>
                  <a:srgbClr val="16202C"/>
                </a:solidFill>
                <a:latin typeface="Calibri" pitchFamily="34" charset="0"/>
                <a:ea typeface="Calibri" pitchFamily="34" charset="-122"/>
                <a:cs typeface="Calibri" pitchFamily="34" charset="-120"/>
              </a:rPr>
              <a:t>F1 comes from a threshold, not the model.</a:t>
            </a:r>
            <a:endParaRPr lang="en-US" sz="1400" dirty="0"/>
          </a:p>
          <a:p>
            <a:pPr marL="342900" indent="-342900">
              <a:spcAft>
                <a:spcPts val="1200"/>
              </a:spcAft>
              <a:buSzPct val="100000"/>
              <a:buChar char="•"/>
            </a:pPr>
            <a:r>
              <a:rPr lang="en-US" sz="1400" dirty="0">
                <a:solidFill>
                  <a:srgbClr val="16202C"/>
                </a:solidFill>
                <a:latin typeface="Calibri" pitchFamily="34" charset="0"/>
                <a:ea typeface="Calibri" pitchFamily="34" charset="-122"/>
                <a:cs typeface="Calibri" pitchFamily="34" charset="-120"/>
              </a:rPr>
              <a:t>Dropout is off during validation.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RESULTS — CONFUSION MATRICES</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Read the confusion matrices with care</a:t>
            </a:r>
            <a:endParaRPr lang="en-US" sz="3000" dirty="0"/>
          </a:p>
        </p:txBody>
      </p:sp>
      <p:sp>
        <p:nvSpPr>
          <p:cNvPr id="4" name="Shape 2"/>
          <p:cNvSpPr/>
          <p:nvPr/>
        </p:nvSpPr>
        <p:spPr>
          <a:xfrm>
            <a:off x="640080" y="1645920"/>
            <a:ext cx="5230368" cy="3246120"/>
          </a:xfrm>
          <a:prstGeom prst="roundRect">
            <a:avLst>
              <a:gd name="adj" fmla="val 2535"/>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5" name="Text 3"/>
          <p:cNvSpPr/>
          <p:nvPr/>
        </p:nvSpPr>
        <p:spPr>
          <a:xfrm>
            <a:off x="914400" y="1810512"/>
            <a:ext cx="3291840" cy="274320"/>
          </a:xfrm>
          <a:prstGeom prst="rect">
            <a:avLst/>
          </a:prstGeom>
          <a:noFill/>
          <a:ln/>
        </p:spPr>
        <p:txBody>
          <a:bodyPr wrap="square" lIns="0" tIns="0" rIns="0" bIns="0"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Run A — 16 kHz unidirectional</a:t>
            </a:r>
            <a:endParaRPr lang="en-US" sz="1400" dirty="0"/>
          </a:p>
        </p:txBody>
      </p:sp>
      <p:sp>
        <p:nvSpPr>
          <p:cNvPr id="6" name="Text 4"/>
          <p:cNvSpPr/>
          <p:nvPr/>
        </p:nvSpPr>
        <p:spPr>
          <a:xfrm>
            <a:off x="914400" y="2084832"/>
            <a:ext cx="4663440" cy="237744"/>
          </a:xfrm>
          <a:prstGeom prst="rect">
            <a:avLst/>
          </a:prstGeom>
          <a:noFill/>
          <a:ln/>
        </p:spPr>
        <p:txBody>
          <a:bodyPr wrap="square" lIns="0" tIns="0" rIns="0" bIns="0" rtlCol="0" anchor="ctr"/>
          <a:lstStyle/>
          <a:p>
            <a:pPr marL="0" indent="0">
              <a:buNone/>
            </a:pPr>
            <a:r>
              <a:rPr lang="en-US" sz="1100" dirty="0">
                <a:solidFill>
                  <a:srgbClr val="62707F"/>
                </a:solidFill>
                <a:latin typeface="Calibri" pitchFamily="34" charset="0"/>
                <a:ea typeface="Calibri" pitchFamily="34" charset="-122"/>
                <a:cs typeface="Calibri" pitchFamily="34" charset="-120"/>
              </a:rPr>
              <a:t>validation, epoch 25</a:t>
            </a:r>
            <a:endParaRPr lang="en-US" sz="1100" dirty="0"/>
          </a:p>
        </p:txBody>
      </p:sp>
      <p:sp>
        <p:nvSpPr>
          <p:cNvPr id="7" name="Shape 5"/>
          <p:cNvSpPr/>
          <p:nvPr/>
        </p:nvSpPr>
        <p:spPr>
          <a:xfrm>
            <a:off x="1874520" y="2487168"/>
            <a:ext cx="1773936" cy="813816"/>
          </a:xfrm>
          <a:prstGeom prst="rect">
            <a:avLst/>
          </a:prstGeom>
          <a:solidFill>
            <a:srgbClr val="12233A"/>
          </a:solidFill>
          <a:ln/>
        </p:spPr>
        <p:txBody>
          <a:bodyPr/>
          <a:lstStyle/>
          <a:p>
            <a:endParaRPr lang="en-US"/>
          </a:p>
        </p:txBody>
      </p:sp>
      <p:sp>
        <p:nvSpPr>
          <p:cNvPr id="8" name="Text 6"/>
          <p:cNvSpPr/>
          <p:nvPr/>
        </p:nvSpPr>
        <p:spPr>
          <a:xfrm>
            <a:off x="1874520" y="2487168"/>
            <a:ext cx="1773936" cy="81381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162,501,813</a:t>
            </a:r>
            <a:endParaRPr lang="en-US" sz="1300" dirty="0"/>
          </a:p>
        </p:txBody>
      </p:sp>
      <p:sp>
        <p:nvSpPr>
          <p:cNvPr id="9" name="Shape 7"/>
          <p:cNvSpPr/>
          <p:nvPr/>
        </p:nvSpPr>
        <p:spPr>
          <a:xfrm>
            <a:off x="3703320" y="2487168"/>
            <a:ext cx="1773936" cy="813816"/>
          </a:xfrm>
          <a:prstGeom prst="rect">
            <a:avLst/>
          </a:prstGeom>
          <a:solidFill>
            <a:srgbClr val="EEF2F6"/>
          </a:solidFill>
          <a:ln/>
        </p:spPr>
        <p:txBody>
          <a:bodyPr/>
          <a:lstStyle/>
          <a:p>
            <a:endParaRPr lang="en-US"/>
          </a:p>
        </p:txBody>
      </p:sp>
      <p:sp>
        <p:nvSpPr>
          <p:cNvPr id="10" name="Text 8"/>
          <p:cNvSpPr/>
          <p:nvPr/>
        </p:nvSpPr>
        <p:spPr>
          <a:xfrm>
            <a:off x="3703320" y="2487168"/>
            <a:ext cx="1773936" cy="813816"/>
          </a:xfrm>
          <a:prstGeom prst="rect">
            <a:avLst/>
          </a:prstGeom>
          <a:noFill/>
          <a:ln/>
        </p:spPr>
        <p:txBody>
          <a:bodyPr wrap="square" lIns="0" tIns="0" rIns="0" bIns="0" rtlCol="0" anchor="ctr"/>
          <a:lstStyle/>
          <a:p>
            <a:pPr marL="0" indent="0" algn="ctr">
              <a:buNone/>
            </a:pPr>
            <a:r>
              <a:rPr lang="en-US" sz="1300" dirty="0">
                <a:solidFill>
                  <a:srgbClr val="16202C"/>
                </a:solidFill>
                <a:latin typeface="Calibri" pitchFamily="34" charset="0"/>
                <a:ea typeface="Calibri" pitchFamily="34" charset="-122"/>
                <a:cs typeface="Calibri" pitchFamily="34" charset="-120"/>
              </a:rPr>
              <a:t>3,283</a:t>
            </a:r>
            <a:endParaRPr lang="en-US" sz="1300" dirty="0"/>
          </a:p>
        </p:txBody>
      </p:sp>
      <p:sp>
        <p:nvSpPr>
          <p:cNvPr id="11" name="Shape 9"/>
          <p:cNvSpPr/>
          <p:nvPr/>
        </p:nvSpPr>
        <p:spPr>
          <a:xfrm>
            <a:off x="1874520" y="3355848"/>
            <a:ext cx="1773936" cy="813816"/>
          </a:xfrm>
          <a:prstGeom prst="rect">
            <a:avLst/>
          </a:prstGeom>
          <a:solidFill>
            <a:srgbClr val="EEF2F6"/>
          </a:solidFill>
          <a:ln/>
        </p:spPr>
        <p:txBody>
          <a:bodyPr/>
          <a:lstStyle/>
          <a:p>
            <a:endParaRPr lang="en-US"/>
          </a:p>
        </p:txBody>
      </p:sp>
      <p:sp>
        <p:nvSpPr>
          <p:cNvPr id="12" name="Text 10"/>
          <p:cNvSpPr/>
          <p:nvPr/>
        </p:nvSpPr>
        <p:spPr>
          <a:xfrm>
            <a:off x="1874520" y="3355848"/>
            <a:ext cx="1773936" cy="813816"/>
          </a:xfrm>
          <a:prstGeom prst="rect">
            <a:avLst/>
          </a:prstGeom>
          <a:noFill/>
          <a:ln/>
        </p:spPr>
        <p:txBody>
          <a:bodyPr wrap="square" lIns="0" tIns="0" rIns="0" bIns="0" rtlCol="0" anchor="ctr"/>
          <a:lstStyle/>
          <a:p>
            <a:pPr marL="0" indent="0" algn="ctr">
              <a:buNone/>
            </a:pPr>
            <a:r>
              <a:rPr lang="en-US" sz="1300" dirty="0">
                <a:solidFill>
                  <a:srgbClr val="16202C"/>
                </a:solidFill>
                <a:latin typeface="Calibri" pitchFamily="34" charset="0"/>
                <a:ea typeface="Calibri" pitchFamily="34" charset="-122"/>
                <a:cs typeface="Calibri" pitchFamily="34" charset="-120"/>
              </a:rPr>
              <a:t>6,739</a:t>
            </a:r>
            <a:endParaRPr lang="en-US" sz="1300" dirty="0"/>
          </a:p>
        </p:txBody>
      </p:sp>
      <p:sp>
        <p:nvSpPr>
          <p:cNvPr id="13" name="Shape 11"/>
          <p:cNvSpPr/>
          <p:nvPr/>
        </p:nvSpPr>
        <p:spPr>
          <a:xfrm>
            <a:off x="3703320" y="3355848"/>
            <a:ext cx="1773936" cy="813816"/>
          </a:xfrm>
          <a:prstGeom prst="rect">
            <a:avLst/>
          </a:prstGeom>
          <a:solidFill>
            <a:srgbClr val="12233A"/>
          </a:solidFill>
          <a:ln/>
        </p:spPr>
        <p:txBody>
          <a:bodyPr/>
          <a:lstStyle/>
          <a:p>
            <a:endParaRPr lang="en-US"/>
          </a:p>
        </p:txBody>
      </p:sp>
      <p:sp>
        <p:nvSpPr>
          <p:cNvPr id="14" name="Text 12"/>
          <p:cNvSpPr/>
          <p:nvPr/>
        </p:nvSpPr>
        <p:spPr>
          <a:xfrm>
            <a:off x="3703320" y="3355848"/>
            <a:ext cx="1773936" cy="81381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71,505</a:t>
            </a:r>
            <a:endParaRPr lang="en-US" sz="1300" dirty="0"/>
          </a:p>
        </p:txBody>
      </p:sp>
      <p:sp>
        <p:nvSpPr>
          <p:cNvPr id="15" name="Text 13"/>
          <p:cNvSpPr/>
          <p:nvPr/>
        </p:nvSpPr>
        <p:spPr>
          <a:xfrm>
            <a:off x="1874520" y="2212848"/>
            <a:ext cx="1773936" cy="237744"/>
          </a:xfrm>
          <a:prstGeom prst="rect">
            <a:avLst/>
          </a:prstGeom>
          <a:noFill/>
          <a:ln/>
        </p:spPr>
        <p:txBody>
          <a:bodyPr wrap="square" lIns="0" tIns="0" rIns="0" bIns="0" rtlCol="0" anchor="ctr"/>
          <a:lstStyle/>
          <a:p>
            <a:pPr marL="0" indent="0" algn="ctr">
              <a:buNone/>
            </a:pPr>
            <a:r>
              <a:rPr lang="en-US" sz="1000" dirty="0">
                <a:solidFill>
                  <a:srgbClr val="62707F"/>
                </a:solidFill>
                <a:latin typeface="Calibri" pitchFamily="34" charset="0"/>
                <a:ea typeface="Calibri" pitchFamily="34" charset="-122"/>
                <a:cs typeface="Calibri" pitchFamily="34" charset="-120"/>
              </a:rPr>
              <a:t>Pred neg</a:t>
            </a:r>
            <a:endParaRPr lang="en-US" sz="1000" dirty="0"/>
          </a:p>
        </p:txBody>
      </p:sp>
      <p:sp>
        <p:nvSpPr>
          <p:cNvPr id="16" name="Text 14"/>
          <p:cNvSpPr/>
          <p:nvPr/>
        </p:nvSpPr>
        <p:spPr>
          <a:xfrm>
            <a:off x="3703320" y="2212848"/>
            <a:ext cx="1773936" cy="237744"/>
          </a:xfrm>
          <a:prstGeom prst="rect">
            <a:avLst/>
          </a:prstGeom>
          <a:noFill/>
          <a:ln/>
        </p:spPr>
        <p:txBody>
          <a:bodyPr wrap="square" lIns="0" tIns="0" rIns="0" bIns="0" rtlCol="0" anchor="ctr"/>
          <a:lstStyle/>
          <a:p>
            <a:pPr marL="0" indent="0" algn="ctr">
              <a:buNone/>
            </a:pPr>
            <a:r>
              <a:rPr lang="en-US" sz="1000" dirty="0">
                <a:solidFill>
                  <a:srgbClr val="62707F"/>
                </a:solidFill>
                <a:latin typeface="Calibri" pitchFamily="34" charset="0"/>
                <a:ea typeface="Calibri" pitchFamily="34" charset="-122"/>
                <a:cs typeface="Calibri" pitchFamily="34" charset="-120"/>
              </a:rPr>
              <a:t>Pred pos</a:t>
            </a:r>
            <a:endParaRPr lang="en-US" sz="1000" dirty="0"/>
          </a:p>
        </p:txBody>
      </p:sp>
      <p:sp>
        <p:nvSpPr>
          <p:cNvPr id="17" name="Text 15"/>
          <p:cNvSpPr/>
          <p:nvPr/>
        </p:nvSpPr>
        <p:spPr>
          <a:xfrm>
            <a:off x="1005840" y="2487168"/>
            <a:ext cx="777240" cy="813816"/>
          </a:xfrm>
          <a:prstGeom prst="rect">
            <a:avLst/>
          </a:prstGeom>
          <a:noFill/>
          <a:ln/>
        </p:spPr>
        <p:txBody>
          <a:bodyPr wrap="square" lIns="0" tIns="0" rIns="0" bIns="0" rtlCol="0" anchor="ctr"/>
          <a:lstStyle/>
          <a:p>
            <a:pPr marL="0" indent="0" algn="r">
              <a:buNone/>
            </a:pPr>
            <a:r>
              <a:rPr lang="en-US" sz="1000" dirty="0">
                <a:solidFill>
                  <a:srgbClr val="62707F"/>
                </a:solidFill>
                <a:latin typeface="Calibri" pitchFamily="34" charset="0"/>
                <a:ea typeface="Calibri" pitchFamily="34" charset="-122"/>
                <a:cs typeface="Calibri" pitchFamily="34" charset="-120"/>
              </a:rPr>
              <a:t>Actual</a:t>
            </a:r>
            <a:endParaRPr lang="en-US" sz="1000" dirty="0"/>
          </a:p>
          <a:p>
            <a:pPr marL="0" indent="0" algn="r">
              <a:buNone/>
            </a:pPr>
            <a:r>
              <a:rPr lang="en-US" sz="1000" dirty="0">
                <a:solidFill>
                  <a:srgbClr val="62707F"/>
                </a:solidFill>
                <a:latin typeface="Calibri" pitchFamily="34" charset="0"/>
                <a:ea typeface="Calibri" pitchFamily="34" charset="-122"/>
                <a:cs typeface="Calibri" pitchFamily="34" charset="-120"/>
              </a:rPr>
              <a:t>neg</a:t>
            </a:r>
            <a:endParaRPr lang="en-US" sz="1000" dirty="0"/>
          </a:p>
        </p:txBody>
      </p:sp>
      <p:sp>
        <p:nvSpPr>
          <p:cNvPr id="18" name="Text 16"/>
          <p:cNvSpPr/>
          <p:nvPr/>
        </p:nvSpPr>
        <p:spPr>
          <a:xfrm>
            <a:off x="1005840" y="3355848"/>
            <a:ext cx="777240" cy="813816"/>
          </a:xfrm>
          <a:prstGeom prst="rect">
            <a:avLst/>
          </a:prstGeom>
          <a:noFill/>
          <a:ln/>
        </p:spPr>
        <p:txBody>
          <a:bodyPr wrap="square" lIns="0" tIns="0" rIns="0" bIns="0" rtlCol="0" anchor="ctr"/>
          <a:lstStyle/>
          <a:p>
            <a:pPr marL="0" indent="0" algn="r">
              <a:buNone/>
            </a:pPr>
            <a:r>
              <a:rPr lang="en-US" sz="1000" dirty="0">
                <a:solidFill>
                  <a:srgbClr val="62707F"/>
                </a:solidFill>
                <a:latin typeface="Calibri" pitchFamily="34" charset="0"/>
                <a:ea typeface="Calibri" pitchFamily="34" charset="-122"/>
                <a:cs typeface="Calibri" pitchFamily="34" charset="-120"/>
              </a:rPr>
              <a:t>Actual</a:t>
            </a:r>
            <a:endParaRPr lang="en-US" sz="1000" dirty="0"/>
          </a:p>
          <a:p>
            <a:pPr marL="0" indent="0" algn="r">
              <a:buNone/>
            </a:pPr>
            <a:r>
              <a:rPr lang="en-US" sz="1000" dirty="0">
                <a:solidFill>
                  <a:srgbClr val="62707F"/>
                </a:solidFill>
                <a:latin typeface="Calibri" pitchFamily="34" charset="0"/>
                <a:ea typeface="Calibri" pitchFamily="34" charset="-122"/>
                <a:cs typeface="Calibri" pitchFamily="34" charset="-120"/>
              </a:rPr>
              <a:t>pos</a:t>
            </a:r>
            <a:endParaRPr lang="en-US" sz="1000" dirty="0"/>
          </a:p>
        </p:txBody>
      </p:sp>
      <p:sp>
        <p:nvSpPr>
          <p:cNvPr id="19" name="Text 17"/>
          <p:cNvSpPr/>
          <p:nvPr/>
        </p:nvSpPr>
        <p:spPr>
          <a:xfrm>
            <a:off x="914400" y="4407408"/>
            <a:ext cx="4663440" cy="292608"/>
          </a:xfrm>
          <a:prstGeom prst="rect">
            <a:avLst/>
          </a:prstGeom>
          <a:noFill/>
          <a:ln/>
        </p:spPr>
        <p:txBody>
          <a:bodyPr wrap="square" lIns="0" tIns="0" rIns="0" bIns="0" rtlCol="0" anchor="ctr"/>
          <a:lstStyle/>
          <a:p>
            <a:pPr marL="0" indent="0">
              <a:buNone/>
            </a:pPr>
            <a:r>
              <a:rPr lang="en-US" sz="1150" b="1" dirty="0">
                <a:solidFill>
                  <a:srgbClr val="0E8A8F"/>
                </a:solidFill>
                <a:latin typeface="Calibri" pitchFamily="34" charset="0"/>
                <a:ea typeface="Calibri" pitchFamily="34" charset="-122"/>
                <a:cs typeface="Calibri" pitchFamily="34" charset="-120"/>
              </a:rPr>
              <a:t>Recall on active bins: 0.914   ·   missed: 0.086</a:t>
            </a:r>
            <a:endParaRPr lang="en-US" sz="1150" dirty="0"/>
          </a:p>
        </p:txBody>
      </p:sp>
      <p:sp>
        <p:nvSpPr>
          <p:cNvPr id="20" name="Shape 18"/>
          <p:cNvSpPr/>
          <p:nvPr/>
        </p:nvSpPr>
        <p:spPr>
          <a:xfrm>
            <a:off x="6309360" y="1645920"/>
            <a:ext cx="5230368" cy="3246120"/>
          </a:xfrm>
          <a:prstGeom prst="roundRect">
            <a:avLst>
              <a:gd name="adj" fmla="val 2535"/>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21" name="Text 19"/>
          <p:cNvSpPr/>
          <p:nvPr/>
        </p:nvSpPr>
        <p:spPr>
          <a:xfrm>
            <a:off x="6583680" y="1810512"/>
            <a:ext cx="3291840" cy="274320"/>
          </a:xfrm>
          <a:prstGeom prst="rect">
            <a:avLst/>
          </a:prstGeom>
          <a:noFill/>
          <a:ln/>
        </p:spPr>
        <p:txBody>
          <a:bodyPr wrap="square" lIns="0" tIns="0" rIns="0" bIns="0" rtlCol="0" anchor="ctr"/>
          <a:lstStyle/>
          <a:p>
            <a:pPr marL="0" indent="0">
              <a:buNone/>
            </a:pPr>
            <a:r>
              <a:rPr lang="en-US" sz="1400" b="1" dirty="0">
                <a:solidFill>
                  <a:srgbClr val="12233A"/>
                </a:solidFill>
                <a:latin typeface="Calibri" pitchFamily="34" charset="0"/>
                <a:ea typeface="Calibri" pitchFamily="34" charset="-122"/>
                <a:cs typeface="Calibri" pitchFamily="34" charset="-120"/>
              </a:rPr>
              <a:t>Run B — 44.1 kHz bidirectional</a:t>
            </a:r>
            <a:endParaRPr lang="en-US" sz="1400" dirty="0"/>
          </a:p>
        </p:txBody>
      </p:sp>
      <p:sp>
        <p:nvSpPr>
          <p:cNvPr id="22" name="Text 20"/>
          <p:cNvSpPr/>
          <p:nvPr/>
        </p:nvSpPr>
        <p:spPr>
          <a:xfrm>
            <a:off x="6583680" y="2084832"/>
            <a:ext cx="4663440" cy="237744"/>
          </a:xfrm>
          <a:prstGeom prst="rect">
            <a:avLst/>
          </a:prstGeom>
          <a:noFill/>
          <a:ln/>
        </p:spPr>
        <p:txBody>
          <a:bodyPr wrap="square" lIns="0" tIns="0" rIns="0" bIns="0" rtlCol="0" anchor="ctr"/>
          <a:lstStyle/>
          <a:p>
            <a:pPr marL="0" indent="0">
              <a:buNone/>
            </a:pPr>
            <a:r>
              <a:rPr lang="en-US" sz="1100" dirty="0">
                <a:solidFill>
                  <a:srgbClr val="62707F"/>
                </a:solidFill>
                <a:latin typeface="Calibri" pitchFamily="34" charset="0"/>
                <a:ea typeface="Calibri" pitchFamily="34" charset="-122"/>
                <a:cs typeface="Calibri" pitchFamily="34" charset="-120"/>
              </a:rPr>
              <a:t>validation, epoch 32</a:t>
            </a:r>
            <a:endParaRPr lang="en-US" sz="1100" dirty="0"/>
          </a:p>
        </p:txBody>
      </p:sp>
      <p:sp>
        <p:nvSpPr>
          <p:cNvPr id="23" name="Shape 21"/>
          <p:cNvSpPr/>
          <p:nvPr/>
        </p:nvSpPr>
        <p:spPr>
          <a:xfrm>
            <a:off x="7543800" y="2487168"/>
            <a:ext cx="1773936" cy="813816"/>
          </a:xfrm>
          <a:prstGeom prst="rect">
            <a:avLst/>
          </a:prstGeom>
          <a:solidFill>
            <a:srgbClr val="12233A"/>
          </a:solidFill>
          <a:ln/>
        </p:spPr>
        <p:txBody>
          <a:bodyPr/>
          <a:lstStyle/>
          <a:p>
            <a:endParaRPr lang="en-US"/>
          </a:p>
        </p:txBody>
      </p:sp>
      <p:sp>
        <p:nvSpPr>
          <p:cNvPr id="24" name="Text 22"/>
          <p:cNvSpPr/>
          <p:nvPr/>
        </p:nvSpPr>
        <p:spPr>
          <a:xfrm>
            <a:off x="7543800" y="2487168"/>
            <a:ext cx="1773936" cy="81381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447,565,279</a:t>
            </a:r>
            <a:endParaRPr lang="en-US" sz="1300" dirty="0"/>
          </a:p>
        </p:txBody>
      </p:sp>
      <p:sp>
        <p:nvSpPr>
          <p:cNvPr id="25" name="Shape 23"/>
          <p:cNvSpPr/>
          <p:nvPr/>
        </p:nvSpPr>
        <p:spPr>
          <a:xfrm>
            <a:off x="9372600" y="2487168"/>
            <a:ext cx="1773936" cy="813816"/>
          </a:xfrm>
          <a:prstGeom prst="rect">
            <a:avLst/>
          </a:prstGeom>
          <a:solidFill>
            <a:srgbClr val="EEF2F6"/>
          </a:solidFill>
          <a:ln/>
        </p:spPr>
        <p:txBody>
          <a:bodyPr/>
          <a:lstStyle/>
          <a:p>
            <a:endParaRPr lang="en-US"/>
          </a:p>
        </p:txBody>
      </p:sp>
      <p:sp>
        <p:nvSpPr>
          <p:cNvPr id="26" name="Text 24"/>
          <p:cNvSpPr/>
          <p:nvPr/>
        </p:nvSpPr>
        <p:spPr>
          <a:xfrm>
            <a:off x="9372600" y="2487168"/>
            <a:ext cx="1773936" cy="813816"/>
          </a:xfrm>
          <a:prstGeom prst="rect">
            <a:avLst/>
          </a:prstGeom>
          <a:noFill/>
          <a:ln/>
        </p:spPr>
        <p:txBody>
          <a:bodyPr wrap="square" lIns="0" tIns="0" rIns="0" bIns="0" rtlCol="0" anchor="ctr"/>
          <a:lstStyle/>
          <a:p>
            <a:pPr marL="0" indent="0" algn="ctr">
              <a:buNone/>
            </a:pPr>
            <a:r>
              <a:rPr lang="en-US" sz="1300" dirty="0">
                <a:solidFill>
                  <a:srgbClr val="16202C"/>
                </a:solidFill>
                <a:latin typeface="Calibri" pitchFamily="34" charset="0"/>
                <a:ea typeface="Calibri" pitchFamily="34" charset="-122"/>
                <a:cs typeface="Calibri" pitchFamily="34" charset="-120"/>
              </a:rPr>
              <a:t>1,897</a:t>
            </a:r>
            <a:endParaRPr lang="en-US" sz="1300" dirty="0"/>
          </a:p>
        </p:txBody>
      </p:sp>
      <p:sp>
        <p:nvSpPr>
          <p:cNvPr id="27" name="Shape 25"/>
          <p:cNvSpPr/>
          <p:nvPr/>
        </p:nvSpPr>
        <p:spPr>
          <a:xfrm>
            <a:off x="7543800" y="3355848"/>
            <a:ext cx="1773936" cy="813816"/>
          </a:xfrm>
          <a:prstGeom prst="rect">
            <a:avLst/>
          </a:prstGeom>
          <a:solidFill>
            <a:srgbClr val="EEF2F6"/>
          </a:solidFill>
          <a:ln/>
        </p:spPr>
        <p:txBody>
          <a:bodyPr/>
          <a:lstStyle/>
          <a:p>
            <a:endParaRPr lang="en-US"/>
          </a:p>
        </p:txBody>
      </p:sp>
      <p:sp>
        <p:nvSpPr>
          <p:cNvPr id="28" name="Text 26"/>
          <p:cNvSpPr/>
          <p:nvPr/>
        </p:nvSpPr>
        <p:spPr>
          <a:xfrm>
            <a:off x="7543800" y="3355848"/>
            <a:ext cx="1773936" cy="813816"/>
          </a:xfrm>
          <a:prstGeom prst="rect">
            <a:avLst/>
          </a:prstGeom>
          <a:noFill/>
          <a:ln/>
        </p:spPr>
        <p:txBody>
          <a:bodyPr wrap="square" lIns="0" tIns="0" rIns="0" bIns="0" rtlCol="0" anchor="ctr"/>
          <a:lstStyle/>
          <a:p>
            <a:pPr marL="0" indent="0" algn="ctr">
              <a:buNone/>
            </a:pPr>
            <a:r>
              <a:rPr lang="en-US" sz="1300" dirty="0">
                <a:solidFill>
                  <a:srgbClr val="16202C"/>
                </a:solidFill>
                <a:latin typeface="Calibri" pitchFamily="34" charset="0"/>
                <a:ea typeface="Calibri" pitchFamily="34" charset="-122"/>
                <a:cs typeface="Calibri" pitchFamily="34" charset="-120"/>
              </a:rPr>
              <a:t>3,377</a:t>
            </a:r>
            <a:endParaRPr lang="en-US" sz="1300" dirty="0"/>
          </a:p>
        </p:txBody>
      </p:sp>
      <p:sp>
        <p:nvSpPr>
          <p:cNvPr id="29" name="Shape 27"/>
          <p:cNvSpPr/>
          <p:nvPr/>
        </p:nvSpPr>
        <p:spPr>
          <a:xfrm>
            <a:off x="9372600" y="3355848"/>
            <a:ext cx="1773936" cy="813816"/>
          </a:xfrm>
          <a:prstGeom prst="rect">
            <a:avLst/>
          </a:prstGeom>
          <a:solidFill>
            <a:srgbClr val="12233A"/>
          </a:solidFill>
          <a:ln/>
        </p:spPr>
        <p:txBody>
          <a:bodyPr/>
          <a:lstStyle/>
          <a:p>
            <a:endParaRPr lang="en-US"/>
          </a:p>
        </p:txBody>
      </p:sp>
      <p:sp>
        <p:nvSpPr>
          <p:cNvPr id="30" name="Text 28"/>
          <p:cNvSpPr/>
          <p:nvPr/>
        </p:nvSpPr>
        <p:spPr>
          <a:xfrm>
            <a:off x="9372600" y="3355848"/>
            <a:ext cx="1773936" cy="81381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43,872</a:t>
            </a:r>
            <a:endParaRPr lang="en-US" sz="1300" dirty="0"/>
          </a:p>
        </p:txBody>
      </p:sp>
      <p:sp>
        <p:nvSpPr>
          <p:cNvPr id="31" name="Text 29"/>
          <p:cNvSpPr/>
          <p:nvPr/>
        </p:nvSpPr>
        <p:spPr>
          <a:xfrm>
            <a:off x="7543800" y="2212848"/>
            <a:ext cx="1773936" cy="237744"/>
          </a:xfrm>
          <a:prstGeom prst="rect">
            <a:avLst/>
          </a:prstGeom>
          <a:noFill/>
          <a:ln/>
        </p:spPr>
        <p:txBody>
          <a:bodyPr wrap="square" lIns="0" tIns="0" rIns="0" bIns="0" rtlCol="0" anchor="ctr"/>
          <a:lstStyle/>
          <a:p>
            <a:pPr marL="0" indent="0" algn="ctr">
              <a:buNone/>
            </a:pPr>
            <a:r>
              <a:rPr lang="en-US" sz="1000" dirty="0">
                <a:solidFill>
                  <a:srgbClr val="62707F"/>
                </a:solidFill>
                <a:latin typeface="Calibri" pitchFamily="34" charset="0"/>
                <a:ea typeface="Calibri" pitchFamily="34" charset="-122"/>
                <a:cs typeface="Calibri" pitchFamily="34" charset="-120"/>
              </a:rPr>
              <a:t>Pred neg</a:t>
            </a:r>
            <a:endParaRPr lang="en-US" sz="1000" dirty="0"/>
          </a:p>
        </p:txBody>
      </p:sp>
      <p:sp>
        <p:nvSpPr>
          <p:cNvPr id="32" name="Text 30"/>
          <p:cNvSpPr/>
          <p:nvPr/>
        </p:nvSpPr>
        <p:spPr>
          <a:xfrm>
            <a:off x="9372600" y="2212848"/>
            <a:ext cx="1773936" cy="237744"/>
          </a:xfrm>
          <a:prstGeom prst="rect">
            <a:avLst/>
          </a:prstGeom>
          <a:noFill/>
          <a:ln/>
        </p:spPr>
        <p:txBody>
          <a:bodyPr wrap="square" lIns="0" tIns="0" rIns="0" bIns="0" rtlCol="0" anchor="ctr"/>
          <a:lstStyle/>
          <a:p>
            <a:pPr marL="0" indent="0" algn="ctr">
              <a:buNone/>
            </a:pPr>
            <a:r>
              <a:rPr lang="en-US" sz="1000" dirty="0">
                <a:solidFill>
                  <a:srgbClr val="62707F"/>
                </a:solidFill>
                <a:latin typeface="Calibri" pitchFamily="34" charset="0"/>
                <a:ea typeface="Calibri" pitchFamily="34" charset="-122"/>
                <a:cs typeface="Calibri" pitchFamily="34" charset="-120"/>
              </a:rPr>
              <a:t>Pred pos</a:t>
            </a:r>
            <a:endParaRPr lang="en-US" sz="1000" dirty="0"/>
          </a:p>
        </p:txBody>
      </p:sp>
      <p:sp>
        <p:nvSpPr>
          <p:cNvPr id="33" name="Text 31"/>
          <p:cNvSpPr/>
          <p:nvPr/>
        </p:nvSpPr>
        <p:spPr>
          <a:xfrm>
            <a:off x="6675120" y="2487168"/>
            <a:ext cx="777240" cy="813816"/>
          </a:xfrm>
          <a:prstGeom prst="rect">
            <a:avLst/>
          </a:prstGeom>
          <a:noFill/>
          <a:ln/>
        </p:spPr>
        <p:txBody>
          <a:bodyPr wrap="square" lIns="0" tIns="0" rIns="0" bIns="0" rtlCol="0" anchor="ctr"/>
          <a:lstStyle/>
          <a:p>
            <a:pPr marL="0" indent="0" algn="r">
              <a:buNone/>
            </a:pPr>
            <a:r>
              <a:rPr lang="en-US" sz="1000" dirty="0">
                <a:solidFill>
                  <a:srgbClr val="62707F"/>
                </a:solidFill>
                <a:latin typeface="Calibri" pitchFamily="34" charset="0"/>
                <a:ea typeface="Calibri" pitchFamily="34" charset="-122"/>
                <a:cs typeface="Calibri" pitchFamily="34" charset="-120"/>
              </a:rPr>
              <a:t>Actual</a:t>
            </a:r>
            <a:endParaRPr lang="en-US" sz="1000" dirty="0"/>
          </a:p>
          <a:p>
            <a:pPr marL="0" indent="0" algn="r">
              <a:buNone/>
            </a:pPr>
            <a:r>
              <a:rPr lang="en-US" sz="1000" dirty="0">
                <a:solidFill>
                  <a:srgbClr val="62707F"/>
                </a:solidFill>
                <a:latin typeface="Calibri" pitchFamily="34" charset="0"/>
                <a:ea typeface="Calibri" pitchFamily="34" charset="-122"/>
                <a:cs typeface="Calibri" pitchFamily="34" charset="-120"/>
              </a:rPr>
              <a:t>neg</a:t>
            </a:r>
            <a:endParaRPr lang="en-US" sz="1000" dirty="0"/>
          </a:p>
        </p:txBody>
      </p:sp>
      <p:sp>
        <p:nvSpPr>
          <p:cNvPr id="34" name="Text 32"/>
          <p:cNvSpPr/>
          <p:nvPr/>
        </p:nvSpPr>
        <p:spPr>
          <a:xfrm>
            <a:off x="6675120" y="3355848"/>
            <a:ext cx="777240" cy="813816"/>
          </a:xfrm>
          <a:prstGeom prst="rect">
            <a:avLst/>
          </a:prstGeom>
          <a:noFill/>
          <a:ln/>
        </p:spPr>
        <p:txBody>
          <a:bodyPr wrap="square" lIns="0" tIns="0" rIns="0" bIns="0" rtlCol="0" anchor="ctr"/>
          <a:lstStyle/>
          <a:p>
            <a:pPr marL="0" indent="0" algn="r">
              <a:buNone/>
            </a:pPr>
            <a:r>
              <a:rPr lang="en-US" sz="1000" dirty="0">
                <a:solidFill>
                  <a:srgbClr val="62707F"/>
                </a:solidFill>
                <a:latin typeface="Calibri" pitchFamily="34" charset="0"/>
                <a:ea typeface="Calibri" pitchFamily="34" charset="-122"/>
                <a:cs typeface="Calibri" pitchFamily="34" charset="-120"/>
              </a:rPr>
              <a:t>Actual</a:t>
            </a:r>
            <a:endParaRPr lang="en-US" sz="1000" dirty="0"/>
          </a:p>
          <a:p>
            <a:pPr marL="0" indent="0" algn="r">
              <a:buNone/>
            </a:pPr>
            <a:r>
              <a:rPr lang="en-US" sz="1000" dirty="0">
                <a:solidFill>
                  <a:srgbClr val="62707F"/>
                </a:solidFill>
                <a:latin typeface="Calibri" pitchFamily="34" charset="0"/>
                <a:ea typeface="Calibri" pitchFamily="34" charset="-122"/>
                <a:cs typeface="Calibri" pitchFamily="34" charset="-120"/>
              </a:rPr>
              <a:t>pos</a:t>
            </a:r>
            <a:endParaRPr lang="en-US" sz="1000" dirty="0"/>
          </a:p>
        </p:txBody>
      </p:sp>
      <p:sp>
        <p:nvSpPr>
          <p:cNvPr id="35" name="Text 33"/>
          <p:cNvSpPr/>
          <p:nvPr/>
        </p:nvSpPr>
        <p:spPr>
          <a:xfrm>
            <a:off x="6583680" y="4407408"/>
            <a:ext cx="4663440" cy="292608"/>
          </a:xfrm>
          <a:prstGeom prst="rect">
            <a:avLst/>
          </a:prstGeom>
          <a:noFill/>
          <a:ln/>
        </p:spPr>
        <p:txBody>
          <a:bodyPr wrap="square" lIns="0" tIns="0" rIns="0" bIns="0" rtlCol="0" anchor="ctr"/>
          <a:lstStyle/>
          <a:p>
            <a:pPr marL="0" indent="0">
              <a:buNone/>
            </a:pPr>
            <a:r>
              <a:rPr lang="en-US" sz="1150" b="1" dirty="0">
                <a:solidFill>
                  <a:srgbClr val="0E8A8F"/>
                </a:solidFill>
                <a:latin typeface="Calibri" pitchFamily="34" charset="0"/>
                <a:ea typeface="Calibri" pitchFamily="34" charset="-122"/>
                <a:cs typeface="Calibri" pitchFamily="34" charset="-120"/>
              </a:rPr>
              <a:t>Recall on active bins: 0.929   ·   missed: 0.071</a:t>
            </a:r>
            <a:endParaRPr lang="en-US" sz="1150" dirty="0"/>
          </a:p>
        </p:txBody>
      </p:sp>
      <p:sp>
        <p:nvSpPr>
          <p:cNvPr id="36" name="Shape 34"/>
          <p:cNvSpPr/>
          <p:nvPr/>
        </p:nvSpPr>
        <p:spPr>
          <a:xfrm>
            <a:off x="640080" y="5120640"/>
            <a:ext cx="10899648" cy="914400"/>
          </a:xfrm>
          <a:prstGeom prst="roundRect">
            <a:avLst>
              <a:gd name="adj" fmla="val 9000"/>
            </a:avLst>
          </a:prstGeom>
          <a:solidFill>
            <a:srgbClr val="FBEEE1"/>
          </a:solidFill>
          <a:ln/>
          <a:effectLst>
            <a:outerShdw blurRad="101600" dist="12700" dir="5400000" algn="bl" rotWithShape="0">
              <a:srgbClr val="9AA7B4">
                <a:alpha val="18000"/>
              </a:srgbClr>
            </a:outerShdw>
          </a:effectLst>
        </p:spPr>
        <p:txBody>
          <a:bodyPr/>
          <a:lstStyle/>
          <a:p>
            <a:endParaRPr lang="en-US"/>
          </a:p>
        </p:txBody>
      </p:sp>
      <p:sp>
        <p:nvSpPr>
          <p:cNvPr id="37" name="Text 35"/>
          <p:cNvSpPr/>
          <p:nvPr/>
        </p:nvSpPr>
        <p:spPr>
          <a:xfrm>
            <a:off x="914400" y="5120640"/>
            <a:ext cx="10332720" cy="914400"/>
          </a:xfrm>
          <a:prstGeom prst="rect">
            <a:avLst/>
          </a:prstGeom>
          <a:noFill/>
          <a:ln/>
        </p:spPr>
        <p:txBody>
          <a:bodyPr wrap="square" lIns="0" tIns="0" rIns="0" bIns="0" rtlCol="0" anchor="ctr"/>
          <a:lstStyle/>
          <a:p>
            <a:pPr marL="0" indent="0">
              <a:buNone/>
            </a:pPr>
            <a:r>
              <a:rPr lang="en-US" sz="1450" dirty="0">
                <a:solidFill>
                  <a:srgbClr val="12233A"/>
                </a:solidFill>
                <a:latin typeface="Calibri" pitchFamily="34" charset="0"/>
                <a:ea typeface="Calibri" pitchFamily="34" charset="-122"/>
                <a:cs typeface="Calibri" pitchFamily="34" charset="-120"/>
              </a:rPr>
              <a:t>Negatives outnumber positives 2,000 to 1. That inflates accuracy and ROC-AUC. Recall on active bins is the honest number.</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47472"/>
            <a:ext cx="10881360" cy="256032"/>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COMPARING THE TWO RUNS</a:t>
            </a:r>
            <a:endParaRPr lang="en-US" sz="1150" dirty="0"/>
          </a:p>
        </p:txBody>
      </p:sp>
      <p:sp>
        <p:nvSpPr>
          <p:cNvPr id="3" name="Text 1"/>
          <p:cNvSpPr/>
          <p:nvPr/>
        </p:nvSpPr>
        <p:spPr>
          <a:xfrm>
            <a:off x="640080" y="621792"/>
            <a:ext cx="10881360" cy="658368"/>
          </a:xfrm>
          <a:prstGeom prst="rect">
            <a:avLst/>
          </a:prstGeom>
          <a:noFill/>
          <a:ln/>
        </p:spPr>
        <p:txBody>
          <a:bodyPr wrap="square" lIns="0" tIns="0" rIns="0" bIns="0" rtlCol="0" anchor="t"/>
          <a:lstStyle/>
          <a:p>
            <a:pPr marL="0" indent="0">
              <a:buNone/>
            </a:pPr>
            <a:r>
              <a:rPr lang="en-US" sz="3000" b="1" dirty="0">
                <a:solidFill>
                  <a:srgbClr val="12233A"/>
                </a:solidFill>
                <a:latin typeface="Cambria" pitchFamily="34" charset="0"/>
                <a:ea typeface="Cambria" pitchFamily="34" charset="-122"/>
                <a:cs typeface="Cambria" pitchFamily="34" charset="-120"/>
              </a:rPr>
              <a:t>Real time or best quality</a:t>
            </a:r>
            <a:endParaRPr lang="en-US" sz="3000" dirty="0"/>
          </a:p>
        </p:txBody>
      </p:sp>
      <p:sp>
        <p:nvSpPr>
          <p:cNvPr id="4" name="Shape 2"/>
          <p:cNvSpPr/>
          <p:nvPr/>
        </p:nvSpPr>
        <p:spPr>
          <a:xfrm>
            <a:off x="640080" y="1645920"/>
            <a:ext cx="5349240" cy="3977640"/>
          </a:xfrm>
          <a:prstGeom prst="roundRect">
            <a:avLst>
              <a:gd name="adj" fmla="val 2069"/>
            </a:avLst>
          </a:prstGeom>
          <a:solidFill>
            <a:srgbClr val="FFFFFF"/>
          </a:solidFill>
          <a:ln w="12700">
            <a:solidFill>
              <a:srgbClr val="DFE5EB"/>
            </a:solidFill>
            <a:prstDash val="solid"/>
          </a:ln>
          <a:effectLst>
            <a:outerShdw blurRad="101600" dist="12700" dir="5400000" algn="bl" rotWithShape="0">
              <a:srgbClr val="9AA7B4">
                <a:alpha val="18000"/>
              </a:srgbClr>
            </a:outerShdw>
          </a:effectLst>
        </p:spPr>
        <p:txBody>
          <a:bodyPr/>
          <a:lstStyle/>
          <a:p>
            <a:endParaRPr lang="en-US"/>
          </a:p>
        </p:txBody>
      </p:sp>
      <p:sp>
        <p:nvSpPr>
          <p:cNvPr id="5" name="Shape 3"/>
          <p:cNvSpPr/>
          <p:nvPr/>
        </p:nvSpPr>
        <p:spPr>
          <a:xfrm>
            <a:off x="6190488" y="1645920"/>
            <a:ext cx="5349240" cy="3977640"/>
          </a:xfrm>
          <a:prstGeom prst="roundRect">
            <a:avLst>
              <a:gd name="adj" fmla="val 2069"/>
            </a:avLst>
          </a:prstGeom>
          <a:solidFill>
            <a:srgbClr val="12233A"/>
          </a:solidFill>
          <a:ln/>
          <a:effectLst>
            <a:outerShdw blurRad="101600" dist="12700" dir="5400000" algn="bl" rotWithShape="0">
              <a:srgbClr val="9AA7B4">
                <a:alpha val="18000"/>
              </a:srgbClr>
            </a:outerShdw>
          </a:effectLst>
        </p:spPr>
        <p:txBody>
          <a:bodyPr/>
          <a:lstStyle/>
          <a:p>
            <a:endParaRPr lang="en-US"/>
          </a:p>
        </p:txBody>
      </p:sp>
      <p:sp>
        <p:nvSpPr>
          <p:cNvPr id="6" name="Text 4"/>
          <p:cNvSpPr/>
          <p:nvPr/>
        </p:nvSpPr>
        <p:spPr>
          <a:xfrm>
            <a:off x="914400" y="1828800"/>
            <a:ext cx="4846320" cy="329184"/>
          </a:xfrm>
          <a:prstGeom prst="rect">
            <a:avLst/>
          </a:prstGeom>
          <a:noFill/>
          <a:ln/>
        </p:spPr>
        <p:txBody>
          <a:bodyPr wrap="square" lIns="0" tIns="0" rIns="0" bIns="0" rtlCol="0" anchor="ctr"/>
          <a:lstStyle/>
          <a:p>
            <a:pPr marL="0" indent="0">
              <a:buNone/>
            </a:pPr>
            <a:r>
              <a:rPr lang="en-US" sz="1800" b="1" dirty="0">
                <a:solidFill>
                  <a:srgbClr val="12233A"/>
                </a:solidFill>
                <a:latin typeface="Cambria" pitchFamily="34" charset="0"/>
                <a:ea typeface="Cambria" pitchFamily="34" charset="-122"/>
                <a:cs typeface="Cambria" pitchFamily="34" charset="-120"/>
              </a:rPr>
              <a:t>Run A · Unidirectional</a:t>
            </a:r>
            <a:endParaRPr lang="en-US" sz="1800" dirty="0"/>
          </a:p>
        </p:txBody>
      </p:sp>
      <p:sp>
        <p:nvSpPr>
          <p:cNvPr id="7" name="Text 5"/>
          <p:cNvSpPr/>
          <p:nvPr/>
        </p:nvSpPr>
        <p:spPr>
          <a:xfrm>
            <a:off x="914400" y="2176272"/>
            <a:ext cx="4846320" cy="274320"/>
          </a:xfrm>
          <a:prstGeom prst="rect">
            <a:avLst/>
          </a:prstGeom>
          <a:noFill/>
          <a:ln/>
        </p:spPr>
        <p:txBody>
          <a:bodyPr wrap="square" lIns="0" tIns="0" rIns="0" bIns="0" rtlCol="0" anchor="ctr"/>
          <a:lstStyle/>
          <a:p>
            <a:pPr marL="0" indent="0">
              <a:buNone/>
            </a:pPr>
            <a:r>
              <a:rPr lang="en-US" sz="1150" i="1" dirty="0">
                <a:solidFill>
                  <a:srgbClr val="0E8A8F"/>
                </a:solidFill>
                <a:latin typeface="Calibri" pitchFamily="34" charset="0"/>
                <a:ea typeface="Calibri" pitchFamily="34" charset="-122"/>
                <a:cs typeface="Calibri" pitchFamily="34" charset="-120"/>
              </a:rPr>
              <a:t>Past frames only. Runs live.</a:t>
            </a:r>
            <a:endParaRPr lang="en-US" sz="1150" dirty="0"/>
          </a:p>
        </p:txBody>
      </p:sp>
      <p:sp>
        <p:nvSpPr>
          <p:cNvPr id="8" name="Text 6"/>
          <p:cNvSpPr/>
          <p:nvPr/>
        </p:nvSpPr>
        <p:spPr>
          <a:xfrm>
            <a:off x="6464808" y="1828800"/>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Run B · Bidirectional</a:t>
            </a:r>
            <a:endParaRPr lang="en-US" sz="1800" dirty="0"/>
          </a:p>
        </p:txBody>
      </p:sp>
      <p:sp>
        <p:nvSpPr>
          <p:cNvPr id="9" name="Text 7"/>
          <p:cNvSpPr/>
          <p:nvPr/>
        </p:nvSpPr>
        <p:spPr>
          <a:xfrm>
            <a:off x="6464808" y="2176272"/>
            <a:ext cx="4846320" cy="274320"/>
          </a:xfrm>
          <a:prstGeom prst="rect">
            <a:avLst/>
          </a:prstGeom>
          <a:noFill/>
          <a:ln/>
        </p:spPr>
        <p:txBody>
          <a:bodyPr wrap="square" lIns="0" tIns="0" rIns="0" bIns="0" rtlCol="0" anchor="ctr"/>
          <a:lstStyle/>
          <a:p>
            <a:pPr marL="0" indent="0">
              <a:buNone/>
            </a:pPr>
            <a:r>
              <a:rPr lang="en-US" sz="1150" i="1" dirty="0">
                <a:solidFill>
                  <a:srgbClr val="E08A3C"/>
                </a:solidFill>
                <a:latin typeface="Calibri" pitchFamily="34" charset="0"/>
                <a:ea typeface="Calibri" pitchFamily="34" charset="-122"/>
                <a:cs typeface="Calibri" pitchFamily="34" charset="-120"/>
              </a:rPr>
              <a:t>Needs the whole file first.</a:t>
            </a:r>
            <a:endParaRPr lang="en-US" sz="1150" dirty="0"/>
          </a:p>
        </p:txBody>
      </p:sp>
      <p:sp>
        <p:nvSpPr>
          <p:cNvPr id="10" name="Text 8"/>
          <p:cNvSpPr/>
          <p:nvPr/>
        </p:nvSpPr>
        <p:spPr>
          <a:xfrm>
            <a:off x="914400" y="2606040"/>
            <a:ext cx="2148840" cy="402336"/>
          </a:xfrm>
          <a:prstGeom prst="rect">
            <a:avLst/>
          </a:prstGeom>
          <a:noFill/>
          <a:ln/>
        </p:spPr>
        <p:txBody>
          <a:bodyPr wrap="square" lIns="0" tIns="0" rIns="0" bIns="0" rtlCol="0" anchor="ctr"/>
          <a:lstStyle/>
          <a:p>
            <a:pPr marL="0" indent="0">
              <a:buNone/>
            </a:pPr>
            <a:r>
              <a:rPr lang="en-US" sz="1150" dirty="0">
                <a:solidFill>
                  <a:srgbClr val="62707F"/>
                </a:solidFill>
                <a:latin typeface="Calibri" pitchFamily="34" charset="0"/>
                <a:ea typeface="Calibri" pitchFamily="34" charset="-122"/>
                <a:cs typeface="Calibri" pitchFamily="34" charset="-120"/>
              </a:rPr>
              <a:t>Sample rate</a:t>
            </a:r>
            <a:endParaRPr lang="en-US" sz="1150" dirty="0"/>
          </a:p>
        </p:txBody>
      </p:sp>
      <p:sp>
        <p:nvSpPr>
          <p:cNvPr id="11" name="Text 9"/>
          <p:cNvSpPr/>
          <p:nvPr/>
        </p:nvSpPr>
        <p:spPr>
          <a:xfrm>
            <a:off x="3108960" y="2606040"/>
            <a:ext cx="2697480" cy="402336"/>
          </a:xfrm>
          <a:prstGeom prst="rect">
            <a:avLst/>
          </a:prstGeom>
          <a:noFill/>
          <a:ln/>
        </p:spPr>
        <p:txBody>
          <a:bodyPr wrap="square" lIns="0" tIns="0" rIns="0" bIns="0" rtlCol="0" anchor="ctr"/>
          <a:lstStyle/>
          <a:p>
            <a:pPr marL="0" indent="0">
              <a:buNone/>
            </a:pPr>
            <a:r>
              <a:rPr lang="en-US" sz="1250" b="1" dirty="0">
                <a:solidFill>
                  <a:srgbClr val="16202C"/>
                </a:solidFill>
                <a:latin typeface="Calibri" pitchFamily="34" charset="0"/>
                <a:ea typeface="Calibri" pitchFamily="34" charset="-122"/>
                <a:cs typeface="Calibri" pitchFamily="34" charset="-120"/>
              </a:rPr>
              <a:t>16 kHz</a:t>
            </a:r>
            <a:endParaRPr lang="en-US" sz="1250" dirty="0"/>
          </a:p>
        </p:txBody>
      </p:sp>
      <p:sp>
        <p:nvSpPr>
          <p:cNvPr id="12" name="Text 10"/>
          <p:cNvSpPr/>
          <p:nvPr/>
        </p:nvSpPr>
        <p:spPr>
          <a:xfrm>
            <a:off x="6464808" y="2606040"/>
            <a:ext cx="2148840" cy="402336"/>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Sample rate</a:t>
            </a:r>
            <a:endParaRPr lang="en-US" sz="1150" dirty="0"/>
          </a:p>
        </p:txBody>
      </p:sp>
      <p:sp>
        <p:nvSpPr>
          <p:cNvPr id="13" name="Text 11"/>
          <p:cNvSpPr/>
          <p:nvPr/>
        </p:nvSpPr>
        <p:spPr>
          <a:xfrm>
            <a:off x="8659368" y="2606040"/>
            <a:ext cx="26974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44.1 kHz</a:t>
            </a:r>
            <a:endParaRPr lang="en-US" sz="1250" dirty="0"/>
          </a:p>
        </p:txBody>
      </p:sp>
      <p:sp>
        <p:nvSpPr>
          <p:cNvPr id="14" name="Shape 12"/>
          <p:cNvSpPr/>
          <p:nvPr/>
        </p:nvSpPr>
        <p:spPr>
          <a:xfrm>
            <a:off x="914400" y="3054096"/>
            <a:ext cx="4892040" cy="0"/>
          </a:xfrm>
          <a:prstGeom prst="line">
            <a:avLst/>
          </a:prstGeom>
          <a:noFill/>
          <a:ln w="12700">
            <a:solidFill>
              <a:srgbClr val="DFE5EB"/>
            </a:solidFill>
            <a:prstDash val="solid"/>
          </a:ln>
        </p:spPr>
        <p:txBody>
          <a:bodyPr/>
          <a:lstStyle/>
          <a:p>
            <a:endParaRPr lang="en-US"/>
          </a:p>
        </p:txBody>
      </p:sp>
      <p:sp>
        <p:nvSpPr>
          <p:cNvPr id="15" name="Shape 13"/>
          <p:cNvSpPr/>
          <p:nvPr/>
        </p:nvSpPr>
        <p:spPr>
          <a:xfrm>
            <a:off x="6464808" y="3054096"/>
            <a:ext cx="4892040" cy="0"/>
          </a:xfrm>
          <a:prstGeom prst="line">
            <a:avLst/>
          </a:prstGeom>
          <a:noFill/>
          <a:ln w="12700">
            <a:solidFill>
              <a:srgbClr val="1C3557"/>
            </a:solidFill>
            <a:prstDash val="solid"/>
          </a:ln>
        </p:spPr>
        <p:txBody>
          <a:bodyPr/>
          <a:lstStyle/>
          <a:p>
            <a:endParaRPr lang="en-US"/>
          </a:p>
        </p:txBody>
      </p:sp>
      <p:sp>
        <p:nvSpPr>
          <p:cNvPr id="16" name="Text 14"/>
          <p:cNvSpPr/>
          <p:nvPr/>
        </p:nvSpPr>
        <p:spPr>
          <a:xfrm>
            <a:off x="914400" y="3090672"/>
            <a:ext cx="2148840" cy="402336"/>
          </a:xfrm>
          <a:prstGeom prst="rect">
            <a:avLst/>
          </a:prstGeom>
          <a:noFill/>
          <a:ln/>
        </p:spPr>
        <p:txBody>
          <a:bodyPr wrap="square" lIns="0" tIns="0" rIns="0" bIns="0" rtlCol="0" anchor="ctr"/>
          <a:lstStyle/>
          <a:p>
            <a:pPr marL="0" indent="0">
              <a:buNone/>
            </a:pPr>
            <a:r>
              <a:rPr lang="en-US" sz="1150" dirty="0">
                <a:solidFill>
                  <a:srgbClr val="62707F"/>
                </a:solidFill>
                <a:latin typeface="Calibri" pitchFamily="34" charset="0"/>
                <a:ea typeface="Calibri" pitchFamily="34" charset="-122"/>
                <a:cs typeface="Calibri" pitchFamily="34" charset="-120"/>
              </a:rPr>
              <a:t>LSTM direction</a:t>
            </a:r>
            <a:endParaRPr lang="en-US" sz="1150" dirty="0"/>
          </a:p>
        </p:txBody>
      </p:sp>
      <p:sp>
        <p:nvSpPr>
          <p:cNvPr id="17" name="Text 15"/>
          <p:cNvSpPr/>
          <p:nvPr/>
        </p:nvSpPr>
        <p:spPr>
          <a:xfrm>
            <a:off x="3108960" y="3090672"/>
            <a:ext cx="2697480" cy="402336"/>
          </a:xfrm>
          <a:prstGeom prst="rect">
            <a:avLst/>
          </a:prstGeom>
          <a:noFill/>
          <a:ln/>
        </p:spPr>
        <p:txBody>
          <a:bodyPr wrap="square" lIns="0" tIns="0" rIns="0" bIns="0" rtlCol="0" anchor="ctr"/>
          <a:lstStyle/>
          <a:p>
            <a:pPr marL="0" indent="0">
              <a:buNone/>
            </a:pPr>
            <a:r>
              <a:rPr lang="en-US" sz="1250" b="1" dirty="0">
                <a:solidFill>
                  <a:srgbClr val="16202C"/>
                </a:solidFill>
                <a:latin typeface="Calibri" pitchFamily="34" charset="0"/>
                <a:ea typeface="Calibri" pitchFamily="34" charset="-122"/>
                <a:cs typeface="Calibri" pitchFamily="34" charset="-120"/>
              </a:rPr>
              <a:t>Unidirectional (causal)</a:t>
            </a:r>
            <a:endParaRPr lang="en-US" sz="1250" dirty="0"/>
          </a:p>
        </p:txBody>
      </p:sp>
      <p:sp>
        <p:nvSpPr>
          <p:cNvPr id="18" name="Text 16"/>
          <p:cNvSpPr/>
          <p:nvPr/>
        </p:nvSpPr>
        <p:spPr>
          <a:xfrm>
            <a:off x="6464808" y="3090672"/>
            <a:ext cx="2148840" cy="402336"/>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LSTM direction</a:t>
            </a:r>
            <a:endParaRPr lang="en-US" sz="1150" dirty="0"/>
          </a:p>
        </p:txBody>
      </p:sp>
      <p:sp>
        <p:nvSpPr>
          <p:cNvPr id="19" name="Text 17"/>
          <p:cNvSpPr/>
          <p:nvPr/>
        </p:nvSpPr>
        <p:spPr>
          <a:xfrm>
            <a:off x="8659368" y="3090672"/>
            <a:ext cx="26974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Bidirectional</a:t>
            </a:r>
            <a:endParaRPr lang="en-US" sz="1250" dirty="0"/>
          </a:p>
        </p:txBody>
      </p:sp>
      <p:sp>
        <p:nvSpPr>
          <p:cNvPr id="20" name="Shape 18"/>
          <p:cNvSpPr/>
          <p:nvPr/>
        </p:nvSpPr>
        <p:spPr>
          <a:xfrm>
            <a:off x="914400" y="3538728"/>
            <a:ext cx="4892040" cy="0"/>
          </a:xfrm>
          <a:prstGeom prst="line">
            <a:avLst/>
          </a:prstGeom>
          <a:noFill/>
          <a:ln w="12700">
            <a:solidFill>
              <a:srgbClr val="DFE5EB"/>
            </a:solidFill>
            <a:prstDash val="solid"/>
          </a:ln>
        </p:spPr>
        <p:txBody>
          <a:bodyPr/>
          <a:lstStyle/>
          <a:p>
            <a:endParaRPr lang="en-US"/>
          </a:p>
        </p:txBody>
      </p:sp>
      <p:sp>
        <p:nvSpPr>
          <p:cNvPr id="21" name="Shape 19"/>
          <p:cNvSpPr/>
          <p:nvPr/>
        </p:nvSpPr>
        <p:spPr>
          <a:xfrm>
            <a:off x="6464808" y="3538728"/>
            <a:ext cx="4892040" cy="0"/>
          </a:xfrm>
          <a:prstGeom prst="line">
            <a:avLst/>
          </a:prstGeom>
          <a:noFill/>
          <a:ln w="12700">
            <a:solidFill>
              <a:srgbClr val="1C3557"/>
            </a:solidFill>
            <a:prstDash val="solid"/>
          </a:ln>
        </p:spPr>
        <p:txBody>
          <a:bodyPr/>
          <a:lstStyle/>
          <a:p>
            <a:endParaRPr lang="en-US"/>
          </a:p>
        </p:txBody>
      </p:sp>
      <p:sp>
        <p:nvSpPr>
          <p:cNvPr id="22" name="Text 20"/>
          <p:cNvSpPr/>
          <p:nvPr/>
        </p:nvSpPr>
        <p:spPr>
          <a:xfrm>
            <a:off x="914400" y="3575304"/>
            <a:ext cx="2148840" cy="402336"/>
          </a:xfrm>
          <a:prstGeom prst="rect">
            <a:avLst/>
          </a:prstGeom>
          <a:noFill/>
          <a:ln/>
        </p:spPr>
        <p:txBody>
          <a:bodyPr wrap="square" lIns="0" tIns="0" rIns="0" bIns="0" rtlCol="0" anchor="ctr"/>
          <a:lstStyle/>
          <a:p>
            <a:pPr marL="0" indent="0">
              <a:buNone/>
            </a:pPr>
            <a:r>
              <a:rPr lang="en-US" sz="1150" dirty="0">
                <a:solidFill>
                  <a:srgbClr val="62707F"/>
                </a:solidFill>
                <a:latin typeface="Calibri" pitchFamily="34" charset="0"/>
                <a:ea typeface="Calibri" pitchFamily="34" charset="-122"/>
                <a:cs typeface="Calibri" pitchFamily="34" charset="-120"/>
              </a:rPr>
              <a:t>Frame size</a:t>
            </a:r>
            <a:endParaRPr lang="en-US" sz="1150" dirty="0"/>
          </a:p>
        </p:txBody>
      </p:sp>
      <p:sp>
        <p:nvSpPr>
          <p:cNvPr id="23" name="Text 21"/>
          <p:cNvSpPr/>
          <p:nvPr/>
        </p:nvSpPr>
        <p:spPr>
          <a:xfrm>
            <a:off x="3108960" y="3575304"/>
            <a:ext cx="2697480" cy="402336"/>
          </a:xfrm>
          <a:prstGeom prst="rect">
            <a:avLst/>
          </a:prstGeom>
          <a:noFill/>
          <a:ln/>
        </p:spPr>
        <p:txBody>
          <a:bodyPr wrap="square" lIns="0" tIns="0" rIns="0" bIns="0" rtlCol="0" anchor="ctr"/>
          <a:lstStyle/>
          <a:p>
            <a:pPr marL="0" indent="0">
              <a:buNone/>
            </a:pPr>
            <a:r>
              <a:rPr lang="en-US" sz="1250" b="1" dirty="0">
                <a:solidFill>
                  <a:srgbClr val="16202C"/>
                </a:solidFill>
                <a:latin typeface="Calibri" pitchFamily="34" charset="0"/>
                <a:ea typeface="Calibri" pitchFamily="34" charset="-122"/>
                <a:cs typeface="Calibri" pitchFamily="34" charset="-120"/>
              </a:rPr>
              <a:t>512 samples</a:t>
            </a:r>
            <a:endParaRPr lang="en-US" sz="1250" dirty="0"/>
          </a:p>
        </p:txBody>
      </p:sp>
      <p:sp>
        <p:nvSpPr>
          <p:cNvPr id="24" name="Text 22"/>
          <p:cNvSpPr/>
          <p:nvPr/>
        </p:nvSpPr>
        <p:spPr>
          <a:xfrm>
            <a:off x="6464808" y="3575304"/>
            <a:ext cx="2148840" cy="402336"/>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Frame size</a:t>
            </a:r>
            <a:endParaRPr lang="en-US" sz="1150" dirty="0"/>
          </a:p>
        </p:txBody>
      </p:sp>
      <p:sp>
        <p:nvSpPr>
          <p:cNvPr id="25" name="Text 23"/>
          <p:cNvSpPr/>
          <p:nvPr/>
        </p:nvSpPr>
        <p:spPr>
          <a:xfrm>
            <a:off x="8659368" y="3575304"/>
            <a:ext cx="26974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2048 samples</a:t>
            </a:r>
            <a:endParaRPr lang="en-US" sz="1250" dirty="0"/>
          </a:p>
        </p:txBody>
      </p:sp>
      <p:sp>
        <p:nvSpPr>
          <p:cNvPr id="26" name="Shape 24"/>
          <p:cNvSpPr/>
          <p:nvPr/>
        </p:nvSpPr>
        <p:spPr>
          <a:xfrm>
            <a:off x="914400" y="4023360"/>
            <a:ext cx="4892040" cy="0"/>
          </a:xfrm>
          <a:prstGeom prst="line">
            <a:avLst/>
          </a:prstGeom>
          <a:noFill/>
          <a:ln w="12700">
            <a:solidFill>
              <a:srgbClr val="DFE5EB"/>
            </a:solidFill>
            <a:prstDash val="solid"/>
          </a:ln>
        </p:spPr>
        <p:txBody>
          <a:bodyPr/>
          <a:lstStyle/>
          <a:p>
            <a:endParaRPr lang="en-US"/>
          </a:p>
        </p:txBody>
      </p:sp>
      <p:sp>
        <p:nvSpPr>
          <p:cNvPr id="27" name="Shape 25"/>
          <p:cNvSpPr/>
          <p:nvPr/>
        </p:nvSpPr>
        <p:spPr>
          <a:xfrm>
            <a:off x="6464808" y="4023360"/>
            <a:ext cx="4892040" cy="0"/>
          </a:xfrm>
          <a:prstGeom prst="line">
            <a:avLst/>
          </a:prstGeom>
          <a:noFill/>
          <a:ln w="12700">
            <a:solidFill>
              <a:srgbClr val="1C3557"/>
            </a:solidFill>
            <a:prstDash val="solid"/>
          </a:ln>
        </p:spPr>
        <p:txBody>
          <a:bodyPr/>
          <a:lstStyle/>
          <a:p>
            <a:endParaRPr lang="en-US"/>
          </a:p>
        </p:txBody>
      </p:sp>
      <p:sp>
        <p:nvSpPr>
          <p:cNvPr id="28" name="Text 26"/>
          <p:cNvSpPr/>
          <p:nvPr/>
        </p:nvSpPr>
        <p:spPr>
          <a:xfrm>
            <a:off x="914400" y="4059936"/>
            <a:ext cx="2148840" cy="402336"/>
          </a:xfrm>
          <a:prstGeom prst="rect">
            <a:avLst/>
          </a:prstGeom>
          <a:noFill/>
          <a:ln/>
        </p:spPr>
        <p:txBody>
          <a:bodyPr wrap="square" lIns="0" tIns="0" rIns="0" bIns="0" rtlCol="0" anchor="ctr"/>
          <a:lstStyle/>
          <a:p>
            <a:pPr marL="0" indent="0">
              <a:buNone/>
            </a:pPr>
            <a:r>
              <a:rPr lang="en-US" sz="1150" dirty="0">
                <a:solidFill>
                  <a:srgbClr val="62707F"/>
                </a:solidFill>
                <a:latin typeface="Calibri" pitchFamily="34" charset="0"/>
                <a:ea typeface="Calibri" pitchFamily="34" charset="-122"/>
                <a:cs typeface="Calibri" pitchFamily="34" charset="-120"/>
              </a:rPr>
              <a:t>Epochs / batch</a:t>
            </a:r>
            <a:endParaRPr lang="en-US" sz="1150" dirty="0"/>
          </a:p>
        </p:txBody>
      </p:sp>
      <p:sp>
        <p:nvSpPr>
          <p:cNvPr id="29" name="Text 27"/>
          <p:cNvSpPr/>
          <p:nvPr/>
        </p:nvSpPr>
        <p:spPr>
          <a:xfrm>
            <a:off x="3108960" y="4059936"/>
            <a:ext cx="2697480" cy="402336"/>
          </a:xfrm>
          <a:prstGeom prst="rect">
            <a:avLst/>
          </a:prstGeom>
          <a:noFill/>
          <a:ln/>
        </p:spPr>
        <p:txBody>
          <a:bodyPr wrap="square" lIns="0" tIns="0" rIns="0" bIns="0" rtlCol="0" anchor="ctr"/>
          <a:lstStyle/>
          <a:p>
            <a:pPr marL="0" indent="0">
              <a:buNone/>
            </a:pPr>
            <a:r>
              <a:rPr lang="en-US" sz="1250" b="1" dirty="0">
                <a:solidFill>
                  <a:srgbClr val="16202C"/>
                </a:solidFill>
                <a:latin typeface="Calibri" pitchFamily="34" charset="0"/>
                <a:ea typeface="Calibri" pitchFamily="34" charset="-122"/>
                <a:cs typeface="Calibri" pitchFamily="34" charset="-120"/>
              </a:rPr>
              <a:t>25 / 4</a:t>
            </a:r>
            <a:endParaRPr lang="en-US" sz="1250" dirty="0"/>
          </a:p>
        </p:txBody>
      </p:sp>
      <p:sp>
        <p:nvSpPr>
          <p:cNvPr id="30" name="Text 28"/>
          <p:cNvSpPr/>
          <p:nvPr/>
        </p:nvSpPr>
        <p:spPr>
          <a:xfrm>
            <a:off x="6464808" y="4059936"/>
            <a:ext cx="2148840" cy="402336"/>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Epochs / batch</a:t>
            </a:r>
            <a:endParaRPr lang="en-US" sz="1150" dirty="0"/>
          </a:p>
        </p:txBody>
      </p:sp>
      <p:sp>
        <p:nvSpPr>
          <p:cNvPr id="31" name="Text 29"/>
          <p:cNvSpPr/>
          <p:nvPr/>
        </p:nvSpPr>
        <p:spPr>
          <a:xfrm>
            <a:off x="8659368" y="4059936"/>
            <a:ext cx="26974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32 / 8</a:t>
            </a:r>
            <a:endParaRPr lang="en-US" sz="1250" dirty="0"/>
          </a:p>
        </p:txBody>
      </p:sp>
      <p:sp>
        <p:nvSpPr>
          <p:cNvPr id="32" name="Shape 30"/>
          <p:cNvSpPr/>
          <p:nvPr/>
        </p:nvSpPr>
        <p:spPr>
          <a:xfrm>
            <a:off x="914400" y="4507992"/>
            <a:ext cx="4892040" cy="0"/>
          </a:xfrm>
          <a:prstGeom prst="line">
            <a:avLst/>
          </a:prstGeom>
          <a:noFill/>
          <a:ln w="12700">
            <a:solidFill>
              <a:srgbClr val="DFE5EB"/>
            </a:solidFill>
            <a:prstDash val="solid"/>
          </a:ln>
        </p:spPr>
        <p:txBody>
          <a:bodyPr/>
          <a:lstStyle/>
          <a:p>
            <a:endParaRPr lang="en-US"/>
          </a:p>
        </p:txBody>
      </p:sp>
      <p:sp>
        <p:nvSpPr>
          <p:cNvPr id="33" name="Shape 31"/>
          <p:cNvSpPr/>
          <p:nvPr/>
        </p:nvSpPr>
        <p:spPr>
          <a:xfrm>
            <a:off x="6464808" y="4507992"/>
            <a:ext cx="4892040" cy="0"/>
          </a:xfrm>
          <a:prstGeom prst="line">
            <a:avLst/>
          </a:prstGeom>
          <a:noFill/>
          <a:ln w="12700">
            <a:solidFill>
              <a:srgbClr val="1C3557"/>
            </a:solidFill>
            <a:prstDash val="solid"/>
          </a:ln>
        </p:spPr>
        <p:txBody>
          <a:bodyPr/>
          <a:lstStyle/>
          <a:p>
            <a:endParaRPr lang="en-US"/>
          </a:p>
        </p:txBody>
      </p:sp>
      <p:sp>
        <p:nvSpPr>
          <p:cNvPr id="34" name="Text 32"/>
          <p:cNvSpPr/>
          <p:nvPr/>
        </p:nvSpPr>
        <p:spPr>
          <a:xfrm>
            <a:off x="914400" y="4544568"/>
            <a:ext cx="2148840" cy="402336"/>
          </a:xfrm>
          <a:prstGeom prst="rect">
            <a:avLst/>
          </a:prstGeom>
          <a:noFill/>
          <a:ln/>
        </p:spPr>
        <p:txBody>
          <a:bodyPr wrap="square" lIns="0" tIns="0" rIns="0" bIns="0" rtlCol="0" anchor="ctr"/>
          <a:lstStyle/>
          <a:p>
            <a:pPr marL="0" indent="0">
              <a:buNone/>
            </a:pPr>
            <a:r>
              <a:rPr lang="en-US" sz="1150" dirty="0">
                <a:solidFill>
                  <a:srgbClr val="62707F"/>
                </a:solidFill>
                <a:latin typeface="Calibri" pitchFamily="34" charset="0"/>
                <a:ea typeface="Calibri" pitchFamily="34" charset="-122"/>
                <a:cs typeface="Calibri" pitchFamily="34" charset="-120"/>
              </a:rPr>
              <a:t>Positive-class recall</a:t>
            </a:r>
            <a:endParaRPr lang="en-US" sz="1150" dirty="0"/>
          </a:p>
        </p:txBody>
      </p:sp>
      <p:sp>
        <p:nvSpPr>
          <p:cNvPr id="35" name="Text 33"/>
          <p:cNvSpPr/>
          <p:nvPr/>
        </p:nvSpPr>
        <p:spPr>
          <a:xfrm>
            <a:off x="3108960" y="4544568"/>
            <a:ext cx="2697480" cy="402336"/>
          </a:xfrm>
          <a:prstGeom prst="rect">
            <a:avLst/>
          </a:prstGeom>
          <a:noFill/>
          <a:ln/>
        </p:spPr>
        <p:txBody>
          <a:bodyPr wrap="square" lIns="0" tIns="0" rIns="0" bIns="0" rtlCol="0" anchor="ctr"/>
          <a:lstStyle/>
          <a:p>
            <a:pPr marL="0" indent="0">
              <a:buNone/>
            </a:pPr>
            <a:r>
              <a:rPr lang="en-US" sz="1250" b="1" dirty="0">
                <a:solidFill>
                  <a:srgbClr val="16202C"/>
                </a:solidFill>
                <a:latin typeface="Calibri" pitchFamily="34" charset="0"/>
                <a:ea typeface="Calibri" pitchFamily="34" charset="-122"/>
                <a:cs typeface="Calibri" pitchFamily="34" charset="-120"/>
              </a:rPr>
              <a:t>0.914</a:t>
            </a:r>
            <a:endParaRPr lang="en-US" sz="1250" dirty="0"/>
          </a:p>
        </p:txBody>
      </p:sp>
      <p:sp>
        <p:nvSpPr>
          <p:cNvPr id="36" name="Text 34"/>
          <p:cNvSpPr/>
          <p:nvPr/>
        </p:nvSpPr>
        <p:spPr>
          <a:xfrm>
            <a:off x="6464808" y="4544568"/>
            <a:ext cx="2148840" cy="402336"/>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Positive-class recall</a:t>
            </a:r>
            <a:endParaRPr lang="en-US" sz="1150" dirty="0"/>
          </a:p>
        </p:txBody>
      </p:sp>
      <p:sp>
        <p:nvSpPr>
          <p:cNvPr id="37" name="Text 35"/>
          <p:cNvSpPr/>
          <p:nvPr/>
        </p:nvSpPr>
        <p:spPr>
          <a:xfrm>
            <a:off x="8659368" y="4544568"/>
            <a:ext cx="26974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0.929</a:t>
            </a:r>
            <a:endParaRPr lang="en-US" sz="1250" dirty="0"/>
          </a:p>
        </p:txBody>
      </p:sp>
      <p:sp>
        <p:nvSpPr>
          <p:cNvPr id="38" name="Shape 36"/>
          <p:cNvSpPr/>
          <p:nvPr/>
        </p:nvSpPr>
        <p:spPr>
          <a:xfrm>
            <a:off x="914400" y="4992624"/>
            <a:ext cx="4892040" cy="0"/>
          </a:xfrm>
          <a:prstGeom prst="line">
            <a:avLst/>
          </a:prstGeom>
          <a:noFill/>
          <a:ln w="12700">
            <a:solidFill>
              <a:srgbClr val="DFE5EB"/>
            </a:solidFill>
            <a:prstDash val="solid"/>
          </a:ln>
        </p:spPr>
        <p:txBody>
          <a:bodyPr/>
          <a:lstStyle/>
          <a:p>
            <a:endParaRPr lang="en-US"/>
          </a:p>
        </p:txBody>
      </p:sp>
      <p:sp>
        <p:nvSpPr>
          <p:cNvPr id="39" name="Shape 37"/>
          <p:cNvSpPr/>
          <p:nvPr/>
        </p:nvSpPr>
        <p:spPr>
          <a:xfrm>
            <a:off x="6464808" y="4992624"/>
            <a:ext cx="4892040" cy="0"/>
          </a:xfrm>
          <a:prstGeom prst="line">
            <a:avLst/>
          </a:prstGeom>
          <a:noFill/>
          <a:ln w="12700">
            <a:solidFill>
              <a:srgbClr val="1C3557"/>
            </a:solidFill>
            <a:prstDash val="solid"/>
          </a:ln>
        </p:spPr>
        <p:txBody>
          <a:bodyPr/>
          <a:lstStyle/>
          <a:p>
            <a:endParaRPr lang="en-US"/>
          </a:p>
        </p:txBody>
      </p:sp>
      <p:sp>
        <p:nvSpPr>
          <p:cNvPr id="40" name="Text 38"/>
          <p:cNvSpPr/>
          <p:nvPr/>
        </p:nvSpPr>
        <p:spPr>
          <a:xfrm>
            <a:off x="914400" y="5029200"/>
            <a:ext cx="2148840" cy="402336"/>
          </a:xfrm>
          <a:prstGeom prst="rect">
            <a:avLst/>
          </a:prstGeom>
          <a:noFill/>
          <a:ln/>
        </p:spPr>
        <p:txBody>
          <a:bodyPr wrap="square" lIns="0" tIns="0" rIns="0" bIns="0" rtlCol="0" anchor="ctr"/>
          <a:lstStyle/>
          <a:p>
            <a:pPr marL="0" indent="0">
              <a:buNone/>
            </a:pPr>
            <a:r>
              <a:rPr lang="en-US" sz="1150" dirty="0">
                <a:solidFill>
                  <a:srgbClr val="62707F"/>
                </a:solidFill>
                <a:latin typeface="Calibri" pitchFamily="34" charset="0"/>
                <a:ea typeface="Calibri" pitchFamily="34" charset="-122"/>
                <a:cs typeface="Calibri" pitchFamily="34" charset="-120"/>
              </a:rPr>
              <a:t>Best use</a:t>
            </a:r>
            <a:endParaRPr lang="en-US" sz="1150" dirty="0"/>
          </a:p>
        </p:txBody>
      </p:sp>
      <p:sp>
        <p:nvSpPr>
          <p:cNvPr id="41" name="Text 39"/>
          <p:cNvSpPr/>
          <p:nvPr/>
        </p:nvSpPr>
        <p:spPr>
          <a:xfrm>
            <a:off x="3108960" y="5029200"/>
            <a:ext cx="2697480" cy="402336"/>
          </a:xfrm>
          <a:prstGeom prst="rect">
            <a:avLst/>
          </a:prstGeom>
          <a:noFill/>
          <a:ln/>
        </p:spPr>
        <p:txBody>
          <a:bodyPr wrap="square" lIns="0" tIns="0" rIns="0" bIns="0" rtlCol="0" anchor="ctr"/>
          <a:lstStyle/>
          <a:p>
            <a:pPr marL="0" indent="0">
              <a:buNone/>
            </a:pPr>
            <a:r>
              <a:rPr lang="en-US" sz="1250" b="1" dirty="0">
                <a:solidFill>
                  <a:srgbClr val="16202C"/>
                </a:solidFill>
                <a:latin typeface="Calibri" pitchFamily="34" charset="0"/>
                <a:ea typeface="Calibri" pitchFamily="34" charset="-122"/>
                <a:cs typeface="Calibri" pitchFamily="34" charset="-120"/>
              </a:rPr>
              <a:t>Live calls, low latency</a:t>
            </a:r>
            <a:endParaRPr lang="en-US" sz="1250" dirty="0"/>
          </a:p>
        </p:txBody>
      </p:sp>
      <p:sp>
        <p:nvSpPr>
          <p:cNvPr id="42" name="Text 40"/>
          <p:cNvSpPr/>
          <p:nvPr/>
        </p:nvSpPr>
        <p:spPr>
          <a:xfrm>
            <a:off x="6464808" y="5029200"/>
            <a:ext cx="2148840" cy="402336"/>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Best use</a:t>
            </a:r>
            <a:endParaRPr lang="en-US" sz="1150" dirty="0"/>
          </a:p>
        </p:txBody>
      </p:sp>
      <p:sp>
        <p:nvSpPr>
          <p:cNvPr id="43" name="Text 41"/>
          <p:cNvSpPr/>
          <p:nvPr/>
        </p:nvSpPr>
        <p:spPr>
          <a:xfrm>
            <a:off x="8659368" y="5029200"/>
            <a:ext cx="2697480" cy="40233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Offline restoration</a:t>
            </a:r>
            <a:endParaRPr lang="en-US" sz="1250" dirty="0"/>
          </a:p>
        </p:txBody>
      </p:sp>
      <p:sp>
        <p:nvSpPr>
          <p:cNvPr id="44" name="Shape 42"/>
          <p:cNvSpPr/>
          <p:nvPr/>
        </p:nvSpPr>
        <p:spPr>
          <a:xfrm>
            <a:off x="914400" y="5477256"/>
            <a:ext cx="4892040" cy="0"/>
          </a:xfrm>
          <a:prstGeom prst="line">
            <a:avLst/>
          </a:prstGeom>
          <a:noFill/>
          <a:ln w="12700">
            <a:solidFill>
              <a:srgbClr val="DFE5EB"/>
            </a:solidFill>
            <a:prstDash val="solid"/>
          </a:ln>
        </p:spPr>
        <p:txBody>
          <a:bodyPr/>
          <a:lstStyle/>
          <a:p>
            <a:endParaRPr lang="en-US"/>
          </a:p>
        </p:txBody>
      </p:sp>
      <p:sp>
        <p:nvSpPr>
          <p:cNvPr id="45" name="Shape 43"/>
          <p:cNvSpPr/>
          <p:nvPr/>
        </p:nvSpPr>
        <p:spPr>
          <a:xfrm>
            <a:off x="6464808" y="5477256"/>
            <a:ext cx="4892040" cy="0"/>
          </a:xfrm>
          <a:prstGeom prst="line">
            <a:avLst/>
          </a:prstGeom>
          <a:noFill/>
          <a:ln w="12700">
            <a:solidFill>
              <a:srgbClr val="1C3557"/>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2233A"/>
        </a:solidFill>
        <a:effectLst/>
      </p:bgPr>
    </p:bg>
    <p:spTree>
      <p:nvGrpSpPr>
        <p:cNvPr id="1" name=""/>
        <p:cNvGrpSpPr/>
        <p:nvPr/>
      </p:nvGrpSpPr>
      <p:grpSpPr>
        <a:xfrm>
          <a:off x="0" y="0"/>
          <a:ext cx="0" cy="0"/>
          <a:chOff x="0" y="0"/>
          <a:chExt cx="0" cy="0"/>
        </a:xfrm>
      </p:grpSpPr>
      <p:sp>
        <p:nvSpPr>
          <p:cNvPr id="2" name="Shape 0"/>
          <p:cNvSpPr/>
          <p:nvPr/>
        </p:nvSpPr>
        <p:spPr>
          <a:xfrm>
            <a:off x="0" y="6821424"/>
            <a:ext cx="82358" cy="36576"/>
          </a:xfrm>
          <a:prstGeom prst="roundRect">
            <a:avLst>
              <a:gd name="adj" fmla="val 50000"/>
            </a:avLst>
          </a:prstGeom>
          <a:solidFill>
            <a:srgbClr val="0E8A8F">
              <a:alpha val="55000"/>
            </a:srgbClr>
          </a:solidFill>
          <a:ln/>
        </p:spPr>
        <p:txBody>
          <a:bodyPr/>
          <a:lstStyle/>
          <a:p>
            <a:endParaRPr lang="en-US"/>
          </a:p>
        </p:txBody>
      </p:sp>
      <p:sp>
        <p:nvSpPr>
          <p:cNvPr id="3" name="Shape 1"/>
          <p:cNvSpPr/>
          <p:nvPr/>
        </p:nvSpPr>
        <p:spPr>
          <a:xfrm>
            <a:off x="164716" y="6784952"/>
            <a:ext cx="82358" cy="73048"/>
          </a:xfrm>
          <a:prstGeom prst="roundRect">
            <a:avLst>
              <a:gd name="adj" fmla="val 25036"/>
            </a:avLst>
          </a:prstGeom>
          <a:solidFill>
            <a:srgbClr val="0E8A8F">
              <a:alpha val="55000"/>
            </a:srgbClr>
          </a:solidFill>
          <a:ln/>
        </p:spPr>
        <p:txBody>
          <a:bodyPr/>
          <a:lstStyle/>
          <a:p>
            <a:endParaRPr lang="en-US"/>
          </a:p>
        </p:txBody>
      </p:sp>
      <p:sp>
        <p:nvSpPr>
          <p:cNvPr id="4" name="Shape 2"/>
          <p:cNvSpPr/>
          <p:nvPr/>
        </p:nvSpPr>
        <p:spPr>
          <a:xfrm>
            <a:off x="329431" y="6650436"/>
            <a:ext cx="82358" cy="207564"/>
          </a:xfrm>
          <a:prstGeom prst="roundRect">
            <a:avLst>
              <a:gd name="adj" fmla="val 22205"/>
            </a:avLst>
          </a:prstGeom>
          <a:solidFill>
            <a:srgbClr val="0E8A8F">
              <a:alpha val="55000"/>
            </a:srgbClr>
          </a:solidFill>
          <a:ln/>
        </p:spPr>
        <p:txBody>
          <a:bodyPr/>
          <a:lstStyle/>
          <a:p>
            <a:endParaRPr lang="en-US"/>
          </a:p>
        </p:txBody>
      </p:sp>
      <p:sp>
        <p:nvSpPr>
          <p:cNvPr id="5" name="Shape 3"/>
          <p:cNvSpPr/>
          <p:nvPr/>
        </p:nvSpPr>
        <p:spPr>
          <a:xfrm>
            <a:off x="494147" y="6573706"/>
            <a:ext cx="82358" cy="284294"/>
          </a:xfrm>
          <a:prstGeom prst="roundRect">
            <a:avLst>
              <a:gd name="adj" fmla="val 22205"/>
            </a:avLst>
          </a:prstGeom>
          <a:solidFill>
            <a:srgbClr val="0E8A8F">
              <a:alpha val="55000"/>
            </a:srgbClr>
          </a:solidFill>
          <a:ln/>
        </p:spPr>
        <p:txBody>
          <a:bodyPr/>
          <a:lstStyle/>
          <a:p>
            <a:endParaRPr lang="en-US"/>
          </a:p>
        </p:txBody>
      </p:sp>
      <p:sp>
        <p:nvSpPr>
          <p:cNvPr id="6" name="Shape 4"/>
          <p:cNvSpPr/>
          <p:nvPr/>
        </p:nvSpPr>
        <p:spPr>
          <a:xfrm>
            <a:off x="658862" y="6480016"/>
            <a:ext cx="82358" cy="377984"/>
          </a:xfrm>
          <a:prstGeom prst="roundRect">
            <a:avLst>
              <a:gd name="adj" fmla="val 22205"/>
            </a:avLst>
          </a:prstGeom>
          <a:solidFill>
            <a:srgbClr val="0E8A8F">
              <a:alpha val="55000"/>
            </a:srgbClr>
          </a:solidFill>
          <a:ln/>
        </p:spPr>
        <p:txBody>
          <a:bodyPr/>
          <a:lstStyle/>
          <a:p>
            <a:endParaRPr lang="en-US"/>
          </a:p>
        </p:txBody>
      </p:sp>
      <p:sp>
        <p:nvSpPr>
          <p:cNvPr id="7" name="Shape 5"/>
          <p:cNvSpPr/>
          <p:nvPr/>
        </p:nvSpPr>
        <p:spPr>
          <a:xfrm>
            <a:off x="823578" y="6579444"/>
            <a:ext cx="82358" cy="278556"/>
          </a:xfrm>
          <a:prstGeom prst="roundRect">
            <a:avLst>
              <a:gd name="adj" fmla="val 22205"/>
            </a:avLst>
          </a:prstGeom>
          <a:solidFill>
            <a:srgbClr val="0E8A8F">
              <a:alpha val="55000"/>
            </a:srgbClr>
          </a:solidFill>
          <a:ln/>
        </p:spPr>
        <p:txBody>
          <a:bodyPr/>
          <a:lstStyle/>
          <a:p>
            <a:endParaRPr lang="en-US"/>
          </a:p>
        </p:txBody>
      </p:sp>
      <p:sp>
        <p:nvSpPr>
          <p:cNvPr id="8" name="Shape 6"/>
          <p:cNvSpPr/>
          <p:nvPr/>
        </p:nvSpPr>
        <p:spPr>
          <a:xfrm>
            <a:off x="988293" y="6509298"/>
            <a:ext cx="82358" cy="348702"/>
          </a:xfrm>
          <a:prstGeom prst="roundRect">
            <a:avLst>
              <a:gd name="adj" fmla="val 22205"/>
            </a:avLst>
          </a:prstGeom>
          <a:solidFill>
            <a:srgbClr val="0E8A8F">
              <a:alpha val="55000"/>
            </a:srgbClr>
          </a:solidFill>
          <a:ln/>
        </p:spPr>
        <p:txBody>
          <a:bodyPr/>
          <a:lstStyle/>
          <a:p>
            <a:endParaRPr lang="en-US"/>
          </a:p>
        </p:txBody>
      </p:sp>
      <p:sp>
        <p:nvSpPr>
          <p:cNvPr id="9" name="Shape 7"/>
          <p:cNvSpPr/>
          <p:nvPr/>
        </p:nvSpPr>
        <p:spPr>
          <a:xfrm>
            <a:off x="1153009" y="6347741"/>
            <a:ext cx="82358" cy="510259"/>
          </a:xfrm>
          <a:prstGeom prst="roundRect">
            <a:avLst>
              <a:gd name="adj" fmla="val 22205"/>
            </a:avLst>
          </a:prstGeom>
          <a:solidFill>
            <a:srgbClr val="0E8A8F">
              <a:alpha val="55000"/>
            </a:srgbClr>
          </a:solidFill>
          <a:ln/>
        </p:spPr>
        <p:txBody>
          <a:bodyPr/>
          <a:lstStyle/>
          <a:p>
            <a:endParaRPr lang="en-US"/>
          </a:p>
        </p:txBody>
      </p:sp>
      <p:sp>
        <p:nvSpPr>
          <p:cNvPr id="10" name="Shape 8"/>
          <p:cNvSpPr/>
          <p:nvPr/>
        </p:nvSpPr>
        <p:spPr>
          <a:xfrm>
            <a:off x="1317725" y="6473922"/>
            <a:ext cx="82358" cy="384078"/>
          </a:xfrm>
          <a:prstGeom prst="roundRect">
            <a:avLst>
              <a:gd name="adj" fmla="val 22205"/>
            </a:avLst>
          </a:prstGeom>
          <a:solidFill>
            <a:srgbClr val="0E8A8F">
              <a:alpha val="55000"/>
            </a:srgbClr>
          </a:solidFill>
          <a:ln/>
        </p:spPr>
        <p:txBody>
          <a:bodyPr/>
          <a:lstStyle/>
          <a:p>
            <a:endParaRPr lang="en-US"/>
          </a:p>
        </p:txBody>
      </p:sp>
      <p:sp>
        <p:nvSpPr>
          <p:cNvPr id="11" name="Shape 9"/>
          <p:cNvSpPr/>
          <p:nvPr/>
        </p:nvSpPr>
        <p:spPr>
          <a:xfrm>
            <a:off x="1482440" y="6489393"/>
            <a:ext cx="82358" cy="368607"/>
          </a:xfrm>
          <a:prstGeom prst="roundRect">
            <a:avLst>
              <a:gd name="adj" fmla="val 22205"/>
            </a:avLst>
          </a:prstGeom>
          <a:solidFill>
            <a:srgbClr val="0E8A8F">
              <a:alpha val="55000"/>
            </a:srgbClr>
          </a:solidFill>
          <a:ln/>
        </p:spPr>
        <p:txBody>
          <a:bodyPr/>
          <a:lstStyle/>
          <a:p>
            <a:endParaRPr lang="en-US"/>
          </a:p>
        </p:txBody>
      </p:sp>
      <p:sp>
        <p:nvSpPr>
          <p:cNvPr id="12" name="Shape 10"/>
          <p:cNvSpPr/>
          <p:nvPr/>
        </p:nvSpPr>
        <p:spPr>
          <a:xfrm>
            <a:off x="1647156" y="6536147"/>
            <a:ext cx="82358" cy="321853"/>
          </a:xfrm>
          <a:prstGeom prst="roundRect">
            <a:avLst>
              <a:gd name="adj" fmla="val 22205"/>
            </a:avLst>
          </a:prstGeom>
          <a:solidFill>
            <a:srgbClr val="0E8A8F">
              <a:alpha val="55000"/>
            </a:srgbClr>
          </a:solidFill>
          <a:ln/>
        </p:spPr>
        <p:txBody>
          <a:bodyPr/>
          <a:lstStyle/>
          <a:p>
            <a:endParaRPr lang="en-US"/>
          </a:p>
        </p:txBody>
      </p:sp>
      <p:sp>
        <p:nvSpPr>
          <p:cNvPr id="13" name="Shape 11"/>
          <p:cNvSpPr/>
          <p:nvPr/>
        </p:nvSpPr>
        <p:spPr>
          <a:xfrm>
            <a:off x="1811871" y="6293135"/>
            <a:ext cx="82358" cy="564865"/>
          </a:xfrm>
          <a:prstGeom prst="roundRect">
            <a:avLst>
              <a:gd name="adj" fmla="val 22205"/>
            </a:avLst>
          </a:prstGeom>
          <a:solidFill>
            <a:srgbClr val="0E8A8F">
              <a:alpha val="55000"/>
            </a:srgbClr>
          </a:solidFill>
          <a:ln/>
        </p:spPr>
        <p:txBody>
          <a:bodyPr/>
          <a:lstStyle/>
          <a:p>
            <a:endParaRPr lang="en-US"/>
          </a:p>
        </p:txBody>
      </p:sp>
      <p:sp>
        <p:nvSpPr>
          <p:cNvPr id="14" name="Shape 12"/>
          <p:cNvSpPr/>
          <p:nvPr/>
        </p:nvSpPr>
        <p:spPr>
          <a:xfrm>
            <a:off x="1976587" y="6369729"/>
            <a:ext cx="82358" cy="488271"/>
          </a:xfrm>
          <a:prstGeom prst="roundRect">
            <a:avLst>
              <a:gd name="adj" fmla="val 22205"/>
            </a:avLst>
          </a:prstGeom>
          <a:solidFill>
            <a:srgbClr val="0E8A8F">
              <a:alpha val="55000"/>
            </a:srgbClr>
          </a:solidFill>
          <a:ln/>
        </p:spPr>
        <p:txBody>
          <a:bodyPr/>
          <a:lstStyle/>
          <a:p>
            <a:endParaRPr lang="en-US"/>
          </a:p>
        </p:txBody>
      </p:sp>
      <p:sp>
        <p:nvSpPr>
          <p:cNvPr id="15" name="Shape 13"/>
          <p:cNvSpPr/>
          <p:nvPr/>
        </p:nvSpPr>
        <p:spPr>
          <a:xfrm>
            <a:off x="2141302" y="6254787"/>
            <a:ext cx="82358" cy="603213"/>
          </a:xfrm>
          <a:prstGeom prst="roundRect">
            <a:avLst>
              <a:gd name="adj" fmla="val 22205"/>
            </a:avLst>
          </a:prstGeom>
          <a:solidFill>
            <a:srgbClr val="0E8A8F">
              <a:alpha val="55000"/>
            </a:srgbClr>
          </a:solidFill>
          <a:ln/>
        </p:spPr>
        <p:txBody>
          <a:bodyPr/>
          <a:lstStyle/>
          <a:p>
            <a:endParaRPr lang="en-US"/>
          </a:p>
        </p:txBody>
      </p:sp>
      <p:sp>
        <p:nvSpPr>
          <p:cNvPr id="16" name="Shape 14"/>
          <p:cNvSpPr/>
          <p:nvPr/>
        </p:nvSpPr>
        <p:spPr>
          <a:xfrm>
            <a:off x="2306018" y="6190279"/>
            <a:ext cx="82358" cy="667721"/>
          </a:xfrm>
          <a:prstGeom prst="roundRect">
            <a:avLst>
              <a:gd name="adj" fmla="val 22205"/>
            </a:avLst>
          </a:prstGeom>
          <a:solidFill>
            <a:srgbClr val="0E8A8F">
              <a:alpha val="55000"/>
            </a:srgbClr>
          </a:solidFill>
          <a:ln/>
        </p:spPr>
        <p:txBody>
          <a:bodyPr/>
          <a:lstStyle/>
          <a:p>
            <a:endParaRPr lang="en-US"/>
          </a:p>
        </p:txBody>
      </p:sp>
      <p:sp>
        <p:nvSpPr>
          <p:cNvPr id="17" name="Shape 15"/>
          <p:cNvSpPr/>
          <p:nvPr/>
        </p:nvSpPr>
        <p:spPr>
          <a:xfrm>
            <a:off x="2470734" y="6398871"/>
            <a:ext cx="82358" cy="459129"/>
          </a:xfrm>
          <a:prstGeom prst="roundRect">
            <a:avLst>
              <a:gd name="adj" fmla="val 22205"/>
            </a:avLst>
          </a:prstGeom>
          <a:solidFill>
            <a:srgbClr val="0E8A8F">
              <a:alpha val="55000"/>
            </a:srgbClr>
          </a:solidFill>
          <a:ln/>
        </p:spPr>
        <p:txBody>
          <a:bodyPr/>
          <a:lstStyle/>
          <a:p>
            <a:endParaRPr lang="en-US"/>
          </a:p>
        </p:txBody>
      </p:sp>
      <p:sp>
        <p:nvSpPr>
          <p:cNvPr id="18" name="Shape 16"/>
          <p:cNvSpPr/>
          <p:nvPr/>
        </p:nvSpPr>
        <p:spPr>
          <a:xfrm>
            <a:off x="2635449" y="6194969"/>
            <a:ext cx="82358" cy="663031"/>
          </a:xfrm>
          <a:prstGeom prst="roundRect">
            <a:avLst>
              <a:gd name="adj" fmla="val 22205"/>
            </a:avLst>
          </a:prstGeom>
          <a:solidFill>
            <a:srgbClr val="0E8A8F">
              <a:alpha val="55000"/>
            </a:srgbClr>
          </a:solidFill>
          <a:ln/>
        </p:spPr>
        <p:txBody>
          <a:bodyPr/>
          <a:lstStyle/>
          <a:p>
            <a:endParaRPr lang="en-US"/>
          </a:p>
        </p:txBody>
      </p:sp>
      <p:sp>
        <p:nvSpPr>
          <p:cNvPr id="19" name="Shape 17"/>
          <p:cNvSpPr/>
          <p:nvPr/>
        </p:nvSpPr>
        <p:spPr>
          <a:xfrm>
            <a:off x="2800165" y="6191536"/>
            <a:ext cx="82358" cy="666464"/>
          </a:xfrm>
          <a:prstGeom prst="roundRect">
            <a:avLst>
              <a:gd name="adj" fmla="val 22205"/>
            </a:avLst>
          </a:prstGeom>
          <a:solidFill>
            <a:srgbClr val="0E8A8F">
              <a:alpha val="55000"/>
            </a:srgbClr>
          </a:solidFill>
          <a:ln/>
        </p:spPr>
        <p:txBody>
          <a:bodyPr/>
          <a:lstStyle/>
          <a:p>
            <a:endParaRPr lang="en-US"/>
          </a:p>
        </p:txBody>
      </p:sp>
      <p:sp>
        <p:nvSpPr>
          <p:cNvPr id="20" name="Shape 18"/>
          <p:cNvSpPr/>
          <p:nvPr/>
        </p:nvSpPr>
        <p:spPr>
          <a:xfrm>
            <a:off x="2964880" y="6299151"/>
            <a:ext cx="82358" cy="558849"/>
          </a:xfrm>
          <a:prstGeom prst="roundRect">
            <a:avLst>
              <a:gd name="adj" fmla="val 22205"/>
            </a:avLst>
          </a:prstGeom>
          <a:solidFill>
            <a:srgbClr val="0E8A8F">
              <a:alpha val="55000"/>
            </a:srgbClr>
          </a:solidFill>
          <a:ln/>
        </p:spPr>
        <p:txBody>
          <a:bodyPr/>
          <a:lstStyle/>
          <a:p>
            <a:endParaRPr lang="en-US"/>
          </a:p>
        </p:txBody>
      </p:sp>
      <p:sp>
        <p:nvSpPr>
          <p:cNvPr id="21" name="Shape 19"/>
          <p:cNvSpPr/>
          <p:nvPr/>
        </p:nvSpPr>
        <p:spPr>
          <a:xfrm>
            <a:off x="3129596" y="6521057"/>
            <a:ext cx="82358" cy="336943"/>
          </a:xfrm>
          <a:prstGeom prst="roundRect">
            <a:avLst>
              <a:gd name="adj" fmla="val 22205"/>
            </a:avLst>
          </a:prstGeom>
          <a:solidFill>
            <a:srgbClr val="0E8A8F">
              <a:alpha val="55000"/>
            </a:srgbClr>
          </a:solidFill>
          <a:ln/>
        </p:spPr>
        <p:txBody>
          <a:bodyPr/>
          <a:lstStyle/>
          <a:p>
            <a:endParaRPr lang="en-US"/>
          </a:p>
        </p:txBody>
      </p:sp>
      <p:sp>
        <p:nvSpPr>
          <p:cNvPr id="22" name="Shape 20"/>
          <p:cNvSpPr/>
          <p:nvPr/>
        </p:nvSpPr>
        <p:spPr>
          <a:xfrm>
            <a:off x="3294311" y="6234868"/>
            <a:ext cx="82358" cy="623132"/>
          </a:xfrm>
          <a:prstGeom prst="roundRect">
            <a:avLst>
              <a:gd name="adj" fmla="val 22205"/>
            </a:avLst>
          </a:prstGeom>
          <a:solidFill>
            <a:srgbClr val="0E8A8F">
              <a:alpha val="55000"/>
            </a:srgbClr>
          </a:solidFill>
          <a:ln/>
        </p:spPr>
        <p:txBody>
          <a:bodyPr/>
          <a:lstStyle/>
          <a:p>
            <a:endParaRPr lang="en-US"/>
          </a:p>
        </p:txBody>
      </p:sp>
      <p:sp>
        <p:nvSpPr>
          <p:cNvPr id="23" name="Shape 21"/>
          <p:cNvSpPr/>
          <p:nvPr/>
        </p:nvSpPr>
        <p:spPr>
          <a:xfrm>
            <a:off x="3459027" y="6633631"/>
            <a:ext cx="82358" cy="224369"/>
          </a:xfrm>
          <a:prstGeom prst="roundRect">
            <a:avLst>
              <a:gd name="adj" fmla="val 22205"/>
            </a:avLst>
          </a:prstGeom>
          <a:solidFill>
            <a:srgbClr val="0E8A8F">
              <a:alpha val="55000"/>
            </a:srgbClr>
          </a:solidFill>
          <a:ln/>
        </p:spPr>
        <p:txBody>
          <a:bodyPr/>
          <a:lstStyle/>
          <a:p>
            <a:endParaRPr lang="en-US"/>
          </a:p>
        </p:txBody>
      </p:sp>
      <p:sp>
        <p:nvSpPr>
          <p:cNvPr id="24" name="Shape 22"/>
          <p:cNvSpPr/>
          <p:nvPr/>
        </p:nvSpPr>
        <p:spPr>
          <a:xfrm>
            <a:off x="3623742" y="6603609"/>
            <a:ext cx="82358" cy="254391"/>
          </a:xfrm>
          <a:prstGeom prst="roundRect">
            <a:avLst>
              <a:gd name="adj" fmla="val 22205"/>
            </a:avLst>
          </a:prstGeom>
          <a:solidFill>
            <a:srgbClr val="0E8A8F">
              <a:alpha val="55000"/>
            </a:srgbClr>
          </a:solidFill>
          <a:ln/>
        </p:spPr>
        <p:txBody>
          <a:bodyPr/>
          <a:lstStyle/>
          <a:p>
            <a:endParaRPr lang="en-US"/>
          </a:p>
        </p:txBody>
      </p:sp>
      <p:sp>
        <p:nvSpPr>
          <p:cNvPr id="25" name="Shape 23"/>
          <p:cNvSpPr/>
          <p:nvPr/>
        </p:nvSpPr>
        <p:spPr>
          <a:xfrm>
            <a:off x="3788458" y="6476465"/>
            <a:ext cx="82358" cy="381535"/>
          </a:xfrm>
          <a:prstGeom prst="roundRect">
            <a:avLst>
              <a:gd name="adj" fmla="val 22205"/>
            </a:avLst>
          </a:prstGeom>
          <a:solidFill>
            <a:srgbClr val="0E8A8F">
              <a:alpha val="55000"/>
            </a:srgbClr>
          </a:solidFill>
          <a:ln/>
        </p:spPr>
        <p:txBody>
          <a:bodyPr/>
          <a:lstStyle/>
          <a:p>
            <a:endParaRPr lang="en-US"/>
          </a:p>
        </p:txBody>
      </p:sp>
      <p:sp>
        <p:nvSpPr>
          <p:cNvPr id="26" name="Shape 24"/>
          <p:cNvSpPr/>
          <p:nvPr/>
        </p:nvSpPr>
        <p:spPr>
          <a:xfrm>
            <a:off x="3953174" y="5959859"/>
            <a:ext cx="82358" cy="898141"/>
          </a:xfrm>
          <a:prstGeom prst="roundRect">
            <a:avLst>
              <a:gd name="adj" fmla="val 22205"/>
            </a:avLst>
          </a:prstGeom>
          <a:solidFill>
            <a:srgbClr val="0E8A8F">
              <a:alpha val="55000"/>
            </a:srgbClr>
          </a:solidFill>
          <a:ln/>
        </p:spPr>
        <p:txBody>
          <a:bodyPr/>
          <a:lstStyle/>
          <a:p>
            <a:endParaRPr lang="en-US"/>
          </a:p>
        </p:txBody>
      </p:sp>
      <p:sp>
        <p:nvSpPr>
          <p:cNvPr id="27" name="Shape 25"/>
          <p:cNvSpPr/>
          <p:nvPr/>
        </p:nvSpPr>
        <p:spPr>
          <a:xfrm>
            <a:off x="4117889" y="6473912"/>
            <a:ext cx="82358" cy="384088"/>
          </a:xfrm>
          <a:prstGeom prst="roundRect">
            <a:avLst>
              <a:gd name="adj" fmla="val 22205"/>
            </a:avLst>
          </a:prstGeom>
          <a:solidFill>
            <a:srgbClr val="0E8A8F">
              <a:alpha val="55000"/>
            </a:srgbClr>
          </a:solidFill>
          <a:ln/>
        </p:spPr>
        <p:txBody>
          <a:bodyPr/>
          <a:lstStyle/>
          <a:p>
            <a:endParaRPr lang="en-US"/>
          </a:p>
        </p:txBody>
      </p:sp>
      <p:sp>
        <p:nvSpPr>
          <p:cNvPr id="28" name="Shape 26"/>
          <p:cNvSpPr/>
          <p:nvPr/>
        </p:nvSpPr>
        <p:spPr>
          <a:xfrm>
            <a:off x="4282605" y="6214956"/>
            <a:ext cx="82358" cy="643044"/>
          </a:xfrm>
          <a:prstGeom prst="roundRect">
            <a:avLst>
              <a:gd name="adj" fmla="val 22205"/>
            </a:avLst>
          </a:prstGeom>
          <a:solidFill>
            <a:srgbClr val="0E8A8F">
              <a:alpha val="55000"/>
            </a:srgbClr>
          </a:solidFill>
          <a:ln/>
        </p:spPr>
        <p:txBody>
          <a:bodyPr/>
          <a:lstStyle/>
          <a:p>
            <a:endParaRPr lang="en-US"/>
          </a:p>
        </p:txBody>
      </p:sp>
      <p:sp>
        <p:nvSpPr>
          <p:cNvPr id="29" name="Shape 27"/>
          <p:cNvSpPr/>
          <p:nvPr/>
        </p:nvSpPr>
        <p:spPr>
          <a:xfrm>
            <a:off x="4447320" y="6411165"/>
            <a:ext cx="82358" cy="446835"/>
          </a:xfrm>
          <a:prstGeom prst="roundRect">
            <a:avLst>
              <a:gd name="adj" fmla="val 22205"/>
            </a:avLst>
          </a:prstGeom>
          <a:solidFill>
            <a:srgbClr val="0E8A8F">
              <a:alpha val="55000"/>
            </a:srgbClr>
          </a:solidFill>
          <a:ln/>
        </p:spPr>
        <p:txBody>
          <a:bodyPr/>
          <a:lstStyle/>
          <a:p>
            <a:endParaRPr lang="en-US"/>
          </a:p>
        </p:txBody>
      </p:sp>
      <p:sp>
        <p:nvSpPr>
          <p:cNvPr id="30" name="Shape 28"/>
          <p:cNvSpPr/>
          <p:nvPr/>
        </p:nvSpPr>
        <p:spPr>
          <a:xfrm>
            <a:off x="4612036" y="6145609"/>
            <a:ext cx="82358" cy="712391"/>
          </a:xfrm>
          <a:prstGeom prst="roundRect">
            <a:avLst>
              <a:gd name="adj" fmla="val 22205"/>
            </a:avLst>
          </a:prstGeom>
          <a:solidFill>
            <a:srgbClr val="0E8A8F">
              <a:alpha val="55000"/>
            </a:srgbClr>
          </a:solidFill>
          <a:ln/>
        </p:spPr>
        <p:txBody>
          <a:bodyPr/>
          <a:lstStyle/>
          <a:p>
            <a:endParaRPr lang="en-US"/>
          </a:p>
        </p:txBody>
      </p:sp>
      <p:sp>
        <p:nvSpPr>
          <p:cNvPr id="31" name="Shape 29"/>
          <p:cNvSpPr/>
          <p:nvPr/>
        </p:nvSpPr>
        <p:spPr>
          <a:xfrm>
            <a:off x="4776751" y="6270013"/>
            <a:ext cx="82358" cy="587987"/>
          </a:xfrm>
          <a:prstGeom prst="roundRect">
            <a:avLst>
              <a:gd name="adj" fmla="val 22205"/>
            </a:avLst>
          </a:prstGeom>
          <a:solidFill>
            <a:srgbClr val="0E8A8F">
              <a:alpha val="55000"/>
            </a:srgbClr>
          </a:solidFill>
          <a:ln/>
        </p:spPr>
        <p:txBody>
          <a:bodyPr/>
          <a:lstStyle/>
          <a:p>
            <a:endParaRPr lang="en-US"/>
          </a:p>
        </p:txBody>
      </p:sp>
      <p:sp>
        <p:nvSpPr>
          <p:cNvPr id="32" name="Shape 30"/>
          <p:cNvSpPr/>
          <p:nvPr/>
        </p:nvSpPr>
        <p:spPr>
          <a:xfrm>
            <a:off x="4941467" y="5961496"/>
            <a:ext cx="82358" cy="896504"/>
          </a:xfrm>
          <a:prstGeom prst="roundRect">
            <a:avLst>
              <a:gd name="adj" fmla="val 22205"/>
            </a:avLst>
          </a:prstGeom>
          <a:solidFill>
            <a:srgbClr val="0E8A8F">
              <a:alpha val="55000"/>
            </a:srgbClr>
          </a:solidFill>
          <a:ln/>
        </p:spPr>
        <p:txBody>
          <a:bodyPr/>
          <a:lstStyle/>
          <a:p>
            <a:endParaRPr lang="en-US"/>
          </a:p>
        </p:txBody>
      </p:sp>
      <p:sp>
        <p:nvSpPr>
          <p:cNvPr id="33" name="Shape 31"/>
          <p:cNvSpPr/>
          <p:nvPr/>
        </p:nvSpPr>
        <p:spPr>
          <a:xfrm>
            <a:off x="5106183" y="5893820"/>
            <a:ext cx="82358" cy="964180"/>
          </a:xfrm>
          <a:prstGeom prst="roundRect">
            <a:avLst>
              <a:gd name="adj" fmla="val 22205"/>
            </a:avLst>
          </a:prstGeom>
          <a:solidFill>
            <a:srgbClr val="0E8A8F">
              <a:alpha val="55000"/>
            </a:srgbClr>
          </a:solidFill>
          <a:ln/>
        </p:spPr>
        <p:txBody>
          <a:bodyPr/>
          <a:lstStyle/>
          <a:p>
            <a:endParaRPr lang="en-US"/>
          </a:p>
        </p:txBody>
      </p:sp>
      <p:sp>
        <p:nvSpPr>
          <p:cNvPr id="34" name="Shape 32"/>
          <p:cNvSpPr/>
          <p:nvPr/>
        </p:nvSpPr>
        <p:spPr>
          <a:xfrm>
            <a:off x="5270898" y="6068719"/>
            <a:ext cx="82358" cy="789281"/>
          </a:xfrm>
          <a:prstGeom prst="roundRect">
            <a:avLst>
              <a:gd name="adj" fmla="val 22205"/>
            </a:avLst>
          </a:prstGeom>
          <a:solidFill>
            <a:srgbClr val="0E8A8F">
              <a:alpha val="55000"/>
            </a:srgbClr>
          </a:solidFill>
          <a:ln/>
        </p:spPr>
        <p:txBody>
          <a:bodyPr/>
          <a:lstStyle/>
          <a:p>
            <a:endParaRPr lang="en-US"/>
          </a:p>
        </p:txBody>
      </p:sp>
      <p:sp>
        <p:nvSpPr>
          <p:cNvPr id="35" name="Shape 33"/>
          <p:cNvSpPr/>
          <p:nvPr/>
        </p:nvSpPr>
        <p:spPr>
          <a:xfrm>
            <a:off x="5435614" y="6080035"/>
            <a:ext cx="82358" cy="777965"/>
          </a:xfrm>
          <a:prstGeom prst="roundRect">
            <a:avLst>
              <a:gd name="adj" fmla="val 22205"/>
            </a:avLst>
          </a:prstGeom>
          <a:solidFill>
            <a:srgbClr val="0E8A8F">
              <a:alpha val="55000"/>
            </a:srgbClr>
          </a:solidFill>
          <a:ln/>
        </p:spPr>
        <p:txBody>
          <a:bodyPr/>
          <a:lstStyle/>
          <a:p>
            <a:endParaRPr lang="en-US"/>
          </a:p>
        </p:txBody>
      </p:sp>
      <p:sp>
        <p:nvSpPr>
          <p:cNvPr id="36" name="Shape 34"/>
          <p:cNvSpPr/>
          <p:nvPr/>
        </p:nvSpPr>
        <p:spPr>
          <a:xfrm>
            <a:off x="5600329" y="6417481"/>
            <a:ext cx="82358" cy="440519"/>
          </a:xfrm>
          <a:prstGeom prst="roundRect">
            <a:avLst>
              <a:gd name="adj" fmla="val 22205"/>
            </a:avLst>
          </a:prstGeom>
          <a:solidFill>
            <a:srgbClr val="0E8A8F">
              <a:alpha val="55000"/>
            </a:srgbClr>
          </a:solidFill>
          <a:ln/>
        </p:spPr>
        <p:txBody>
          <a:bodyPr/>
          <a:lstStyle/>
          <a:p>
            <a:endParaRPr lang="en-US"/>
          </a:p>
        </p:txBody>
      </p:sp>
      <p:sp>
        <p:nvSpPr>
          <p:cNvPr id="37" name="Shape 35"/>
          <p:cNvSpPr/>
          <p:nvPr/>
        </p:nvSpPr>
        <p:spPr>
          <a:xfrm>
            <a:off x="5765045" y="6282344"/>
            <a:ext cx="82358" cy="575656"/>
          </a:xfrm>
          <a:prstGeom prst="roundRect">
            <a:avLst>
              <a:gd name="adj" fmla="val 22205"/>
            </a:avLst>
          </a:prstGeom>
          <a:solidFill>
            <a:srgbClr val="0E8A8F">
              <a:alpha val="55000"/>
            </a:srgbClr>
          </a:solidFill>
          <a:ln/>
        </p:spPr>
        <p:txBody>
          <a:bodyPr/>
          <a:lstStyle/>
          <a:p>
            <a:endParaRPr lang="en-US"/>
          </a:p>
        </p:txBody>
      </p:sp>
      <p:sp>
        <p:nvSpPr>
          <p:cNvPr id="38" name="Shape 36"/>
          <p:cNvSpPr/>
          <p:nvPr/>
        </p:nvSpPr>
        <p:spPr>
          <a:xfrm>
            <a:off x="5929760" y="5938785"/>
            <a:ext cx="82358" cy="919215"/>
          </a:xfrm>
          <a:prstGeom prst="roundRect">
            <a:avLst>
              <a:gd name="adj" fmla="val 22205"/>
            </a:avLst>
          </a:prstGeom>
          <a:solidFill>
            <a:srgbClr val="0E8A8F">
              <a:alpha val="55000"/>
            </a:srgbClr>
          </a:solidFill>
          <a:ln/>
        </p:spPr>
        <p:txBody>
          <a:bodyPr/>
          <a:lstStyle/>
          <a:p>
            <a:endParaRPr lang="en-US"/>
          </a:p>
        </p:txBody>
      </p:sp>
      <p:sp>
        <p:nvSpPr>
          <p:cNvPr id="39" name="Shape 37"/>
          <p:cNvSpPr/>
          <p:nvPr/>
        </p:nvSpPr>
        <p:spPr>
          <a:xfrm>
            <a:off x="6094476" y="6204265"/>
            <a:ext cx="82358" cy="653735"/>
          </a:xfrm>
          <a:prstGeom prst="roundRect">
            <a:avLst>
              <a:gd name="adj" fmla="val 22205"/>
            </a:avLst>
          </a:prstGeom>
          <a:solidFill>
            <a:srgbClr val="0E8A8F">
              <a:alpha val="55000"/>
            </a:srgbClr>
          </a:solidFill>
          <a:ln/>
        </p:spPr>
        <p:txBody>
          <a:bodyPr/>
          <a:lstStyle/>
          <a:p>
            <a:endParaRPr lang="en-US"/>
          </a:p>
        </p:txBody>
      </p:sp>
      <p:sp>
        <p:nvSpPr>
          <p:cNvPr id="40" name="Shape 38"/>
          <p:cNvSpPr/>
          <p:nvPr/>
        </p:nvSpPr>
        <p:spPr>
          <a:xfrm>
            <a:off x="6259192" y="6383510"/>
            <a:ext cx="82358" cy="474490"/>
          </a:xfrm>
          <a:prstGeom prst="roundRect">
            <a:avLst>
              <a:gd name="adj" fmla="val 22205"/>
            </a:avLst>
          </a:prstGeom>
          <a:solidFill>
            <a:srgbClr val="0E8A8F">
              <a:alpha val="55000"/>
            </a:srgbClr>
          </a:solidFill>
          <a:ln/>
        </p:spPr>
        <p:txBody>
          <a:bodyPr/>
          <a:lstStyle/>
          <a:p>
            <a:endParaRPr lang="en-US"/>
          </a:p>
        </p:txBody>
      </p:sp>
      <p:sp>
        <p:nvSpPr>
          <p:cNvPr id="41" name="Shape 39"/>
          <p:cNvSpPr/>
          <p:nvPr/>
        </p:nvSpPr>
        <p:spPr>
          <a:xfrm>
            <a:off x="6423907" y="6245246"/>
            <a:ext cx="82358" cy="612754"/>
          </a:xfrm>
          <a:prstGeom prst="roundRect">
            <a:avLst>
              <a:gd name="adj" fmla="val 22205"/>
            </a:avLst>
          </a:prstGeom>
          <a:solidFill>
            <a:srgbClr val="0E8A8F">
              <a:alpha val="55000"/>
            </a:srgbClr>
          </a:solidFill>
          <a:ln/>
        </p:spPr>
        <p:txBody>
          <a:bodyPr/>
          <a:lstStyle/>
          <a:p>
            <a:endParaRPr lang="en-US"/>
          </a:p>
        </p:txBody>
      </p:sp>
      <p:sp>
        <p:nvSpPr>
          <p:cNvPr id="42" name="Shape 40"/>
          <p:cNvSpPr/>
          <p:nvPr/>
        </p:nvSpPr>
        <p:spPr>
          <a:xfrm>
            <a:off x="6588623" y="5895930"/>
            <a:ext cx="82358" cy="962070"/>
          </a:xfrm>
          <a:prstGeom prst="roundRect">
            <a:avLst>
              <a:gd name="adj" fmla="val 22205"/>
            </a:avLst>
          </a:prstGeom>
          <a:solidFill>
            <a:srgbClr val="0E8A8F">
              <a:alpha val="55000"/>
            </a:srgbClr>
          </a:solidFill>
          <a:ln/>
        </p:spPr>
        <p:txBody>
          <a:bodyPr/>
          <a:lstStyle/>
          <a:p>
            <a:endParaRPr lang="en-US"/>
          </a:p>
        </p:txBody>
      </p:sp>
      <p:sp>
        <p:nvSpPr>
          <p:cNvPr id="43" name="Shape 41"/>
          <p:cNvSpPr/>
          <p:nvPr/>
        </p:nvSpPr>
        <p:spPr>
          <a:xfrm>
            <a:off x="6753338" y="5942142"/>
            <a:ext cx="82358" cy="915858"/>
          </a:xfrm>
          <a:prstGeom prst="roundRect">
            <a:avLst>
              <a:gd name="adj" fmla="val 22205"/>
            </a:avLst>
          </a:prstGeom>
          <a:solidFill>
            <a:srgbClr val="0E8A8F">
              <a:alpha val="55000"/>
            </a:srgbClr>
          </a:solidFill>
          <a:ln/>
        </p:spPr>
        <p:txBody>
          <a:bodyPr/>
          <a:lstStyle/>
          <a:p>
            <a:endParaRPr lang="en-US"/>
          </a:p>
        </p:txBody>
      </p:sp>
      <p:sp>
        <p:nvSpPr>
          <p:cNvPr id="44" name="Shape 42"/>
          <p:cNvSpPr/>
          <p:nvPr/>
        </p:nvSpPr>
        <p:spPr>
          <a:xfrm>
            <a:off x="6918054" y="5890425"/>
            <a:ext cx="82358" cy="967575"/>
          </a:xfrm>
          <a:prstGeom prst="roundRect">
            <a:avLst>
              <a:gd name="adj" fmla="val 22205"/>
            </a:avLst>
          </a:prstGeom>
          <a:solidFill>
            <a:srgbClr val="0E8A8F">
              <a:alpha val="55000"/>
            </a:srgbClr>
          </a:solidFill>
          <a:ln/>
        </p:spPr>
        <p:txBody>
          <a:bodyPr/>
          <a:lstStyle/>
          <a:p>
            <a:endParaRPr lang="en-US"/>
          </a:p>
        </p:txBody>
      </p:sp>
      <p:sp>
        <p:nvSpPr>
          <p:cNvPr id="45" name="Shape 43"/>
          <p:cNvSpPr/>
          <p:nvPr/>
        </p:nvSpPr>
        <p:spPr>
          <a:xfrm>
            <a:off x="7082769" y="6017827"/>
            <a:ext cx="82358" cy="840173"/>
          </a:xfrm>
          <a:prstGeom prst="roundRect">
            <a:avLst>
              <a:gd name="adj" fmla="val 22205"/>
            </a:avLst>
          </a:prstGeom>
          <a:solidFill>
            <a:srgbClr val="0E8A8F">
              <a:alpha val="55000"/>
            </a:srgbClr>
          </a:solidFill>
          <a:ln/>
        </p:spPr>
        <p:txBody>
          <a:bodyPr/>
          <a:lstStyle/>
          <a:p>
            <a:endParaRPr lang="en-US"/>
          </a:p>
        </p:txBody>
      </p:sp>
      <p:sp>
        <p:nvSpPr>
          <p:cNvPr id="46" name="Shape 44"/>
          <p:cNvSpPr/>
          <p:nvPr/>
        </p:nvSpPr>
        <p:spPr>
          <a:xfrm>
            <a:off x="7247485" y="6047457"/>
            <a:ext cx="82358" cy="810543"/>
          </a:xfrm>
          <a:prstGeom prst="roundRect">
            <a:avLst>
              <a:gd name="adj" fmla="val 22205"/>
            </a:avLst>
          </a:prstGeom>
          <a:solidFill>
            <a:srgbClr val="0E8A8F">
              <a:alpha val="55000"/>
            </a:srgbClr>
          </a:solidFill>
          <a:ln/>
        </p:spPr>
        <p:txBody>
          <a:bodyPr/>
          <a:lstStyle/>
          <a:p>
            <a:endParaRPr lang="en-US"/>
          </a:p>
        </p:txBody>
      </p:sp>
      <p:sp>
        <p:nvSpPr>
          <p:cNvPr id="47" name="Shape 45"/>
          <p:cNvSpPr/>
          <p:nvPr/>
        </p:nvSpPr>
        <p:spPr>
          <a:xfrm>
            <a:off x="7412201" y="5946554"/>
            <a:ext cx="82358" cy="911446"/>
          </a:xfrm>
          <a:prstGeom prst="roundRect">
            <a:avLst>
              <a:gd name="adj" fmla="val 22205"/>
            </a:avLst>
          </a:prstGeom>
          <a:solidFill>
            <a:srgbClr val="0E8A8F">
              <a:alpha val="55000"/>
            </a:srgbClr>
          </a:solidFill>
          <a:ln/>
        </p:spPr>
        <p:txBody>
          <a:bodyPr/>
          <a:lstStyle/>
          <a:p>
            <a:endParaRPr lang="en-US"/>
          </a:p>
        </p:txBody>
      </p:sp>
      <p:sp>
        <p:nvSpPr>
          <p:cNvPr id="48" name="Shape 46"/>
          <p:cNvSpPr/>
          <p:nvPr/>
        </p:nvSpPr>
        <p:spPr>
          <a:xfrm>
            <a:off x="7576916" y="6452048"/>
            <a:ext cx="82358" cy="405952"/>
          </a:xfrm>
          <a:prstGeom prst="roundRect">
            <a:avLst>
              <a:gd name="adj" fmla="val 22205"/>
            </a:avLst>
          </a:prstGeom>
          <a:solidFill>
            <a:srgbClr val="0E8A8F">
              <a:alpha val="55000"/>
            </a:srgbClr>
          </a:solidFill>
          <a:ln/>
        </p:spPr>
        <p:txBody>
          <a:bodyPr/>
          <a:lstStyle/>
          <a:p>
            <a:endParaRPr lang="en-US"/>
          </a:p>
        </p:txBody>
      </p:sp>
      <p:sp>
        <p:nvSpPr>
          <p:cNvPr id="49" name="Shape 47"/>
          <p:cNvSpPr/>
          <p:nvPr/>
        </p:nvSpPr>
        <p:spPr>
          <a:xfrm>
            <a:off x="7741632" y="6069826"/>
            <a:ext cx="82358" cy="788174"/>
          </a:xfrm>
          <a:prstGeom prst="roundRect">
            <a:avLst>
              <a:gd name="adj" fmla="val 22205"/>
            </a:avLst>
          </a:prstGeom>
          <a:solidFill>
            <a:srgbClr val="0E8A8F">
              <a:alpha val="55000"/>
            </a:srgbClr>
          </a:solidFill>
          <a:ln/>
        </p:spPr>
        <p:txBody>
          <a:bodyPr/>
          <a:lstStyle/>
          <a:p>
            <a:endParaRPr lang="en-US"/>
          </a:p>
        </p:txBody>
      </p:sp>
      <p:sp>
        <p:nvSpPr>
          <p:cNvPr id="50" name="Shape 48"/>
          <p:cNvSpPr/>
          <p:nvPr/>
        </p:nvSpPr>
        <p:spPr>
          <a:xfrm>
            <a:off x="7906347" y="6535085"/>
            <a:ext cx="82358" cy="322915"/>
          </a:xfrm>
          <a:prstGeom prst="roundRect">
            <a:avLst>
              <a:gd name="adj" fmla="val 22205"/>
            </a:avLst>
          </a:prstGeom>
          <a:solidFill>
            <a:srgbClr val="0E8A8F">
              <a:alpha val="55000"/>
            </a:srgbClr>
          </a:solidFill>
          <a:ln/>
        </p:spPr>
        <p:txBody>
          <a:bodyPr/>
          <a:lstStyle/>
          <a:p>
            <a:endParaRPr lang="en-US"/>
          </a:p>
        </p:txBody>
      </p:sp>
      <p:sp>
        <p:nvSpPr>
          <p:cNvPr id="51" name="Shape 49"/>
          <p:cNvSpPr/>
          <p:nvPr/>
        </p:nvSpPr>
        <p:spPr>
          <a:xfrm>
            <a:off x="8071063" y="6096602"/>
            <a:ext cx="82358" cy="761398"/>
          </a:xfrm>
          <a:prstGeom prst="roundRect">
            <a:avLst>
              <a:gd name="adj" fmla="val 22205"/>
            </a:avLst>
          </a:prstGeom>
          <a:solidFill>
            <a:srgbClr val="0E8A8F">
              <a:alpha val="55000"/>
            </a:srgbClr>
          </a:solidFill>
          <a:ln/>
        </p:spPr>
        <p:txBody>
          <a:bodyPr/>
          <a:lstStyle/>
          <a:p>
            <a:endParaRPr lang="en-US"/>
          </a:p>
        </p:txBody>
      </p:sp>
      <p:sp>
        <p:nvSpPr>
          <p:cNvPr id="52" name="Shape 50"/>
          <p:cNvSpPr/>
          <p:nvPr/>
        </p:nvSpPr>
        <p:spPr>
          <a:xfrm>
            <a:off x="8235778" y="6438354"/>
            <a:ext cx="82358" cy="419646"/>
          </a:xfrm>
          <a:prstGeom prst="roundRect">
            <a:avLst>
              <a:gd name="adj" fmla="val 22205"/>
            </a:avLst>
          </a:prstGeom>
          <a:solidFill>
            <a:srgbClr val="0E8A8F">
              <a:alpha val="55000"/>
            </a:srgbClr>
          </a:solidFill>
          <a:ln/>
        </p:spPr>
        <p:txBody>
          <a:bodyPr/>
          <a:lstStyle/>
          <a:p>
            <a:endParaRPr lang="en-US"/>
          </a:p>
        </p:txBody>
      </p:sp>
      <p:sp>
        <p:nvSpPr>
          <p:cNvPr id="53" name="Shape 51"/>
          <p:cNvSpPr/>
          <p:nvPr/>
        </p:nvSpPr>
        <p:spPr>
          <a:xfrm>
            <a:off x="8400494" y="6275464"/>
            <a:ext cx="82358" cy="582536"/>
          </a:xfrm>
          <a:prstGeom prst="roundRect">
            <a:avLst>
              <a:gd name="adj" fmla="val 22205"/>
            </a:avLst>
          </a:prstGeom>
          <a:solidFill>
            <a:srgbClr val="0E8A8F">
              <a:alpha val="55000"/>
            </a:srgbClr>
          </a:solidFill>
          <a:ln/>
        </p:spPr>
        <p:txBody>
          <a:bodyPr/>
          <a:lstStyle/>
          <a:p>
            <a:endParaRPr lang="en-US"/>
          </a:p>
        </p:txBody>
      </p:sp>
      <p:sp>
        <p:nvSpPr>
          <p:cNvPr id="54" name="Shape 52"/>
          <p:cNvSpPr/>
          <p:nvPr/>
        </p:nvSpPr>
        <p:spPr>
          <a:xfrm>
            <a:off x="8565210" y="6461698"/>
            <a:ext cx="82358" cy="396302"/>
          </a:xfrm>
          <a:prstGeom prst="roundRect">
            <a:avLst>
              <a:gd name="adj" fmla="val 22205"/>
            </a:avLst>
          </a:prstGeom>
          <a:solidFill>
            <a:srgbClr val="0E8A8F">
              <a:alpha val="55000"/>
            </a:srgbClr>
          </a:solidFill>
          <a:ln/>
        </p:spPr>
        <p:txBody>
          <a:bodyPr/>
          <a:lstStyle/>
          <a:p>
            <a:endParaRPr lang="en-US"/>
          </a:p>
        </p:txBody>
      </p:sp>
      <p:sp>
        <p:nvSpPr>
          <p:cNvPr id="55" name="Shape 53"/>
          <p:cNvSpPr/>
          <p:nvPr/>
        </p:nvSpPr>
        <p:spPr>
          <a:xfrm>
            <a:off x="8729925" y="6158191"/>
            <a:ext cx="82358" cy="699809"/>
          </a:xfrm>
          <a:prstGeom prst="roundRect">
            <a:avLst>
              <a:gd name="adj" fmla="val 22205"/>
            </a:avLst>
          </a:prstGeom>
          <a:solidFill>
            <a:srgbClr val="0E8A8F">
              <a:alpha val="55000"/>
            </a:srgbClr>
          </a:solidFill>
          <a:ln/>
        </p:spPr>
        <p:txBody>
          <a:bodyPr/>
          <a:lstStyle/>
          <a:p>
            <a:endParaRPr lang="en-US"/>
          </a:p>
        </p:txBody>
      </p:sp>
      <p:sp>
        <p:nvSpPr>
          <p:cNvPr id="56" name="Shape 54"/>
          <p:cNvSpPr/>
          <p:nvPr/>
        </p:nvSpPr>
        <p:spPr>
          <a:xfrm>
            <a:off x="8894641" y="6634749"/>
            <a:ext cx="82358" cy="223251"/>
          </a:xfrm>
          <a:prstGeom prst="roundRect">
            <a:avLst>
              <a:gd name="adj" fmla="val 22205"/>
            </a:avLst>
          </a:prstGeom>
          <a:solidFill>
            <a:srgbClr val="0E8A8F">
              <a:alpha val="55000"/>
            </a:srgbClr>
          </a:solidFill>
          <a:ln/>
        </p:spPr>
        <p:txBody>
          <a:bodyPr/>
          <a:lstStyle/>
          <a:p>
            <a:endParaRPr lang="en-US"/>
          </a:p>
        </p:txBody>
      </p:sp>
      <p:sp>
        <p:nvSpPr>
          <p:cNvPr id="57" name="Shape 55"/>
          <p:cNvSpPr/>
          <p:nvPr/>
        </p:nvSpPr>
        <p:spPr>
          <a:xfrm>
            <a:off x="9059356" y="6567601"/>
            <a:ext cx="82358" cy="290399"/>
          </a:xfrm>
          <a:prstGeom prst="roundRect">
            <a:avLst>
              <a:gd name="adj" fmla="val 22205"/>
            </a:avLst>
          </a:prstGeom>
          <a:solidFill>
            <a:srgbClr val="0E8A8F">
              <a:alpha val="55000"/>
            </a:srgbClr>
          </a:solidFill>
          <a:ln/>
        </p:spPr>
        <p:txBody>
          <a:bodyPr/>
          <a:lstStyle/>
          <a:p>
            <a:endParaRPr lang="en-US"/>
          </a:p>
        </p:txBody>
      </p:sp>
      <p:sp>
        <p:nvSpPr>
          <p:cNvPr id="58" name="Shape 56"/>
          <p:cNvSpPr/>
          <p:nvPr/>
        </p:nvSpPr>
        <p:spPr>
          <a:xfrm>
            <a:off x="9224072" y="6345723"/>
            <a:ext cx="82358" cy="512277"/>
          </a:xfrm>
          <a:prstGeom prst="roundRect">
            <a:avLst>
              <a:gd name="adj" fmla="val 22205"/>
            </a:avLst>
          </a:prstGeom>
          <a:solidFill>
            <a:srgbClr val="0E8A8F">
              <a:alpha val="55000"/>
            </a:srgbClr>
          </a:solidFill>
          <a:ln/>
        </p:spPr>
        <p:txBody>
          <a:bodyPr/>
          <a:lstStyle/>
          <a:p>
            <a:endParaRPr lang="en-US"/>
          </a:p>
        </p:txBody>
      </p:sp>
      <p:sp>
        <p:nvSpPr>
          <p:cNvPr id="59" name="Shape 57"/>
          <p:cNvSpPr/>
          <p:nvPr/>
        </p:nvSpPr>
        <p:spPr>
          <a:xfrm>
            <a:off x="9388787" y="6587690"/>
            <a:ext cx="82358" cy="270310"/>
          </a:xfrm>
          <a:prstGeom prst="roundRect">
            <a:avLst>
              <a:gd name="adj" fmla="val 22205"/>
            </a:avLst>
          </a:prstGeom>
          <a:solidFill>
            <a:srgbClr val="0E8A8F">
              <a:alpha val="55000"/>
            </a:srgbClr>
          </a:solidFill>
          <a:ln/>
        </p:spPr>
        <p:txBody>
          <a:bodyPr/>
          <a:lstStyle/>
          <a:p>
            <a:endParaRPr lang="en-US"/>
          </a:p>
        </p:txBody>
      </p:sp>
      <p:sp>
        <p:nvSpPr>
          <p:cNvPr id="60" name="Shape 58"/>
          <p:cNvSpPr/>
          <p:nvPr/>
        </p:nvSpPr>
        <p:spPr>
          <a:xfrm>
            <a:off x="9553503" y="6110237"/>
            <a:ext cx="82358" cy="747763"/>
          </a:xfrm>
          <a:prstGeom prst="roundRect">
            <a:avLst>
              <a:gd name="adj" fmla="val 22205"/>
            </a:avLst>
          </a:prstGeom>
          <a:solidFill>
            <a:srgbClr val="0E8A8F">
              <a:alpha val="55000"/>
            </a:srgbClr>
          </a:solidFill>
          <a:ln/>
        </p:spPr>
        <p:txBody>
          <a:bodyPr/>
          <a:lstStyle/>
          <a:p>
            <a:endParaRPr lang="en-US"/>
          </a:p>
        </p:txBody>
      </p:sp>
      <p:sp>
        <p:nvSpPr>
          <p:cNvPr id="61" name="Shape 59"/>
          <p:cNvSpPr/>
          <p:nvPr/>
        </p:nvSpPr>
        <p:spPr>
          <a:xfrm>
            <a:off x="9718218" y="6172636"/>
            <a:ext cx="82358" cy="685364"/>
          </a:xfrm>
          <a:prstGeom prst="roundRect">
            <a:avLst>
              <a:gd name="adj" fmla="val 22205"/>
            </a:avLst>
          </a:prstGeom>
          <a:solidFill>
            <a:srgbClr val="0E8A8F">
              <a:alpha val="55000"/>
            </a:srgbClr>
          </a:solidFill>
          <a:ln/>
        </p:spPr>
        <p:txBody>
          <a:bodyPr/>
          <a:lstStyle/>
          <a:p>
            <a:endParaRPr lang="en-US"/>
          </a:p>
        </p:txBody>
      </p:sp>
      <p:sp>
        <p:nvSpPr>
          <p:cNvPr id="62" name="Shape 60"/>
          <p:cNvSpPr/>
          <p:nvPr/>
        </p:nvSpPr>
        <p:spPr>
          <a:xfrm>
            <a:off x="9882934" y="6371938"/>
            <a:ext cx="82358" cy="486062"/>
          </a:xfrm>
          <a:prstGeom prst="roundRect">
            <a:avLst>
              <a:gd name="adj" fmla="val 22205"/>
            </a:avLst>
          </a:prstGeom>
          <a:solidFill>
            <a:srgbClr val="0E8A8F">
              <a:alpha val="55000"/>
            </a:srgbClr>
          </a:solidFill>
          <a:ln/>
        </p:spPr>
        <p:txBody>
          <a:bodyPr/>
          <a:lstStyle/>
          <a:p>
            <a:endParaRPr lang="en-US"/>
          </a:p>
        </p:txBody>
      </p:sp>
      <p:sp>
        <p:nvSpPr>
          <p:cNvPr id="63" name="Shape 61"/>
          <p:cNvSpPr/>
          <p:nvPr/>
        </p:nvSpPr>
        <p:spPr>
          <a:xfrm>
            <a:off x="10047650" y="6305405"/>
            <a:ext cx="82358" cy="552595"/>
          </a:xfrm>
          <a:prstGeom prst="roundRect">
            <a:avLst>
              <a:gd name="adj" fmla="val 22205"/>
            </a:avLst>
          </a:prstGeom>
          <a:solidFill>
            <a:srgbClr val="0E8A8F">
              <a:alpha val="55000"/>
            </a:srgbClr>
          </a:solidFill>
          <a:ln/>
        </p:spPr>
        <p:txBody>
          <a:bodyPr/>
          <a:lstStyle/>
          <a:p>
            <a:endParaRPr lang="en-US"/>
          </a:p>
        </p:txBody>
      </p:sp>
      <p:sp>
        <p:nvSpPr>
          <p:cNvPr id="64" name="Shape 62"/>
          <p:cNvSpPr/>
          <p:nvPr/>
        </p:nvSpPr>
        <p:spPr>
          <a:xfrm>
            <a:off x="10212365" y="6215360"/>
            <a:ext cx="82358" cy="642640"/>
          </a:xfrm>
          <a:prstGeom prst="roundRect">
            <a:avLst>
              <a:gd name="adj" fmla="val 22205"/>
            </a:avLst>
          </a:prstGeom>
          <a:solidFill>
            <a:srgbClr val="0E8A8F">
              <a:alpha val="55000"/>
            </a:srgbClr>
          </a:solidFill>
          <a:ln/>
        </p:spPr>
        <p:txBody>
          <a:bodyPr/>
          <a:lstStyle/>
          <a:p>
            <a:endParaRPr lang="en-US"/>
          </a:p>
        </p:txBody>
      </p:sp>
      <p:sp>
        <p:nvSpPr>
          <p:cNvPr id="65" name="Shape 63"/>
          <p:cNvSpPr/>
          <p:nvPr/>
        </p:nvSpPr>
        <p:spPr>
          <a:xfrm>
            <a:off x="10377081" y="6390413"/>
            <a:ext cx="82358" cy="467587"/>
          </a:xfrm>
          <a:prstGeom prst="roundRect">
            <a:avLst>
              <a:gd name="adj" fmla="val 22205"/>
            </a:avLst>
          </a:prstGeom>
          <a:solidFill>
            <a:srgbClr val="0E8A8F">
              <a:alpha val="55000"/>
            </a:srgbClr>
          </a:solidFill>
          <a:ln/>
        </p:spPr>
        <p:txBody>
          <a:bodyPr/>
          <a:lstStyle/>
          <a:p>
            <a:endParaRPr lang="en-US"/>
          </a:p>
        </p:txBody>
      </p:sp>
      <p:sp>
        <p:nvSpPr>
          <p:cNvPr id="66" name="Shape 64"/>
          <p:cNvSpPr/>
          <p:nvPr/>
        </p:nvSpPr>
        <p:spPr>
          <a:xfrm>
            <a:off x="10541796" y="6622902"/>
            <a:ext cx="82358" cy="235098"/>
          </a:xfrm>
          <a:prstGeom prst="roundRect">
            <a:avLst>
              <a:gd name="adj" fmla="val 22205"/>
            </a:avLst>
          </a:prstGeom>
          <a:solidFill>
            <a:srgbClr val="0E8A8F">
              <a:alpha val="55000"/>
            </a:srgbClr>
          </a:solidFill>
          <a:ln/>
        </p:spPr>
        <p:txBody>
          <a:bodyPr/>
          <a:lstStyle/>
          <a:p>
            <a:endParaRPr lang="en-US"/>
          </a:p>
        </p:txBody>
      </p:sp>
      <p:sp>
        <p:nvSpPr>
          <p:cNvPr id="67" name="Shape 65"/>
          <p:cNvSpPr/>
          <p:nvPr/>
        </p:nvSpPr>
        <p:spPr>
          <a:xfrm>
            <a:off x="10706512" y="6664738"/>
            <a:ext cx="82358" cy="193262"/>
          </a:xfrm>
          <a:prstGeom prst="roundRect">
            <a:avLst>
              <a:gd name="adj" fmla="val 22205"/>
            </a:avLst>
          </a:prstGeom>
          <a:solidFill>
            <a:srgbClr val="0E8A8F">
              <a:alpha val="55000"/>
            </a:srgbClr>
          </a:solidFill>
          <a:ln/>
        </p:spPr>
        <p:txBody>
          <a:bodyPr/>
          <a:lstStyle/>
          <a:p>
            <a:endParaRPr lang="en-US"/>
          </a:p>
        </p:txBody>
      </p:sp>
      <p:sp>
        <p:nvSpPr>
          <p:cNvPr id="68" name="Shape 66"/>
          <p:cNvSpPr/>
          <p:nvPr/>
        </p:nvSpPr>
        <p:spPr>
          <a:xfrm>
            <a:off x="10871227" y="6552832"/>
            <a:ext cx="82358" cy="305168"/>
          </a:xfrm>
          <a:prstGeom prst="roundRect">
            <a:avLst>
              <a:gd name="adj" fmla="val 22205"/>
            </a:avLst>
          </a:prstGeom>
          <a:solidFill>
            <a:srgbClr val="0E8A8F">
              <a:alpha val="55000"/>
            </a:srgbClr>
          </a:solidFill>
          <a:ln/>
        </p:spPr>
        <p:txBody>
          <a:bodyPr/>
          <a:lstStyle/>
          <a:p>
            <a:endParaRPr lang="en-US"/>
          </a:p>
        </p:txBody>
      </p:sp>
      <p:sp>
        <p:nvSpPr>
          <p:cNvPr id="69" name="Shape 67"/>
          <p:cNvSpPr/>
          <p:nvPr/>
        </p:nvSpPr>
        <p:spPr>
          <a:xfrm>
            <a:off x="11035943" y="6412220"/>
            <a:ext cx="82358" cy="445780"/>
          </a:xfrm>
          <a:prstGeom prst="roundRect">
            <a:avLst>
              <a:gd name="adj" fmla="val 22205"/>
            </a:avLst>
          </a:prstGeom>
          <a:solidFill>
            <a:srgbClr val="0E8A8F">
              <a:alpha val="55000"/>
            </a:srgbClr>
          </a:solidFill>
          <a:ln/>
        </p:spPr>
        <p:txBody>
          <a:bodyPr/>
          <a:lstStyle/>
          <a:p>
            <a:endParaRPr lang="en-US"/>
          </a:p>
        </p:txBody>
      </p:sp>
      <p:sp>
        <p:nvSpPr>
          <p:cNvPr id="70" name="Shape 68"/>
          <p:cNvSpPr/>
          <p:nvPr/>
        </p:nvSpPr>
        <p:spPr>
          <a:xfrm>
            <a:off x="11200659" y="6749701"/>
            <a:ext cx="82358" cy="108299"/>
          </a:xfrm>
          <a:prstGeom prst="roundRect">
            <a:avLst>
              <a:gd name="adj" fmla="val 22205"/>
            </a:avLst>
          </a:prstGeom>
          <a:solidFill>
            <a:srgbClr val="0E8A8F">
              <a:alpha val="55000"/>
            </a:srgbClr>
          </a:solidFill>
          <a:ln/>
        </p:spPr>
        <p:txBody>
          <a:bodyPr/>
          <a:lstStyle/>
          <a:p>
            <a:endParaRPr lang="en-US"/>
          </a:p>
        </p:txBody>
      </p:sp>
      <p:sp>
        <p:nvSpPr>
          <p:cNvPr id="71" name="Shape 69"/>
          <p:cNvSpPr/>
          <p:nvPr/>
        </p:nvSpPr>
        <p:spPr>
          <a:xfrm>
            <a:off x="11365374" y="6553304"/>
            <a:ext cx="82358" cy="304696"/>
          </a:xfrm>
          <a:prstGeom prst="roundRect">
            <a:avLst>
              <a:gd name="adj" fmla="val 22205"/>
            </a:avLst>
          </a:prstGeom>
          <a:solidFill>
            <a:srgbClr val="0E8A8F">
              <a:alpha val="55000"/>
            </a:srgbClr>
          </a:solidFill>
          <a:ln/>
        </p:spPr>
        <p:txBody>
          <a:bodyPr/>
          <a:lstStyle/>
          <a:p>
            <a:endParaRPr lang="en-US"/>
          </a:p>
        </p:txBody>
      </p:sp>
      <p:sp>
        <p:nvSpPr>
          <p:cNvPr id="72" name="Shape 70"/>
          <p:cNvSpPr/>
          <p:nvPr/>
        </p:nvSpPr>
        <p:spPr>
          <a:xfrm>
            <a:off x="11530090" y="6679385"/>
            <a:ext cx="82358" cy="178615"/>
          </a:xfrm>
          <a:prstGeom prst="roundRect">
            <a:avLst>
              <a:gd name="adj" fmla="val 22205"/>
            </a:avLst>
          </a:prstGeom>
          <a:solidFill>
            <a:srgbClr val="0E8A8F">
              <a:alpha val="55000"/>
            </a:srgbClr>
          </a:solidFill>
          <a:ln/>
        </p:spPr>
        <p:txBody>
          <a:bodyPr/>
          <a:lstStyle/>
          <a:p>
            <a:endParaRPr lang="en-US"/>
          </a:p>
        </p:txBody>
      </p:sp>
      <p:sp>
        <p:nvSpPr>
          <p:cNvPr id="73" name="Shape 71"/>
          <p:cNvSpPr/>
          <p:nvPr/>
        </p:nvSpPr>
        <p:spPr>
          <a:xfrm>
            <a:off x="11694805" y="6745111"/>
            <a:ext cx="82358" cy="112889"/>
          </a:xfrm>
          <a:prstGeom prst="roundRect">
            <a:avLst>
              <a:gd name="adj" fmla="val 22205"/>
            </a:avLst>
          </a:prstGeom>
          <a:solidFill>
            <a:srgbClr val="0E8A8F">
              <a:alpha val="55000"/>
            </a:srgbClr>
          </a:solidFill>
          <a:ln/>
        </p:spPr>
        <p:txBody>
          <a:bodyPr/>
          <a:lstStyle/>
          <a:p>
            <a:endParaRPr lang="en-US"/>
          </a:p>
        </p:txBody>
      </p:sp>
      <p:sp>
        <p:nvSpPr>
          <p:cNvPr id="74" name="Shape 72"/>
          <p:cNvSpPr/>
          <p:nvPr/>
        </p:nvSpPr>
        <p:spPr>
          <a:xfrm>
            <a:off x="11859521" y="6747813"/>
            <a:ext cx="82358" cy="110187"/>
          </a:xfrm>
          <a:prstGeom prst="roundRect">
            <a:avLst>
              <a:gd name="adj" fmla="val 22205"/>
            </a:avLst>
          </a:prstGeom>
          <a:solidFill>
            <a:srgbClr val="0E8A8F">
              <a:alpha val="55000"/>
            </a:srgbClr>
          </a:solidFill>
          <a:ln/>
        </p:spPr>
        <p:txBody>
          <a:bodyPr/>
          <a:lstStyle/>
          <a:p>
            <a:endParaRPr lang="en-US"/>
          </a:p>
        </p:txBody>
      </p:sp>
      <p:sp>
        <p:nvSpPr>
          <p:cNvPr id="75" name="Shape 73"/>
          <p:cNvSpPr/>
          <p:nvPr/>
        </p:nvSpPr>
        <p:spPr>
          <a:xfrm>
            <a:off x="12024236" y="6821424"/>
            <a:ext cx="82358" cy="36576"/>
          </a:xfrm>
          <a:prstGeom prst="roundRect">
            <a:avLst>
              <a:gd name="adj" fmla="val 50000"/>
            </a:avLst>
          </a:prstGeom>
          <a:solidFill>
            <a:srgbClr val="0E8A8F">
              <a:alpha val="55000"/>
            </a:srgbClr>
          </a:solidFill>
          <a:ln/>
        </p:spPr>
        <p:txBody>
          <a:bodyPr/>
          <a:lstStyle/>
          <a:p>
            <a:endParaRPr lang="en-US"/>
          </a:p>
        </p:txBody>
      </p:sp>
      <p:sp>
        <p:nvSpPr>
          <p:cNvPr id="76" name="Text 74"/>
          <p:cNvSpPr/>
          <p:nvPr/>
        </p:nvSpPr>
        <p:spPr>
          <a:xfrm>
            <a:off x="777240" y="548640"/>
            <a:ext cx="5486400" cy="274320"/>
          </a:xfrm>
          <a:prstGeom prst="rect">
            <a:avLst/>
          </a:prstGeom>
          <a:noFill/>
          <a:ln/>
        </p:spPr>
        <p:txBody>
          <a:bodyPr wrap="square" lIns="0" tIns="0" rIns="0" bIns="0" rtlCol="0" anchor="ctr"/>
          <a:lstStyle/>
          <a:p>
            <a:pPr marL="0" indent="0">
              <a:buNone/>
            </a:pPr>
            <a:r>
              <a:rPr lang="en-US" sz="1150" b="1" kern="0" spc="160" dirty="0">
                <a:solidFill>
                  <a:srgbClr val="0E8A8F"/>
                </a:solidFill>
                <a:latin typeface="Calibri" pitchFamily="34" charset="0"/>
                <a:ea typeface="Calibri" pitchFamily="34" charset="-122"/>
                <a:cs typeface="Calibri" pitchFamily="34" charset="-120"/>
              </a:rPr>
              <a:t>TAKEAWAYS</a:t>
            </a:r>
            <a:endParaRPr lang="en-US" sz="1150" dirty="0"/>
          </a:p>
        </p:txBody>
      </p:sp>
      <p:sp>
        <p:nvSpPr>
          <p:cNvPr id="77" name="Text 75"/>
          <p:cNvSpPr/>
          <p:nvPr/>
        </p:nvSpPr>
        <p:spPr>
          <a:xfrm>
            <a:off x="777240" y="896112"/>
            <a:ext cx="6583680" cy="1188720"/>
          </a:xfrm>
          <a:prstGeom prst="rect">
            <a:avLst/>
          </a:prstGeom>
          <a:noFill/>
          <a:ln/>
        </p:spPr>
        <p:txBody>
          <a:bodyPr wrap="square" lIns="0" tIns="0" rIns="0" bIns="0" rtlCol="0" anchor="ctr"/>
          <a:lstStyle/>
          <a:p>
            <a:pPr marL="0" indent="0">
              <a:lnSpc>
                <a:spcPct val="110000"/>
              </a:lnSpc>
              <a:buNone/>
            </a:pPr>
            <a:r>
              <a:rPr lang="en-US" sz="2900" b="1" dirty="0">
                <a:solidFill>
                  <a:srgbClr val="FFFFFF"/>
                </a:solidFill>
                <a:latin typeface="Cambria" pitchFamily="34" charset="0"/>
                <a:ea typeface="Cambria" pitchFamily="34" charset="-122"/>
                <a:cs typeface="Cambria" pitchFamily="34" charset="-120"/>
              </a:rPr>
              <a:t>The model </a:t>
            </a:r>
            <a:r>
              <a:rPr lang="en-US" sz="2900" b="1">
                <a:solidFill>
                  <a:srgbClr val="FFFFFF"/>
                </a:solidFill>
                <a:latin typeface="Cambria" pitchFamily="34" charset="0"/>
                <a:ea typeface="Cambria" pitchFamily="34" charset="-122"/>
                <a:cs typeface="Cambria" pitchFamily="34" charset="-120"/>
              </a:rPr>
              <a:t>cleans speech recordings</a:t>
            </a:r>
            <a:endParaRPr lang="en-US" sz="2900" dirty="0"/>
          </a:p>
          <a:p>
            <a:pPr marL="0" indent="0">
              <a:lnSpc>
                <a:spcPct val="110000"/>
              </a:lnSpc>
              <a:buNone/>
            </a:pPr>
            <a:r>
              <a:rPr lang="en-US" sz="2900" b="1" dirty="0">
                <a:solidFill>
                  <a:srgbClr val="FFFFFF"/>
                </a:solidFill>
                <a:latin typeface="Cambria" pitchFamily="34" charset="0"/>
                <a:ea typeface="Cambria" pitchFamily="34" charset="-122"/>
                <a:cs typeface="Cambria" pitchFamily="34" charset="-120"/>
              </a:rPr>
              <a:t>it </a:t>
            </a:r>
            <a:r>
              <a:rPr lang="en-US" sz="2900" b="1">
                <a:solidFill>
                  <a:srgbClr val="FFFFFF"/>
                </a:solidFill>
                <a:latin typeface="Cambria" pitchFamily="34" charset="0"/>
                <a:ea typeface="Cambria" pitchFamily="34" charset="-122"/>
                <a:cs typeface="Cambria" pitchFamily="34" charset="-120"/>
              </a:rPr>
              <a:t>never heard</a:t>
            </a:r>
            <a:endParaRPr lang="en-US" sz="2900" dirty="0"/>
          </a:p>
        </p:txBody>
      </p:sp>
      <p:sp>
        <p:nvSpPr>
          <p:cNvPr id="78" name="Shape 76"/>
          <p:cNvSpPr/>
          <p:nvPr/>
        </p:nvSpPr>
        <p:spPr>
          <a:xfrm>
            <a:off x="777240" y="2331720"/>
            <a:ext cx="384048" cy="384048"/>
          </a:xfrm>
          <a:prstGeom prst="ellipse">
            <a:avLst/>
          </a:prstGeom>
          <a:solidFill>
            <a:srgbClr val="0E8A8F"/>
          </a:solidFill>
          <a:ln/>
        </p:spPr>
        <p:txBody>
          <a:bodyPr/>
          <a:lstStyle/>
          <a:p>
            <a:endParaRPr lang="en-US"/>
          </a:p>
        </p:txBody>
      </p:sp>
      <p:sp>
        <p:nvSpPr>
          <p:cNvPr id="79" name="Text 77"/>
          <p:cNvSpPr/>
          <p:nvPr/>
        </p:nvSpPr>
        <p:spPr>
          <a:xfrm>
            <a:off x="777240" y="2331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0" name="Text 78"/>
          <p:cNvSpPr/>
          <p:nvPr/>
        </p:nvSpPr>
        <p:spPr>
          <a:xfrm>
            <a:off x="1325880" y="2276856"/>
            <a:ext cx="6035040" cy="868680"/>
          </a:xfrm>
          <a:prstGeom prst="rect">
            <a:avLst/>
          </a:prstGeom>
          <a:noFill/>
          <a:ln/>
        </p:spPr>
        <p:txBody>
          <a:bodyPr wrap="square" lIns="0" tIns="0" rIns="0" bIns="0" rtlCol="0" anchor="t"/>
          <a:lstStyle/>
          <a:p>
            <a:pPr marL="0" indent="0">
              <a:buNone/>
            </a:pPr>
            <a:r>
              <a:rPr lang="en-US" sz="1500" dirty="0">
                <a:solidFill>
                  <a:srgbClr val="C9D9E8"/>
                </a:solidFill>
                <a:latin typeface="Calibri" pitchFamily="34" charset="0"/>
                <a:ea typeface="Calibri" pitchFamily="34" charset="-122"/>
                <a:cs typeface="Calibri" pitchFamily="34" charset="-120"/>
              </a:rPr>
              <a:t>Time context makes the </a:t>
            </a:r>
            <a:r>
              <a:rPr lang="en-US" sz="1500">
                <a:solidFill>
                  <a:srgbClr val="C9D9E8"/>
                </a:solidFill>
                <a:latin typeface="Calibri" pitchFamily="34" charset="0"/>
                <a:ea typeface="Calibri" pitchFamily="34" charset="-122"/>
                <a:cs typeface="Calibri" pitchFamily="34" charset="-120"/>
              </a:rPr>
              <a:t>mask smooth and artifact free.</a:t>
            </a:r>
            <a:endParaRPr lang="en-US" sz="1500" dirty="0"/>
          </a:p>
        </p:txBody>
      </p:sp>
      <p:sp>
        <p:nvSpPr>
          <p:cNvPr id="81" name="Shape 79"/>
          <p:cNvSpPr/>
          <p:nvPr/>
        </p:nvSpPr>
        <p:spPr>
          <a:xfrm>
            <a:off x="777240" y="3291840"/>
            <a:ext cx="384048" cy="384048"/>
          </a:xfrm>
          <a:prstGeom prst="ellipse">
            <a:avLst/>
          </a:prstGeom>
          <a:solidFill>
            <a:srgbClr val="0E8A8F"/>
          </a:solidFill>
          <a:ln/>
        </p:spPr>
        <p:txBody>
          <a:bodyPr/>
          <a:lstStyle/>
          <a:p>
            <a:endParaRPr lang="en-US"/>
          </a:p>
        </p:txBody>
      </p:sp>
      <p:sp>
        <p:nvSpPr>
          <p:cNvPr id="82" name="Text 80"/>
          <p:cNvSpPr/>
          <p:nvPr/>
        </p:nvSpPr>
        <p:spPr>
          <a:xfrm>
            <a:off x="777240" y="32918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3" name="Text 81"/>
          <p:cNvSpPr/>
          <p:nvPr/>
        </p:nvSpPr>
        <p:spPr>
          <a:xfrm>
            <a:off x="1325880" y="3236976"/>
            <a:ext cx="6035040" cy="868680"/>
          </a:xfrm>
          <a:prstGeom prst="rect">
            <a:avLst/>
          </a:prstGeom>
          <a:noFill/>
          <a:ln/>
        </p:spPr>
        <p:txBody>
          <a:bodyPr wrap="square" lIns="0" tIns="0" rIns="0" bIns="0" rtlCol="0" anchor="t"/>
          <a:lstStyle/>
          <a:p>
            <a:pPr marL="0" indent="0">
              <a:buNone/>
            </a:pPr>
            <a:r>
              <a:rPr lang="en-US" sz="1500" dirty="0">
                <a:solidFill>
                  <a:srgbClr val="C9D9E8"/>
                </a:solidFill>
                <a:latin typeface="Calibri" pitchFamily="34" charset="0"/>
                <a:ea typeface="Calibri" pitchFamily="34" charset="-122"/>
                <a:cs typeface="Calibri" pitchFamily="34" charset="-120"/>
              </a:rPr>
              <a:t>A speaker-level split keeps </a:t>
            </a:r>
            <a:r>
              <a:rPr lang="en-US" sz="1500">
                <a:solidFill>
                  <a:srgbClr val="C9D9E8"/>
                </a:solidFill>
                <a:latin typeface="Calibri" pitchFamily="34" charset="0"/>
                <a:ea typeface="Calibri" pitchFamily="34" charset="-122"/>
                <a:cs typeface="Calibri" pitchFamily="34" charset="-120"/>
              </a:rPr>
              <a:t>the validation accurate to real performance.</a:t>
            </a:r>
            <a:endParaRPr lang="en-US" sz="1500" dirty="0"/>
          </a:p>
        </p:txBody>
      </p:sp>
      <p:sp>
        <p:nvSpPr>
          <p:cNvPr id="84" name="Shape 82"/>
          <p:cNvSpPr/>
          <p:nvPr/>
        </p:nvSpPr>
        <p:spPr>
          <a:xfrm>
            <a:off x="777240" y="4251960"/>
            <a:ext cx="384048" cy="384048"/>
          </a:xfrm>
          <a:prstGeom prst="ellipse">
            <a:avLst/>
          </a:prstGeom>
          <a:solidFill>
            <a:srgbClr val="0E8A8F"/>
          </a:solidFill>
          <a:ln/>
        </p:spPr>
        <p:txBody>
          <a:bodyPr/>
          <a:lstStyle/>
          <a:p>
            <a:endParaRPr lang="en-US"/>
          </a:p>
        </p:txBody>
      </p:sp>
      <p:sp>
        <p:nvSpPr>
          <p:cNvPr id="85" name="Text 83"/>
          <p:cNvSpPr/>
          <p:nvPr/>
        </p:nvSpPr>
        <p:spPr>
          <a:xfrm>
            <a:off x="777240" y="4251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86" name="Text 84"/>
          <p:cNvSpPr/>
          <p:nvPr/>
        </p:nvSpPr>
        <p:spPr>
          <a:xfrm>
            <a:off x="1325880" y="4197096"/>
            <a:ext cx="6035040" cy="868680"/>
          </a:xfrm>
          <a:prstGeom prst="rect">
            <a:avLst/>
          </a:prstGeom>
          <a:noFill/>
          <a:ln/>
        </p:spPr>
        <p:txBody>
          <a:bodyPr wrap="square" lIns="0" tIns="0" rIns="0" bIns="0" rtlCol="0" anchor="t"/>
          <a:lstStyle/>
          <a:p>
            <a:pPr marL="0" indent="0">
              <a:buNone/>
            </a:pPr>
            <a:r>
              <a:rPr lang="en-US" sz="1500" dirty="0">
                <a:solidFill>
                  <a:srgbClr val="C9D9E8"/>
                </a:solidFill>
                <a:latin typeface="Calibri" pitchFamily="34" charset="0"/>
                <a:ea typeface="Calibri" pitchFamily="34" charset="-122"/>
                <a:cs typeface="Calibri" pitchFamily="34" charset="-120"/>
              </a:rPr>
              <a:t>The pipeline matters as much as the network.</a:t>
            </a:r>
            <a:endParaRPr lang="en-US" sz="1500" dirty="0"/>
          </a:p>
        </p:txBody>
      </p:sp>
      <p:sp>
        <p:nvSpPr>
          <p:cNvPr id="87" name="Shape 85"/>
          <p:cNvSpPr/>
          <p:nvPr/>
        </p:nvSpPr>
        <p:spPr>
          <a:xfrm>
            <a:off x="7772400" y="896112"/>
            <a:ext cx="3767328" cy="4297680"/>
          </a:xfrm>
          <a:prstGeom prst="roundRect">
            <a:avLst>
              <a:gd name="adj" fmla="val 2184"/>
            </a:avLst>
          </a:prstGeom>
          <a:solidFill>
            <a:srgbClr val="1C3557"/>
          </a:solidFill>
          <a:ln/>
        </p:spPr>
        <p:txBody>
          <a:bodyPr/>
          <a:lstStyle/>
          <a:p>
            <a:endParaRPr lang="en-US"/>
          </a:p>
        </p:txBody>
      </p:sp>
      <p:sp>
        <p:nvSpPr>
          <p:cNvPr id="88" name="Text 86"/>
          <p:cNvSpPr/>
          <p:nvPr/>
        </p:nvSpPr>
        <p:spPr>
          <a:xfrm>
            <a:off x="8046720" y="1097280"/>
            <a:ext cx="3291840" cy="329184"/>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Future work</a:t>
            </a:r>
            <a:endParaRPr lang="en-US" sz="1900" dirty="0"/>
          </a:p>
        </p:txBody>
      </p:sp>
      <p:sp>
        <p:nvSpPr>
          <p:cNvPr id="89" name="Text 87"/>
          <p:cNvSpPr/>
          <p:nvPr/>
        </p:nvSpPr>
        <p:spPr>
          <a:xfrm>
            <a:off x="8046720" y="1536192"/>
            <a:ext cx="3291840" cy="347472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C9D9E8"/>
                </a:solidFill>
                <a:latin typeface="Calibri" pitchFamily="34" charset="0"/>
                <a:ea typeface="Calibri" pitchFamily="34" charset="-122"/>
                <a:cs typeface="Calibri" pitchFamily="34" charset="-120"/>
              </a:rPr>
              <a:t>Complex masks that also predict phase</a:t>
            </a:r>
            <a:endParaRPr lang="en-US" sz="1200" dirty="0"/>
          </a:p>
          <a:p>
            <a:pPr marL="342900" indent="-342900">
              <a:spcAft>
                <a:spcPts val="1000"/>
              </a:spcAft>
              <a:buSzPct val="100000"/>
              <a:buChar char="•"/>
            </a:pPr>
            <a:r>
              <a:rPr lang="en-US" sz="1200" dirty="0">
                <a:solidFill>
                  <a:srgbClr val="C9D9E8"/>
                </a:solidFill>
                <a:latin typeface="Calibri" pitchFamily="34" charset="0"/>
                <a:ea typeface="Calibri" pitchFamily="34" charset="-122"/>
                <a:cs typeface="Calibri" pitchFamily="34" charset="-120"/>
              </a:rPr>
              <a:t>Complex-valued RNNs on STFT data</a:t>
            </a:r>
            <a:endParaRPr lang="en-US" sz="1200" dirty="0"/>
          </a:p>
          <a:p>
            <a:pPr marL="342900" indent="-342900">
              <a:spcAft>
                <a:spcPts val="1000"/>
              </a:spcAft>
              <a:buSzPct val="100000"/>
              <a:buChar char="•"/>
            </a:pPr>
            <a:r>
              <a:rPr lang="en-US" sz="1200" dirty="0">
                <a:solidFill>
                  <a:srgbClr val="C9D9E8"/>
                </a:solidFill>
                <a:latin typeface="Calibri" pitchFamily="34" charset="0"/>
                <a:ea typeface="Calibri" pitchFamily="34" charset="-122"/>
                <a:cs typeface="Calibri" pitchFamily="34" charset="-120"/>
              </a:rPr>
              <a:t>GRU, attention, and Transformer baselines</a:t>
            </a:r>
            <a:endParaRPr lang="en-US" sz="1200" dirty="0"/>
          </a:p>
          <a:p>
            <a:pPr marL="342900" indent="-342900">
              <a:spcAft>
                <a:spcPts val="1000"/>
              </a:spcAft>
              <a:buSzPct val="100000"/>
              <a:buChar char="•"/>
            </a:pPr>
            <a:r>
              <a:rPr lang="en-US" sz="1200" dirty="0">
                <a:solidFill>
                  <a:srgbClr val="C9D9E8"/>
                </a:solidFill>
                <a:latin typeface="Calibri" pitchFamily="34" charset="0"/>
                <a:ea typeface="Calibri" pitchFamily="34" charset="-122"/>
                <a:cs typeface="Calibri" pitchFamily="34" charset="-120"/>
              </a:rPr>
              <a:t>Perceptual loss instead of MSE</a:t>
            </a:r>
            <a:endParaRPr lang="en-US" sz="1200" dirty="0"/>
          </a:p>
          <a:p>
            <a:pPr marL="342900" indent="-342900">
              <a:spcAft>
                <a:spcPts val="1000"/>
              </a:spcAft>
              <a:buSzPct val="100000"/>
              <a:buChar char="•"/>
            </a:pPr>
            <a:r>
              <a:rPr lang="en-US" sz="1200" dirty="0">
                <a:solidFill>
                  <a:srgbClr val="C9D9E8"/>
                </a:solidFill>
                <a:latin typeface="Calibri" pitchFamily="34" charset="0"/>
                <a:ea typeface="Calibri" pitchFamily="34" charset="-122"/>
                <a:cs typeface="Calibri" pitchFamily="34" charset="-120"/>
              </a:rPr>
              <a:t>Lower latency for embedded use</a:t>
            </a:r>
            <a:endParaRPr lang="en-US" sz="1200" dirty="0"/>
          </a:p>
        </p:txBody>
      </p:sp>
      <p:sp>
        <p:nvSpPr>
          <p:cNvPr id="90" name="Text 88"/>
          <p:cNvSpPr/>
          <p:nvPr/>
        </p:nvSpPr>
        <p:spPr>
          <a:xfrm>
            <a:off x="777240" y="5349240"/>
            <a:ext cx="7315200" cy="320040"/>
          </a:xfrm>
          <a:prstGeom prst="rect">
            <a:avLst/>
          </a:prstGeom>
          <a:noFill/>
          <a:ln/>
        </p:spPr>
        <p:txBody>
          <a:bodyPr wrap="square" lIns="0" tIns="0" rIns="0" bIns="0" rtlCol="0" anchor="ctr"/>
          <a:lstStyle/>
          <a:p>
            <a:pPr marL="0" indent="0">
              <a:buNone/>
            </a:pPr>
            <a:r>
              <a:rPr lang="en-US" sz="1150" dirty="0">
                <a:solidFill>
                  <a:srgbClr val="8FA3B8"/>
                </a:solidFill>
                <a:latin typeface="Calibri" pitchFamily="34" charset="0"/>
                <a:ea typeface="Calibri" pitchFamily="34" charset="-122"/>
                <a:cs typeface="Calibri" pitchFamily="34" charset="-120"/>
              </a:rPr>
              <a:t>Skylar Denno  ·  EECE 5644  ·  github.com/skylar-slideshows/ML_denoise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2056</Words>
  <Application>Microsoft Macintosh PowerPoint</Application>
  <PresentationFormat>Widescreen</PresentationFormat>
  <Paragraphs>286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Noise Reduction Using LSTM Neural Networks</dc:title>
  <dc:subject>PptxGenJS Presentation</dc:subject>
  <dc:creator>Skylar Denno</dc:creator>
  <cp:lastModifiedBy>Skylar Denno</cp:lastModifiedBy>
  <cp:revision>7</cp:revision>
  <dcterms:created xsi:type="dcterms:W3CDTF">2026-08-03T03:43:11Z</dcterms:created>
  <dcterms:modified xsi:type="dcterms:W3CDTF">2026-08-03T03:54:52Z</dcterms:modified>
</cp:coreProperties>
</file>